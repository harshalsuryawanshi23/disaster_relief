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7" r:id="rId1"/>
  </p:sldMasterIdLst>
  <p:notesMasterIdLst>
    <p:notesMasterId r:id="rId108"/>
  </p:notesMasterIdLst>
  <p:sldIdLst>
    <p:sldId id="275" r:id="rId2"/>
    <p:sldId id="257" r:id="rId3"/>
    <p:sldId id="436" r:id="rId4"/>
    <p:sldId id="382" r:id="rId5"/>
    <p:sldId id="383" r:id="rId6"/>
    <p:sldId id="385" r:id="rId7"/>
    <p:sldId id="437" r:id="rId8"/>
    <p:sldId id="439" r:id="rId9"/>
    <p:sldId id="498" r:id="rId10"/>
    <p:sldId id="499" r:id="rId11"/>
    <p:sldId id="500" r:id="rId12"/>
    <p:sldId id="501" r:id="rId13"/>
    <p:sldId id="502" r:id="rId14"/>
    <p:sldId id="503" r:id="rId15"/>
    <p:sldId id="605" r:id="rId16"/>
    <p:sldId id="497" r:id="rId17"/>
    <p:sldId id="508" r:id="rId18"/>
    <p:sldId id="511" r:id="rId19"/>
    <p:sldId id="512" r:id="rId20"/>
    <p:sldId id="607" r:id="rId21"/>
    <p:sldId id="509" r:id="rId22"/>
    <p:sldId id="608" r:id="rId23"/>
    <p:sldId id="510" r:id="rId24"/>
    <p:sldId id="606" r:id="rId25"/>
    <p:sldId id="571" r:id="rId26"/>
    <p:sldId id="572" r:id="rId27"/>
    <p:sldId id="573" r:id="rId28"/>
    <p:sldId id="612" r:id="rId29"/>
    <p:sldId id="613" r:id="rId30"/>
    <p:sldId id="574" r:id="rId31"/>
    <p:sldId id="575" r:id="rId32"/>
    <p:sldId id="576" r:id="rId33"/>
    <p:sldId id="609" r:id="rId34"/>
    <p:sldId id="610" r:id="rId35"/>
    <p:sldId id="611" r:id="rId36"/>
    <p:sldId id="577" r:id="rId37"/>
    <p:sldId id="578" r:id="rId38"/>
    <p:sldId id="579" r:id="rId39"/>
    <p:sldId id="580" r:id="rId40"/>
    <p:sldId id="581" r:id="rId41"/>
    <p:sldId id="582" r:id="rId42"/>
    <p:sldId id="583" r:id="rId43"/>
    <p:sldId id="594" r:id="rId44"/>
    <p:sldId id="595" r:id="rId45"/>
    <p:sldId id="596" r:id="rId46"/>
    <p:sldId id="597" r:id="rId47"/>
    <p:sldId id="598" r:id="rId48"/>
    <p:sldId id="599" r:id="rId49"/>
    <p:sldId id="600" r:id="rId50"/>
    <p:sldId id="601" r:id="rId51"/>
    <p:sldId id="602" r:id="rId52"/>
    <p:sldId id="603" r:id="rId53"/>
    <p:sldId id="604" r:id="rId54"/>
    <p:sldId id="584" r:id="rId55"/>
    <p:sldId id="593" r:id="rId56"/>
    <p:sldId id="614" r:id="rId57"/>
    <p:sldId id="616" r:id="rId58"/>
    <p:sldId id="617" r:id="rId59"/>
    <p:sldId id="618" r:id="rId60"/>
    <p:sldId id="619" r:id="rId61"/>
    <p:sldId id="615" r:id="rId62"/>
    <p:sldId id="623" r:id="rId63"/>
    <p:sldId id="624" r:id="rId64"/>
    <p:sldId id="620" r:id="rId65"/>
    <p:sldId id="621" r:id="rId66"/>
    <p:sldId id="262" r:id="rId67"/>
    <p:sldId id="263" r:id="rId68"/>
    <p:sldId id="264" r:id="rId69"/>
    <p:sldId id="265" r:id="rId70"/>
    <p:sldId id="266" r:id="rId71"/>
    <p:sldId id="361" r:id="rId72"/>
    <p:sldId id="627" r:id="rId73"/>
    <p:sldId id="626" r:id="rId74"/>
    <p:sldId id="625" r:id="rId75"/>
    <p:sldId id="299" r:id="rId76"/>
    <p:sldId id="285" r:id="rId77"/>
    <p:sldId id="630" r:id="rId78"/>
    <p:sldId id="631" r:id="rId79"/>
    <p:sldId id="363" r:id="rId80"/>
    <p:sldId id="286" r:id="rId81"/>
    <p:sldId id="364" r:id="rId82"/>
    <p:sldId id="365" r:id="rId83"/>
    <p:sldId id="387" r:id="rId84"/>
    <p:sldId id="388" r:id="rId85"/>
    <p:sldId id="622" r:id="rId86"/>
    <p:sldId id="628" r:id="rId87"/>
    <p:sldId id="632" r:id="rId88"/>
    <p:sldId id="635" r:id="rId89"/>
    <p:sldId id="633" r:id="rId90"/>
    <p:sldId id="634" r:id="rId91"/>
    <p:sldId id="629" r:id="rId92"/>
    <p:sldId id="636" r:id="rId93"/>
    <p:sldId id="638" r:id="rId94"/>
    <p:sldId id="639" r:id="rId95"/>
    <p:sldId id="640" r:id="rId96"/>
    <p:sldId id="641" r:id="rId97"/>
    <p:sldId id="642" r:id="rId98"/>
    <p:sldId id="643" r:id="rId99"/>
    <p:sldId id="644" r:id="rId100"/>
    <p:sldId id="645" r:id="rId101"/>
    <p:sldId id="646" r:id="rId102"/>
    <p:sldId id="648" r:id="rId103"/>
    <p:sldId id="649" r:id="rId104"/>
    <p:sldId id="650" r:id="rId105"/>
    <p:sldId id="651" r:id="rId106"/>
    <p:sldId id="652" r:id="rId107"/>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it Viit" initials="VV" lastIdx="2" clrIdx="0">
    <p:extLst>
      <p:ext uri="{19B8F6BF-5375-455C-9EA6-DF929625EA0E}">
        <p15:presenceInfo xmlns:p15="http://schemas.microsoft.com/office/powerpoint/2012/main" userId="Viit Vii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AEFF"/>
    <a:srgbClr val="25A2FF"/>
    <a:srgbClr val="189CDE"/>
    <a:srgbClr val="0996FF"/>
    <a:srgbClr val="0192FF"/>
    <a:srgbClr val="0594FF"/>
    <a:srgbClr val="008FFA"/>
    <a:srgbClr val="008A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94660"/>
  </p:normalViewPr>
  <p:slideViewPr>
    <p:cSldViewPr snapToGrid="0">
      <p:cViewPr varScale="1">
        <p:scale>
          <a:sx n="100" d="100"/>
          <a:sy n="100" d="100"/>
        </p:scale>
        <p:origin x="57" y="22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commentAuthors" Target="commentAuthor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981B592-AEF7-4F19-89CE-62E2656F1C5E}" type="datetimeFigureOut">
              <a:rPr lang="en-IN" smtClean="0"/>
              <a:pPr/>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559C-9A1D-465C-BD22-C64000BBBB10}" type="slidenum">
              <a:rPr lang="en-IN" smtClean="0"/>
              <a:pPr/>
              <a:t>‹#›</a:t>
            </a:fld>
            <a:endParaRPr lang="en-IN"/>
          </a:p>
        </p:txBody>
      </p:sp>
    </p:spTree>
    <p:extLst>
      <p:ext uri="{BB962C8B-B14F-4D97-AF65-F5344CB8AC3E}">
        <p14:creationId xmlns:p14="http://schemas.microsoft.com/office/powerpoint/2010/main" val="311978485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2</a:t>
            </a:fld>
            <a:endParaRPr lang="en-IN" dirty="0"/>
          </a:p>
        </p:txBody>
      </p:sp>
    </p:spTree>
    <p:extLst>
      <p:ext uri="{BB962C8B-B14F-4D97-AF65-F5344CB8AC3E}">
        <p14:creationId xmlns:p14="http://schemas.microsoft.com/office/powerpoint/2010/main" val="1202755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3</a:t>
            </a:fld>
            <a:endParaRPr lang="en-IN"/>
          </a:p>
        </p:txBody>
      </p:sp>
    </p:spTree>
    <p:extLst>
      <p:ext uri="{BB962C8B-B14F-4D97-AF65-F5344CB8AC3E}">
        <p14:creationId xmlns:p14="http://schemas.microsoft.com/office/powerpoint/2010/main" val="18405244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4: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11" name="Google Shape;411;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Tree>
    <p:extLst>
      <p:ext uri="{BB962C8B-B14F-4D97-AF65-F5344CB8AC3E}">
        <p14:creationId xmlns:p14="http://schemas.microsoft.com/office/powerpoint/2010/main" val="252993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IN"/>
          </a:p>
        </p:txBody>
      </p:sp>
    </p:spTree>
    <p:extLst>
      <p:ext uri="{BB962C8B-B14F-4D97-AF65-F5344CB8AC3E}">
        <p14:creationId xmlns:p14="http://schemas.microsoft.com/office/powerpoint/2010/main" val="1386451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6</a:t>
            </a:fld>
            <a:endParaRPr lang="en-IN"/>
          </a:p>
        </p:txBody>
      </p:sp>
    </p:spTree>
    <p:extLst>
      <p:ext uri="{BB962C8B-B14F-4D97-AF65-F5344CB8AC3E}">
        <p14:creationId xmlns:p14="http://schemas.microsoft.com/office/powerpoint/2010/main" val="3618939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7</a:t>
            </a:fld>
            <a:endParaRPr lang="en-IN"/>
          </a:p>
        </p:txBody>
      </p:sp>
    </p:spTree>
    <p:extLst>
      <p:ext uri="{BB962C8B-B14F-4D97-AF65-F5344CB8AC3E}">
        <p14:creationId xmlns:p14="http://schemas.microsoft.com/office/powerpoint/2010/main" val="1964238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8</a:t>
            </a:fld>
            <a:endParaRPr lang="en-IN"/>
          </a:p>
        </p:txBody>
      </p:sp>
    </p:spTree>
    <p:extLst>
      <p:ext uri="{BB962C8B-B14F-4D97-AF65-F5344CB8AC3E}">
        <p14:creationId xmlns:p14="http://schemas.microsoft.com/office/powerpoint/2010/main" val="335256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82182-6F00-9109-01D9-1547D8F87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0E3DC-AB95-E415-8930-E5A58F5CE2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7FE4B2-1D52-4422-EC70-EDB7C001F5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487D3F-881B-12C2-0E40-4AD052AFBBA3}"/>
              </a:ext>
            </a:extLst>
          </p:cNvPr>
          <p:cNvSpPr>
            <a:spLocks noGrp="1"/>
          </p:cNvSpPr>
          <p:nvPr>
            <p:ph type="sldNum" sz="quarter" idx="5"/>
          </p:nvPr>
        </p:nvSpPr>
        <p:spPr/>
        <p:txBody>
          <a:bodyPr/>
          <a:lstStyle/>
          <a:p>
            <a:fld id="{4BD5559C-9A1D-465C-BD22-C64000BBBB10}" type="slidenum">
              <a:rPr lang="en-IN" smtClean="0"/>
              <a:t>9</a:t>
            </a:fld>
            <a:endParaRPr lang="en-IN"/>
          </a:p>
        </p:txBody>
      </p:sp>
    </p:spTree>
    <p:extLst>
      <p:ext uri="{BB962C8B-B14F-4D97-AF65-F5344CB8AC3E}">
        <p14:creationId xmlns:p14="http://schemas.microsoft.com/office/powerpoint/2010/main" val="2476419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7E48C-8439-7532-E505-BFD761ACF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FDA3C-7D10-C383-69A8-B9D3311CE3C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10D465-8153-CC8A-BD0A-9C23CDFDB9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375CAA-CF37-5714-ED27-2A53BDDCE280}"/>
              </a:ext>
            </a:extLst>
          </p:cNvPr>
          <p:cNvSpPr>
            <a:spLocks noGrp="1"/>
          </p:cNvSpPr>
          <p:nvPr>
            <p:ph type="sldNum" sz="quarter" idx="5"/>
          </p:nvPr>
        </p:nvSpPr>
        <p:spPr/>
        <p:txBody>
          <a:bodyPr/>
          <a:lstStyle/>
          <a:p>
            <a:fld id="{4BD5559C-9A1D-465C-BD22-C64000BBBB10}" type="slidenum">
              <a:rPr lang="en-IN" smtClean="0"/>
              <a:t>10</a:t>
            </a:fld>
            <a:endParaRPr lang="en-IN"/>
          </a:p>
        </p:txBody>
      </p:sp>
    </p:spTree>
    <p:extLst>
      <p:ext uri="{BB962C8B-B14F-4D97-AF65-F5344CB8AC3E}">
        <p14:creationId xmlns:p14="http://schemas.microsoft.com/office/powerpoint/2010/main" val="3039355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192A8-736C-93DF-7C44-F7CC01FB1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9E44F-97DE-6454-E2C4-6ECF811412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309563E-816D-75C2-992C-43E9CAA785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B3E4B5-4C54-FCA4-4F5D-755F85C51BC0}"/>
              </a:ext>
            </a:extLst>
          </p:cNvPr>
          <p:cNvSpPr>
            <a:spLocks noGrp="1"/>
          </p:cNvSpPr>
          <p:nvPr>
            <p:ph type="sldNum" sz="quarter" idx="5"/>
          </p:nvPr>
        </p:nvSpPr>
        <p:spPr/>
        <p:txBody>
          <a:bodyPr/>
          <a:lstStyle/>
          <a:p>
            <a:fld id="{4BD5559C-9A1D-465C-BD22-C64000BBBB10}" type="slidenum">
              <a:rPr lang="en-IN" smtClean="0"/>
              <a:t>11</a:t>
            </a:fld>
            <a:endParaRPr lang="en-IN"/>
          </a:p>
        </p:txBody>
      </p:sp>
    </p:spTree>
    <p:extLst>
      <p:ext uri="{BB962C8B-B14F-4D97-AF65-F5344CB8AC3E}">
        <p14:creationId xmlns:p14="http://schemas.microsoft.com/office/powerpoint/2010/main" val="215447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4B6F-49D5-F52F-7CD8-7F30EB50A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4D145-101C-9956-E71E-8D8D3A0CA5E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0AAD5F4-69E1-1985-323D-8E441CD59C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02620C-9110-5399-3EA2-D7183D3AAA32}"/>
              </a:ext>
            </a:extLst>
          </p:cNvPr>
          <p:cNvSpPr>
            <a:spLocks noGrp="1"/>
          </p:cNvSpPr>
          <p:nvPr>
            <p:ph type="sldNum" sz="quarter" idx="5"/>
          </p:nvPr>
        </p:nvSpPr>
        <p:spPr/>
        <p:txBody>
          <a:bodyPr/>
          <a:lstStyle/>
          <a:p>
            <a:fld id="{4BD5559C-9A1D-465C-BD22-C64000BBBB10}" type="slidenum">
              <a:rPr lang="en-IN" smtClean="0"/>
              <a:t>12</a:t>
            </a:fld>
            <a:endParaRPr lang="en-IN"/>
          </a:p>
        </p:txBody>
      </p:sp>
    </p:spTree>
    <p:extLst>
      <p:ext uri="{BB962C8B-B14F-4D97-AF65-F5344CB8AC3E}">
        <p14:creationId xmlns:p14="http://schemas.microsoft.com/office/powerpoint/2010/main" val="516909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08B59-0AC4-48BA-6802-998FC3E98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FC4EC-02D8-9912-80F1-A3E46CDED7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0FA82E-4DB1-868D-1B71-8E4A925E37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F6F677-612D-1C3E-B9F1-8A1992B85F61}"/>
              </a:ext>
            </a:extLst>
          </p:cNvPr>
          <p:cNvSpPr>
            <a:spLocks noGrp="1"/>
          </p:cNvSpPr>
          <p:nvPr>
            <p:ph type="sldNum" sz="quarter" idx="5"/>
          </p:nvPr>
        </p:nvSpPr>
        <p:spPr/>
        <p:txBody>
          <a:bodyPr/>
          <a:lstStyle/>
          <a:p>
            <a:fld id="{4BD5559C-9A1D-465C-BD22-C64000BBBB10}" type="slidenum">
              <a:rPr lang="en-IN" smtClean="0"/>
              <a:t>13</a:t>
            </a:fld>
            <a:endParaRPr lang="en-IN"/>
          </a:p>
        </p:txBody>
      </p:sp>
    </p:spTree>
    <p:extLst>
      <p:ext uri="{BB962C8B-B14F-4D97-AF65-F5344CB8AC3E}">
        <p14:creationId xmlns:p14="http://schemas.microsoft.com/office/powerpoint/2010/main" val="4130390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FAE28-4D5D-B220-5CF4-2CDDDCB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91E83-EB75-9C63-516F-BFCB246B8C0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08CED67-1391-CB3C-E0A6-3E71459A176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32727D-DF5A-1B4B-BC15-61941922E394}"/>
              </a:ext>
            </a:extLst>
          </p:cNvPr>
          <p:cNvSpPr>
            <a:spLocks noGrp="1"/>
          </p:cNvSpPr>
          <p:nvPr>
            <p:ph type="sldNum" sz="quarter" idx="5"/>
          </p:nvPr>
        </p:nvSpPr>
        <p:spPr/>
        <p:txBody>
          <a:bodyPr/>
          <a:lstStyle/>
          <a:p>
            <a:fld id="{4BD5559C-9A1D-465C-BD22-C64000BBBB10}" type="slidenum">
              <a:rPr lang="en-IN" smtClean="0"/>
              <a:t>14</a:t>
            </a:fld>
            <a:endParaRPr lang="en-IN"/>
          </a:p>
        </p:txBody>
      </p:sp>
    </p:spTree>
    <p:extLst>
      <p:ext uri="{BB962C8B-B14F-4D97-AF65-F5344CB8AC3E}">
        <p14:creationId xmlns:p14="http://schemas.microsoft.com/office/powerpoint/2010/main" val="3046618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4E1B-ED8D-CE83-B7EA-EA4664667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B286C-04BD-EFA0-C2B0-AD69D0CC8A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AA0CF4B-1EFE-BB45-FD6A-7F5B222B3E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BC52DD-6D4E-878D-D779-8DACBE340508}"/>
              </a:ext>
            </a:extLst>
          </p:cNvPr>
          <p:cNvSpPr>
            <a:spLocks noGrp="1"/>
          </p:cNvSpPr>
          <p:nvPr>
            <p:ph type="sldNum" sz="quarter" idx="5"/>
          </p:nvPr>
        </p:nvSpPr>
        <p:spPr/>
        <p:txBody>
          <a:bodyPr/>
          <a:lstStyle/>
          <a:p>
            <a:fld id="{4BD5559C-9A1D-465C-BD22-C64000BBBB10}" type="slidenum">
              <a:rPr lang="en-IN" smtClean="0"/>
              <a:t>15</a:t>
            </a:fld>
            <a:endParaRPr lang="en-IN"/>
          </a:p>
        </p:txBody>
      </p:sp>
    </p:spTree>
    <p:extLst>
      <p:ext uri="{BB962C8B-B14F-4D97-AF65-F5344CB8AC3E}">
        <p14:creationId xmlns:p14="http://schemas.microsoft.com/office/powerpoint/2010/main" val="3731443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04953-3C43-282E-2AA9-A98E787F9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B8B32-1384-159D-0B3C-BCA55527B36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0C85E03-73A1-D7D2-6F90-EBFE3478DB7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DB9AC1-6E62-3F8F-B2B8-C0E7D60C0801}"/>
              </a:ext>
            </a:extLst>
          </p:cNvPr>
          <p:cNvSpPr>
            <a:spLocks noGrp="1"/>
          </p:cNvSpPr>
          <p:nvPr>
            <p:ph type="sldNum" sz="quarter" idx="5"/>
          </p:nvPr>
        </p:nvSpPr>
        <p:spPr/>
        <p:txBody>
          <a:bodyPr/>
          <a:lstStyle/>
          <a:p>
            <a:fld id="{4BD5559C-9A1D-465C-BD22-C64000BBBB10}" type="slidenum">
              <a:rPr lang="en-IN" smtClean="0"/>
              <a:t>16</a:t>
            </a:fld>
            <a:endParaRPr lang="en-IN"/>
          </a:p>
        </p:txBody>
      </p:sp>
    </p:spTree>
    <p:extLst>
      <p:ext uri="{BB962C8B-B14F-4D97-AF65-F5344CB8AC3E}">
        <p14:creationId xmlns:p14="http://schemas.microsoft.com/office/powerpoint/2010/main" val="602132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F019E-0CC1-7DC5-C7AC-67465437C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F2C50-F37C-C693-0B85-D93774B4DBA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2A6D5F-45EC-45E6-73C6-4708F64534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7CE821-3FAB-D0E6-FAFC-687A46379569}"/>
              </a:ext>
            </a:extLst>
          </p:cNvPr>
          <p:cNvSpPr>
            <a:spLocks noGrp="1"/>
          </p:cNvSpPr>
          <p:nvPr>
            <p:ph type="sldNum" sz="quarter" idx="5"/>
          </p:nvPr>
        </p:nvSpPr>
        <p:spPr/>
        <p:txBody>
          <a:bodyPr/>
          <a:lstStyle/>
          <a:p>
            <a:fld id="{4BD5559C-9A1D-465C-BD22-C64000BBBB10}" type="slidenum">
              <a:rPr lang="en-IN" smtClean="0"/>
              <a:t>17</a:t>
            </a:fld>
            <a:endParaRPr lang="en-IN"/>
          </a:p>
        </p:txBody>
      </p:sp>
    </p:spTree>
    <p:extLst>
      <p:ext uri="{BB962C8B-B14F-4D97-AF65-F5344CB8AC3E}">
        <p14:creationId xmlns:p14="http://schemas.microsoft.com/office/powerpoint/2010/main" val="1561212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0233-01AF-C9F6-C551-4168741AE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6183F7-66CA-2A79-5C90-E9813ECF39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20031B1-C345-9CAB-1957-DFE115F617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23C3CA-9B95-4EC0-AF39-1817EE2BCF93}"/>
              </a:ext>
            </a:extLst>
          </p:cNvPr>
          <p:cNvSpPr>
            <a:spLocks noGrp="1"/>
          </p:cNvSpPr>
          <p:nvPr>
            <p:ph type="sldNum" sz="quarter" idx="5"/>
          </p:nvPr>
        </p:nvSpPr>
        <p:spPr/>
        <p:txBody>
          <a:bodyPr/>
          <a:lstStyle/>
          <a:p>
            <a:fld id="{4BD5559C-9A1D-465C-BD22-C64000BBBB10}" type="slidenum">
              <a:rPr lang="en-IN" smtClean="0"/>
              <a:t>18</a:t>
            </a:fld>
            <a:endParaRPr lang="en-IN"/>
          </a:p>
        </p:txBody>
      </p:sp>
    </p:spTree>
    <p:extLst>
      <p:ext uri="{BB962C8B-B14F-4D97-AF65-F5344CB8AC3E}">
        <p14:creationId xmlns:p14="http://schemas.microsoft.com/office/powerpoint/2010/main" val="1982694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BFD21-0077-2912-8510-F8B00A33E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C182D-E9BC-051D-6AB6-F46BBC6949E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2CE779D-3DF6-01B7-E3DB-E5E43F09E4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2AC787-5FF7-BDFA-F24E-BB26B6643491}"/>
              </a:ext>
            </a:extLst>
          </p:cNvPr>
          <p:cNvSpPr>
            <a:spLocks noGrp="1"/>
          </p:cNvSpPr>
          <p:nvPr>
            <p:ph type="sldNum" sz="quarter" idx="5"/>
          </p:nvPr>
        </p:nvSpPr>
        <p:spPr/>
        <p:txBody>
          <a:bodyPr/>
          <a:lstStyle/>
          <a:p>
            <a:fld id="{4BD5559C-9A1D-465C-BD22-C64000BBBB10}" type="slidenum">
              <a:rPr lang="en-IN" smtClean="0"/>
              <a:t>19</a:t>
            </a:fld>
            <a:endParaRPr lang="en-IN"/>
          </a:p>
        </p:txBody>
      </p:sp>
    </p:spTree>
    <p:extLst>
      <p:ext uri="{BB962C8B-B14F-4D97-AF65-F5344CB8AC3E}">
        <p14:creationId xmlns:p14="http://schemas.microsoft.com/office/powerpoint/2010/main" val="39925725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572EA-46FA-119F-100A-8343E5365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DEFDA-731B-8507-F4FB-DB7ECE14360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D8AF991-AF06-1A3A-65FB-1FC532DC52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8BB02A-9A7E-7A58-1A08-44A1E5504D40}"/>
              </a:ext>
            </a:extLst>
          </p:cNvPr>
          <p:cNvSpPr>
            <a:spLocks noGrp="1"/>
          </p:cNvSpPr>
          <p:nvPr>
            <p:ph type="sldNum" sz="quarter" idx="5"/>
          </p:nvPr>
        </p:nvSpPr>
        <p:spPr/>
        <p:txBody>
          <a:bodyPr/>
          <a:lstStyle/>
          <a:p>
            <a:fld id="{4BD5559C-9A1D-465C-BD22-C64000BBBB10}" type="slidenum">
              <a:rPr lang="en-IN" smtClean="0"/>
              <a:t>20</a:t>
            </a:fld>
            <a:endParaRPr lang="en-IN"/>
          </a:p>
        </p:txBody>
      </p:sp>
    </p:spTree>
    <p:extLst>
      <p:ext uri="{BB962C8B-B14F-4D97-AF65-F5344CB8AC3E}">
        <p14:creationId xmlns:p14="http://schemas.microsoft.com/office/powerpoint/2010/main" val="295352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9953-8B37-5742-9E16-C3DF212E8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5E9CC-0BAA-6255-A82F-F523F8DF79E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4F599D-FAF5-24FF-6942-0064AEBD0F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EBB774-70B1-4073-F5DC-75ADD9306768}"/>
              </a:ext>
            </a:extLst>
          </p:cNvPr>
          <p:cNvSpPr>
            <a:spLocks noGrp="1"/>
          </p:cNvSpPr>
          <p:nvPr>
            <p:ph type="sldNum" sz="quarter" idx="5"/>
          </p:nvPr>
        </p:nvSpPr>
        <p:spPr/>
        <p:txBody>
          <a:bodyPr/>
          <a:lstStyle/>
          <a:p>
            <a:fld id="{4BD5559C-9A1D-465C-BD22-C64000BBBB10}" type="slidenum">
              <a:rPr lang="en-IN" smtClean="0"/>
              <a:t>21</a:t>
            </a:fld>
            <a:endParaRPr lang="en-IN"/>
          </a:p>
        </p:txBody>
      </p:sp>
    </p:spTree>
    <p:extLst>
      <p:ext uri="{BB962C8B-B14F-4D97-AF65-F5344CB8AC3E}">
        <p14:creationId xmlns:p14="http://schemas.microsoft.com/office/powerpoint/2010/main" val="35745810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FCEEF-116B-BA5C-8C19-4707638A5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513C-8D6C-53FB-5B42-EB1E44B4904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03807A2-A96E-1980-D98B-2D19335021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BB83A4-78A3-850F-2C5E-F16F0E0C2CCE}"/>
              </a:ext>
            </a:extLst>
          </p:cNvPr>
          <p:cNvSpPr>
            <a:spLocks noGrp="1"/>
          </p:cNvSpPr>
          <p:nvPr>
            <p:ph type="sldNum" sz="quarter" idx="5"/>
          </p:nvPr>
        </p:nvSpPr>
        <p:spPr/>
        <p:txBody>
          <a:bodyPr/>
          <a:lstStyle/>
          <a:p>
            <a:fld id="{4BD5559C-9A1D-465C-BD22-C64000BBBB10}" type="slidenum">
              <a:rPr lang="en-IN" smtClean="0"/>
              <a:t>22</a:t>
            </a:fld>
            <a:endParaRPr lang="en-IN"/>
          </a:p>
        </p:txBody>
      </p:sp>
    </p:spTree>
    <p:extLst>
      <p:ext uri="{BB962C8B-B14F-4D97-AF65-F5344CB8AC3E}">
        <p14:creationId xmlns:p14="http://schemas.microsoft.com/office/powerpoint/2010/main" val="594216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F9D6-43A1-27BD-A598-C288A0BB9A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B57FE-B841-A3CB-0849-90BC01F532B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7D9B28-D261-B62F-B60E-9FD3F95E90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ACBD6B-57EB-E969-1506-F866FE4ACBC9}"/>
              </a:ext>
            </a:extLst>
          </p:cNvPr>
          <p:cNvSpPr>
            <a:spLocks noGrp="1"/>
          </p:cNvSpPr>
          <p:nvPr>
            <p:ph type="sldNum" sz="quarter" idx="5"/>
          </p:nvPr>
        </p:nvSpPr>
        <p:spPr/>
        <p:txBody>
          <a:bodyPr/>
          <a:lstStyle/>
          <a:p>
            <a:fld id="{4BD5559C-9A1D-465C-BD22-C64000BBBB10}" type="slidenum">
              <a:rPr lang="en-IN" smtClean="0"/>
              <a:t>23</a:t>
            </a:fld>
            <a:endParaRPr lang="en-IN"/>
          </a:p>
        </p:txBody>
      </p:sp>
    </p:spTree>
    <p:extLst>
      <p:ext uri="{BB962C8B-B14F-4D97-AF65-F5344CB8AC3E}">
        <p14:creationId xmlns:p14="http://schemas.microsoft.com/office/powerpoint/2010/main" val="3373571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632B-F260-C3AD-FC15-096297910B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AB702-DA36-6B6B-25D2-31EA06C1700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D47F3E8-AC5B-6A61-7398-FDC05000D76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30A9DCD-8F56-0E9D-C1F3-2C490927DE00}"/>
              </a:ext>
            </a:extLst>
          </p:cNvPr>
          <p:cNvSpPr>
            <a:spLocks noGrp="1"/>
          </p:cNvSpPr>
          <p:nvPr>
            <p:ph type="sldNum" sz="quarter" idx="5"/>
          </p:nvPr>
        </p:nvSpPr>
        <p:spPr/>
        <p:txBody>
          <a:bodyPr/>
          <a:lstStyle/>
          <a:p>
            <a:fld id="{4BD5559C-9A1D-465C-BD22-C64000BBBB10}" type="slidenum">
              <a:rPr lang="en-IN" smtClean="0"/>
              <a:t>24</a:t>
            </a:fld>
            <a:endParaRPr lang="en-IN"/>
          </a:p>
        </p:txBody>
      </p:sp>
    </p:spTree>
    <p:extLst>
      <p:ext uri="{BB962C8B-B14F-4D97-AF65-F5344CB8AC3E}">
        <p14:creationId xmlns:p14="http://schemas.microsoft.com/office/powerpoint/2010/main" val="1013480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691E3-E3D8-EF21-C2A3-97E6D0C65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4117A-9A82-9361-698E-57AC4DD2A61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86B5BB9-DF94-36D2-80A2-4C199E0527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C632E23-664E-C6BD-FCEC-5B58396F1635}"/>
              </a:ext>
            </a:extLst>
          </p:cNvPr>
          <p:cNvSpPr>
            <a:spLocks noGrp="1"/>
          </p:cNvSpPr>
          <p:nvPr>
            <p:ph type="sldNum" sz="quarter" idx="5"/>
          </p:nvPr>
        </p:nvSpPr>
        <p:spPr/>
        <p:txBody>
          <a:bodyPr/>
          <a:lstStyle/>
          <a:p>
            <a:fld id="{4BD5559C-9A1D-465C-BD22-C64000BBBB10}" type="slidenum">
              <a:rPr lang="en-IN" smtClean="0"/>
              <a:t>25</a:t>
            </a:fld>
            <a:endParaRPr lang="en-IN"/>
          </a:p>
        </p:txBody>
      </p:sp>
    </p:spTree>
    <p:extLst>
      <p:ext uri="{BB962C8B-B14F-4D97-AF65-F5344CB8AC3E}">
        <p14:creationId xmlns:p14="http://schemas.microsoft.com/office/powerpoint/2010/main" val="397820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BC1CA-FD05-3165-08FE-4DE0E7C50D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F74BC-D546-BFA6-1EF2-CA8EF1A5D1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AAA2E5C-49B2-5C40-1550-4B2E3610BA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044A90E-1B56-C844-1577-05E84CE93DD6}"/>
              </a:ext>
            </a:extLst>
          </p:cNvPr>
          <p:cNvSpPr>
            <a:spLocks noGrp="1"/>
          </p:cNvSpPr>
          <p:nvPr>
            <p:ph type="sldNum" sz="quarter" idx="5"/>
          </p:nvPr>
        </p:nvSpPr>
        <p:spPr/>
        <p:txBody>
          <a:bodyPr/>
          <a:lstStyle/>
          <a:p>
            <a:fld id="{4BD5559C-9A1D-465C-BD22-C64000BBBB10}" type="slidenum">
              <a:rPr lang="en-IN" smtClean="0"/>
              <a:t>26</a:t>
            </a:fld>
            <a:endParaRPr lang="en-IN"/>
          </a:p>
        </p:txBody>
      </p:sp>
    </p:spTree>
    <p:extLst>
      <p:ext uri="{BB962C8B-B14F-4D97-AF65-F5344CB8AC3E}">
        <p14:creationId xmlns:p14="http://schemas.microsoft.com/office/powerpoint/2010/main" val="2066122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54E46-1AE8-B28A-EFB7-8FC8596E8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0DE0C-4C8E-0016-047B-6761BEE47C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90B37B-284A-0CEA-E70C-B7A492E6AC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3B53DB-C9DC-CB89-1C58-D9D05109D4E8}"/>
              </a:ext>
            </a:extLst>
          </p:cNvPr>
          <p:cNvSpPr>
            <a:spLocks noGrp="1"/>
          </p:cNvSpPr>
          <p:nvPr>
            <p:ph type="sldNum" sz="quarter" idx="5"/>
          </p:nvPr>
        </p:nvSpPr>
        <p:spPr/>
        <p:txBody>
          <a:bodyPr/>
          <a:lstStyle/>
          <a:p>
            <a:fld id="{4BD5559C-9A1D-465C-BD22-C64000BBBB10}" type="slidenum">
              <a:rPr lang="en-IN" smtClean="0"/>
              <a:t>27</a:t>
            </a:fld>
            <a:endParaRPr lang="en-IN"/>
          </a:p>
        </p:txBody>
      </p:sp>
    </p:spTree>
    <p:extLst>
      <p:ext uri="{BB962C8B-B14F-4D97-AF65-F5344CB8AC3E}">
        <p14:creationId xmlns:p14="http://schemas.microsoft.com/office/powerpoint/2010/main" val="2436211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6A32E-4697-BEEF-7D9F-970E3236F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967F2-A38A-9F40-4AAE-0BCDC3F14BE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6890C1A-BB6A-BA01-A18B-AFA2D64303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30D43E-366B-810C-ED5D-6F4DEF026E47}"/>
              </a:ext>
            </a:extLst>
          </p:cNvPr>
          <p:cNvSpPr>
            <a:spLocks noGrp="1"/>
          </p:cNvSpPr>
          <p:nvPr>
            <p:ph type="sldNum" sz="quarter" idx="5"/>
          </p:nvPr>
        </p:nvSpPr>
        <p:spPr/>
        <p:txBody>
          <a:bodyPr/>
          <a:lstStyle/>
          <a:p>
            <a:fld id="{4BD5559C-9A1D-465C-BD22-C64000BBBB10}" type="slidenum">
              <a:rPr lang="en-IN" smtClean="0"/>
              <a:t>28</a:t>
            </a:fld>
            <a:endParaRPr lang="en-IN"/>
          </a:p>
        </p:txBody>
      </p:sp>
    </p:spTree>
    <p:extLst>
      <p:ext uri="{BB962C8B-B14F-4D97-AF65-F5344CB8AC3E}">
        <p14:creationId xmlns:p14="http://schemas.microsoft.com/office/powerpoint/2010/main" val="25538254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A9C3-543A-38A2-CA7C-23601C954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98D1A-5C88-4207-A317-B54F0B4DEAE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DDAF638-A8D6-0648-D833-4D0090BF70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10ABAB2-8F83-A5BE-E334-CF703D94D30C}"/>
              </a:ext>
            </a:extLst>
          </p:cNvPr>
          <p:cNvSpPr>
            <a:spLocks noGrp="1"/>
          </p:cNvSpPr>
          <p:nvPr>
            <p:ph type="sldNum" sz="quarter" idx="5"/>
          </p:nvPr>
        </p:nvSpPr>
        <p:spPr/>
        <p:txBody>
          <a:bodyPr/>
          <a:lstStyle/>
          <a:p>
            <a:fld id="{4BD5559C-9A1D-465C-BD22-C64000BBBB10}" type="slidenum">
              <a:rPr lang="en-IN" smtClean="0"/>
              <a:t>29</a:t>
            </a:fld>
            <a:endParaRPr lang="en-IN"/>
          </a:p>
        </p:txBody>
      </p:sp>
    </p:spTree>
    <p:extLst>
      <p:ext uri="{BB962C8B-B14F-4D97-AF65-F5344CB8AC3E}">
        <p14:creationId xmlns:p14="http://schemas.microsoft.com/office/powerpoint/2010/main" val="33284556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52DF-6182-0EB6-97F0-C322F8EA9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2B439-4DAD-4113-DB9B-D0AA601115B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35B6D39-38BF-2951-7321-90FD96247C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7EDCE7-8FC4-954B-B59E-C3D0B2004934}"/>
              </a:ext>
            </a:extLst>
          </p:cNvPr>
          <p:cNvSpPr>
            <a:spLocks noGrp="1"/>
          </p:cNvSpPr>
          <p:nvPr>
            <p:ph type="sldNum" sz="quarter" idx="5"/>
          </p:nvPr>
        </p:nvSpPr>
        <p:spPr/>
        <p:txBody>
          <a:bodyPr/>
          <a:lstStyle/>
          <a:p>
            <a:fld id="{4BD5559C-9A1D-465C-BD22-C64000BBBB10}" type="slidenum">
              <a:rPr lang="en-IN" smtClean="0"/>
              <a:t>30</a:t>
            </a:fld>
            <a:endParaRPr lang="en-IN"/>
          </a:p>
        </p:txBody>
      </p:sp>
    </p:spTree>
    <p:extLst>
      <p:ext uri="{BB962C8B-B14F-4D97-AF65-F5344CB8AC3E}">
        <p14:creationId xmlns:p14="http://schemas.microsoft.com/office/powerpoint/2010/main" val="13309161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7241A-97D0-0ED0-CBD1-EB5E1E0FE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AA63D-5954-59D0-3756-D1DF73F945B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2AB946B-A215-6DFA-6B03-40D6EBA652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4CD435-0E1F-6CB3-9180-C6DDF7640A01}"/>
              </a:ext>
            </a:extLst>
          </p:cNvPr>
          <p:cNvSpPr>
            <a:spLocks noGrp="1"/>
          </p:cNvSpPr>
          <p:nvPr>
            <p:ph type="sldNum" sz="quarter" idx="5"/>
          </p:nvPr>
        </p:nvSpPr>
        <p:spPr/>
        <p:txBody>
          <a:bodyPr/>
          <a:lstStyle/>
          <a:p>
            <a:fld id="{4BD5559C-9A1D-465C-BD22-C64000BBBB10}" type="slidenum">
              <a:rPr lang="en-IN" smtClean="0"/>
              <a:t>31</a:t>
            </a:fld>
            <a:endParaRPr lang="en-IN"/>
          </a:p>
        </p:txBody>
      </p:sp>
    </p:spTree>
    <p:extLst>
      <p:ext uri="{BB962C8B-B14F-4D97-AF65-F5344CB8AC3E}">
        <p14:creationId xmlns:p14="http://schemas.microsoft.com/office/powerpoint/2010/main" val="1497593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9407-4E5C-5DE8-2611-B2C130D16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FD41C-E8E4-23FA-D4A9-16D40E64189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88BDEC-9475-108E-39C8-71001C1A4E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3855C4-3036-4A36-82FE-B0CF31E08820}"/>
              </a:ext>
            </a:extLst>
          </p:cNvPr>
          <p:cNvSpPr>
            <a:spLocks noGrp="1"/>
          </p:cNvSpPr>
          <p:nvPr>
            <p:ph type="sldNum" sz="quarter" idx="5"/>
          </p:nvPr>
        </p:nvSpPr>
        <p:spPr/>
        <p:txBody>
          <a:bodyPr/>
          <a:lstStyle/>
          <a:p>
            <a:fld id="{4BD5559C-9A1D-465C-BD22-C64000BBBB10}" type="slidenum">
              <a:rPr lang="en-IN" smtClean="0"/>
              <a:t>32</a:t>
            </a:fld>
            <a:endParaRPr lang="en-IN"/>
          </a:p>
        </p:txBody>
      </p:sp>
    </p:spTree>
    <p:extLst>
      <p:ext uri="{BB962C8B-B14F-4D97-AF65-F5344CB8AC3E}">
        <p14:creationId xmlns:p14="http://schemas.microsoft.com/office/powerpoint/2010/main" val="33343153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B6B8-E674-0B44-18AA-C11CC59AF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734B3-899B-E2DC-79FE-E455FBC3EF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989220-31D1-E753-A6EE-5E6495B885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7F7703-9C91-A014-4B30-137D8948C842}"/>
              </a:ext>
            </a:extLst>
          </p:cNvPr>
          <p:cNvSpPr>
            <a:spLocks noGrp="1"/>
          </p:cNvSpPr>
          <p:nvPr>
            <p:ph type="sldNum" sz="quarter" idx="5"/>
          </p:nvPr>
        </p:nvSpPr>
        <p:spPr/>
        <p:txBody>
          <a:bodyPr/>
          <a:lstStyle/>
          <a:p>
            <a:fld id="{4BD5559C-9A1D-465C-BD22-C64000BBBB10}" type="slidenum">
              <a:rPr lang="en-IN" smtClean="0"/>
              <a:t>33</a:t>
            </a:fld>
            <a:endParaRPr lang="en-IN"/>
          </a:p>
        </p:txBody>
      </p:sp>
    </p:spTree>
    <p:extLst>
      <p:ext uri="{BB962C8B-B14F-4D97-AF65-F5344CB8AC3E}">
        <p14:creationId xmlns:p14="http://schemas.microsoft.com/office/powerpoint/2010/main" val="2290791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112BE-9388-81C2-633F-412284AB8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6B630-9257-B896-FEBB-E28A3C9E25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2F6A1EE-5D64-28F9-1053-9DE09F0F11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917D90-C04E-BCD6-88BB-4E767C76194F}"/>
              </a:ext>
            </a:extLst>
          </p:cNvPr>
          <p:cNvSpPr>
            <a:spLocks noGrp="1"/>
          </p:cNvSpPr>
          <p:nvPr>
            <p:ph type="sldNum" sz="quarter" idx="5"/>
          </p:nvPr>
        </p:nvSpPr>
        <p:spPr/>
        <p:txBody>
          <a:bodyPr/>
          <a:lstStyle/>
          <a:p>
            <a:fld id="{4BD5559C-9A1D-465C-BD22-C64000BBBB10}" type="slidenum">
              <a:rPr lang="en-IN" smtClean="0"/>
              <a:t>34</a:t>
            </a:fld>
            <a:endParaRPr lang="en-IN"/>
          </a:p>
        </p:txBody>
      </p:sp>
    </p:spTree>
    <p:extLst>
      <p:ext uri="{BB962C8B-B14F-4D97-AF65-F5344CB8AC3E}">
        <p14:creationId xmlns:p14="http://schemas.microsoft.com/office/powerpoint/2010/main" val="880796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157C-43DF-BF1C-9442-A7372D420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C2E25-86D3-62FC-11CA-B050787B8B1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B737C39-5BE0-77AE-4890-2A2B6F12C11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809AB60-1B1D-E94F-9000-CCDB2A07FD1B}"/>
              </a:ext>
            </a:extLst>
          </p:cNvPr>
          <p:cNvSpPr>
            <a:spLocks noGrp="1"/>
          </p:cNvSpPr>
          <p:nvPr>
            <p:ph type="sldNum" sz="quarter" idx="5"/>
          </p:nvPr>
        </p:nvSpPr>
        <p:spPr/>
        <p:txBody>
          <a:bodyPr/>
          <a:lstStyle/>
          <a:p>
            <a:fld id="{4BD5559C-9A1D-465C-BD22-C64000BBBB10}" type="slidenum">
              <a:rPr lang="en-IN" smtClean="0"/>
              <a:t>35</a:t>
            </a:fld>
            <a:endParaRPr lang="en-IN"/>
          </a:p>
        </p:txBody>
      </p:sp>
    </p:spTree>
    <p:extLst>
      <p:ext uri="{BB962C8B-B14F-4D97-AF65-F5344CB8AC3E}">
        <p14:creationId xmlns:p14="http://schemas.microsoft.com/office/powerpoint/2010/main" val="1158269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670B-A6A0-DD15-4479-95EDDF9DB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AC747-050F-7C08-F504-4748060352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DA0D15D-A50B-3FA9-E365-6F63CF0A06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9F3BFBC-8388-BA0F-5612-2B5C6C7E0A8F}"/>
              </a:ext>
            </a:extLst>
          </p:cNvPr>
          <p:cNvSpPr>
            <a:spLocks noGrp="1"/>
          </p:cNvSpPr>
          <p:nvPr>
            <p:ph type="sldNum" sz="quarter" idx="5"/>
          </p:nvPr>
        </p:nvSpPr>
        <p:spPr/>
        <p:txBody>
          <a:bodyPr/>
          <a:lstStyle/>
          <a:p>
            <a:fld id="{4BD5559C-9A1D-465C-BD22-C64000BBBB10}" type="slidenum">
              <a:rPr lang="en-IN" smtClean="0"/>
              <a:t>36</a:t>
            </a:fld>
            <a:endParaRPr lang="en-IN"/>
          </a:p>
        </p:txBody>
      </p:sp>
    </p:spTree>
    <p:extLst>
      <p:ext uri="{BB962C8B-B14F-4D97-AF65-F5344CB8AC3E}">
        <p14:creationId xmlns:p14="http://schemas.microsoft.com/office/powerpoint/2010/main" val="4866839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35E0C-AD05-D191-2B63-FB494FD61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F1238-4744-804F-8EB2-E6048878969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017FD8-0B4C-ACF8-21FD-8F0C75F051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C028BC-158D-60AE-8E3C-FE8C955014A3}"/>
              </a:ext>
            </a:extLst>
          </p:cNvPr>
          <p:cNvSpPr>
            <a:spLocks noGrp="1"/>
          </p:cNvSpPr>
          <p:nvPr>
            <p:ph type="sldNum" sz="quarter" idx="5"/>
          </p:nvPr>
        </p:nvSpPr>
        <p:spPr/>
        <p:txBody>
          <a:bodyPr/>
          <a:lstStyle/>
          <a:p>
            <a:fld id="{4BD5559C-9A1D-465C-BD22-C64000BBBB10}" type="slidenum">
              <a:rPr lang="en-IN" smtClean="0"/>
              <a:t>37</a:t>
            </a:fld>
            <a:endParaRPr lang="en-IN"/>
          </a:p>
        </p:txBody>
      </p:sp>
    </p:spTree>
    <p:extLst>
      <p:ext uri="{BB962C8B-B14F-4D97-AF65-F5344CB8AC3E}">
        <p14:creationId xmlns:p14="http://schemas.microsoft.com/office/powerpoint/2010/main" val="20884252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E91E-487B-87D3-9CF9-A6CDB758A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EA7FA-4827-73BA-F944-B8E1D9B8A70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CFF43F4-119D-52C1-ADB3-AAF89A330B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1011B5-6EE2-B3EB-7B6A-58195C4F31E2}"/>
              </a:ext>
            </a:extLst>
          </p:cNvPr>
          <p:cNvSpPr>
            <a:spLocks noGrp="1"/>
          </p:cNvSpPr>
          <p:nvPr>
            <p:ph type="sldNum" sz="quarter" idx="5"/>
          </p:nvPr>
        </p:nvSpPr>
        <p:spPr/>
        <p:txBody>
          <a:bodyPr/>
          <a:lstStyle/>
          <a:p>
            <a:fld id="{4BD5559C-9A1D-465C-BD22-C64000BBBB10}" type="slidenum">
              <a:rPr lang="en-IN" smtClean="0"/>
              <a:t>38</a:t>
            </a:fld>
            <a:endParaRPr lang="en-IN"/>
          </a:p>
        </p:txBody>
      </p:sp>
    </p:spTree>
    <p:extLst>
      <p:ext uri="{BB962C8B-B14F-4D97-AF65-F5344CB8AC3E}">
        <p14:creationId xmlns:p14="http://schemas.microsoft.com/office/powerpoint/2010/main" val="39639944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33258-5F22-5758-250B-36203EDEB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CBD28-1CDC-9C05-D03B-BB95C2B59A7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F0B469-67B4-06E1-CC5F-400E4AC30C7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C13889-1898-B5BA-03B2-3F5F694A6AE3}"/>
              </a:ext>
            </a:extLst>
          </p:cNvPr>
          <p:cNvSpPr>
            <a:spLocks noGrp="1"/>
          </p:cNvSpPr>
          <p:nvPr>
            <p:ph type="sldNum" sz="quarter" idx="5"/>
          </p:nvPr>
        </p:nvSpPr>
        <p:spPr/>
        <p:txBody>
          <a:bodyPr/>
          <a:lstStyle/>
          <a:p>
            <a:fld id="{4BD5559C-9A1D-465C-BD22-C64000BBBB10}" type="slidenum">
              <a:rPr lang="en-IN" smtClean="0"/>
              <a:t>39</a:t>
            </a:fld>
            <a:endParaRPr lang="en-IN"/>
          </a:p>
        </p:txBody>
      </p:sp>
    </p:spTree>
    <p:extLst>
      <p:ext uri="{BB962C8B-B14F-4D97-AF65-F5344CB8AC3E}">
        <p14:creationId xmlns:p14="http://schemas.microsoft.com/office/powerpoint/2010/main" val="3588674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00E2-BABA-1BB2-CB9E-84193FD9C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57650-C144-89FB-C861-4122793B4C8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6282C0F-A973-A7F0-F3DF-40CFAD72ACC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B58963-5E6A-9255-5D72-50891E1892C2}"/>
              </a:ext>
            </a:extLst>
          </p:cNvPr>
          <p:cNvSpPr>
            <a:spLocks noGrp="1"/>
          </p:cNvSpPr>
          <p:nvPr>
            <p:ph type="sldNum" sz="quarter" idx="5"/>
          </p:nvPr>
        </p:nvSpPr>
        <p:spPr/>
        <p:txBody>
          <a:bodyPr/>
          <a:lstStyle/>
          <a:p>
            <a:fld id="{4BD5559C-9A1D-465C-BD22-C64000BBBB10}" type="slidenum">
              <a:rPr lang="en-IN" smtClean="0"/>
              <a:t>40</a:t>
            </a:fld>
            <a:endParaRPr lang="en-IN"/>
          </a:p>
        </p:txBody>
      </p:sp>
    </p:spTree>
    <p:extLst>
      <p:ext uri="{BB962C8B-B14F-4D97-AF65-F5344CB8AC3E}">
        <p14:creationId xmlns:p14="http://schemas.microsoft.com/office/powerpoint/2010/main" val="42716696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0520D-FE57-B409-53E3-FC4ACD20F0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91C29-D7F1-97A3-2228-F3DF3F86418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FC093E-46A6-6F2B-18E2-CABA937B5F1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6121DE2-F3DF-6367-9CE8-C6BF6E286518}"/>
              </a:ext>
            </a:extLst>
          </p:cNvPr>
          <p:cNvSpPr>
            <a:spLocks noGrp="1"/>
          </p:cNvSpPr>
          <p:nvPr>
            <p:ph type="sldNum" sz="quarter" idx="5"/>
          </p:nvPr>
        </p:nvSpPr>
        <p:spPr/>
        <p:txBody>
          <a:bodyPr/>
          <a:lstStyle/>
          <a:p>
            <a:fld id="{4BD5559C-9A1D-465C-BD22-C64000BBBB10}" type="slidenum">
              <a:rPr lang="en-IN" smtClean="0"/>
              <a:t>41</a:t>
            </a:fld>
            <a:endParaRPr lang="en-IN"/>
          </a:p>
        </p:txBody>
      </p:sp>
    </p:spTree>
    <p:extLst>
      <p:ext uri="{BB962C8B-B14F-4D97-AF65-F5344CB8AC3E}">
        <p14:creationId xmlns:p14="http://schemas.microsoft.com/office/powerpoint/2010/main" val="8047377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7AADC-AB7A-63C7-5401-2C302F256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98D2E-C695-8B45-5867-F2819C1A35B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DE9497A-E8B4-B0F6-6115-01EE0D19AB5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45CC38D-BBDF-04AC-AB9B-DB43F6363DD7}"/>
              </a:ext>
            </a:extLst>
          </p:cNvPr>
          <p:cNvSpPr>
            <a:spLocks noGrp="1"/>
          </p:cNvSpPr>
          <p:nvPr>
            <p:ph type="sldNum" sz="quarter" idx="5"/>
          </p:nvPr>
        </p:nvSpPr>
        <p:spPr/>
        <p:txBody>
          <a:bodyPr/>
          <a:lstStyle/>
          <a:p>
            <a:fld id="{4BD5559C-9A1D-465C-BD22-C64000BBBB10}" type="slidenum">
              <a:rPr lang="en-IN" smtClean="0"/>
              <a:t>42</a:t>
            </a:fld>
            <a:endParaRPr lang="en-IN"/>
          </a:p>
        </p:txBody>
      </p:sp>
    </p:spTree>
    <p:extLst>
      <p:ext uri="{BB962C8B-B14F-4D97-AF65-F5344CB8AC3E}">
        <p14:creationId xmlns:p14="http://schemas.microsoft.com/office/powerpoint/2010/main" val="17670561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5FFA2-7793-1C1C-498D-D42436849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BF2EA-D643-C67D-A67A-1E395C6FB9B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7FCD29-2128-3A4B-A86F-2FF4D20069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5407DD-E26E-DFF9-C111-7B459061437A}"/>
              </a:ext>
            </a:extLst>
          </p:cNvPr>
          <p:cNvSpPr>
            <a:spLocks noGrp="1"/>
          </p:cNvSpPr>
          <p:nvPr>
            <p:ph type="sldNum" sz="quarter" idx="5"/>
          </p:nvPr>
        </p:nvSpPr>
        <p:spPr/>
        <p:txBody>
          <a:bodyPr/>
          <a:lstStyle/>
          <a:p>
            <a:fld id="{4BD5559C-9A1D-465C-BD22-C64000BBBB10}" type="slidenum">
              <a:rPr lang="en-IN" smtClean="0"/>
              <a:t>43</a:t>
            </a:fld>
            <a:endParaRPr lang="en-IN"/>
          </a:p>
        </p:txBody>
      </p:sp>
    </p:spTree>
    <p:extLst>
      <p:ext uri="{BB962C8B-B14F-4D97-AF65-F5344CB8AC3E}">
        <p14:creationId xmlns:p14="http://schemas.microsoft.com/office/powerpoint/2010/main" val="42853748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7D1D4-5B5D-639A-735F-B88AD41FF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CBA2C-15AF-9241-D8ED-2BB65454089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1984697-1C0C-A60D-37AA-DCD911A483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1DF0791-82E7-A9B3-7353-617900A841D5}"/>
              </a:ext>
            </a:extLst>
          </p:cNvPr>
          <p:cNvSpPr>
            <a:spLocks noGrp="1"/>
          </p:cNvSpPr>
          <p:nvPr>
            <p:ph type="sldNum" sz="quarter" idx="5"/>
          </p:nvPr>
        </p:nvSpPr>
        <p:spPr/>
        <p:txBody>
          <a:bodyPr/>
          <a:lstStyle/>
          <a:p>
            <a:fld id="{4BD5559C-9A1D-465C-BD22-C64000BBBB10}" type="slidenum">
              <a:rPr lang="en-IN" smtClean="0"/>
              <a:t>44</a:t>
            </a:fld>
            <a:endParaRPr lang="en-IN"/>
          </a:p>
        </p:txBody>
      </p:sp>
    </p:spTree>
    <p:extLst>
      <p:ext uri="{BB962C8B-B14F-4D97-AF65-F5344CB8AC3E}">
        <p14:creationId xmlns:p14="http://schemas.microsoft.com/office/powerpoint/2010/main" val="35806419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9F80-0943-77F1-EE45-5ED6D60C4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43E44D-005C-B7E9-E5C0-FD4CA3070A2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E751425-A7DD-952C-8B9F-BF2855D1D6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D7A65F-6345-3F9A-C57C-818AC87B0751}"/>
              </a:ext>
            </a:extLst>
          </p:cNvPr>
          <p:cNvSpPr>
            <a:spLocks noGrp="1"/>
          </p:cNvSpPr>
          <p:nvPr>
            <p:ph type="sldNum" sz="quarter" idx="5"/>
          </p:nvPr>
        </p:nvSpPr>
        <p:spPr/>
        <p:txBody>
          <a:bodyPr/>
          <a:lstStyle/>
          <a:p>
            <a:fld id="{4BD5559C-9A1D-465C-BD22-C64000BBBB10}" type="slidenum">
              <a:rPr lang="en-IN" smtClean="0"/>
              <a:t>45</a:t>
            </a:fld>
            <a:endParaRPr lang="en-IN"/>
          </a:p>
        </p:txBody>
      </p:sp>
    </p:spTree>
    <p:extLst>
      <p:ext uri="{BB962C8B-B14F-4D97-AF65-F5344CB8AC3E}">
        <p14:creationId xmlns:p14="http://schemas.microsoft.com/office/powerpoint/2010/main" val="20931812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CFB9-5D89-D24D-4A3D-0A42D8D53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005BC-B95F-A3A1-2E86-BD31A34E76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4008673-AAC9-7B8B-BA0F-BC4EDF3A2E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A8660D-9352-CDC2-4469-006294A09A5B}"/>
              </a:ext>
            </a:extLst>
          </p:cNvPr>
          <p:cNvSpPr>
            <a:spLocks noGrp="1"/>
          </p:cNvSpPr>
          <p:nvPr>
            <p:ph type="sldNum" sz="quarter" idx="5"/>
          </p:nvPr>
        </p:nvSpPr>
        <p:spPr/>
        <p:txBody>
          <a:bodyPr/>
          <a:lstStyle/>
          <a:p>
            <a:fld id="{4BD5559C-9A1D-465C-BD22-C64000BBBB10}" type="slidenum">
              <a:rPr lang="en-IN" smtClean="0"/>
              <a:t>46</a:t>
            </a:fld>
            <a:endParaRPr lang="en-IN"/>
          </a:p>
        </p:txBody>
      </p:sp>
    </p:spTree>
    <p:extLst>
      <p:ext uri="{BB962C8B-B14F-4D97-AF65-F5344CB8AC3E}">
        <p14:creationId xmlns:p14="http://schemas.microsoft.com/office/powerpoint/2010/main" val="34148001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A9180-51A2-5F62-B6EE-2094F556D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F13D4-6D1F-630B-47EF-D267A6989A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EB03225-5376-1F81-6F49-6277B2679F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FF1C12-2F8F-E5FD-E89B-708DF5CC85C3}"/>
              </a:ext>
            </a:extLst>
          </p:cNvPr>
          <p:cNvSpPr>
            <a:spLocks noGrp="1"/>
          </p:cNvSpPr>
          <p:nvPr>
            <p:ph type="sldNum" sz="quarter" idx="5"/>
          </p:nvPr>
        </p:nvSpPr>
        <p:spPr/>
        <p:txBody>
          <a:bodyPr/>
          <a:lstStyle/>
          <a:p>
            <a:fld id="{4BD5559C-9A1D-465C-BD22-C64000BBBB10}" type="slidenum">
              <a:rPr lang="en-IN" smtClean="0"/>
              <a:t>47</a:t>
            </a:fld>
            <a:endParaRPr lang="en-IN"/>
          </a:p>
        </p:txBody>
      </p:sp>
    </p:spTree>
    <p:extLst>
      <p:ext uri="{BB962C8B-B14F-4D97-AF65-F5344CB8AC3E}">
        <p14:creationId xmlns:p14="http://schemas.microsoft.com/office/powerpoint/2010/main" val="19724443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DAE0-5550-8CC1-5173-FE9A0D32F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FBD70-82B7-BF20-8881-9E6847B02E1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45F4EE2-49A4-F059-C957-4E4A7BEB3EE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03FB11-3F2F-6C63-0D1C-28F656AC2217}"/>
              </a:ext>
            </a:extLst>
          </p:cNvPr>
          <p:cNvSpPr>
            <a:spLocks noGrp="1"/>
          </p:cNvSpPr>
          <p:nvPr>
            <p:ph type="sldNum" sz="quarter" idx="5"/>
          </p:nvPr>
        </p:nvSpPr>
        <p:spPr/>
        <p:txBody>
          <a:bodyPr/>
          <a:lstStyle/>
          <a:p>
            <a:fld id="{4BD5559C-9A1D-465C-BD22-C64000BBBB10}" type="slidenum">
              <a:rPr lang="en-IN" smtClean="0"/>
              <a:t>48</a:t>
            </a:fld>
            <a:endParaRPr lang="en-IN"/>
          </a:p>
        </p:txBody>
      </p:sp>
    </p:spTree>
    <p:extLst>
      <p:ext uri="{BB962C8B-B14F-4D97-AF65-F5344CB8AC3E}">
        <p14:creationId xmlns:p14="http://schemas.microsoft.com/office/powerpoint/2010/main" val="23398017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61052-187A-AA56-5F96-330E83589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11F55-2153-51B2-824E-52F1F29FB68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3CC18F7-933E-4636-DBA8-B7AADA5376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E39479-DC7F-7612-8418-324DF95B6D48}"/>
              </a:ext>
            </a:extLst>
          </p:cNvPr>
          <p:cNvSpPr>
            <a:spLocks noGrp="1"/>
          </p:cNvSpPr>
          <p:nvPr>
            <p:ph type="sldNum" sz="quarter" idx="5"/>
          </p:nvPr>
        </p:nvSpPr>
        <p:spPr/>
        <p:txBody>
          <a:bodyPr/>
          <a:lstStyle/>
          <a:p>
            <a:fld id="{4BD5559C-9A1D-465C-BD22-C64000BBBB10}" type="slidenum">
              <a:rPr lang="en-IN" smtClean="0"/>
              <a:t>49</a:t>
            </a:fld>
            <a:endParaRPr lang="en-IN"/>
          </a:p>
        </p:txBody>
      </p:sp>
    </p:spTree>
    <p:extLst>
      <p:ext uri="{BB962C8B-B14F-4D97-AF65-F5344CB8AC3E}">
        <p14:creationId xmlns:p14="http://schemas.microsoft.com/office/powerpoint/2010/main" val="10681491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19C32-7F16-831E-FC86-78031D94A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AB1452-21A6-6EE2-2752-1A8E0757C9C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027150F-5493-3AE2-0BA3-F2B08F84C52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0A9C5A-8A1C-9F57-A461-4DCBA679DEFD}"/>
              </a:ext>
            </a:extLst>
          </p:cNvPr>
          <p:cNvSpPr>
            <a:spLocks noGrp="1"/>
          </p:cNvSpPr>
          <p:nvPr>
            <p:ph type="sldNum" sz="quarter" idx="5"/>
          </p:nvPr>
        </p:nvSpPr>
        <p:spPr/>
        <p:txBody>
          <a:bodyPr/>
          <a:lstStyle/>
          <a:p>
            <a:fld id="{4BD5559C-9A1D-465C-BD22-C64000BBBB10}" type="slidenum">
              <a:rPr lang="en-IN" smtClean="0"/>
              <a:t>50</a:t>
            </a:fld>
            <a:endParaRPr lang="en-IN"/>
          </a:p>
        </p:txBody>
      </p:sp>
    </p:spTree>
    <p:extLst>
      <p:ext uri="{BB962C8B-B14F-4D97-AF65-F5344CB8AC3E}">
        <p14:creationId xmlns:p14="http://schemas.microsoft.com/office/powerpoint/2010/main" val="18903852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5CCF-DF17-4CFE-47BE-27C101BA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928AF-202C-CC71-60F1-4E1B473563C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7345021-21E7-CB01-EF20-DB1DDF85F5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68B831-D630-87E5-B08C-1AF94D55DC90}"/>
              </a:ext>
            </a:extLst>
          </p:cNvPr>
          <p:cNvSpPr>
            <a:spLocks noGrp="1"/>
          </p:cNvSpPr>
          <p:nvPr>
            <p:ph type="sldNum" sz="quarter" idx="5"/>
          </p:nvPr>
        </p:nvSpPr>
        <p:spPr/>
        <p:txBody>
          <a:bodyPr/>
          <a:lstStyle/>
          <a:p>
            <a:fld id="{4BD5559C-9A1D-465C-BD22-C64000BBBB10}" type="slidenum">
              <a:rPr lang="en-IN" smtClean="0"/>
              <a:t>51</a:t>
            </a:fld>
            <a:endParaRPr lang="en-IN"/>
          </a:p>
        </p:txBody>
      </p:sp>
    </p:spTree>
    <p:extLst>
      <p:ext uri="{BB962C8B-B14F-4D97-AF65-F5344CB8AC3E}">
        <p14:creationId xmlns:p14="http://schemas.microsoft.com/office/powerpoint/2010/main" val="13698182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031E7-25B2-CC9D-84C3-0CD947BD8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7860C-582D-19C6-188F-33B05916CCE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532844C-95E9-CEEF-D52B-863CBB127D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1BF4FB-BE7C-499A-992D-F14850CB2DEE}"/>
              </a:ext>
            </a:extLst>
          </p:cNvPr>
          <p:cNvSpPr>
            <a:spLocks noGrp="1"/>
          </p:cNvSpPr>
          <p:nvPr>
            <p:ph type="sldNum" sz="quarter" idx="5"/>
          </p:nvPr>
        </p:nvSpPr>
        <p:spPr/>
        <p:txBody>
          <a:bodyPr/>
          <a:lstStyle/>
          <a:p>
            <a:fld id="{4BD5559C-9A1D-465C-BD22-C64000BBBB10}" type="slidenum">
              <a:rPr lang="en-IN" smtClean="0"/>
              <a:t>52</a:t>
            </a:fld>
            <a:endParaRPr lang="en-IN"/>
          </a:p>
        </p:txBody>
      </p:sp>
    </p:spTree>
    <p:extLst>
      <p:ext uri="{BB962C8B-B14F-4D97-AF65-F5344CB8AC3E}">
        <p14:creationId xmlns:p14="http://schemas.microsoft.com/office/powerpoint/2010/main" val="5470646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27EEB-0080-28BC-4F3E-063F886F2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D2F17-2E9D-D4DF-A590-5847C385AFA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990A42-9798-E5B0-910D-9B97A78AA5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30204E7-FD3D-1C3E-AFC8-1DBA8CA4F4B4}"/>
              </a:ext>
            </a:extLst>
          </p:cNvPr>
          <p:cNvSpPr>
            <a:spLocks noGrp="1"/>
          </p:cNvSpPr>
          <p:nvPr>
            <p:ph type="sldNum" sz="quarter" idx="5"/>
          </p:nvPr>
        </p:nvSpPr>
        <p:spPr/>
        <p:txBody>
          <a:bodyPr/>
          <a:lstStyle/>
          <a:p>
            <a:fld id="{4BD5559C-9A1D-465C-BD22-C64000BBBB10}" type="slidenum">
              <a:rPr lang="en-IN" smtClean="0"/>
              <a:t>53</a:t>
            </a:fld>
            <a:endParaRPr lang="en-IN"/>
          </a:p>
        </p:txBody>
      </p:sp>
    </p:spTree>
    <p:extLst>
      <p:ext uri="{BB962C8B-B14F-4D97-AF65-F5344CB8AC3E}">
        <p14:creationId xmlns:p14="http://schemas.microsoft.com/office/powerpoint/2010/main" val="40613707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923B-D2D3-1899-A45E-742DD39F3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B2884-8749-AFED-B032-BC8BF874165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3F2632-B6C5-C12E-FB82-BEB3BA226C5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A3D302C-70BC-FB8B-08B4-2940FB444D02}"/>
              </a:ext>
            </a:extLst>
          </p:cNvPr>
          <p:cNvSpPr>
            <a:spLocks noGrp="1"/>
          </p:cNvSpPr>
          <p:nvPr>
            <p:ph type="sldNum" sz="quarter" idx="5"/>
          </p:nvPr>
        </p:nvSpPr>
        <p:spPr/>
        <p:txBody>
          <a:bodyPr/>
          <a:lstStyle/>
          <a:p>
            <a:fld id="{4BD5559C-9A1D-465C-BD22-C64000BBBB10}" type="slidenum">
              <a:rPr lang="en-IN" smtClean="0"/>
              <a:t>54</a:t>
            </a:fld>
            <a:endParaRPr lang="en-IN"/>
          </a:p>
        </p:txBody>
      </p:sp>
    </p:spTree>
    <p:extLst>
      <p:ext uri="{BB962C8B-B14F-4D97-AF65-F5344CB8AC3E}">
        <p14:creationId xmlns:p14="http://schemas.microsoft.com/office/powerpoint/2010/main" val="31599046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37B64-C833-938B-50A8-9F9B5E676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CDDBD-68AF-C70D-FE4A-6CBE3D73BD8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503BC33-05F6-C1EB-87FE-ADCC945A11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E64E39-01C5-F452-C262-42B3ACF8D8DE}"/>
              </a:ext>
            </a:extLst>
          </p:cNvPr>
          <p:cNvSpPr>
            <a:spLocks noGrp="1"/>
          </p:cNvSpPr>
          <p:nvPr>
            <p:ph type="sldNum" sz="quarter" idx="5"/>
          </p:nvPr>
        </p:nvSpPr>
        <p:spPr/>
        <p:txBody>
          <a:bodyPr/>
          <a:lstStyle/>
          <a:p>
            <a:fld id="{4BD5559C-9A1D-465C-BD22-C64000BBBB10}" type="slidenum">
              <a:rPr lang="en-IN" smtClean="0"/>
              <a:t>55</a:t>
            </a:fld>
            <a:endParaRPr lang="en-IN"/>
          </a:p>
        </p:txBody>
      </p:sp>
    </p:spTree>
    <p:extLst>
      <p:ext uri="{BB962C8B-B14F-4D97-AF65-F5344CB8AC3E}">
        <p14:creationId xmlns:p14="http://schemas.microsoft.com/office/powerpoint/2010/main" val="26374924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D0DF-096F-0E68-2832-BB2D8157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1B408-33FD-9273-063A-B8AE13BDDA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F0B586D-B7CA-D67B-ED69-60E38AB9A2B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F40C7C-4091-B22F-8F00-7A530A764277}"/>
              </a:ext>
            </a:extLst>
          </p:cNvPr>
          <p:cNvSpPr>
            <a:spLocks noGrp="1"/>
          </p:cNvSpPr>
          <p:nvPr>
            <p:ph type="sldNum" sz="quarter" idx="5"/>
          </p:nvPr>
        </p:nvSpPr>
        <p:spPr/>
        <p:txBody>
          <a:bodyPr/>
          <a:lstStyle/>
          <a:p>
            <a:fld id="{4BD5559C-9A1D-465C-BD22-C64000BBBB10}" type="slidenum">
              <a:rPr lang="en-IN" smtClean="0"/>
              <a:t>56</a:t>
            </a:fld>
            <a:endParaRPr lang="en-IN"/>
          </a:p>
        </p:txBody>
      </p:sp>
    </p:spTree>
    <p:extLst>
      <p:ext uri="{BB962C8B-B14F-4D97-AF65-F5344CB8AC3E}">
        <p14:creationId xmlns:p14="http://schemas.microsoft.com/office/powerpoint/2010/main" val="34562050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3740-4F42-8CA7-3C8D-3922966BA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01755-5C7A-18A4-362C-0444B166939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4E54807-CE6D-FE98-1E0A-98379A81204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9A8CB1-5D34-CD5D-F019-A1A736C9258B}"/>
              </a:ext>
            </a:extLst>
          </p:cNvPr>
          <p:cNvSpPr>
            <a:spLocks noGrp="1"/>
          </p:cNvSpPr>
          <p:nvPr>
            <p:ph type="sldNum" sz="quarter" idx="5"/>
          </p:nvPr>
        </p:nvSpPr>
        <p:spPr/>
        <p:txBody>
          <a:bodyPr/>
          <a:lstStyle/>
          <a:p>
            <a:fld id="{4BD5559C-9A1D-465C-BD22-C64000BBBB10}" type="slidenum">
              <a:rPr lang="en-IN" smtClean="0"/>
              <a:t>57</a:t>
            </a:fld>
            <a:endParaRPr lang="en-IN"/>
          </a:p>
        </p:txBody>
      </p:sp>
    </p:spTree>
    <p:extLst>
      <p:ext uri="{BB962C8B-B14F-4D97-AF65-F5344CB8AC3E}">
        <p14:creationId xmlns:p14="http://schemas.microsoft.com/office/powerpoint/2010/main" val="7816155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43EF-A691-F174-6925-CEDC80160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24FA6-A067-52C0-2145-4A13CC38EC6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A17FCEA-87D9-7381-68B3-E27338D0BDB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754472-6C0E-9C0B-604A-FC13E030C4DB}"/>
              </a:ext>
            </a:extLst>
          </p:cNvPr>
          <p:cNvSpPr>
            <a:spLocks noGrp="1"/>
          </p:cNvSpPr>
          <p:nvPr>
            <p:ph type="sldNum" sz="quarter" idx="5"/>
          </p:nvPr>
        </p:nvSpPr>
        <p:spPr/>
        <p:txBody>
          <a:bodyPr/>
          <a:lstStyle/>
          <a:p>
            <a:fld id="{4BD5559C-9A1D-465C-BD22-C64000BBBB10}" type="slidenum">
              <a:rPr lang="en-IN" smtClean="0"/>
              <a:t>58</a:t>
            </a:fld>
            <a:endParaRPr lang="en-IN"/>
          </a:p>
        </p:txBody>
      </p:sp>
    </p:spTree>
    <p:extLst>
      <p:ext uri="{BB962C8B-B14F-4D97-AF65-F5344CB8AC3E}">
        <p14:creationId xmlns:p14="http://schemas.microsoft.com/office/powerpoint/2010/main" val="19999010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17DB9-E747-26FE-DF93-A94281A61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6A001-DF7C-0CAE-D333-C87B0F6A4B0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8E87078-7F54-62CA-799C-2054C28561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A77B4D5-92B4-50B0-4FEB-7B2D2E66B58A}"/>
              </a:ext>
            </a:extLst>
          </p:cNvPr>
          <p:cNvSpPr>
            <a:spLocks noGrp="1"/>
          </p:cNvSpPr>
          <p:nvPr>
            <p:ph type="sldNum" sz="quarter" idx="5"/>
          </p:nvPr>
        </p:nvSpPr>
        <p:spPr/>
        <p:txBody>
          <a:bodyPr/>
          <a:lstStyle/>
          <a:p>
            <a:fld id="{4BD5559C-9A1D-465C-BD22-C64000BBBB10}" type="slidenum">
              <a:rPr lang="en-IN" smtClean="0"/>
              <a:t>59</a:t>
            </a:fld>
            <a:endParaRPr lang="en-IN"/>
          </a:p>
        </p:txBody>
      </p:sp>
    </p:spTree>
    <p:extLst>
      <p:ext uri="{BB962C8B-B14F-4D97-AF65-F5344CB8AC3E}">
        <p14:creationId xmlns:p14="http://schemas.microsoft.com/office/powerpoint/2010/main" val="42072578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ED552-D311-3C9F-4F3E-07911568E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55B029-ADB7-777A-6499-941108BF85A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3295229-5A87-E782-54A9-90C84D00050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A8BB35-0903-A486-51BC-B987F7369F19}"/>
              </a:ext>
            </a:extLst>
          </p:cNvPr>
          <p:cNvSpPr>
            <a:spLocks noGrp="1"/>
          </p:cNvSpPr>
          <p:nvPr>
            <p:ph type="sldNum" sz="quarter" idx="5"/>
          </p:nvPr>
        </p:nvSpPr>
        <p:spPr/>
        <p:txBody>
          <a:bodyPr/>
          <a:lstStyle/>
          <a:p>
            <a:fld id="{4BD5559C-9A1D-465C-BD22-C64000BBBB10}" type="slidenum">
              <a:rPr lang="en-IN" smtClean="0"/>
              <a:t>60</a:t>
            </a:fld>
            <a:endParaRPr lang="en-IN"/>
          </a:p>
        </p:txBody>
      </p:sp>
    </p:spTree>
    <p:extLst>
      <p:ext uri="{BB962C8B-B14F-4D97-AF65-F5344CB8AC3E}">
        <p14:creationId xmlns:p14="http://schemas.microsoft.com/office/powerpoint/2010/main" val="13763824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8AC0-CEBD-F9D1-3E17-930C08B476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49678-1B2E-ABEB-60DF-AC80BF9E366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914629-5864-F709-BDE3-A806B983B7A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65F82BE-3AD1-875D-AE6B-FAE96F548B30}"/>
              </a:ext>
            </a:extLst>
          </p:cNvPr>
          <p:cNvSpPr>
            <a:spLocks noGrp="1"/>
          </p:cNvSpPr>
          <p:nvPr>
            <p:ph type="sldNum" sz="quarter" idx="5"/>
          </p:nvPr>
        </p:nvSpPr>
        <p:spPr/>
        <p:txBody>
          <a:bodyPr/>
          <a:lstStyle/>
          <a:p>
            <a:fld id="{4BD5559C-9A1D-465C-BD22-C64000BBBB10}" type="slidenum">
              <a:rPr lang="en-IN" smtClean="0"/>
              <a:t>61</a:t>
            </a:fld>
            <a:endParaRPr lang="en-IN"/>
          </a:p>
        </p:txBody>
      </p:sp>
    </p:spTree>
    <p:extLst>
      <p:ext uri="{BB962C8B-B14F-4D97-AF65-F5344CB8AC3E}">
        <p14:creationId xmlns:p14="http://schemas.microsoft.com/office/powerpoint/2010/main" val="35407390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9DC4D-D710-8E19-6831-B09FBB8797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FC1839-2E11-1255-6C5D-2A426CE6949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54C8A9D-0D84-5763-75B8-9BD1F04288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0E336F-6E67-1D24-50F3-33B62C3A482B}"/>
              </a:ext>
            </a:extLst>
          </p:cNvPr>
          <p:cNvSpPr>
            <a:spLocks noGrp="1"/>
          </p:cNvSpPr>
          <p:nvPr>
            <p:ph type="sldNum" sz="quarter" idx="5"/>
          </p:nvPr>
        </p:nvSpPr>
        <p:spPr/>
        <p:txBody>
          <a:bodyPr/>
          <a:lstStyle/>
          <a:p>
            <a:fld id="{4BD5559C-9A1D-465C-BD22-C64000BBBB10}" type="slidenum">
              <a:rPr lang="en-IN" smtClean="0"/>
              <a:t>62</a:t>
            </a:fld>
            <a:endParaRPr lang="en-IN"/>
          </a:p>
        </p:txBody>
      </p:sp>
    </p:spTree>
    <p:extLst>
      <p:ext uri="{BB962C8B-B14F-4D97-AF65-F5344CB8AC3E}">
        <p14:creationId xmlns:p14="http://schemas.microsoft.com/office/powerpoint/2010/main" val="194245913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9EC5B-D6F4-89DB-FF49-7DD2ADDB2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D545E-839A-37FE-4ABD-9A7557CFD4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400B71C-E805-7521-CE06-C041C4C1F1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EFF87E-4D91-B556-9C90-DD29053D681D}"/>
              </a:ext>
            </a:extLst>
          </p:cNvPr>
          <p:cNvSpPr>
            <a:spLocks noGrp="1"/>
          </p:cNvSpPr>
          <p:nvPr>
            <p:ph type="sldNum" sz="quarter" idx="5"/>
          </p:nvPr>
        </p:nvSpPr>
        <p:spPr/>
        <p:txBody>
          <a:bodyPr/>
          <a:lstStyle/>
          <a:p>
            <a:fld id="{4BD5559C-9A1D-465C-BD22-C64000BBBB10}" type="slidenum">
              <a:rPr lang="en-IN" smtClean="0"/>
              <a:t>63</a:t>
            </a:fld>
            <a:endParaRPr lang="en-IN"/>
          </a:p>
        </p:txBody>
      </p:sp>
    </p:spTree>
    <p:extLst>
      <p:ext uri="{BB962C8B-B14F-4D97-AF65-F5344CB8AC3E}">
        <p14:creationId xmlns:p14="http://schemas.microsoft.com/office/powerpoint/2010/main" val="31869480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4CB5-6906-E46F-F136-6463AC2CF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7EAFA-A7E5-1F75-61BB-F3B6AD025AB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996D044-B9AD-72A7-1B65-271E622A44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3E7CF5-F7EE-DFEF-437D-FFC72B485F2A}"/>
              </a:ext>
            </a:extLst>
          </p:cNvPr>
          <p:cNvSpPr>
            <a:spLocks noGrp="1"/>
          </p:cNvSpPr>
          <p:nvPr>
            <p:ph type="sldNum" sz="quarter" idx="5"/>
          </p:nvPr>
        </p:nvSpPr>
        <p:spPr/>
        <p:txBody>
          <a:bodyPr/>
          <a:lstStyle/>
          <a:p>
            <a:fld id="{4BD5559C-9A1D-465C-BD22-C64000BBBB10}" type="slidenum">
              <a:rPr lang="en-IN" smtClean="0"/>
              <a:t>64</a:t>
            </a:fld>
            <a:endParaRPr lang="en-IN"/>
          </a:p>
        </p:txBody>
      </p:sp>
    </p:spTree>
    <p:extLst>
      <p:ext uri="{BB962C8B-B14F-4D97-AF65-F5344CB8AC3E}">
        <p14:creationId xmlns:p14="http://schemas.microsoft.com/office/powerpoint/2010/main" val="37374796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AE00C-5E5E-9FA7-4D17-782206E44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D47D8-EB17-F93E-461A-12C9E487AA4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49500A-1D9B-B062-7738-30898A2A1D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01C8F1C-756D-5FE9-FB06-64C17C88C6C8}"/>
              </a:ext>
            </a:extLst>
          </p:cNvPr>
          <p:cNvSpPr>
            <a:spLocks noGrp="1"/>
          </p:cNvSpPr>
          <p:nvPr>
            <p:ph type="sldNum" sz="quarter" idx="5"/>
          </p:nvPr>
        </p:nvSpPr>
        <p:spPr/>
        <p:txBody>
          <a:bodyPr/>
          <a:lstStyle/>
          <a:p>
            <a:fld id="{4BD5559C-9A1D-465C-BD22-C64000BBBB10}" type="slidenum">
              <a:rPr lang="en-IN" smtClean="0"/>
              <a:t>65</a:t>
            </a:fld>
            <a:endParaRPr lang="en-IN"/>
          </a:p>
        </p:txBody>
      </p:sp>
    </p:spTree>
    <p:extLst>
      <p:ext uri="{BB962C8B-B14F-4D97-AF65-F5344CB8AC3E}">
        <p14:creationId xmlns:p14="http://schemas.microsoft.com/office/powerpoint/2010/main" val="258133845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15C7D-6DA9-82AB-8AD5-2D25DA676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B6BA2-6CBD-7A55-5927-C1062D5ABA8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03AAB85-E5FC-F456-19E0-4C3BA1CE337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B31375-9E23-2A4E-B1AA-24B820D26E8F}"/>
              </a:ext>
            </a:extLst>
          </p:cNvPr>
          <p:cNvSpPr>
            <a:spLocks noGrp="1"/>
          </p:cNvSpPr>
          <p:nvPr>
            <p:ph type="sldNum" sz="quarter" idx="5"/>
          </p:nvPr>
        </p:nvSpPr>
        <p:spPr/>
        <p:txBody>
          <a:bodyPr/>
          <a:lstStyle/>
          <a:p>
            <a:fld id="{4BD5559C-9A1D-465C-BD22-C64000BBBB10}" type="slidenum">
              <a:rPr lang="en-IN" smtClean="0"/>
              <a:t>85</a:t>
            </a:fld>
            <a:endParaRPr lang="en-IN"/>
          </a:p>
        </p:txBody>
      </p:sp>
    </p:spTree>
    <p:extLst>
      <p:ext uri="{BB962C8B-B14F-4D97-AF65-F5344CB8AC3E}">
        <p14:creationId xmlns:p14="http://schemas.microsoft.com/office/powerpoint/2010/main" val="33249661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33C88-3100-0C09-D39A-D0576FFB0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2C485-8C99-CC31-CA95-215EAF27173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FF50F18-99C4-BFE4-94DF-6443725498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1A33DA-4C5B-CE23-A18E-EA70C769D421}"/>
              </a:ext>
            </a:extLst>
          </p:cNvPr>
          <p:cNvSpPr>
            <a:spLocks noGrp="1"/>
          </p:cNvSpPr>
          <p:nvPr>
            <p:ph type="sldNum" sz="quarter" idx="5"/>
          </p:nvPr>
        </p:nvSpPr>
        <p:spPr/>
        <p:txBody>
          <a:bodyPr/>
          <a:lstStyle/>
          <a:p>
            <a:fld id="{4BD5559C-9A1D-465C-BD22-C64000BBBB10}" type="slidenum">
              <a:rPr lang="en-IN" smtClean="0"/>
              <a:t>86</a:t>
            </a:fld>
            <a:endParaRPr lang="en-IN"/>
          </a:p>
        </p:txBody>
      </p:sp>
    </p:spTree>
    <p:extLst>
      <p:ext uri="{BB962C8B-B14F-4D97-AF65-F5344CB8AC3E}">
        <p14:creationId xmlns:p14="http://schemas.microsoft.com/office/powerpoint/2010/main" val="40298001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7F408-E107-70AD-289B-F08288217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810D9-E054-BCB6-9EA4-4246943B3E5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EF1E9E9-2999-A709-26BC-BD14CB159ED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DA431B-4352-D7CE-367B-A733ECCAF546}"/>
              </a:ext>
            </a:extLst>
          </p:cNvPr>
          <p:cNvSpPr>
            <a:spLocks noGrp="1"/>
          </p:cNvSpPr>
          <p:nvPr>
            <p:ph type="sldNum" sz="quarter" idx="5"/>
          </p:nvPr>
        </p:nvSpPr>
        <p:spPr/>
        <p:txBody>
          <a:bodyPr/>
          <a:lstStyle/>
          <a:p>
            <a:fld id="{4BD5559C-9A1D-465C-BD22-C64000BBBB10}" type="slidenum">
              <a:rPr lang="en-IN" smtClean="0"/>
              <a:t>87</a:t>
            </a:fld>
            <a:endParaRPr lang="en-IN"/>
          </a:p>
        </p:txBody>
      </p:sp>
    </p:spTree>
    <p:extLst>
      <p:ext uri="{BB962C8B-B14F-4D97-AF65-F5344CB8AC3E}">
        <p14:creationId xmlns:p14="http://schemas.microsoft.com/office/powerpoint/2010/main" val="21223380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960C2-9AC2-3EF5-51D4-40F20D3DA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0D651-2AC7-0001-11F0-2503EC2B4B8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5982A0-E073-ACC2-F814-2BAAEF4788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311858F-F11E-FB3E-896B-930FF40F3E06}"/>
              </a:ext>
            </a:extLst>
          </p:cNvPr>
          <p:cNvSpPr>
            <a:spLocks noGrp="1"/>
          </p:cNvSpPr>
          <p:nvPr>
            <p:ph type="sldNum" sz="quarter" idx="5"/>
          </p:nvPr>
        </p:nvSpPr>
        <p:spPr/>
        <p:txBody>
          <a:bodyPr/>
          <a:lstStyle/>
          <a:p>
            <a:fld id="{4BD5559C-9A1D-465C-BD22-C64000BBBB10}" type="slidenum">
              <a:rPr lang="en-IN" smtClean="0"/>
              <a:t>88</a:t>
            </a:fld>
            <a:endParaRPr lang="en-IN"/>
          </a:p>
        </p:txBody>
      </p:sp>
    </p:spTree>
    <p:extLst>
      <p:ext uri="{BB962C8B-B14F-4D97-AF65-F5344CB8AC3E}">
        <p14:creationId xmlns:p14="http://schemas.microsoft.com/office/powerpoint/2010/main" val="20641646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C4FCE-951E-B33A-7D44-B09113B94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1B0A1-74FD-CDE9-EB7B-31D3F72C9DA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66B16E8-D48B-25F3-E2D2-FB7E2CE52E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B38FF3-01C5-9A48-20E3-7649E6D6466B}"/>
              </a:ext>
            </a:extLst>
          </p:cNvPr>
          <p:cNvSpPr>
            <a:spLocks noGrp="1"/>
          </p:cNvSpPr>
          <p:nvPr>
            <p:ph type="sldNum" sz="quarter" idx="5"/>
          </p:nvPr>
        </p:nvSpPr>
        <p:spPr/>
        <p:txBody>
          <a:bodyPr/>
          <a:lstStyle/>
          <a:p>
            <a:fld id="{4BD5559C-9A1D-465C-BD22-C64000BBBB10}" type="slidenum">
              <a:rPr lang="en-IN" smtClean="0"/>
              <a:t>89</a:t>
            </a:fld>
            <a:endParaRPr lang="en-IN"/>
          </a:p>
        </p:txBody>
      </p:sp>
    </p:spTree>
    <p:extLst>
      <p:ext uri="{BB962C8B-B14F-4D97-AF65-F5344CB8AC3E}">
        <p14:creationId xmlns:p14="http://schemas.microsoft.com/office/powerpoint/2010/main" val="328710072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2CD39-C830-FDA4-0236-5E1D2E85F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FB994-C09B-1876-EB14-4AB7C7CFEEF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E80D9F-8896-7C25-F247-BB46512EF50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54DBB5-79D2-6F72-50C1-FBED7D9968FC}"/>
              </a:ext>
            </a:extLst>
          </p:cNvPr>
          <p:cNvSpPr>
            <a:spLocks noGrp="1"/>
          </p:cNvSpPr>
          <p:nvPr>
            <p:ph type="sldNum" sz="quarter" idx="5"/>
          </p:nvPr>
        </p:nvSpPr>
        <p:spPr/>
        <p:txBody>
          <a:bodyPr/>
          <a:lstStyle/>
          <a:p>
            <a:fld id="{4BD5559C-9A1D-465C-BD22-C64000BBBB10}" type="slidenum">
              <a:rPr lang="en-IN" smtClean="0"/>
              <a:t>90</a:t>
            </a:fld>
            <a:endParaRPr lang="en-IN"/>
          </a:p>
        </p:txBody>
      </p:sp>
    </p:spTree>
    <p:extLst>
      <p:ext uri="{BB962C8B-B14F-4D97-AF65-F5344CB8AC3E}">
        <p14:creationId xmlns:p14="http://schemas.microsoft.com/office/powerpoint/2010/main" val="28759627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FEA97-80D7-E264-FF1A-0A21C9F7B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A7E79-7C18-0CEF-4C09-54A982BC26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CA8DA20-3691-8B80-35F0-B47246CC60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4853D29-46A6-933F-D781-78AC472E4640}"/>
              </a:ext>
            </a:extLst>
          </p:cNvPr>
          <p:cNvSpPr>
            <a:spLocks noGrp="1"/>
          </p:cNvSpPr>
          <p:nvPr>
            <p:ph type="sldNum" sz="quarter" idx="5"/>
          </p:nvPr>
        </p:nvSpPr>
        <p:spPr/>
        <p:txBody>
          <a:bodyPr/>
          <a:lstStyle/>
          <a:p>
            <a:fld id="{4BD5559C-9A1D-465C-BD22-C64000BBBB10}" type="slidenum">
              <a:rPr lang="en-IN" smtClean="0"/>
              <a:t>91</a:t>
            </a:fld>
            <a:endParaRPr lang="en-IN"/>
          </a:p>
        </p:txBody>
      </p:sp>
    </p:spTree>
    <p:extLst>
      <p:ext uri="{BB962C8B-B14F-4D97-AF65-F5344CB8AC3E}">
        <p14:creationId xmlns:p14="http://schemas.microsoft.com/office/powerpoint/2010/main" val="36045006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21E78-5F45-CE3F-5351-140DEE2DF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D6D12-7D15-A289-B7AE-1DE41C3414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96D9275-9E79-7536-5B96-39853E5058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103DC8-9E88-CCD7-0194-76A6C919CC68}"/>
              </a:ext>
            </a:extLst>
          </p:cNvPr>
          <p:cNvSpPr>
            <a:spLocks noGrp="1"/>
          </p:cNvSpPr>
          <p:nvPr>
            <p:ph type="sldNum" sz="quarter" idx="5"/>
          </p:nvPr>
        </p:nvSpPr>
        <p:spPr/>
        <p:txBody>
          <a:bodyPr/>
          <a:lstStyle/>
          <a:p>
            <a:fld id="{4BD5559C-9A1D-465C-BD22-C64000BBBB10}" type="slidenum">
              <a:rPr lang="en-IN" smtClean="0"/>
              <a:t>92</a:t>
            </a:fld>
            <a:endParaRPr lang="en-IN"/>
          </a:p>
        </p:txBody>
      </p:sp>
    </p:spTree>
    <p:extLst>
      <p:ext uri="{BB962C8B-B14F-4D97-AF65-F5344CB8AC3E}">
        <p14:creationId xmlns:p14="http://schemas.microsoft.com/office/powerpoint/2010/main" val="339573447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DED25-3402-61A8-001A-439FBDB5A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10399-5360-DDBF-5BE4-98EF25AD622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741803-4661-2BE4-30E2-A9A7303D8E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70FA49-9813-09F2-D6C8-51A6DDB6C348}"/>
              </a:ext>
            </a:extLst>
          </p:cNvPr>
          <p:cNvSpPr>
            <a:spLocks noGrp="1"/>
          </p:cNvSpPr>
          <p:nvPr>
            <p:ph type="sldNum" sz="quarter" idx="5"/>
          </p:nvPr>
        </p:nvSpPr>
        <p:spPr/>
        <p:txBody>
          <a:bodyPr/>
          <a:lstStyle/>
          <a:p>
            <a:fld id="{4BD5559C-9A1D-465C-BD22-C64000BBBB10}" type="slidenum">
              <a:rPr lang="en-IN" smtClean="0"/>
              <a:t>93</a:t>
            </a:fld>
            <a:endParaRPr lang="en-IN"/>
          </a:p>
        </p:txBody>
      </p:sp>
    </p:spTree>
    <p:extLst>
      <p:ext uri="{BB962C8B-B14F-4D97-AF65-F5344CB8AC3E}">
        <p14:creationId xmlns:p14="http://schemas.microsoft.com/office/powerpoint/2010/main" val="40228578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81C1F-25A5-B9D8-DC8A-5DE4CFEA1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3C4D3-8C78-5EFD-8820-FBA72500EB8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B5ECB4E-F5AE-0894-236E-83DF032B513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D2B621-5E6E-1A4C-DF13-F6443BC17AD1}"/>
              </a:ext>
            </a:extLst>
          </p:cNvPr>
          <p:cNvSpPr>
            <a:spLocks noGrp="1"/>
          </p:cNvSpPr>
          <p:nvPr>
            <p:ph type="sldNum" sz="quarter" idx="5"/>
          </p:nvPr>
        </p:nvSpPr>
        <p:spPr/>
        <p:txBody>
          <a:bodyPr/>
          <a:lstStyle/>
          <a:p>
            <a:fld id="{4BD5559C-9A1D-465C-BD22-C64000BBBB10}" type="slidenum">
              <a:rPr lang="en-IN" smtClean="0"/>
              <a:t>94</a:t>
            </a:fld>
            <a:endParaRPr lang="en-IN"/>
          </a:p>
        </p:txBody>
      </p:sp>
    </p:spTree>
    <p:extLst>
      <p:ext uri="{BB962C8B-B14F-4D97-AF65-F5344CB8AC3E}">
        <p14:creationId xmlns:p14="http://schemas.microsoft.com/office/powerpoint/2010/main" val="17973655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221D3-ABBF-72F6-14D8-CFE7CEA56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95656-8126-D59D-7C42-4FCF499E87E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DD95C2B-FBEA-8641-679A-92BC22DC1B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27300F-B9DE-69D7-961F-57366BC35745}"/>
              </a:ext>
            </a:extLst>
          </p:cNvPr>
          <p:cNvSpPr>
            <a:spLocks noGrp="1"/>
          </p:cNvSpPr>
          <p:nvPr>
            <p:ph type="sldNum" sz="quarter" idx="5"/>
          </p:nvPr>
        </p:nvSpPr>
        <p:spPr/>
        <p:txBody>
          <a:bodyPr/>
          <a:lstStyle/>
          <a:p>
            <a:fld id="{4BD5559C-9A1D-465C-BD22-C64000BBBB10}" type="slidenum">
              <a:rPr lang="en-IN" smtClean="0"/>
              <a:t>95</a:t>
            </a:fld>
            <a:endParaRPr lang="en-IN"/>
          </a:p>
        </p:txBody>
      </p:sp>
    </p:spTree>
    <p:extLst>
      <p:ext uri="{BB962C8B-B14F-4D97-AF65-F5344CB8AC3E}">
        <p14:creationId xmlns:p14="http://schemas.microsoft.com/office/powerpoint/2010/main" val="135134652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EBC75-F846-ECC8-F7E6-6EFFEFFE7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51595-340D-798C-F5C1-0F5B18B2E8C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5995BD4-08E3-EFEF-880C-393D4832893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284B3A-D1EE-C986-8303-E14A0751C6EA}"/>
              </a:ext>
            </a:extLst>
          </p:cNvPr>
          <p:cNvSpPr>
            <a:spLocks noGrp="1"/>
          </p:cNvSpPr>
          <p:nvPr>
            <p:ph type="sldNum" sz="quarter" idx="5"/>
          </p:nvPr>
        </p:nvSpPr>
        <p:spPr/>
        <p:txBody>
          <a:bodyPr/>
          <a:lstStyle/>
          <a:p>
            <a:fld id="{4BD5559C-9A1D-465C-BD22-C64000BBBB10}" type="slidenum">
              <a:rPr lang="en-IN" smtClean="0"/>
              <a:t>96</a:t>
            </a:fld>
            <a:endParaRPr lang="en-IN"/>
          </a:p>
        </p:txBody>
      </p:sp>
    </p:spTree>
    <p:extLst>
      <p:ext uri="{BB962C8B-B14F-4D97-AF65-F5344CB8AC3E}">
        <p14:creationId xmlns:p14="http://schemas.microsoft.com/office/powerpoint/2010/main" val="6361757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C6A4A-A635-27EE-C447-2DA2836D9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332DF-C717-8C18-2240-E7109B43D2F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752E455-5950-881F-9E10-1B1ED55E96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CD7265F-6A5E-456C-2AA4-38A0A055D77C}"/>
              </a:ext>
            </a:extLst>
          </p:cNvPr>
          <p:cNvSpPr>
            <a:spLocks noGrp="1"/>
          </p:cNvSpPr>
          <p:nvPr>
            <p:ph type="sldNum" sz="quarter" idx="5"/>
          </p:nvPr>
        </p:nvSpPr>
        <p:spPr/>
        <p:txBody>
          <a:bodyPr/>
          <a:lstStyle/>
          <a:p>
            <a:fld id="{4BD5559C-9A1D-465C-BD22-C64000BBBB10}" type="slidenum">
              <a:rPr lang="en-IN" smtClean="0"/>
              <a:t>97</a:t>
            </a:fld>
            <a:endParaRPr lang="en-IN"/>
          </a:p>
        </p:txBody>
      </p:sp>
    </p:spTree>
    <p:extLst>
      <p:ext uri="{BB962C8B-B14F-4D97-AF65-F5344CB8AC3E}">
        <p14:creationId xmlns:p14="http://schemas.microsoft.com/office/powerpoint/2010/main" val="205385032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04DBE-D79A-59F4-6EE0-EB4DC2B62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72688-4F2E-8D64-5B9A-87081E7F03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775A08-1EB6-B990-B562-A910882B0D0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93D17CF-4066-F089-AFC2-98F1E554CE9E}"/>
              </a:ext>
            </a:extLst>
          </p:cNvPr>
          <p:cNvSpPr>
            <a:spLocks noGrp="1"/>
          </p:cNvSpPr>
          <p:nvPr>
            <p:ph type="sldNum" sz="quarter" idx="5"/>
          </p:nvPr>
        </p:nvSpPr>
        <p:spPr/>
        <p:txBody>
          <a:bodyPr/>
          <a:lstStyle/>
          <a:p>
            <a:fld id="{4BD5559C-9A1D-465C-BD22-C64000BBBB10}" type="slidenum">
              <a:rPr lang="en-IN" smtClean="0"/>
              <a:t>98</a:t>
            </a:fld>
            <a:endParaRPr lang="en-IN"/>
          </a:p>
        </p:txBody>
      </p:sp>
    </p:spTree>
    <p:extLst>
      <p:ext uri="{BB962C8B-B14F-4D97-AF65-F5344CB8AC3E}">
        <p14:creationId xmlns:p14="http://schemas.microsoft.com/office/powerpoint/2010/main" val="38204551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3FB2F-89C1-21FF-2F2C-AABE01E35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4BE2D-463A-30D8-73F4-01B09F1E7F7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4EA6E83-5EBB-436B-20C0-25C60922C6A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8F04B8-B195-66E3-6DED-82CDAA0EC07F}"/>
              </a:ext>
            </a:extLst>
          </p:cNvPr>
          <p:cNvSpPr>
            <a:spLocks noGrp="1"/>
          </p:cNvSpPr>
          <p:nvPr>
            <p:ph type="sldNum" sz="quarter" idx="5"/>
          </p:nvPr>
        </p:nvSpPr>
        <p:spPr/>
        <p:txBody>
          <a:bodyPr/>
          <a:lstStyle/>
          <a:p>
            <a:fld id="{4BD5559C-9A1D-465C-BD22-C64000BBBB10}" type="slidenum">
              <a:rPr lang="en-IN" smtClean="0"/>
              <a:t>99</a:t>
            </a:fld>
            <a:endParaRPr lang="en-IN"/>
          </a:p>
        </p:txBody>
      </p:sp>
    </p:spTree>
    <p:extLst>
      <p:ext uri="{BB962C8B-B14F-4D97-AF65-F5344CB8AC3E}">
        <p14:creationId xmlns:p14="http://schemas.microsoft.com/office/powerpoint/2010/main" val="47681273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5D1CF-D3E3-4E10-02D5-85836F02E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E9307-820A-0678-B283-88B77373F2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46D5B47-BA50-482C-8616-E1C9BF0D4D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6D8242-404D-FF23-6078-0BF9B6EB2CFB}"/>
              </a:ext>
            </a:extLst>
          </p:cNvPr>
          <p:cNvSpPr>
            <a:spLocks noGrp="1"/>
          </p:cNvSpPr>
          <p:nvPr>
            <p:ph type="sldNum" sz="quarter" idx="5"/>
          </p:nvPr>
        </p:nvSpPr>
        <p:spPr/>
        <p:txBody>
          <a:bodyPr/>
          <a:lstStyle/>
          <a:p>
            <a:fld id="{4BD5559C-9A1D-465C-BD22-C64000BBBB10}" type="slidenum">
              <a:rPr lang="en-IN" smtClean="0"/>
              <a:t>100</a:t>
            </a:fld>
            <a:endParaRPr lang="en-IN"/>
          </a:p>
        </p:txBody>
      </p:sp>
    </p:spTree>
    <p:extLst>
      <p:ext uri="{BB962C8B-B14F-4D97-AF65-F5344CB8AC3E}">
        <p14:creationId xmlns:p14="http://schemas.microsoft.com/office/powerpoint/2010/main" val="209864250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6BF2F-489C-14B3-887D-28AE3865F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ABC96-9975-F7F0-370A-06FC0A0507D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9840AA-15A5-D097-F648-FB7E3BEC38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574408A-FF1F-70D2-1EC4-FDE9B424CED9}"/>
              </a:ext>
            </a:extLst>
          </p:cNvPr>
          <p:cNvSpPr>
            <a:spLocks noGrp="1"/>
          </p:cNvSpPr>
          <p:nvPr>
            <p:ph type="sldNum" sz="quarter" idx="5"/>
          </p:nvPr>
        </p:nvSpPr>
        <p:spPr/>
        <p:txBody>
          <a:bodyPr/>
          <a:lstStyle/>
          <a:p>
            <a:fld id="{4BD5559C-9A1D-465C-BD22-C64000BBBB10}" type="slidenum">
              <a:rPr lang="en-IN" smtClean="0"/>
              <a:t>101</a:t>
            </a:fld>
            <a:endParaRPr lang="en-IN"/>
          </a:p>
        </p:txBody>
      </p:sp>
    </p:spTree>
    <p:extLst>
      <p:ext uri="{BB962C8B-B14F-4D97-AF65-F5344CB8AC3E}">
        <p14:creationId xmlns:p14="http://schemas.microsoft.com/office/powerpoint/2010/main" val="20923628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FF131-E074-6766-2940-7BE1A6F02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3CC9FF-ADB9-C76C-60B8-7F5BA417CFB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9F5DD0E-D8D3-24F3-5920-2624A442E7B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742330-7237-1FC1-B384-C614868CB88B}"/>
              </a:ext>
            </a:extLst>
          </p:cNvPr>
          <p:cNvSpPr>
            <a:spLocks noGrp="1"/>
          </p:cNvSpPr>
          <p:nvPr>
            <p:ph type="sldNum" sz="quarter" idx="5"/>
          </p:nvPr>
        </p:nvSpPr>
        <p:spPr/>
        <p:txBody>
          <a:bodyPr/>
          <a:lstStyle/>
          <a:p>
            <a:fld id="{4BD5559C-9A1D-465C-BD22-C64000BBBB10}" type="slidenum">
              <a:rPr lang="en-IN" smtClean="0"/>
              <a:t>102</a:t>
            </a:fld>
            <a:endParaRPr lang="en-IN"/>
          </a:p>
        </p:txBody>
      </p:sp>
    </p:spTree>
    <p:extLst>
      <p:ext uri="{BB962C8B-B14F-4D97-AF65-F5344CB8AC3E}">
        <p14:creationId xmlns:p14="http://schemas.microsoft.com/office/powerpoint/2010/main" val="146849947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BCF7-3040-0B39-DC10-22ACEF5F3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0FBFA-90CC-29C2-96F1-5CCD58783C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3A8445E-37BF-51B4-314E-A07D1F047A8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DFBC7D0-52E5-20CF-348D-46C7A1785285}"/>
              </a:ext>
            </a:extLst>
          </p:cNvPr>
          <p:cNvSpPr>
            <a:spLocks noGrp="1"/>
          </p:cNvSpPr>
          <p:nvPr>
            <p:ph type="sldNum" sz="quarter" idx="5"/>
          </p:nvPr>
        </p:nvSpPr>
        <p:spPr/>
        <p:txBody>
          <a:bodyPr/>
          <a:lstStyle/>
          <a:p>
            <a:fld id="{4BD5559C-9A1D-465C-BD22-C64000BBBB10}" type="slidenum">
              <a:rPr lang="en-IN" smtClean="0"/>
              <a:t>103</a:t>
            </a:fld>
            <a:endParaRPr lang="en-IN"/>
          </a:p>
        </p:txBody>
      </p:sp>
    </p:spTree>
    <p:extLst>
      <p:ext uri="{BB962C8B-B14F-4D97-AF65-F5344CB8AC3E}">
        <p14:creationId xmlns:p14="http://schemas.microsoft.com/office/powerpoint/2010/main" val="20617343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55B7B-BA44-6372-AA5A-0AEC2DF5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FA670-47FA-15A9-F90F-098208A408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F8A945-9CAA-8158-49B9-8EE36F1D6D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1FF3B4-C37F-3ED1-D916-3B77BFAA0580}"/>
              </a:ext>
            </a:extLst>
          </p:cNvPr>
          <p:cNvSpPr>
            <a:spLocks noGrp="1"/>
          </p:cNvSpPr>
          <p:nvPr>
            <p:ph type="sldNum" sz="quarter" idx="5"/>
          </p:nvPr>
        </p:nvSpPr>
        <p:spPr/>
        <p:txBody>
          <a:bodyPr/>
          <a:lstStyle/>
          <a:p>
            <a:fld id="{4BD5559C-9A1D-465C-BD22-C64000BBBB10}" type="slidenum">
              <a:rPr lang="en-IN" smtClean="0"/>
              <a:t>104</a:t>
            </a:fld>
            <a:endParaRPr lang="en-IN"/>
          </a:p>
        </p:txBody>
      </p:sp>
    </p:spTree>
    <p:extLst>
      <p:ext uri="{BB962C8B-B14F-4D97-AF65-F5344CB8AC3E}">
        <p14:creationId xmlns:p14="http://schemas.microsoft.com/office/powerpoint/2010/main" val="306096792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1077-31C9-2938-A3C6-1E4DFD8BA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5EC61-0D6D-DE6A-021F-9A243C97A3E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A76D0A2-DD59-180B-9EAC-CBA63C3D1D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0085000-38E9-8D19-7EE8-E4F4217C39E6}"/>
              </a:ext>
            </a:extLst>
          </p:cNvPr>
          <p:cNvSpPr>
            <a:spLocks noGrp="1"/>
          </p:cNvSpPr>
          <p:nvPr>
            <p:ph type="sldNum" sz="quarter" idx="5"/>
          </p:nvPr>
        </p:nvSpPr>
        <p:spPr/>
        <p:txBody>
          <a:bodyPr/>
          <a:lstStyle/>
          <a:p>
            <a:fld id="{4BD5559C-9A1D-465C-BD22-C64000BBBB10}" type="slidenum">
              <a:rPr lang="en-IN" smtClean="0"/>
              <a:t>105</a:t>
            </a:fld>
            <a:endParaRPr lang="en-IN"/>
          </a:p>
        </p:txBody>
      </p:sp>
    </p:spTree>
    <p:extLst>
      <p:ext uri="{BB962C8B-B14F-4D97-AF65-F5344CB8AC3E}">
        <p14:creationId xmlns:p14="http://schemas.microsoft.com/office/powerpoint/2010/main" val="65450978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ACBD4-3AAF-4E45-93D6-94E914599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C8A3A-F35B-24F7-8D3E-B99199E0DAC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CC7842F-BA0C-0A78-0D67-9EBC184231A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B1E4B0-A415-1BC4-9C63-BFDCC4AEACCD}"/>
              </a:ext>
            </a:extLst>
          </p:cNvPr>
          <p:cNvSpPr>
            <a:spLocks noGrp="1"/>
          </p:cNvSpPr>
          <p:nvPr>
            <p:ph type="sldNum" sz="quarter" idx="5"/>
          </p:nvPr>
        </p:nvSpPr>
        <p:spPr/>
        <p:txBody>
          <a:bodyPr/>
          <a:lstStyle/>
          <a:p>
            <a:fld id="{4BD5559C-9A1D-465C-BD22-C64000BBBB10}" type="slidenum">
              <a:rPr lang="en-IN" smtClean="0"/>
              <a:t>106</a:t>
            </a:fld>
            <a:endParaRPr lang="en-IN"/>
          </a:p>
        </p:txBody>
      </p:sp>
    </p:spTree>
    <p:extLst>
      <p:ext uri="{BB962C8B-B14F-4D97-AF65-F5344CB8AC3E}">
        <p14:creationId xmlns:p14="http://schemas.microsoft.com/office/powerpoint/2010/main" val="3049535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E9C4-19AC-4D01-81DA-E140B97A9BA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44BCA5E5-3A78-455F-A1D5-145EA917384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BA8103-6802-402E-8A9C-2FB10C13AF4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AEAE19A-DC0A-4D53-A4FB-E883E9391AD9}"/>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17209EA-FF5B-4648-B17D-3689B5157532}"/>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27367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BEFC-853B-4E71-90C0-35BD8D1F83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D4BB9-BDA4-4C04-BA11-57AE021A7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11086A-60FA-47B2-80EA-B781B0D07FF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C0DE884-2704-4762-B1F7-A390B52525A3}"/>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4A9461B4-73E9-4628-92E8-74939F9E75BC}"/>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752263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589E-9D4B-44E6-BF11-C075A062967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2C8F49-9067-4135-A992-6FB9ECEA2A9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D58BF-DC88-48A8-8054-8760C54DAE4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410900E-11FD-4ACA-8E87-4EC87F1A191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D8AF7084-87E6-4F73-9995-37B9D5DA77B1}"/>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995462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2823-44FC-4F0E-988B-2ACF3A6CE4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CB5ADA-214B-4BFF-9D95-4AACAA67834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A0DDFE-CE85-4487-A2F7-D43D9AD99D2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FE3102-E054-4C70-8672-73C06D74E67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AADA228-140D-4F9B-A2FE-74BFB213CF2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728C3789-8D8D-4D5C-A015-00F074C7876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93226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AFB0-2CA1-458E-8D17-13C9D16023B7}"/>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598FFF-DC4E-46B0-93F5-FAB67A7D4A5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5204111-7E13-4A52-A9E1-956A87C87ED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A34A28-7BD2-4B06-ABF5-89A47C15645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6BDF0-5B29-4A2F-8CC0-14E57446D9A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41CA3A-A01B-4B5C-A4F8-C14D8EC45F2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8FCAA6B-C991-48DE-B578-AE2A9961C3C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9" name="Slide Number Placeholder 8">
            <a:extLst>
              <a:ext uri="{FF2B5EF4-FFF2-40B4-BE49-F238E27FC236}">
                <a16:creationId xmlns:a16="http://schemas.microsoft.com/office/drawing/2014/main" id="{D005B9A6-E7CF-4D3D-9193-F5CCF0408725}"/>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722196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DAF43-78DB-4D57-9B2D-80B50CE225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681968-C016-4D62-894F-92EC20981B84}"/>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3BC0E1-975B-4302-8CF3-C520CED7189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a:extLst>
              <a:ext uri="{FF2B5EF4-FFF2-40B4-BE49-F238E27FC236}">
                <a16:creationId xmlns:a16="http://schemas.microsoft.com/office/drawing/2014/main" id="{C92DAC7F-9355-4792-84EA-A4C808E3F218}"/>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1535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6E9C9-69F5-4D64-AFCA-189935E7A94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3FB54D1-AD89-4CA0-8134-5D2BAF3393B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4" name="Slide Number Placeholder 3">
            <a:extLst>
              <a:ext uri="{FF2B5EF4-FFF2-40B4-BE49-F238E27FC236}">
                <a16:creationId xmlns:a16="http://schemas.microsoft.com/office/drawing/2014/main" id="{413B8272-E3A3-4683-B86E-79218886BA30}"/>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40539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ADB3-F3C8-4862-AF7F-04DDE9A441E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9489C0-5D66-43A0-995C-51CDB2B895D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9A2F6-A867-42FE-8C9C-0CD7E6653E7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B1724A67-3315-4540-9790-4166A5A8257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5DC2BE8-6B25-4D6D-A216-0288779C1086}"/>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8F23A18-5A76-4536-926B-E6B38286EE49}"/>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8725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3C2C-789D-4AF3-A6E0-0AE714409AD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A586BE-F0E8-46DC-B95E-EBCA679965B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35E20C7-39DD-4D17-B93E-E92481C7AFB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EB26E00D-6FB3-4F93-91B6-3385B363A08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4432EE8-F875-4115-8DB6-6E4C5A4D21E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4D366B0-CAEE-4D99-8704-EBC2029AC63D}"/>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03552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BA33-3BCA-4D04-8B42-26F6BB1720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3B614-80E5-43E5-ACC0-10C094878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10C068-F4B8-4482-BCC2-F12B8405BE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756C726-B8F7-46D8-A302-A3C69CBCE48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BB672F82-7742-49B4-9D22-A703AE78350A}"/>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2519751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94F4A-84CD-42EC-A311-E7DDDE5B9138}"/>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6F8A3-D97A-477F-8A9F-5D2D8FC9CD9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C056D-23ED-4173-85A0-B789F940CF4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C1BBEB-F29D-4181-968D-AF3F415CEC4F}"/>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FA03474-7DC7-49B8-A4C4-B10099ED319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857640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856B4D0C-4A06-8E52-E4E7-5B8330F10B2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7239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5">
            <a:extLst>
              <a:ext uri="{FF2B5EF4-FFF2-40B4-BE49-F238E27FC236}">
                <a16:creationId xmlns:a16="http://schemas.microsoft.com/office/drawing/2014/main" id="{CF4F4A24-241A-8A13-BCB2-8097EBC3B8DC}"/>
              </a:ext>
            </a:extLst>
          </p:cNvPr>
          <p:cNvSpPr>
            <a:spLocks noGrp="1"/>
          </p:cNvSpPr>
          <p:nvPr>
            <p:ph type="dt" sz="half" idx="10"/>
          </p:nvPr>
        </p:nvSpPr>
        <p:spPr/>
        <p:txBody>
          <a:bodyPr rtlCol="0"/>
          <a:lstStyle>
            <a:lvl1pPr>
              <a:defRPr/>
            </a:lvl1pPr>
          </a:lstStyle>
          <a:p>
            <a:pPr>
              <a:defRPr/>
            </a:pPr>
            <a:fld id="{94BE3C69-9369-4EC3-AD04-D5B21584F597}" type="datetime1">
              <a:rPr lang="en-US"/>
              <a:pPr>
                <a:defRPr/>
              </a:pPr>
              <a:t>2/17/2026</a:t>
            </a:fld>
            <a:endParaRPr lang="en-US"/>
          </a:p>
        </p:txBody>
      </p:sp>
      <p:sp>
        <p:nvSpPr>
          <p:cNvPr id="4" name="Slide Number Placeholder 6">
            <a:extLst>
              <a:ext uri="{FF2B5EF4-FFF2-40B4-BE49-F238E27FC236}">
                <a16:creationId xmlns:a16="http://schemas.microsoft.com/office/drawing/2014/main" id="{C0DC181A-2289-7A9F-D5C3-63A766E66892}"/>
              </a:ext>
            </a:extLst>
          </p:cNvPr>
          <p:cNvSpPr>
            <a:spLocks noGrp="1"/>
          </p:cNvSpPr>
          <p:nvPr>
            <p:ph type="sldNum" sz="quarter" idx="11"/>
          </p:nvPr>
        </p:nvSpPr>
        <p:spPr/>
        <p:txBody>
          <a:bodyPr/>
          <a:lstStyle>
            <a:lvl1pPr>
              <a:defRPr/>
            </a:lvl1pPr>
          </a:lstStyle>
          <a:p>
            <a:fld id="{87AE48A9-964A-4969-842E-2E463AAFBF65}" type="slidenum">
              <a:rPr lang="en-US" altLang="en-US"/>
              <a:pPr/>
              <a:t>‹#›</a:t>
            </a:fld>
            <a:endParaRPr lang="en-US" altLang="en-US"/>
          </a:p>
        </p:txBody>
      </p:sp>
      <p:sp>
        <p:nvSpPr>
          <p:cNvPr id="5" name="Footer Placeholder 7">
            <a:extLst>
              <a:ext uri="{FF2B5EF4-FFF2-40B4-BE49-F238E27FC236}">
                <a16:creationId xmlns:a16="http://schemas.microsoft.com/office/drawing/2014/main" id="{5FBA4A13-25E9-2FF3-A684-01D5561246A2}"/>
              </a:ext>
            </a:extLst>
          </p:cNvPr>
          <p:cNvSpPr>
            <a:spLocks noGrp="1"/>
          </p:cNvSpPr>
          <p:nvPr>
            <p:ph type="ftr" sz="quarter" idx="12"/>
          </p:nvPr>
        </p:nvSpPr>
        <p:spPr/>
        <p:txBody>
          <a:bodyPr rtlCol="0"/>
          <a:lstStyle>
            <a:lvl1pPr>
              <a:defRPr/>
            </a:lvl1pPr>
          </a:lstStyle>
          <a:p>
            <a:pPr>
              <a:defRPr/>
            </a:pPr>
            <a:r>
              <a:rPr lang="en-US" altLang="en-US"/>
              <a:t> Red Black Trees</a:t>
            </a:r>
          </a:p>
        </p:txBody>
      </p:sp>
    </p:spTree>
    <p:extLst>
      <p:ext uri="{BB962C8B-B14F-4D97-AF65-F5344CB8AC3E}">
        <p14:creationId xmlns:p14="http://schemas.microsoft.com/office/powerpoint/2010/main" val="1701447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A35254-BA2C-4834-85C4-C01A1408BB62}"/>
              </a:ext>
            </a:extLst>
          </p:cNvPr>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1206B-E85F-4151-9F6F-B42BD4F2A14C}"/>
              </a:ext>
            </a:extLst>
          </p:cNvPr>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575DC-D9A3-4246-8E04-359C1E241650}"/>
              </a:ext>
            </a:extLst>
          </p:cNvPr>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A17412CA-D198-4AFA-9ADD-37508EAD6F93}"/>
              </a:ext>
            </a:extLst>
          </p:cNvPr>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5F525125-6F41-48E5-B98E-9C500B8810AA}"/>
              </a:ext>
            </a:extLst>
          </p:cNvPr>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3FCAF691-C30B-4477-A4FB-AFF7F164B000}" type="slidenum">
              <a:rPr lang="en-IN" smtClean="0"/>
              <a:pPr/>
              <a:t>‹#›</a:t>
            </a:fld>
            <a:endParaRPr lang="en-IN"/>
          </a:p>
        </p:txBody>
      </p:sp>
    </p:spTree>
    <p:extLst>
      <p:ext uri="{BB962C8B-B14F-4D97-AF65-F5344CB8AC3E}">
        <p14:creationId xmlns:p14="http://schemas.microsoft.com/office/powerpoint/2010/main" val="318238489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www.geeksforgeeks.org/binary-search-tree-data-structur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hyperlink" Target="https://www.geeksforgeeks.org/data-structures"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www.geeksforgeeks.org/binary-search-tree-set-1-search-and-insertion" TargetMode="Externa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hyperlink" Target="https://www.geeksforgeeks.org/introduction-to-red-black-tree"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hyperlink" Target="https://www.geeksforgeeks.org/binary-tree-data-structure" TargetMode="External"/><Relationship Id="rId4" Type="http://schemas.openxmlformats.org/officeDocument/2006/relationships/hyperlink" Target="https://www.geeksforgeeks.org/binary-search-tree-data-structure"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hyperlink" Target="https://www.geeksforgeeks.org/avl-tree-set-1-insertion"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hyperlink" Target="https://www.geeksforgeeks.org/insertion-in-binary-search-tree" TargetMode="External"/><Relationship Id="rId4" Type="http://schemas.openxmlformats.org/officeDocument/2006/relationships/hyperlink" Target="https://www.geeksforgeeks.org/insertion-in-red-black-tree"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1.png"/><Relationship Id="rId7" Type="http://schemas.openxmlformats.org/officeDocument/2006/relationships/image" Target="../media/image56.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hyperlink" Target="https://www.geeksforgeeks.org/avl-tree-set-1-insertion" TargetMode="External"/></Relationships>
</file>

<file path=ppt/slides/_rels/slide5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png"/><Relationship Id="rId7" Type="http://schemas.openxmlformats.org/officeDocument/2006/relationships/hyperlink" Target="https://www.wscubetech.com/resources/dsa/algorithm"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hyperlink" Target="https://www.wscubetech.com/resources/dsa/priority-queue-data-structure" TargetMode="External"/><Relationship Id="rId5" Type="http://schemas.openxmlformats.org/officeDocument/2006/relationships/hyperlink" Target="https://www.wscubetech.com/resources/dsa" TargetMode="External"/><Relationship Id="rId4" Type="http://schemas.openxmlformats.org/officeDocument/2006/relationships/hyperlink" Target="https://www.wscubetech.com/resources/dsa/binary-tree"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hyperlink" Target="https://www.programiz.com/dsa/binary-search-tree"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7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10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0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22FD-CCA9-4406-9618-24339941CFF9}"/>
              </a:ext>
            </a:extLst>
          </p:cNvPr>
          <p:cNvSpPr>
            <a:spLocks noGrp="1"/>
          </p:cNvSpPr>
          <p:nvPr>
            <p:ph type="ctrTitle"/>
          </p:nvPr>
        </p:nvSpPr>
        <p:spPr>
          <a:xfrm>
            <a:off x="823305" y="317048"/>
            <a:ext cx="7516836" cy="902154"/>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cs typeface="Times New Roman" panose="02020603050405020304" pitchFamily="18" charset="0"/>
              </a:rPr>
              <a:t>Advanced Trees and Applications </a:t>
            </a:r>
            <a:br>
              <a:rPr lang="en-IN" sz="2700" dirty="0">
                <a:latin typeface="Times New Roman" panose="02020603050405020304" pitchFamily="18" charset="0"/>
                <a:cs typeface="Times New Roman" pitchFamily="18" charset="0"/>
              </a:rPr>
            </a:br>
            <a:br>
              <a:rPr lang="en-IN" sz="1400" dirty="0">
                <a:latin typeface="Times New Roman" panose="02020603050405020304" pitchFamily="18" charset="0"/>
                <a:cs typeface="Times New Roman" pitchFamily="18" charset="0"/>
              </a:rPr>
            </a:br>
            <a:r>
              <a:rPr lang="en-IN" sz="3600" b="1" dirty="0">
                <a:latin typeface="Times New Roman" panose="02020603050405020304" pitchFamily="18" charset="0"/>
                <a:cs typeface="Times New Roman" panose="02020603050405020304" pitchFamily="18" charset="0"/>
              </a:rPr>
              <a:t>Data Structures-II </a:t>
            </a:r>
            <a:endParaRPr lang="en-IN" sz="1800" b="1" dirty="0">
              <a:latin typeface="Times New Roman" panose="02020603050405020304" pitchFamily="18" charset="0"/>
              <a:cs typeface="Times New Roman" pitchFamily="18" charset="0"/>
            </a:endParaRPr>
          </a:p>
        </p:txBody>
      </p:sp>
      <p:sp>
        <p:nvSpPr>
          <p:cNvPr id="3" name="Subtitle 2">
            <a:extLst>
              <a:ext uri="{FF2B5EF4-FFF2-40B4-BE49-F238E27FC236}">
                <a16:creationId xmlns:a16="http://schemas.microsoft.com/office/drawing/2014/main" id="{82E6DDC4-FD95-4802-92CF-9A0A66152708}"/>
              </a:ext>
            </a:extLst>
          </p:cNvPr>
          <p:cNvSpPr>
            <a:spLocks noGrp="1"/>
          </p:cNvSpPr>
          <p:nvPr>
            <p:ph type="subTitle" idx="1"/>
          </p:nvPr>
        </p:nvSpPr>
        <p:spPr>
          <a:xfrm>
            <a:off x="974616" y="1448162"/>
            <a:ext cx="7214214" cy="984702"/>
          </a:xfrm>
        </p:spPr>
        <p:txBody>
          <a:bodyPr>
            <a:noAutofit/>
          </a:bodyPr>
          <a:lstStyle/>
          <a:p>
            <a:pPr>
              <a:lnSpc>
                <a:spcPct val="100000"/>
              </a:lnSpc>
              <a:spcBef>
                <a:spcPts val="0"/>
              </a:spcBef>
            </a:pPr>
            <a:r>
              <a:rPr lang="en-IN" dirty="0">
                <a:latin typeface="Times New Roman" pitchFamily="18" charset="0"/>
                <a:cs typeface="Times New Roman" pitchFamily="18" charset="0"/>
              </a:rPr>
              <a:t>Dr. Dattatray G. Takale</a:t>
            </a:r>
          </a:p>
          <a:p>
            <a:pPr>
              <a:lnSpc>
                <a:spcPct val="100000"/>
              </a:lnSpc>
              <a:spcBef>
                <a:spcPts val="0"/>
              </a:spcBef>
            </a:pPr>
            <a:r>
              <a:rPr lang="en-IN" dirty="0">
                <a:latin typeface="Times New Roman" pitchFamily="18" charset="0"/>
                <a:cs typeface="Times New Roman" pitchFamily="18" charset="0"/>
              </a:rPr>
              <a:t>Dattatray.takale@viit.ac.in</a:t>
            </a:r>
          </a:p>
          <a:p>
            <a:pPr>
              <a:lnSpc>
                <a:spcPct val="100000"/>
              </a:lnSpc>
              <a:spcBef>
                <a:spcPts val="0"/>
              </a:spcBef>
            </a:pPr>
            <a:r>
              <a:rPr lang="en-IN" sz="2000" b="1" dirty="0">
                <a:latin typeface="Times New Roman" pitchFamily="18" charset="0"/>
                <a:cs typeface="Times New Roman" pitchFamily="18" charset="0"/>
              </a:rPr>
              <a:t>Department of Data Science </a:t>
            </a:r>
          </a:p>
        </p:txBody>
      </p:sp>
      <p:sp>
        <p:nvSpPr>
          <p:cNvPr id="5" name="Subtitle 2">
            <a:extLst>
              <a:ext uri="{FF2B5EF4-FFF2-40B4-BE49-F238E27FC236}">
                <a16:creationId xmlns:a16="http://schemas.microsoft.com/office/drawing/2014/main" id="{82E6DDC4-FD95-4802-92CF-9A0A66152708}"/>
              </a:ext>
            </a:extLst>
          </p:cNvPr>
          <p:cNvSpPr txBox="1">
            <a:spLocks/>
          </p:cNvSpPr>
          <p:nvPr/>
        </p:nvSpPr>
        <p:spPr>
          <a:xfrm>
            <a:off x="249210" y="4021068"/>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sz="2000" b="1" dirty="0">
                <a:solidFill>
                  <a:schemeClr val="bg1"/>
                </a:solidFill>
                <a:latin typeface="Times New Roman" pitchFamily="18" charset="0"/>
                <a:cs typeface="Times New Roman" pitchFamily="18" charset="0"/>
              </a:rPr>
              <a:t>BRACT’S, Vishwakarma Institute of Information Technology, Pune-48</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605" y="2521468"/>
            <a:ext cx="1326236" cy="1499600"/>
          </a:xfrm>
          <a:prstGeom prst="rect">
            <a:avLst/>
          </a:prstGeom>
        </p:spPr>
      </p:pic>
      <p:sp>
        <p:nvSpPr>
          <p:cNvPr id="6" name="Rectangle 5"/>
          <p:cNvSpPr/>
          <p:nvPr/>
        </p:nvSpPr>
        <p:spPr>
          <a:xfrm>
            <a:off x="407052" y="4427922"/>
            <a:ext cx="8349342" cy="523220"/>
          </a:xfrm>
          <a:prstGeom prst="rect">
            <a:avLst/>
          </a:prstGeom>
        </p:spPr>
        <p:txBody>
          <a:bodyPr wrap="square">
            <a:spAutoFit/>
          </a:bodyPr>
          <a:lstStyle/>
          <a:p>
            <a:pPr algn="ctr"/>
            <a:r>
              <a:rPr lang="en-IN" b="1" dirty="0">
                <a:solidFill>
                  <a:schemeClr val="tx1">
                    <a:lumMod val="50000"/>
                    <a:lumOff val="50000"/>
                  </a:schemeClr>
                </a:solidFill>
                <a:latin typeface="Times New Roman" pitchFamily="18" charset="0"/>
                <a:cs typeface="Times New Roman" pitchFamily="18" charset="0"/>
              </a:rPr>
              <a:t>(An Autonomous Institute affiliated to Savitribai Phule Pune University)</a:t>
            </a:r>
          </a:p>
          <a:p>
            <a:pPr algn="ctr"/>
            <a:r>
              <a:rPr lang="en-IN" b="1" dirty="0">
                <a:solidFill>
                  <a:schemeClr val="tx1">
                    <a:lumMod val="50000"/>
                    <a:lumOff val="50000"/>
                  </a:schemeClr>
                </a:solidFill>
                <a:latin typeface="Times New Roman" pitchFamily="18" charset="0"/>
                <a:cs typeface="Times New Roman" pitchFamily="18" charset="0"/>
              </a:rPr>
              <a:t>(NBA and NAAC accredited, ISO 9001:2015 certified) </a:t>
            </a:r>
          </a:p>
        </p:txBody>
      </p:sp>
    </p:spTree>
    <p:extLst>
      <p:ext uri="{BB962C8B-B14F-4D97-AF65-F5344CB8AC3E}">
        <p14:creationId xmlns:p14="http://schemas.microsoft.com/office/powerpoint/2010/main" val="2675140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IN" sz="2700" b="1" dirty="0">
                <a:latin typeface="Times New Roman" panose="02020603050405020304" pitchFamily="18" charset="0"/>
                <a:cs typeface="Times New Roman" panose="02020603050405020304" pitchFamily="18" charset="0"/>
              </a:rPr>
              <a:t>Unit -1  :Contents</a:t>
            </a:r>
            <a:endParaRPr lang="en-IN" sz="27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503402" y="493335"/>
            <a:ext cx="8499507" cy="4111830"/>
          </a:xfrm>
        </p:spPr>
        <p:txBody>
          <a:bodyPr anchor="t">
            <a:normAutofit/>
          </a:bodyPr>
          <a:lstStyle/>
          <a:p>
            <a:pPr marL="0" indent="0" algn="just">
              <a:lnSpc>
                <a:spcPct val="115000"/>
              </a:lnSpc>
              <a:buNone/>
            </a:pPr>
            <a:endParaRPr lang="en-US" dirty="0">
              <a:latin typeface="Times New Roman" panose="02020603050405020304" pitchFamily="18" charset="0"/>
              <a:cs typeface="Times New Roman" panose="02020603050405020304" pitchFamily="18" charset="0"/>
            </a:endParaRPr>
          </a:p>
          <a:p>
            <a:pPr marL="0" indent="0" algn="just">
              <a:lnSpc>
                <a:spcPct val="115000"/>
              </a:lnSpc>
              <a:buNone/>
            </a:pPr>
            <a:endParaRPr lang="en-US" dirty="0">
              <a:latin typeface="Times New Roman" panose="02020603050405020304" pitchFamily="18" charset="0"/>
              <a:cs typeface="Times New Roman" panose="02020603050405020304" pitchFamily="18" charset="0"/>
            </a:endParaRPr>
          </a:p>
          <a:p>
            <a:pPr marL="0" indent="0" algn="just">
              <a:lnSpc>
                <a:spcPct val="115000"/>
              </a:lnSpc>
              <a:buNone/>
            </a:pPr>
            <a:r>
              <a:rPr lang="en-US" dirty="0">
                <a:latin typeface="Times New Roman" panose="02020603050405020304" pitchFamily="18" charset="0"/>
                <a:cs typeface="Times New Roman" panose="02020603050405020304" pitchFamily="18" charset="0"/>
              </a:rPr>
              <a:t>Threaded Binary Tree, AVL Tree, Red-Black Tree, Heap Tree, Huffman Tree. B-Tree, B+-Tree, Splay Tree, Van Emde Boas Tree, Fusion Tree, Dynamic Finger Search Trees with Time and Space Complexity Analysis </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091" y="-91341"/>
            <a:ext cx="724623" cy="819345"/>
          </a:xfrm>
          <a:prstGeom prst="rect">
            <a:avLst/>
          </a:prstGeom>
        </p:spPr>
      </p:pic>
      <p:sp>
        <p:nvSpPr>
          <p:cNvPr id="12" name="Rectangle 11"/>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3875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itchFamily="18" charset="0"/>
                <a:cs typeface="Times New Roman" pitchFamily="18" charset="0"/>
              </a:rPr>
              <a:t>Linear and Non- Linear Data Structure </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460375" y="995160"/>
            <a:ext cx="8532476"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Data structures can be broadly classified into two categories based on how they organize data: </a:t>
            </a:r>
            <a:r>
              <a:rPr lang="en-US" b="1" dirty="0">
                <a:latin typeface="Times New Roman" panose="02020603050405020304" pitchFamily="18" charset="0"/>
                <a:cs typeface="Times New Roman" panose="02020603050405020304" pitchFamily="18" charset="0"/>
              </a:rPr>
              <a:t>linear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non-linear</a:t>
            </a:r>
            <a:r>
              <a:rPr lang="en-US" dirty="0">
                <a:latin typeface="Times New Roman" panose="02020603050405020304" pitchFamily="18" charset="0"/>
                <a:cs typeface="Times New Roman" panose="02020603050405020304" pitchFamily="18" charset="0"/>
              </a:rPr>
              <a:t>. Each type has its own specific use cases and advantages in different programming scenarios</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Linear Data Structures: </a:t>
            </a:r>
            <a:r>
              <a:rPr lang="en-US" dirty="0">
                <a:latin typeface="Times New Roman" panose="02020603050405020304" pitchFamily="18" charset="0"/>
                <a:cs typeface="Times New Roman" panose="02020603050405020304" pitchFamily="18" charset="0"/>
              </a:rPr>
              <a:t>Linear data structures organize data elements in a sequential manner, where each element is connected to its previous and next element. This sequential layout makes linear data structures easy to implement and use</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Non- Linear Data Structures: </a:t>
            </a:r>
            <a:r>
              <a:rPr lang="en-US" dirty="0">
                <a:latin typeface="Times New Roman" panose="02020603050405020304" pitchFamily="18" charset="0"/>
                <a:cs typeface="Times New Roman" panose="02020603050405020304" pitchFamily="18" charset="0"/>
              </a:rPr>
              <a:t>Non-linear data structures do not organize data in a sequential manner but instead, they use a hierarchical relationship among elements.</a:t>
            </a:r>
          </a:p>
        </p:txBody>
      </p:sp>
      <p:sp>
        <p:nvSpPr>
          <p:cNvPr id="5" name="Rectangle 4">
            <a:extLst>
              <a:ext uri="{FF2B5EF4-FFF2-40B4-BE49-F238E27FC236}">
                <a16:creationId xmlns:a16="http://schemas.microsoft.com/office/drawing/2014/main" id="{3E4AB21B-6AC2-2DB1-1F0F-CA8C1793A643}"/>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0061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graphicFrame>
        <p:nvGraphicFramePr>
          <p:cNvPr id="413" name="Google Shape;413;p14"/>
          <p:cNvGraphicFramePr/>
          <p:nvPr/>
        </p:nvGraphicFramePr>
        <p:xfrm>
          <a:off x="297260" y="267267"/>
          <a:ext cx="8670094" cy="4724313"/>
        </p:xfrm>
        <a:graphic>
          <a:graphicData uri="http://schemas.openxmlformats.org/drawingml/2006/table">
            <a:tbl>
              <a:tblPr>
                <a:noFill/>
              </a:tblPr>
              <a:tblGrid>
                <a:gridCol w="1210380">
                  <a:extLst>
                    <a:ext uri="{9D8B030D-6E8A-4147-A177-3AD203B41FA5}">
                      <a16:colId xmlns:a16="http://schemas.microsoft.com/office/drawing/2014/main" val="20000"/>
                    </a:ext>
                  </a:extLst>
                </a:gridCol>
                <a:gridCol w="1530559">
                  <a:extLst>
                    <a:ext uri="{9D8B030D-6E8A-4147-A177-3AD203B41FA5}">
                      <a16:colId xmlns:a16="http://schemas.microsoft.com/office/drawing/2014/main" val="20001"/>
                    </a:ext>
                  </a:extLst>
                </a:gridCol>
                <a:gridCol w="3011284">
                  <a:extLst>
                    <a:ext uri="{9D8B030D-6E8A-4147-A177-3AD203B41FA5}">
                      <a16:colId xmlns:a16="http://schemas.microsoft.com/office/drawing/2014/main" val="20002"/>
                    </a:ext>
                  </a:extLst>
                </a:gridCol>
                <a:gridCol w="2917871">
                  <a:extLst>
                    <a:ext uri="{9D8B030D-6E8A-4147-A177-3AD203B41FA5}">
                      <a16:colId xmlns:a16="http://schemas.microsoft.com/office/drawing/2014/main" val="20003"/>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Sr. No.</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Key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Linear Data Structures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Non-linear Data Structures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43813">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1</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Data Element Arrangement</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In linear data structure, data elements are sequentially connected and each element is traversable through a single run.</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In non-linear data structure, data elements are hierarchically connected and are present at various levels.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54388">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2</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Levels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In linear data structure, all data elements are present at a single level.</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In non-linear data structure, data elements are present at multiple levels.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46913">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3</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1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Predecessor and Successor</a:t>
                      </a:r>
                      <a:endParaRPr sz="11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Every element can have at the max one successor and one predecessor.</a:t>
                      </a: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1400"/>
                        <a:buFont typeface="Arial"/>
                        <a:buNone/>
                      </a:pPr>
                      <a:r>
                        <a:rPr lang="en-IN" sz="11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11 ,1 , 2 ,3 </a:t>
                      </a:r>
                      <a:endParaRPr sz="11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341280" marR="0" lvl="0" indent="-339840" algn="l" rtl="0">
                        <a:lnSpc>
                          <a:spcPct val="100000"/>
                        </a:lnSpc>
                        <a:spcBef>
                          <a:spcPts val="0"/>
                        </a:spcBef>
                        <a:spcAft>
                          <a:spcPts val="0"/>
                        </a:spcAft>
                        <a:buClr>
                          <a:srgbClr val="000000"/>
                        </a:buClr>
                        <a:buSzPts val="1800"/>
                        <a:buFont typeface="Arial"/>
                        <a:buNone/>
                      </a:pPr>
                      <a:r>
                        <a:rPr lang="en-IN" sz="1400" b="0" u="none" strike="noStrike" cap="none">
                          <a:solidFill>
                            <a:srgbClr val="000000"/>
                          </a:solidFill>
                          <a:latin typeface="Times New Roman" panose="02020603050405020304" pitchFamily="18" charset="0"/>
                          <a:ea typeface="Arial"/>
                          <a:cs typeface="Times New Roman" panose="02020603050405020304" pitchFamily="18" charset="0"/>
                          <a:sym typeface="Arial"/>
                        </a:rPr>
                        <a:t>this each element  can have more than one successor.</a:t>
                      </a:r>
                      <a:endParaRPr sz="14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82988">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4</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Implementation complexity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Linear data structures are easier to implement.</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Non-linear data structures are difficult to understand and implement as compared to linear data structures.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982988">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5</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Traversal</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Linear data structures can be traversed completely in a single run.</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Non-linear data structures are not easy to traverse and needs multiple runs to be traversed completely.</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 name="Rectangle 2">
            <a:extLst>
              <a:ext uri="{FF2B5EF4-FFF2-40B4-BE49-F238E27FC236}">
                <a16:creationId xmlns:a16="http://schemas.microsoft.com/office/drawing/2014/main" id="{11C6013D-1528-1438-781D-65608463E579}"/>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4991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graphicFrame>
        <p:nvGraphicFramePr>
          <p:cNvPr id="418" name="Google Shape;418;p15"/>
          <p:cNvGraphicFramePr/>
          <p:nvPr/>
        </p:nvGraphicFramePr>
        <p:xfrm>
          <a:off x="276480" y="199260"/>
          <a:ext cx="8690874" cy="4900298"/>
        </p:xfrm>
        <a:graphic>
          <a:graphicData uri="http://schemas.openxmlformats.org/drawingml/2006/table">
            <a:tbl>
              <a:tblPr>
                <a:noFill/>
              </a:tblPr>
              <a:tblGrid>
                <a:gridCol w="1213281">
                  <a:extLst>
                    <a:ext uri="{9D8B030D-6E8A-4147-A177-3AD203B41FA5}">
                      <a16:colId xmlns:a16="http://schemas.microsoft.com/office/drawing/2014/main" val="20000"/>
                    </a:ext>
                  </a:extLst>
                </a:gridCol>
                <a:gridCol w="1534227">
                  <a:extLst>
                    <a:ext uri="{9D8B030D-6E8A-4147-A177-3AD203B41FA5}">
                      <a16:colId xmlns:a16="http://schemas.microsoft.com/office/drawing/2014/main" val="20001"/>
                    </a:ext>
                  </a:extLst>
                </a:gridCol>
                <a:gridCol w="3018501">
                  <a:extLst>
                    <a:ext uri="{9D8B030D-6E8A-4147-A177-3AD203B41FA5}">
                      <a16:colId xmlns:a16="http://schemas.microsoft.com/office/drawing/2014/main" val="20002"/>
                    </a:ext>
                  </a:extLst>
                </a:gridCol>
                <a:gridCol w="2924865">
                  <a:extLst>
                    <a:ext uri="{9D8B030D-6E8A-4147-A177-3AD203B41FA5}">
                      <a16:colId xmlns:a16="http://schemas.microsoft.com/office/drawing/2014/main" val="20003"/>
                    </a:ext>
                  </a:extLst>
                </a:gridCol>
              </a:tblGrid>
              <a:tr h="284410">
                <a:tc>
                  <a:txBody>
                    <a:bodyPr/>
                    <a:lstStyle/>
                    <a:p>
                      <a:pPr marL="0" marR="0" lvl="0" indent="0" algn="l"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Sr. No.</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Key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Linear Data Structures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a:solidFill>
                            <a:srgbClr val="000000"/>
                          </a:solidFill>
                          <a:latin typeface="Times New Roman" panose="02020603050405020304" pitchFamily="18" charset="0"/>
                          <a:ea typeface="Arial"/>
                          <a:cs typeface="Times New Roman" panose="02020603050405020304" pitchFamily="18" charset="0"/>
                          <a:sym typeface="Arial"/>
                        </a:rPr>
                        <a:t>Non-linear Data Structures</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08334">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6</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Memory utilization</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Linear data structures are not very memory friendly and are not utilizing memory efficiently.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Non-linear data structures uses memory very efficiently.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07825">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7</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Time Complexity</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Time complexity of linear data structure often increases with increase in size.</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Time complexity of non-linear data structure often remain with increase in size.</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852726">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8</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Examples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Array</a:t>
                      </a: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Linked List</a:t>
                      </a: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500" b="0" u="none" strike="noStrike" cap="none">
                          <a:solidFill>
                            <a:srgbClr val="000000"/>
                          </a:solidFill>
                          <a:latin typeface="Times New Roman" panose="02020603050405020304" pitchFamily="18" charset="0"/>
                          <a:ea typeface="Arial"/>
                          <a:cs typeface="Times New Roman" panose="02020603050405020304" pitchFamily="18" charset="0"/>
                          <a:sym typeface="Arial"/>
                        </a:rPr>
                        <a:t> Queue, Stack.</a:t>
                      </a:r>
                      <a:endParaRPr sz="1500" b="0" u="none" strike="noStrike" cap="none">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Tree</a:t>
                      </a: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Graph</a:t>
                      </a: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5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Map </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419" name="Google Shape;419;p15"/>
          <p:cNvPicPr preferRelativeResize="0"/>
          <p:nvPr/>
        </p:nvPicPr>
        <p:blipFill rotWithShape="1">
          <a:blip r:embed="rId3">
            <a:alphaModFix/>
          </a:blip>
          <a:srcRect/>
          <a:stretch/>
        </p:blipFill>
        <p:spPr>
          <a:xfrm>
            <a:off x="3178980" y="3841020"/>
            <a:ext cx="2542590" cy="922590"/>
          </a:xfrm>
          <a:prstGeom prst="rect">
            <a:avLst/>
          </a:prstGeom>
          <a:noFill/>
          <a:ln>
            <a:noFill/>
          </a:ln>
        </p:spPr>
      </p:pic>
      <p:pic>
        <p:nvPicPr>
          <p:cNvPr id="420" name="Google Shape;420;p15"/>
          <p:cNvPicPr preferRelativeResize="0"/>
          <p:nvPr/>
        </p:nvPicPr>
        <p:blipFill rotWithShape="1">
          <a:blip r:embed="rId4">
            <a:alphaModFix/>
          </a:blip>
          <a:srcRect/>
          <a:stretch/>
        </p:blipFill>
        <p:spPr>
          <a:xfrm>
            <a:off x="3055860" y="2443770"/>
            <a:ext cx="2854980" cy="1028430"/>
          </a:xfrm>
          <a:prstGeom prst="rect">
            <a:avLst/>
          </a:prstGeom>
          <a:noFill/>
          <a:ln>
            <a:noFill/>
          </a:ln>
        </p:spPr>
      </p:pic>
      <p:pic>
        <p:nvPicPr>
          <p:cNvPr id="421" name="Google Shape;421;p15"/>
          <p:cNvPicPr preferRelativeResize="0"/>
          <p:nvPr/>
        </p:nvPicPr>
        <p:blipFill rotWithShape="1">
          <a:blip r:embed="rId5">
            <a:alphaModFix/>
          </a:blip>
          <a:srcRect/>
          <a:stretch/>
        </p:blipFill>
        <p:spPr>
          <a:xfrm>
            <a:off x="6871770" y="2181330"/>
            <a:ext cx="1437750" cy="1134810"/>
          </a:xfrm>
          <a:prstGeom prst="rect">
            <a:avLst/>
          </a:prstGeom>
          <a:noFill/>
          <a:ln>
            <a:noFill/>
          </a:ln>
        </p:spPr>
      </p:pic>
      <p:pic>
        <p:nvPicPr>
          <p:cNvPr id="422" name="Google Shape;422;p15"/>
          <p:cNvPicPr preferRelativeResize="0"/>
          <p:nvPr/>
        </p:nvPicPr>
        <p:blipFill rotWithShape="1">
          <a:blip r:embed="rId6">
            <a:alphaModFix/>
          </a:blip>
          <a:srcRect/>
          <a:stretch/>
        </p:blipFill>
        <p:spPr>
          <a:xfrm>
            <a:off x="6871770" y="3513510"/>
            <a:ext cx="1219320" cy="1205820"/>
          </a:xfrm>
          <a:prstGeom prst="rect">
            <a:avLst/>
          </a:prstGeom>
          <a:noFill/>
          <a:ln>
            <a:noFill/>
          </a:ln>
        </p:spPr>
      </p:pic>
      <p:sp>
        <p:nvSpPr>
          <p:cNvPr id="3" name="Rectangle 2">
            <a:extLst>
              <a:ext uri="{FF2B5EF4-FFF2-40B4-BE49-F238E27FC236}">
                <a16:creationId xmlns:a16="http://schemas.microsoft.com/office/drawing/2014/main" id="{74FBFF7D-9EC7-4474-EA07-B53A96170EE8}"/>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49225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itchFamily="18" charset="0"/>
                <a:cs typeface="Times New Roman" pitchFamily="18" charset="0"/>
              </a:rPr>
              <a:t>Tree</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460375" y="995160"/>
            <a:ext cx="8532476" cy="2462213"/>
          </a:xfrm>
          <a:prstGeom prst="rect">
            <a:avLst/>
          </a:prstGeom>
          <a:noFill/>
        </p:spPr>
        <p:txBody>
          <a:bodyPr wrap="square">
            <a:spAutoFit/>
          </a:bodyPr>
          <a:lstStyle/>
          <a:p>
            <a:pPr algn="just" rtl="0" fontAlgn="base"/>
            <a:r>
              <a:rPr lang="en-US" b="1" i="0" dirty="0">
                <a:solidFill>
                  <a:srgbClr val="273239"/>
                </a:solidFill>
                <a:effectLst/>
                <a:latin typeface="Times New Roman" panose="02020603050405020304" pitchFamily="18" charset="0"/>
                <a:cs typeface="Times New Roman" panose="02020603050405020304" pitchFamily="18" charset="0"/>
              </a:rPr>
              <a:t>Tree data structure </a:t>
            </a:r>
            <a:r>
              <a:rPr lang="en-US" b="0" i="0" dirty="0">
                <a:solidFill>
                  <a:srgbClr val="273239"/>
                </a:solidFill>
                <a:effectLst/>
                <a:latin typeface="Times New Roman" panose="02020603050405020304" pitchFamily="18" charset="0"/>
                <a:cs typeface="Times New Roman" panose="02020603050405020304" pitchFamily="18" charset="0"/>
              </a:rPr>
              <a:t>is a specialized data structure to store data in hierarchical manner. It is used to organize and store data in the computer to be used more effectively. It consists of a central node, structural nodes, and sub-nodes, which are connected via edges. We can also say that tree data structure has roots, branches, and leaves connected.</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84BA636-F010-9E58-90C8-928D624AE8A2}"/>
              </a:ext>
            </a:extLst>
          </p:cNvPr>
          <p:cNvPicPr>
            <a:picLocks noChangeAspect="1"/>
          </p:cNvPicPr>
          <p:nvPr/>
        </p:nvPicPr>
        <p:blipFill>
          <a:blip r:embed="rId4"/>
          <a:stretch>
            <a:fillRect/>
          </a:stretch>
        </p:blipFill>
        <p:spPr>
          <a:xfrm>
            <a:off x="2890438" y="1891000"/>
            <a:ext cx="4038995" cy="2534128"/>
          </a:xfrm>
          <a:prstGeom prst="rect">
            <a:avLst/>
          </a:prstGeom>
        </p:spPr>
      </p:pic>
      <p:sp>
        <p:nvSpPr>
          <p:cNvPr id="5" name="Rectangle 4">
            <a:extLst>
              <a:ext uri="{FF2B5EF4-FFF2-40B4-BE49-F238E27FC236}">
                <a16:creationId xmlns:a16="http://schemas.microsoft.com/office/drawing/2014/main" id="{FE9B31C4-80CE-C18D-6B13-BDE5EF78F961}"/>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55876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itchFamily="18" charset="0"/>
                <a:cs typeface="Times New Roman" pitchFamily="18" charset="0"/>
              </a:rPr>
              <a:t>Tree</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7</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460375" y="995160"/>
            <a:ext cx="8532476" cy="353943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tree</a:t>
            </a:r>
            <a:r>
              <a:rPr lang="en-US" dirty="0">
                <a:latin typeface="Times New Roman" panose="02020603050405020304" pitchFamily="18" charset="0"/>
                <a:cs typeface="Times New Roman" panose="02020603050405020304" pitchFamily="18" charset="0"/>
              </a:rPr>
              <a:t> is a widely used abstract data type that simulates a hierarchical tree structure, with a root value and subtrees of children with a parent node, represented as a set of linked nodes. Here’s a detailed overview of the tree data structure in computer science: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Tree can be defined as a Collection of entities (Notes), linked together to simulate a Hierarchy </a:t>
            </a:r>
          </a:p>
          <a:p>
            <a:pPr algn="just"/>
            <a:endParaRPr lang="en-US"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File System Hierarchy</a:t>
            </a:r>
            <a:endParaRPr lang="en-US"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Operating systems organize files and directories within a tree structure. Each directory can contain files or subdirectories, making it a tree node, with the root directory at the base.</a:t>
            </a:r>
          </a:p>
          <a:p>
            <a:pPr marL="342900" indent="-342900" algn="just">
              <a:buFont typeface="+mj-l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Utility</a:t>
            </a:r>
            <a:r>
              <a:rPr lang="en-US" dirty="0">
                <a:latin typeface="Times New Roman" panose="02020603050405020304" pitchFamily="18" charset="0"/>
                <a:cs typeface="Times New Roman" panose="02020603050405020304" pitchFamily="18" charset="0"/>
              </a:rPr>
              <a:t>: This organization allows users and programs to find files quickly and manage them efficiently, using paths represented as branches from the root to the desired file or folder.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492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itchFamily="18" charset="0"/>
                <a:cs typeface="Times New Roman" pitchFamily="18" charset="0"/>
              </a:rPr>
              <a:t>Tree</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F6977025-F4D2-FAFD-3276-DE67574FDDF4}"/>
              </a:ext>
            </a:extLst>
          </p:cNvPr>
          <p:cNvSpPr txBox="1"/>
          <p:nvPr/>
        </p:nvSpPr>
        <p:spPr>
          <a:xfrm>
            <a:off x="460375" y="995160"/>
            <a:ext cx="8532476" cy="1815882"/>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Organizational Structures</a:t>
            </a:r>
          </a:p>
          <a:p>
            <a:pPr algn="just">
              <a:lnSpc>
                <a:spcPct val="150000"/>
              </a:lnSpc>
            </a:pPr>
            <a:r>
              <a:rPr lang="en-US" b="1" dirty="0">
                <a:latin typeface="Times New Roman" panose="02020603050405020304" pitchFamily="18" charset="0"/>
                <a:cs typeface="Times New Roman" panose="02020603050405020304" pitchFamily="18" charset="0"/>
              </a:rPr>
              <a:t>Description</a:t>
            </a:r>
            <a:r>
              <a:rPr lang="en-US" dirty="0">
                <a:latin typeface="Times New Roman" panose="02020603050405020304" pitchFamily="18" charset="0"/>
                <a:cs typeface="Times New Roman" panose="02020603050405020304" pitchFamily="18" charset="0"/>
              </a:rPr>
              <a:t>: Many organizations chart their structure using a tree to represent different levels of hierarchy, where the CEO is at the root, and subsequent levels represent managers and their subordinates.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Utility</a:t>
            </a:r>
            <a:r>
              <a:rPr lang="en-US" dirty="0">
                <a:latin typeface="Times New Roman" panose="02020603050405020304" pitchFamily="18" charset="0"/>
                <a:cs typeface="Times New Roman" panose="02020603050405020304" pitchFamily="18" charset="0"/>
              </a:rPr>
              <a:t>: This helps visualize and manage the reporting relationships and workflow within an organization.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144C7D7-280D-3B36-1B9B-045FF36D1B10}"/>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55683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8D9EE-0136-6459-7A4E-4CBE8D407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74933-22FE-4174-98FE-4691DBA18D90}"/>
              </a:ext>
            </a:extLst>
          </p:cNvPr>
          <p:cNvSpPr>
            <a:spLocks noGrp="1"/>
          </p:cNvSpPr>
          <p:nvPr>
            <p:ph type="title"/>
          </p:nvPr>
        </p:nvSpPr>
        <p:spPr>
          <a:xfrm>
            <a:off x="628650" y="0"/>
            <a:ext cx="7886700" cy="728004"/>
          </a:xfrm>
        </p:spPr>
        <p:txBody>
          <a:bodyPr>
            <a:noAutofit/>
          </a:bodyPr>
          <a:lstStyle/>
          <a:p>
            <a:pPr algn="ctr" fontAlgn="base"/>
            <a:r>
              <a:rPr lang="en-IN" sz="2700" b="1" dirty="0">
                <a:latin typeface="Times New Roman" pitchFamily="18" charset="0"/>
                <a:cs typeface="Times New Roman" pitchFamily="18" charset="0"/>
              </a:rPr>
              <a:t>Binary Tree</a:t>
            </a:r>
          </a:p>
        </p:txBody>
      </p:sp>
      <p:pic>
        <p:nvPicPr>
          <p:cNvPr id="15" name="Picture 14">
            <a:extLst>
              <a:ext uri="{FF2B5EF4-FFF2-40B4-BE49-F238E27FC236}">
                <a16:creationId xmlns:a16="http://schemas.microsoft.com/office/drawing/2014/main" id="{3078BE8A-9AD2-017A-FBF2-D36116438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14BB7FCD-7FB5-B338-DC92-42053DCCC17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0BB7C20-8ACB-320D-AD88-1C0F55D0E44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0D84011B-E8E7-B0AD-CFE9-EC530C421E7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6A4E2ED1-C963-F9B7-5943-78FDB31DE8C9}"/>
              </a:ext>
            </a:extLst>
          </p:cNvPr>
          <p:cNvSpPr txBox="1"/>
          <p:nvPr/>
        </p:nvSpPr>
        <p:spPr>
          <a:xfrm>
            <a:off x="238991" y="872467"/>
            <a:ext cx="8836041" cy="4185761"/>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A binary tree is a tree data structure in which each parent node can have at most two children. Each node of a binary tree consists of three items</a:t>
            </a:r>
          </a:p>
          <a:p>
            <a:pPr marL="342900" indent="-342900" algn="l">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Data item</a:t>
            </a:r>
          </a:p>
          <a:p>
            <a:pPr marL="342900" indent="-34290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ddress of left child</a:t>
            </a:r>
          </a:p>
          <a:p>
            <a:pPr marL="342900" indent="-342900" algn="l">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a:t>
            </a:r>
            <a:r>
              <a:rPr lang="en-US" b="0" i="0" dirty="0">
                <a:effectLst/>
                <a:latin typeface="Times New Roman" panose="02020603050405020304" pitchFamily="18" charset="0"/>
                <a:cs typeface="Times New Roman" panose="02020603050405020304" pitchFamily="18" charset="0"/>
              </a:rPr>
              <a:t>ddress of right child</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CA0C183-9D35-3CB0-5222-7AA6B3FB0350}"/>
              </a:ext>
            </a:extLst>
          </p:cNvPr>
          <p:cNvPicPr>
            <a:picLocks noChangeAspect="1"/>
          </p:cNvPicPr>
          <p:nvPr/>
        </p:nvPicPr>
        <p:blipFill>
          <a:blip r:embed="rId4"/>
          <a:stretch>
            <a:fillRect/>
          </a:stretch>
        </p:blipFill>
        <p:spPr>
          <a:xfrm>
            <a:off x="1800724" y="2187968"/>
            <a:ext cx="5343564" cy="2705120"/>
          </a:xfrm>
          <a:prstGeom prst="rect">
            <a:avLst/>
          </a:prstGeom>
        </p:spPr>
      </p:pic>
      <p:sp>
        <p:nvSpPr>
          <p:cNvPr id="12" name="TextBox 11">
            <a:extLst>
              <a:ext uri="{FF2B5EF4-FFF2-40B4-BE49-F238E27FC236}">
                <a16:creationId xmlns:a16="http://schemas.microsoft.com/office/drawing/2014/main" id="{61DD384A-179F-6733-0124-8CA4A6F19A1C}"/>
              </a:ext>
            </a:extLst>
          </p:cNvPr>
          <p:cNvSpPr txBox="1"/>
          <p:nvPr/>
        </p:nvSpPr>
        <p:spPr>
          <a:xfrm>
            <a:off x="2291922" y="2177248"/>
            <a:ext cx="4583844" cy="738664"/>
          </a:xfrm>
          <a:prstGeom prst="rect">
            <a:avLst/>
          </a:prstGeom>
          <a:noFill/>
        </p:spPr>
        <p:txBody>
          <a:bodyPr wrap="square">
            <a:spAutoFit/>
          </a:bodyPr>
          <a:lstStyle/>
          <a:p>
            <a:pPr algn="l"/>
            <a:r>
              <a:rPr lang="en-IN" b="1" i="0" dirty="0">
                <a:solidFill>
                  <a:srgbClr val="25265E"/>
                </a:solidFill>
                <a:effectLst/>
                <a:latin typeface="euclid_circular_a"/>
              </a:rPr>
              <a:t>Types of Binary Tree</a:t>
            </a:r>
          </a:p>
          <a:p>
            <a:br>
              <a:rPr lang="en-IN" dirty="0"/>
            </a:br>
            <a:endParaRPr lang="en-IN" dirty="0"/>
          </a:p>
        </p:txBody>
      </p:sp>
      <p:sp>
        <p:nvSpPr>
          <p:cNvPr id="5" name="Rectangle 4">
            <a:extLst>
              <a:ext uri="{FF2B5EF4-FFF2-40B4-BE49-F238E27FC236}">
                <a16:creationId xmlns:a16="http://schemas.microsoft.com/office/drawing/2014/main" id="{721B71EB-AD28-5D16-419D-F4422D229F06}"/>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47459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B93D5-C27F-16E9-2C97-7EEFAACE4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82B3D-2AA9-66F2-3E91-64B272222395}"/>
              </a:ext>
            </a:extLst>
          </p:cNvPr>
          <p:cNvSpPr>
            <a:spLocks noGrp="1"/>
          </p:cNvSpPr>
          <p:nvPr>
            <p:ph type="title"/>
          </p:nvPr>
        </p:nvSpPr>
        <p:spPr>
          <a:xfrm>
            <a:off x="628650" y="0"/>
            <a:ext cx="7886700" cy="728004"/>
          </a:xfrm>
        </p:spPr>
        <p:txBody>
          <a:bodyPr>
            <a:noAutofit/>
          </a:bodyPr>
          <a:lstStyle/>
          <a:p>
            <a:pPr algn="ctr" fontAlgn="base"/>
            <a:br>
              <a:rPr lang="en-IN" sz="2800" b="1" dirty="0">
                <a:latin typeface="Times New Roman" panose="02020603050405020304" pitchFamily="18" charset="0"/>
                <a:cs typeface="Times New Roman" pitchFamily="18" charset="0"/>
              </a:rPr>
            </a:br>
            <a:r>
              <a:rPr lang="en-IN" sz="2800" b="1" dirty="0">
                <a:latin typeface="Times New Roman" panose="02020603050405020304" pitchFamily="18" charset="0"/>
                <a:cs typeface="Times New Roman" pitchFamily="18" charset="0"/>
              </a:rPr>
              <a:t>Traversal in Tree: inorder, preorder and postorder</a:t>
            </a:r>
            <a:br>
              <a:rPr lang="en-IN" sz="1400" b="1" i="0" dirty="0">
                <a:solidFill>
                  <a:srgbClr val="25265E"/>
                </a:solidFill>
                <a:effectLst/>
                <a:latin typeface="euclid_circular_a"/>
              </a:rPr>
            </a:br>
            <a:endParaRPr lang="en-IN" sz="28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388CF512-5996-B982-F3EE-40AE5B985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BAD75ED-BFB7-9F34-2585-7699A19F897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2E760840-EFBD-E53E-5004-39A1DA53107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96E017D1-7167-D180-43C8-8875B183009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0BFF86FD-5531-11F8-8082-D1B236AFF0B9}"/>
              </a:ext>
            </a:extLst>
          </p:cNvPr>
          <p:cNvSpPr txBox="1"/>
          <p:nvPr/>
        </p:nvSpPr>
        <p:spPr>
          <a:xfrm>
            <a:off x="460375" y="963808"/>
            <a:ext cx="8494112" cy="2893100"/>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Traversing a tree means visiting every node in the tree.</a:t>
            </a:r>
          </a:p>
          <a:p>
            <a:endParaRPr lang="en-US" dirty="0">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For Example: </a:t>
            </a:r>
            <a:r>
              <a:rPr lang="en-IN" dirty="0">
                <a:latin typeface="Times New Roman" panose="02020603050405020304" pitchFamily="18" charset="0"/>
                <a:cs typeface="Times New Roman" panose="02020603050405020304" pitchFamily="18" charset="0"/>
              </a:rPr>
              <a:t>T</a:t>
            </a:r>
            <a:r>
              <a:rPr lang="en-IN" b="0" i="0" dirty="0">
                <a:effectLst/>
                <a:latin typeface="Times New Roman" panose="02020603050405020304" pitchFamily="18" charset="0"/>
                <a:cs typeface="Times New Roman" panose="02020603050405020304" pitchFamily="18" charset="0"/>
              </a:rPr>
              <a:t>op, Left to Right</a:t>
            </a:r>
            <a:endParaRPr lang="en-US" b="0" i="0"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Tree Types of Traversal </a:t>
            </a:r>
          </a:p>
          <a:p>
            <a:pPr marL="342900" indent="-342900">
              <a:buAutoNum type="arabicPeriod"/>
            </a:pPr>
            <a:r>
              <a:rPr lang="en-US" dirty="0">
                <a:latin typeface="Times New Roman" panose="02020603050405020304" pitchFamily="18" charset="0"/>
                <a:cs typeface="Times New Roman" panose="02020603050405020304" pitchFamily="18" charset="0"/>
              </a:rPr>
              <a:t>In order </a:t>
            </a:r>
          </a:p>
          <a:p>
            <a:pPr marL="342900" indent="-342900">
              <a:buAutoNum type="arabicPeriod"/>
            </a:pPr>
            <a:r>
              <a:rPr lang="en-US" dirty="0">
                <a:latin typeface="Times New Roman" panose="02020603050405020304" pitchFamily="18" charset="0"/>
                <a:cs typeface="Times New Roman" panose="02020603050405020304" pitchFamily="18" charset="0"/>
              </a:rPr>
              <a:t>Pre order </a:t>
            </a:r>
          </a:p>
          <a:p>
            <a:pPr marL="342900" indent="-342900">
              <a:buAutoNum type="arabicPeriod"/>
            </a:pPr>
            <a:r>
              <a:rPr lang="en-US" dirty="0">
                <a:latin typeface="Times New Roman" panose="02020603050405020304" pitchFamily="18" charset="0"/>
                <a:cs typeface="Times New Roman" panose="02020603050405020304" pitchFamily="18" charset="0"/>
              </a:rPr>
              <a:t>Post order </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342900" indent="-342900">
              <a:buAutoNum type="arabicPeriod"/>
            </a:pP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59A1418-3D19-9E77-931F-E511C1273605}"/>
              </a:ext>
            </a:extLst>
          </p:cNvPr>
          <p:cNvPicPr>
            <a:picLocks noChangeAspect="1"/>
          </p:cNvPicPr>
          <p:nvPr/>
        </p:nvPicPr>
        <p:blipFill>
          <a:blip r:embed="rId4"/>
          <a:stretch>
            <a:fillRect/>
          </a:stretch>
        </p:blipFill>
        <p:spPr>
          <a:xfrm>
            <a:off x="4187704" y="1635286"/>
            <a:ext cx="3857653" cy="3171848"/>
          </a:xfrm>
          <a:prstGeom prst="rect">
            <a:avLst/>
          </a:prstGeom>
        </p:spPr>
      </p:pic>
      <p:sp>
        <p:nvSpPr>
          <p:cNvPr id="5" name="Rectangle 4">
            <a:extLst>
              <a:ext uri="{FF2B5EF4-FFF2-40B4-BE49-F238E27FC236}">
                <a16:creationId xmlns:a16="http://schemas.microsoft.com/office/drawing/2014/main" id="{3310C796-0E9F-B615-3F2E-B7410FB0BF02}"/>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11901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8C236-9407-2CA8-1690-8CF1845A2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EC695-D168-717A-752E-8665744D075D}"/>
              </a:ext>
            </a:extLst>
          </p:cNvPr>
          <p:cNvSpPr>
            <a:spLocks noGrp="1"/>
          </p:cNvSpPr>
          <p:nvPr>
            <p:ph type="title"/>
          </p:nvPr>
        </p:nvSpPr>
        <p:spPr>
          <a:xfrm>
            <a:off x="628650" y="0"/>
            <a:ext cx="7886700" cy="728004"/>
          </a:xfrm>
        </p:spPr>
        <p:txBody>
          <a:bodyPr>
            <a:noAutofit/>
          </a:bodyPr>
          <a:lstStyle/>
          <a:p>
            <a:pPr algn="ctr" fontAlgn="base"/>
            <a:br>
              <a:rPr lang="en-IN" sz="2800" b="1" dirty="0">
                <a:latin typeface="Times New Roman" panose="02020603050405020304" pitchFamily="18" charset="0"/>
                <a:cs typeface="Times New Roman" pitchFamily="18" charset="0"/>
              </a:rPr>
            </a:br>
            <a:r>
              <a:rPr lang="en-IN" sz="2800" b="1" dirty="0">
                <a:latin typeface="Times New Roman" panose="02020603050405020304" pitchFamily="18" charset="0"/>
                <a:cs typeface="Times New Roman" pitchFamily="18" charset="0"/>
              </a:rPr>
              <a:t>Traversal in Tree: inorder, preorder and postorder</a:t>
            </a:r>
            <a:br>
              <a:rPr lang="en-IN" sz="1400" b="1" i="0" dirty="0">
                <a:solidFill>
                  <a:srgbClr val="25265E"/>
                </a:solidFill>
                <a:effectLst/>
                <a:latin typeface="euclid_circular_a"/>
              </a:rPr>
            </a:br>
            <a:endParaRPr lang="en-IN" sz="28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E38DCE17-361C-F12C-C33C-5FF0D49957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CCCA643-547D-DF6F-94A6-21566ABF377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E348BD7-269E-372F-5EA5-CA0948B81CB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E3EBFE8C-3312-2ED4-0994-533238743805}"/>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704D5E28-240E-C0E3-31B1-F647B33D354B}"/>
              </a:ext>
            </a:extLst>
          </p:cNvPr>
          <p:cNvSpPr txBox="1"/>
          <p:nvPr/>
        </p:nvSpPr>
        <p:spPr>
          <a:xfrm>
            <a:off x="416927" y="919138"/>
            <a:ext cx="8385159" cy="3754874"/>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In-Order Traversal (Left, Root, Right)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left subtree first.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root node.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right subtree.</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Pre-Order Traversal (Root, Left, Right)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root node first.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left subtree.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right subtree.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Post-Order Traversal (Left, Right, Root)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left subtree first.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right subtree.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Visit the root node.</a:t>
            </a:r>
          </a:p>
          <a:p>
            <a:endParaRPr lang="en-IN"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653C417-1242-4C72-018A-7A0908B0425B}"/>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19498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9F7A-0C84-DA1D-8B93-78D3E134B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85436-D4C6-4DA2-7DFA-4BD97872E82E}"/>
              </a:ext>
            </a:extLst>
          </p:cNvPr>
          <p:cNvSpPr>
            <a:spLocks noGrp="1"/>
          </p:cNvSpPr>
          <p:nvPr>
            <p:ph type="title"/>
          </p:nvPr>
        </p:nvSpPr>
        <p:spPr>
          <a:xfrm>
            <a:off x="628650" y="0"/>
            <a:ext cx="7886700" cy="728004"/>
          </a:xfrm>
        </p:spPr>
        <p:txBody>
          <a:bodyPr>
            <a:noAutofit/>
          </a:bodyPr>
          <a:lstStyle/>
          <a:p>
            <a:pPr algn="ctr" fontAlgn="base"/>
            <a:br>
              <a:rPr lang="en-IN" sz="2800" b="1" dirty="0">
                <a:latin typeface="Times New Roman" panose="02020603050405020304" pitchFamily="18" charset="0"/>
                <a:cs typeface="Times New Roman" pitchFamily="18" charset="0"/>
              </a:rPr>
            </a:br>
            <a:r>
              <a:rPr lang="en-IN" sz="2800" b="1" dirty="0">
                <a:latin typeface="Times New Roman" panose="02020603050405020304" pitchFamily="18" charset="0"/>
                <a:cs typeface="Times New Roman" pitchFamily="18" charset="0"/>
              </a:rPr>
              <a:t>Traversal in Tree: inorder, preorder and postorder</a:t>
            </a:r>
            <a:br>
              <a:rPr lang="en-IN" sz="1400" b="1" i="0" dirty="0">
                <a:solidFill>
                  <a:srgbClr val="25265E"/>
                </a:solidFill>
                <a:effectLst/>
                <a:latin typeface="euclid_circular_a"/>
              </a:rPr>
            </a:br>
            <a:endParaRPr lang="en-IN" sz="28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D664E85E-D23F-3CBA-A9DE-6836D79D76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F27FB669-31EF-0CF9-95EF-F518BEDEA42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50B3229-5BBB-3D4C-60F2-B784557CE88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687A0F86-5929-F9FA-CB40-2AE5CCD0493F}"/>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1C4B2F36-8C9C-5AB5-B93B-DD23A6871A68}"/>
              </a:ext>
            </a:extLst>
          </p:cNvPr>
          <p:cNvPicPr>
            <a:picLocks noChangeAspect="1"/>
          </p:cNvPicPr>
          <p:nvPr/>
        </p:nvPicPr>
        <p:blipFill>
          <a:blip r:embed="rId4"/>
          <a:stretch>
            <a:fillRect/>
          </a:stretch>
        </p:blipFill>
        <p:spPr>
          <a:xfrm>
            <a:off x="1970935" y="746508"/>
            <a:ext cx="5221082" cy="3996194"/>
          </a:xfrm>
          <a:prstGeom prst="rect">
            <a:avLst/>
          </a:prstGeom>
        </p:spPr>
      </p:pic>
      <p:sp>
        <p:nvSpPr>
          <p:cNvPr id="5" name="Rectangle 4">
            <a:extLst>
              <a:ext uri="{FF2B5EF4-FFF2-40B4-BE49-F238E27FC236}">
                <a16:creationId xmlns:a16="http://schemas.microsoft.com/office/drawing/2014/main" id="{9DCE7006-C990-8F4C-DECC-0EA98BD98E57}"/>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42746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1722B-0A3E-5E5D-9C38-774067941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7A6B1-71B6-F4B3-439D-499F0F9EDA5D}"/>
              </a:ext>
            </a:extLst>
          </p:cNvPr>
          <p:cNvSpPr>
            <a:spLocks noGrp="1"/>
          </p:cNvSpPr>
          <p:nvPr>
            <p:ph type="title"/>
          </p:nvPr>
        </p:nvSpPr>
        <p:spPr>
          <a:xfrm>
            <a:off x="628650" y="0"/>
            <a:ext cx="7886700" cy="728004"/>
          </a:xfrm>
        </p:spPr>
        <p:txBody>
          <a:bodyPr>
            <a:noAutofit/>
          </a:bodyPr>
          <a:lstStyle/>
          <a:p>
            <a:pPr algn="ctr" fontAlgn="base"/>
            <a:br>
              <a:rPr lang="en-IN" sz="2800" b="1" dirty="0">
                <a:latin typeface="Times New Roman" panose="02020603050405020304" pitchFamily="18" charset="0"/>
                <a:cs typeface="Times New Roman" pitchFamily="18" charset="0"/>
              </a:rPr>
            </a:br>
            <a:r>
              <a:rPr lang="en-IN" sz="2800" b="1" dirty="0">
                <a:latin typeface="Times New Roman" panose="02020603050405020304" pitchFamily="18" charset="0"/>
                <a:cs typeface="Times New Roman" pitchFamily="18" charset="0"/>
              </a:rPr>
              <a:t>Traversal in Tree: inorder, preorder and postorder</a:t>
            </a:r>
            <a:br>
              <a:rPr lang="en-IN" sz="1400" b="1" i="0" dirty="0">
                <a:solidFill>
                  <a:srgbClr val="25265E"/>
                </a:solidFill>
                <a:effectLst/>
                <a:latin typeface="euclid_circular_a"/>
              </a:rPr>
            </a:br>
            <a:endParaRPr lang="en-IN" sz="28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03E01263-E062-C5B2-34AB-BC19AAE22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085B742A-3AC8-6903-BF81-3FD09AE0B37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BDEAF628-5168-8925-5B7B-027395B7C4D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73B95602-FBC7-0ACC-90DD-94037C283609}"/>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6" name="Picture 5">
            <a:extLst>
              <a:ext uri="{FF2B5EF4-FFF2-40B4-BE49-F238E27FC236}">
                <a16:creationId xmlns:a16="http://schemas.microsoft.com/office/drawing/2014/main" id="{617A28CC-78D3-99CF-5424-49507BC04FBF}"/>
              </a:ext>
            </a:extLst>
          </p:cNvPr>
          <p:cNvPicPr>
            <a:picLocks noChangeAspect="1"/>
          </p:cNvPicPr>
          <p:nvPr/>
        </p:nvPicPr>
        <p:blipFill>
          <a:blip r:embed="rId4"/>
          <a:stretch>
            <a:fillRect/>
          </a:stretch>
        </p:blipFill>
        <p:spPr>
          <a:xfrm>
            <a:off x="2506308" y="819345"/>
            <a:ext cx="5090741" cy="3873224"/>
          </a:xfrm>
          <a:prstGeom prst="rect">
            <a:avLst/>
          </a:prstGeom>
        </p:spPr>
      </p:pic>
      <p:sp>
        <p:nvSpPr>
          <p:cNvPr id="5" name="Rectangle 4">
            <a:extLst>
              <a:ext uri="{FF2B5EF4-FFF2-40B4-BE49-F238E27FC236}">
                <a16:creationId xmlns:a16="http://schemas.microsoft.com/office/drawing/2014/main" id="{998155A7-EB14-34F4-7C77-B8F0E7974033}"/>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6187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3937-5D76-CD57-DAF5-D7C84EC17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6C30D-AD8C-167A-DD68-6347804778C3}"/>
              </a:ext>
            </a:extLst>
          </p:cNvPr>
          <p:cNvSpPr>
            <a:spLocks noGrp="1"/>
          </p:cNvSpPr>
          <p:nvPr>
            <p:ph type="title"/>
          </p:nvPr>
        </p:nvSpPr>
        <p:spPr>
          <a:xfrm>
            <a:off x="628650" y="0"/>
            <a:ext cx="7886700" cy="728004"/>
          </a:xfrm>
        </p:spPr>
        <p:txBody>
          <a:bodyPr>
            <a:noAutofit/>
          </a:bodyPr>
          <a:lstStyle/>
          <a:p>
            <a:pPr algn="ctr" fontAlgn="base"/>
            <a:br>
              <a:rPr lang="en-IN" sz="2800" b="1" dirty="0">
                <a:latin typeface="Times New Roman" panose="02020603050405020304" pitchFamily="18" charset="0"/>
                <a:cs typeface="Times New Roman" pitchFamily="18" charset="0"/>
              </a:rPr>
            </a:br>
            <a:r>
              <a:rPr lang="en-IN" sz="2800" b="1" dirty="0">
                <a:latin typeface="Times New Roman" panose="02020603050405020304" pitchFamily="18" charset="0"/>
                <a:cs typeface="Times New Roman" pitchFamily="18" charset="0"/>
              </a:rPr>
              <a:t>Traversal in Tree: inorder, preorder and postorder</a:t>
            </a:r>
            <a:br>
              <a:rPr lang="en-IN" sz="1400" b="1" i="0" dirty="0">
                <a:solidFill>
                  <a:srgbClr val="25265E"/>
                </a:solidFill>
                <a:effectLst/>
                <a:latin typeface="euclid_circular_a"/>
              </a:rPr>
            </a:br>
            <a:endParaRPr lang="en-IN" sz="28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839C46E8-D3A2-CA3A-0574-937BC120BE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8C7BC84-67BA-DCFA-71D9-100011A1AD1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A0B9B14-18F0-B960-2848-7826FA1FE30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E46C1783-B099-0001-1897-31CE752CD55E}"/>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DF268B68-0E2C-09C1-32B1-03FD986AD391}"/>
              </a:ext>
            </a:extLst>
          </p:cNvPr>
          <p:cNvPicPr>
            <a:picLocks noChangeAspect="1"/>
          </p:cNvPicPr>
          <p:nvPr/>
        </p:nvPicPr>
        <p:blipFill>
          <a:blip r:embed="rId4"/>
          <a:stretch>
            <a:fillRect/>
          </a:stretch>
        </p:blipFill>
        <p:spPr>
          <a:xfrm>
            <a:off x="1896836" y="738637"/>
            <a:ext cx="5366248" cy="4020728"/>
          </a:xfrm>
          <a:prstGeom prst="rect">
            <a:avLst/>
          </a:prstGeom>
        </p:spPr>
      </p:pic>
      <p:sp>
        <p:nvSpPr>
          <p:cNvPr id="5" name="Rectangle 4">
            <a:extLst>
              <a:ext uri="{FF2B5EF4-FFF2-40B4-BE49-F238E27FC236}">
                <a16:creationId xmlns:a16="http://schemas.microsoft.com/office/drawing/2014/main" id="{06138674-1811-172C-2856-6A4B20A56F00}"/>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20132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34CC6-BE9F-E3B6-157B-DA1266B75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2B8CB2-47C5-91BF-BACE-A348BABDD909}"/>
              </a:ext>
            </a:extLst>
          </p:cNvPr>
          <p:cNvSpPr>
            <a:spLocks noGrp="1"/>
          </p:cNvSpPr>
          <p:nvPr>
            <p:ph type="title"/>
          </p:nvPr>
        </p:nvSpPr>
        <p:spPr>
          <a:xfrm>
            <a:off x="590748" y="28427"/>
            <a:ext cx="7886700" cy="728004"/>
          </a:xfrm>
        </p:spPr>
        <p:txBody>
          <a:bodyPr>
            <a:noAutofit/>
          </a:bodyPr>
          <a:lstStyle/>
          <a:p>
            <a:pPr lvl="0" algn="ctr"/>
            <a:r>
              <a:rPr lang="en-IN" sz="2700" b="1" dirty="0">
                <a:latin typeface="Times New Roman" panose="02020603050405020304" pitchFamily="18" charset="0"/>
                <a:cs typeface="Times New Roman" pitchFamily="18" charset="0"/>
              </a:rPr>
              <a:t>Threaded Binary Tree</a:t>
            </a:r>
          </a:p>
        </p:txBody>
      </p:sp>
      <p:pic>
        <p:nvPicPr>
          <p:cNvPr id="15" name="Picture 14">
            <a:extLst>
              <a:ext uri="{FF2B5EF4-FFF2-40B4-BE49-F238E27FC236}">
                <a16:creationId xmlns:a16="http://schemas.microsoft.com/office/drawing/2014/main" id="{72B654C1-0D2A-365A-3497-008253DC6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D2570FEC-8966-3BC2-7521-2CA6E8716B46}"/>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15</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A7CAC802-2089-832E-82F6-52267A875763}"/>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A0A0E2F-17FF-33A0-52B4-4B8DD02A9BAD}"/>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E65AB5F-722E-E25F-365B-E9746358E8AB}"/>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A60CE201-FF3C-7098-3F6F-1476FBE237C0}"/>
              </a:ext>
            </a:extLst>
          </p:cNvPr>
          <p:cNvSpPr txBox="1"/>
          <p:nvPr/>
        </p:nvSpPr>
        <p:spPr>
          <a:xfrm>
            <a:off x="331648" y="847773"/>
            <a:ext cx="8665480" cy="4039376"/>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In a normal binary tree, many left and right pointers are NULL. In inorder traversal, we need recursion or a stack, which consumes extra memory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an n-node binary tree → n+1 NULL pointers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Instead of wasting these NULL pointers, we can use them to store useful information</a:t>
            </a:r>
          </a:p>
          <a:p>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Replace NULL pointers with special links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links point to the inorder predecessor or successor. </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a:t>
            </a:r>
            <a:r>
              <a:rPr lang="en-US" b="1" dirty="0">
                <a:latin typeface="Times New Roman" panose="02020603050405020304" pitchFamily="18" charset="0"/>
                <a:cs typeface="Times New Roman" panose="02020603050405020304" pitchFamily="18" charset="0"/>
              </a:rPr>
              <a:t>special links are called threads</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A Threaded Binary Tree is a binary tree in which NULL child pointers are replaced by threads that point to the inorder predecessor or successor, enabling traversal without recursion or stack</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678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DF26D-596F-971F-7161-DAAAB0BCC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7441D-F386-2165-8D55-79E2F8937846}"/>
              </a:ext>
            </a:extLst>
          </p:cNvPr>
          <p:cNvSpPr>
            <a:spLocks noGrp="1"/>
          </p:cNvSpPr>
          <p:nvPr>
            <p:ph type="title"/>
          </p:nvPr>
        </p:nvSpPr>
        <p:spPr>
          <a:xfrm>
            <a:off x="590748" y="28427"/>
            <a:ext cx="7886700" cy="728004"/>
          </a:xfrm>
        </p:spPr>
        <p:txBody>
          <a:bodyPr>
            <a:noAutofit/>
          </a:bodyPr>
          <a:lstStyle/>
          <a:p>
            <a:pPr lvl="0" algn="ctr"/>
            <a:r>
              <a:rPr lang="en-IN" sz="2700" b="1" dirty="0">
                <a:latin typeface="Times New Roman" panose="02020603050405020304" pitchFamily="18" charset="0"/>
                <a:cs typeface="Times New Roman" pitchFamily="18" charset="0"/>
              </a:rPr>
              <a:t>Threaded Binary Tree</a:t>
            </a:r>
          </a:p>
        </p:txBody>
      </p:sp>
      <p:pic>
        <p:nvPicPr>
          <p:cNvPr id="15" name="Picture 14">
            <a:extLst>
              <a:ext uri="{FF2B5EF4-FFF2-40B4-BE49-F238E27FC236}">
                <a16:creationId xmlns:a16="http://schemas.microsoft.com/office/drawing/2014/main" id="{8C874D46-B252-C5D9-0559-F7FEB10A9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6498C1CA-BB02-F25A-F6DE-1D40D3C4E649}"/>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16</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7E7CE2D6-8DED-6645-00D5-042FAC6A69D8}"/>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591CFD5-3FE1-17B0-1C8E-6A5C9AEF7C0B}"/>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08872A6-796F-33DC-CC70-E2F655752C96}"/>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CA78CAF1-3D3D-3C7E-0245-D992C879B7BA}"/>
              </a:ext>
            </a:extLst>
          </p:cNvPr>
          <p:cNvSpPr txBox="1"/>
          <p:nvPr/>
        </p:nvSpPr>
        <p:spPr>
          <a:xfrm>
            <a:off x="331648" y="847773"/>
            <a:ext cx="8665480" cy="35394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Inorder traversal of a binary tree follows the order: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Left Subtree → Root → Right Subtree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produces a </a:t>
            </a:r>
            <a:r>
              <a:rPr lang="en-US" b="1" dirty="0">
                <a:latin typeface="Times New Roman" panose="02020603050405020304" pitchFamily="18" charset="0"/>
                <a:cs typeface="Times New Roman" panose="02020603050405020304" pitchFamily="18" charset="0"/>
              </a:rPr>
              <a:t>linear sequence of nodes</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pt-BR" dirty="0">
                <a:latin typeface="Times New Roman" panose="02020603050405020304" pitchFamily="18" charset="0"/>
                <a:cs typeface="Times New Roman" panose="02020603050405020304" pitchFamily="18" charset="0"/>
              </a:rPr>
              <a:t>D  B  E  A  F  C</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Inorder Predecessor: </a:t>
            </a:r>
            <a:r>
              <a:rPr lang="en-US" dirty="0">
                <a:latin typeface="Times New Roman" panose="02020603050405020304" pitchFamily="18" charset="0"/>
                <a:cs typeface="Times New Roman" panose="02020603050405020304" pitchFamily="18" charset="0"/>
              </a:rPr>
              <a:t>The inorder predecessor of a node is the node that </a:t>
            </a:r>
            <a:r>
              <a:rPr lang="en-US" b="1" dirty="0">
                <a:latin typeface="Times New Roman" panose="02020603050405020304" pitchFamily="18" charset="0"/>
                <a:cs typeface="Times New Roman" panose="02020603050405020304" pitchFamily="18" charset="0"/>
              </a:rPr>
              <a:t>appears immediately before </a:t>
            </a:r>
            <a:r>
              <a:rPr lang="en-US" dirty="0">
                <a:latin typeface="Times New Roman" panose="02020603050405020304" pitchFamily="18" charset="0"/>
                <a:cs typeface="Times New Roman" panose="02020603050405020304" pitchFamily="18" charset="0"/>
              </a:rPr>
              <a:t>it in the inorder traversal sequence.</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Inorder Successor: </a:t>
            </a:r>
            <a:r>
              <a:rPr lang="en-US" dirty="0">
                <a:latin typeface="Times New Roman" panose="02020603050405020304" pitchFamily="18" charset="0"/>
                <a:cs typeface="Times New Roman" panose="02020603050405020304" pitchFamily="18" charset="0"/>
              </a:rPr>
              <a:t>The inorder successor of a node is the node that </a:t>
            </a:r>
            <a:r>
              <a:rPr lang="en-US" b="1" dirty="0">
                <a:latin typeface="Times New Roman" panose="02020603050405020304" pitchFamily="18" charset="0"/>
                <a:cs typeface="Times New Roman" panose="02020603050405020304" pitchFamily="18" charset="0"/>
              </a:rPr>
              <a:t>appears immediately after it in the inorder traversal </a:t>
            </a:r>
            <a:r>
              <a:rPr lang="en-US" dirty="0">
                <a:latin typeface="Times New Roman" panose="02020603050405020304" pitchFamily="18" charset="0"/>
                <a:cs typeface="Times New Roman" panose="02020603050405020304" pitchFamily="18" charset="0"/>
              </a:rPr>
              <a:t>sequence.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0" name="Picture 9" descr="A screenshot of a computer&#10;&#10;AI-generated content may be incorrect.">
            <a:extLst>
              <a:ext uri="{FF2B5EF4-FFF2-40B4-BE49-F238E27FC236}">
                <a16:creationId xmlns:a16="http://schemas.microsoft.com/office/drawing/2014/main" id="{37A37B70-1724-53EF-B6A6-A4570D1075F6}"/>
              </a:ext>
            </a:extLst>
          </p:cNvPr>
          <p:cNvPicPr>
            <a:picLocks noChangeAspect="1"/>
          </p:cNvPicPr>
          <p:nvPr/>
        </p:nvPicPr>
        <p:blipFill>
          <a:blip r:embed="rId4"/>
          <a:stretch>
            <a:fillRect/>
          </a:stretch>
        </p:blipFill>
        <p:spPr>
          <a:xfrm>
            <a:off x="2375886" y="3586304"/>
            <a:ext cx="3013053" cy="1303421"/>
          </a:xfrm>
          <a:prstGeom prst="rect">
            <a:avLst/>
          </a:prstGeom>
        </p:spPr>
      </p:pic>
      <p:pic>
        <p:nvPicPr>
          <p:cNvPr id="12" name="Picture 11" descr="A screenshot of a phone&#10;&#10;AI-generated content may be incorrect.">
            <a:extLst>
              <a:ext uri="{FF2B5EF4-FFF2-40B4-BE49-F238E27FC236}">
                <a16:creationId xmlns:a16="http://schemas.microsoft.com/office/drawing/2014/main" id="{416DE013-58A2-FEC7-09C7-C7CFE6CEBC26}"/>
              </a:ext>
            </a:extLst>
          </p:cNvPr>
          <p:cNvPicPr>
            <a:picLocks noChangeAspect="1"/>
          </p:cNvPicPr>
          <p:nvPr/>
        </p:nvPicPr>
        <p:blipFill>
          <a:blip r:embed="rId5"/>
          <a:stretch>
            <a:fillRect/>
          </a:stretch>
        </p:blipFill>
        <p:spPr>
          <a:xfrm>
            <a:off x="5452387" y="3646438"/>
            <a:ext cx="3055521" cy="1264443"/>
          </a:xfrm>
          <a:prstGeom prst="rect">
            <a:avLst/>
          </a:prstGeom>
        </p:spPr>
      </p:pic>
    </p:spTree>
    <p:extLst>
      <p:ext uri="{BB962C8B-B14F-4D97-AF65-F5344CB8AC3E}">
        <p14:creationId xmlns:p14="http://schemas.microsoft.com/office/powerpoint/2010/main" val="2936029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E5924-3453-8270-C3CB-0252E859D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DF36F-7DDC-B05C-209C-19120BBB1E5D}"/>
              </a:ext>
            </a:extLst>
          </p:cNvPr>
          <p:cNvSpPr>
            <a:spLocks noGrp="1"/>
          </p:cNvSpPr>
          <p:nvPr>
            <p:ph type="title"/>
          </p:nvPr>
        </p:nvSpPr>
        <p:spPr>
          <a:xfrm>
            <a:off x="590748" y="28427"/>
            <a:ext cx="7886700" cy="728004"/>
          </a:xfrm>
        </p:spPr>
        <p:txBody>
          <a:bodyPr>
            <a:noAutofit/>
          </a:bodyPr>
          <a:lstStyle/>
          <a:p>
            <a:pPr lvl="0" algn="ctr"/>
            <a:r>
              <a:rPr lang="en-IN" sz="2700" b="1" dirty="0">
                <a:latin typeface="Times New Roman" panose="02020603050405020304" pitchFamily="18" charset="0"/>
                <a:cs typeface="Times New Roman" pitchFamily="18" charset="0"/>
              </a:rPr>
              <a:t>Threaded Binary Tree</a:t>
            </a:r>
          </a:p>
        </p:txBody>
      </p:sp>
      <p:pic>
        <p:nvPicPr>
          <p:cNvPr id="15" name="Picture 14">
            <a:extLst>
              <a:ext uri="{FF2B5EF4-FFF2-40B4-BE49-F238E27FC236}">
                <a16:creationId xmlns:a16="http://schemas.microsoft.com/office/drawing/2014/main" id="{17FFB95A-B201-BE0D-F396-AE83F4F5EB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CFA87211-64B4-F193-8571-36734C06C68D}"/>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17</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BCFAD41B-C1F6-8230-7A35-C938FB55AE9D}"/>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1B559C7C-F842-4E85-A97B-0C55892B2A09}"/>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45EAA97-8631-27DA-26A0-0B2696AAA9E1}"/>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E9313198-A49F-419E-6DA7-D5FDB0725A09}"/>
              </a:ext>
            </a:extLst>
          </p:cNvPr>
          <p:cNvSpPr txBox="1"/>
          <p:nvPr/>
        </p:nvSpPr>
        <p:spPr>
          <a:xfrm>
            <a:off x="331648" y="847773"/>
            <a:ext cx="8665480" cy="4378506"/>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 binary tree can be represented using array representation or linked list representation. </a:t>
            </a:r>
          </a:p>
          <a:p>
            <a:pPr marL="171450" indent="-171450" algn="just">
              <a:lnSpc>
                <a:spcPct val="150000"/>
              </a:lnSpc>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When a binary tree is represented using linked list representation, the reference part of the node which doesn't have a child is filled with a NULL pointer. </a:t>
            </a:r>
          </a:p>
          <a:p>
            <a:pPr marL="171450" indent="-171450" algn="just">
              <a:lnSpc>
                <a:spcPct val="150000"/>
              </a:lnSpc>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In any binary tree linked list representation, there is a number of NULL pointers than actual pointers. </a:t>
            </a:r>
          </a:p>
          <a:p>
            <a:pPr marL="171450" indent="-171450" algn="just">
              <a:lnSpc>
                <a:spcPct val="150000"/>
              </a:lnSpc>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pPr marL="171450" indent="-171450" algn="just">
              <a:lnSpc>
                <a:spcPct val="150000"/>
              </a:lnSpc>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Generally, in any binary tree linked list representation, if there are 2N number of reference fields, then N+1 number of reference fields are filled with NULL ( N+1 are NULL out of 2N ). This NULL pointer does not play any role except indicating that there is no link (no child).</a:t>
            </a:r>
          </a:p>
          <a:p>
            <a:pPr marL="171450" indent="-171450" algn="just">
              <a:lnSpc>
                <a:spcPct val="150000"/>
              </a:lnSpc>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pPr marL="171450" indent="-171450" algn="just">
              <a:lnSpc>
                <a:spcPct val="150000"/>
              </a:lnSpc>
              <a:buFont typeface="Arial" panose="020B0604020202020204" pitchFamily="34" charset="0"/>
              <a:buChar char="•"/>
            </a:pPr>
            <a:r>
              <a:rPr lang="en-US" sz="1100" dirty="0">
                <a:latin typeface="Times New Roman" panose="02020603050405020304" pitchFamily="18" charset="0"/>
                <a:cs typeface="Times New Roman" panose="02020603050405020304" pitchFamily="18" charset="0"/>
              </a:rPr>
              <a:t>A. J. Perlis and C. Thornton have proposed new binary tree called "Threaded Binary Tree", which makes use of NULL pointers to improve its traversal process. In a threaded binary tree, NULL pointers are replaced by references of other nodes in the tree. These extra references are called as threads.</a:t>
            </a:r>
          </a:p>
          <a:p>
            <a:pPr marL="342900" indent="-342900" algn="just">
              <a:lnSpc>
                <a:spcPct val="150000"/>
              </a:lnSpc>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a:p>
            <a:pPr marL="171450" indent="-171450" algn="just">
              <a:lnSpc>
                <a:spcPct val="150000"/>
              </a:lnSpc>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Threaded Binary Tree is also a binary tree in which all left child pointers that are NULL (in Linked list representation) points to its in-order predecessor, and all right child pointers that are NULL (in Linked list representation) points to its in-order successor.</a:t>
            </a:r>
          </a:p>
          <a:p>
            <a:pPr algn="just">
              <a:lnSpc>
                <a:spcPct val="150000"/>
              </a:lnSpc>
            </a:pPr>
            <a:endParaRPr lang="en-US" sz="1100" dirty="0">
              <a:latin typeface="Times New Roman" panose="02020603050405020304" pitchFamily="18" charset="0"/>
              <a:cs typeface="Times New Roman" panose="02020603050405020304" pitchFamily="18" charset="0"/>
            </a:endParaRPr>
          </a:p>
          <a:p>
            <a:pPr algn="just">
              <a:lnSpc>
                <a:spcPct val="150000"/>
              </a:lnSpc>
            </a:pPr>
            <a:endParaRPr lang="en-US" sz="1100" dirty="0">
              <a:latin typeface="Times New Roman" panose="02020603050405020304" pitchFamily="18" charset="0"/>
              <a:cs typeface="Times New Roman" panose="02020603050405020304" pitchFamily="18" charset="0"/>
            </a:endParaRPr>
          </a:p>
          <a:p>
            <a:pPr algn="just">
              <a:lnSpc>
                <a:spcPct val="150000"/>
              </a:lnSpc>
            </a:pPr>
            <a:endParaRPr lang="en-IN"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220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3121-62F6-6480-A0FC-A47F74A37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68B34-1D41-F7F1-6EDD-A795A96E33A1}"/>
              </a:ext>
            </a:extLst>
          </p:cNvPr>
          <p:cNvSpPr>
            <a:spLocks noGrp="1"/>
          </p:cNvSpPr>
          <p:nvPr>
            <p:ph type="title"/>
          </p:nvPr>
        </p:nvSpPr>
        <p:spPr>
          <a:xfrm>
            <a:off x="590748" y="28427"/>
            <a:ext cx="7886700" cy="728004"/>
          </a:xfrm>
        </p:spPr>
        <p:txBody>
          <a:bodyPr>
            <a:noAutofit/>
          </a:bodyPr>
          <a:lstStyle/>
          <a:p>
            <a:pPr lvl="0" algn="ctr"/>
            <a:r>
              <a:rPr lang="en-US" sz="2800" dirty="0">
                <a:latin typeface="Times New Roman" panose="02020603050405020304" pitchFamily="18" charset="0"/>
                <a:cs typeface="Times New Roman" panose="02020603050405020304" pitchFamily="18" charset="0"/>
              </a:rPr>
              <a:t>Types Threaded Binary Tree</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68A26362-5FC8-951E-25E3-74A53BDF4B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195F5496-D0E1-1913-C8E7-1B9D688EA4B8}"/>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18</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DE6EF35C-3412-916F-DFA4-6DA82CE36911}"/>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6A6C453-0504-E005-E3C5-535383E2101C}"/>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9C9C563-435A-EDDC-C6D4-8C5A3E58B14A}"/>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B656F3A5-12EF-2405-0393-5F38B8E37A9E}"/>
              </a:ext>
            </a:extLst>
          </p:cNvPr>
          <p:cNvSpPr txBox="1"/>
          <p:nvPr/>
        </p:nvSpPr>
        <p:spPr>
          <a:xfrm>
            <a:off x="213866" y="817727"/>
            <a:ext cx="8925396" cy="3970318"/>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Single Threaded Binary Tree (STBT)</a:t>
            </a:r>
          </a:p>
          <a:p>
            <a:pPr>
              <a:lnSpc>
                <a:spcPct val="150000"/>
              </a:lnSpc>
              <a:buNone/>
            </a:pPr>
            <a:r>
              <a:rPr lang="en-US" dirty="0">
                <a:latin typeface="Times New Roman" panose="02020603050405020304" pitchFamily="18" charset="0"/>
                <a:cs typeface="Times New Roman" panose="02020603050405020304" pitchFamily="18" charset="0"/>
              </a:rPr>
              <a:t>A Single Threaded Binary Tree (STBT) is a binary tree in which only one type of NULL pointer (either left or right) is replaced by a thread.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thread connects a node to its inorder predecessor </a:t>
            </a:r>
            <a:r>
              <a:rPr lang="en-US" i="1" dirty="0">
                <a:latin typeface="Times New Roman" panose="02020603050405020304" pitchFamily="18" charset="0"/>
                <a:cs typeface="Times New Roman" panose="02020603050405020304" pitchFamily="18" charset="0"/>
              </a:rPr>
              <a:t>or</a:t>
            </a:r>
            <a:r>
              <a:rPr lang="en-US" dirty="0">
                <a:latin typeface="Times New Roman" panose="02020603050405020304" pitchFamily="18" charset="0"/>
                <a:cs typeface="Times New Roman" panose="02020603050405020304" pitchFamily="18" charset="0"/>
              </a:rPr>
              <a:t> inorder successor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Only one direction is threaded (not both)</a:t>
            </a:r>
          </a:p>
          <a:p>
            <a:pPr>
              <a:lnSpc>
                <a:spcPct val="150000"/>
              </a:lnSpc>
            </a:pPr>
            <a:r>
              <a:rPr lang="en-US" b="1" dirty="0">
                <a:latin typeface="Times New Roman" panose="02020603050405020304" pitchFamily="18" charset="0"/>
                <a:cs typeface="Times New Roman" panose="02020603050405020304" pitchFamily="18" charset="0"/>
              </a:rPr>
              <a:t>Advantage of STBT: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Inorder traversal without recursion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memory utilization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Simpler than double-threaded trees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traversal than normal trees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Disadvantages of STBT</a:t>
            </a:r>
          </a:p>
          <a:p>
            <a:pPr marL="285750" indent="-285750">
              <a:buFont typeface="Arial" panose="020B0604020202020204" pitchFamily="34" charset="0"/>
              <a:buChar char="•"/>
            </a:pPr>
            <a:r>
              <a:rPr lang="en-US" dirty="0"/>
              <a:t> </a:t>
            </a:r>
            <a:r>
              <a:rPr lang="en-US" dirty="0">
                <a:latin typeface="Times New Roman" panose="02020603050405020304" pitchFamily="18" charset="0"/>
                <a:cs typeface="Times New Roman" panose="02020603050405020304" pitchFamily="18" charset="0"/>
              </a:rPr>
              <a:t>Only one-direction traversal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Insertion &amp; deletion are complex</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Less powerful than fully threaded trees</a:t>
            </a:r>
            <a:endParaRPr lang="en-US" b="1" dirty="0">
              <a:latin typeface="Times New Roman" panose="02020603050405020304" pitchFamily="18" charset="0"/>
              <a:cs typeface="Times New Roman" panose="02020603050405020304" pitchFamily="18" charset="0"/>
            </a:endParaRPr>
          </a:p>
        </p:txBody>
      </p:sp>
      <p:pic>
        <p:nvPicPr>
          <p:cNvPr id="8194" name="Picture 2" descr="Threaded Binary Tree">
            <a:extLst>
              <a:ext uri="{FF2B5EF4-FFF2-40B4-BE49-F238E27FC236}">
                <a16:creationId xmlns:a16="http://schemas.microsoft.com/office/drawing/2014/main" id="{D032B206-B6B5-7E89-3C24-4E1837513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9059" y="2469077"/>
            <a:ext cx="4769311" cy="1662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952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4AB65-1548-B3AC-C86B-A517FE46E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295B8-E227-AB77-1755-09CD7F5520AB}"/>
              </a:ext>
            </a:extLst>
          </p:cNvPr>
          <p:cNvSpPr>
            <a:spLocks noGrp="1"/>
          </p:cNvSpPr>
          <p:nvPr>
            <p:ph type="title"/>
          </p:nvPr>
        </p:nvSpPr>
        <p:spPr>
          <a:xfrm>
            <a:off x="590748" y="28427"/>
            <a:ext cx="7886700" cy="728004"/>
          </a:xfrm>
        </p:spPr>
        <p:txBody>
          <a:bodyPr>
            <a:noAutofit/>
          </a:bodyPr>
          <a:lstStyle/>
          <a:p>
            <a:pPr lvl="0" algn="ctr"/>
            <a:r>
              <a:rPr lang="en-US" sz="2800" dirty="0">
                <a:latin typeface="Times New Roman" panose="02020603050405020304" pitchFamily="18" charset="0"/>
                <a:cs typeface="Times New Roman" panose="02020603050405020304" pitchFamily="18" charset="0"/>
              </a:rPr>
              <a:t>Types Threaded Binary Tree</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7C4FB9FB-7C8B-7E24-001F-804CAB6A4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6FC5F1A9-0427-7A0A-C655-98AC2396573A}"/>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19</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D5141F73-9F2D-B916-F449-66A8045140ED}"/>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5B225155-F08F-60EC-7874-F111C51D4B5F}"/>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15FDAA6-B307-4261-95BD-3A046627223F}"/>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349682D6-2A7C-1B39-DC72-D42B35FC7C8B}"/>
              </a:ext>
            </a:extLst>
          </p:cNvPr>
          <p:cNvSpPr txBox="1"/>
          <p:nvPr/>
        </p:nvSpPr>
        <p:spPr>
          <a:xfrm>
            <a:off x="213866" y="817727"/>
            <a:ext cx="8925396" cy="4577985"/>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Double Threaded Binary Tree (STBT)</a:t>
            </a:r>
          </a:p>
          <a:p>
            <a:r>
              <a:rPr lang="en-US" dirty="0">
                <a:latin typeface="Times New Roman" panose="02020603050405020304" pitchFamily="18" charset="0"/>
                <a:cs typeface="Times New Roman" panose="02020603050405020304" pitchFamily="18" charset="0"/>
              </a:rPr>
              <a:t>A Double Threaded Binary Tree (DTBT) (also called a Fully Threaded Binary Tree) is a binary tree in which both left and right NULL child pointers are replaced by threads.</a:t>
            </a:r>
          </a:p>
          <a:p>
            <a:r>
              <a:rPr lang="en-US" dirty="0">
                <a:latin typeface="Times New Roman" panose="02020603050405020304" pitchFamily="18" charset="0"/>
                <a:cs typeface="Times New Roman" panose="02020603050405020304" pitchFamily="18" charset="0"/>
              </a:rPr>
              <a:t>Left thread → points to the inorder predecessor</a:t>
            </a:r>
          </a:p>
          <a:p>
            <a:r>
              <a:rPr lang="en-US" dirty="0">
                <a:latin typeface="Times New Roman" panose="02020603050405020304" pitchFamily="18" charset="0"/>
                <a:cs typeface="Times New Roman" panose="02020603050405020304" pitchFamily="18" charset="0"/>
              </a:rPr>
              <a:t>Right thread → points to the inorder successor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Thus, every node can directly reach its previous and next node in inorder traversal.</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Inorder traversal without recursion or stack</a:t>
            </a:r>
          </a:p>
          <a:p>
            <a:r>
              <a:rPr lang="en-US" dirty="0">
                <a:latin typeface="Times New Roman" panose="02020603050405020304" pitchFamily="18" charset="0"/>
                <a:cs typeface="Times New Roman" panose="02020603050405020304" pitchFamily="18" charset="0"/>
              </a:rPr>
              <a:t>Two-way traversal (forward &amp; backward)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Direct access to predecessor and successor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Better utilization of NULL pointers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Disadvantages</a:t>
            </a:r>
          </a:p>
          <a:p>
            <a:r>
              <a:rPr lang="en-US" dirty="0">
                <a:latin typeface="Times New Roman" panose="02020603050405020304" pitchFamily="18" charset="0"/>
                <a:cs typeface="Times New Roman" panose="02020603050405020304" pitchFamily="18" charset="0"/>
              </a:rPr>
              <a:t>Complex insertion and deletion</a:t>
            </a:r>
          </a:p>
          <a:p>
            <a:r>
              <a:rPr lang="en-US" dirty="0">
                <a:latin typeface="Times New Roman" panose="02020603050405020304" pitchFamily="18" charset="0"/>
                <a:cs typeface="Times New Roman" panose="02020603050405020304" pitchFamily="18" charset="0"/>
              </a:rPr>
              <a:t>Extra tag bits required</a:t>
            </a:r>
          </a:p>
          <a:p>
            <a:r>
              <a:rPr lang="en-US" dirty="0">
                <a:latin typeface="Times New Roman" panose="02020603050405020304" pitchFamily="18" charset="0"/>
                <a:cs typeface="Times New Roman" panose="02020603050405020304" pitchFamily="18" charset="0"/>
              </a:rPr>
              <a:t>Rarely used in modern libraries due to complexity</a:t>
            </a:r>
          </a:p>
          <a:p>
            <a:endParaRPr lang="en-US" dirty="0">
              <a:latin typeface="Times New Roman" panose="02020603050405020304" pitchFamily="18" charset="0"/>
              <a:cs typeface="Times New Roman" panose="02020603050405020304" pitchFamily="18" charset="0"/>
            </a:endParaRPr>
          </a:p>
          <a:p>
            <a:pPr>
              <a:lnSpc>
                <a:spcPct val="150000"/>
              </a:lnSpc>
              <a:buNone/>
            </a:pPr>
            <a:endParaRPr lang="en-US" b="1" dirty="0">
              <a:latin typeface="Times New Roman" panose="02020603050405020304" pitchFamily="18" charset="0"/>
              <a:cs typeface="Times New Roman" panose="02020603050405020304" pitchFamily="18" charset="0"/>
            </a:endParaRPr>
          </a:p>
        </p:txBody>
      </p:sp>
      <p:pic>
        <p:nvPicPr>
          <p:cNvPr id="7170" name="Picture 2" descr="Threaded Binary Tree">
            <a:extLst>
              <a:ext uri="{FF2B5EF4-FFF2-40B4-BE49-F238E27FC236}">
                <a16:creationId xmlns:a16="http://schemas.microsoft.com/office/drawing/2014/main" id="{87E3B2CD-5B9F-570F-CEDD-93C5701FA9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7692" y="2824219"/>
            <a:ext cx="5083241" cy="1958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992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BB86F-3A24-5932-20D2-B54CE14DF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516D5-E263-0975-56D4-3E0EBF8833B4}"/>
              </a:ext>
            </a:extLst>
          </p:cNvPr>
          <p:cNvSpPr>
            <a:spLocks noGrp="1"/>
          </p:cNvSpPr>
          <p:nvPr>
            <p:ph type="title"/>
          </p:nvPr>
        </p:nvSpPr>
        <p:spPr>
          <a:xfrm>
            <a:off x="590748" y="28427"/>
            <a:ext cx="7886700" cy="728004"/>
          </a:xfrm>
        </p:spPr>
        <p:txBody>
          <a:bodyPr>
            <a:noAutofit/>
          </a:bodyPr>
          <a:lstStyle/>
          <a:p>
            <a:pPr lvl="0" algn="ctr"/>
            <a:r>
              <a:rPr lang="en-US" sz="2800" dirty="0">
                <a:latin typeface="Times New Roman" panose="02020603050405020304" pitchFamily="18" charset="0"/>
                <a:cs typeface="Times New Roman" panose="02020603050405020304" pitchFamily="18" charset="0"/>
              </a:rPr>
              <a:t>Step of Converting Binary Tree to Threaded Binary Tree</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991F74E4-17D2-211B-20BE-85F00DCC4A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3DDE98FD-3E66-CA66-F72A-B3E2B0DE1BB1}"/>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20</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6D9496E3-2A3F-59C5-C983-3B10D7F951ED}"/>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ABE65CE-DF29-2514-E7DC-D1B46FA5DBD6}"/>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311D6D22-5B2B-6581-46EA-F3EC2C625461}"/>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859F695A-478A-48A0-1714-DDD297AE1235}"/>
              </a:ext>
            </a:extLst>
          </p:cNvPr>
          <p:cNvSpPr txBox="1"/>
          <p:nvPr/>
        </p:nvSpPr>
        <p:spPr>
          <a:xfrm>
            <a:off x="324409" y="767506"/>
            <a:ext cx="8925396" cy="360848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Step 1: Perform Inorder Traversal</a:t>
            </a:r>
          </a:p>
          <a:p>
            <a:r>
              <a:rPr lang="en-US" dirty="0">
                <a:latin typeface="Times New Roman" panose="02020603050405020304" pitchFamily="18" charset="0"/>
                <a:cs typeface="Times New Roman" panose="02020603050405020304" pitchFamily="18" charset="0"/>
              </a:rPr>
              <a:t>Write the inorder sequence of the binary tree and linked list representation of Binary Tree</a:t>
            </a:r>
          </a:p>
          <a:p>
            <a:r>
              <a:rPr lang="en-US" b="1" dirty="0">
                <a:latin typeface="Times New Roman" panose="02020603050405020304" pitchFamily="18" charset="0"/>
                <a:cs typeface="Times New Roman" panose="02020603050405020304" pitchFamily="18" charset="0"/>
              </a:rPr>
              <a:t>Step 2: Identify NULL Pointers</a:t>
            </a:r>
          </a:p>
          <a:p>
            <a:r>
              <a:rPr lang="en-US" dirty="0">
                <a:latin typeface="Times New Roman" panose="02020603050405020304" pitchFamily="18" charset="0"/>
                <a:cs typeface="Times New Roman" panose="02020603050405020304" pitchFamily="18" charset="0"/>
              </a:rPr>
              <a:t>For each node:</a:t>
            </a:r>
          </a:p>
          <a:p>
            <a:r>
              <a:rPr lang="en-US" dirty="0">
                <a:latin typeface="Times New Roman" panose="02020603050405020304" pitchFamily="18" charset="0"/>
                <a:cs typeface="Times New Roman" panose="02020603050405020304" pitchFamily="18" charset="0"/>
              </a:rPr>
              <a:t>If left child = NULL → candidate for left thread</a:t>
            </a:r>
          </a:p>
          <a:p>
            <a:r>
              <a:rPr lang="en-US" dirty="0">
                <a:latin typeface="Times New Roman" panose="02020603050405020304" pitchFamily="18" charset="0"/>
                <a:cs typeface="Times New Roman" panose="02020603050405020304" pitchFamily="18" charset="0"/>
              </a:rPr>
              <a:t>If right child = NULL → candidate for right thread</a:t>
            </a:r>
          </a:p>
          <a:p>
            <a:r>
              <a:rPr lang="en-US" b="1" dirty="0">
                <a:latin typeface="Times New Roman" panose="02020603050405020304" pitchFamily="18" charset="0"/>
                <a:cs typeface="Times New Roman" panose="02020603050405020304" pitchFamily="18" charset="0"/>
              </a:rPr>
              <a:t>Step 3: Add Threads</a:t>
            </a:r>
          </a:p>
          <a:p>
            <a:r>
              <a:rPr lang="en-US" dirty="0">
                <a:latin typeface="Times New Roman" panose="02020603050405020304" pitchFamily="18" charset="0"/>
                <a:cs typeface="Times New Roman" panose="02020603050405020304" pitchFamily="18" charset="0"/>
              </a:rPr>
              <a:t>Left NULL pointer → connect to inorder predecessor</a:t>
            </a:r>
          </a:p>
          <a:p>
            <a:r>
              <a:rPr lang="en-US" dirty="0">
                <a:latin typeface="Times New Roman" panose="02020603050405020304" pitchFamily="18" charset="0"/>
                <a:cs typeface="Times New Roman" panose="02020603050405020304" pitchFamily="18" charset="0"/>
              </a:rPr>
              <a:t>Right NULL pointer → connect to inorder successor</a:t>
            </a:r>
          </a:p>
          <a:p>
            <a:pPr>
              <a:lnSpc>
                <a:spcPct val="150000"/>
              </a:lnSpc>
              <a:buNone/>
            </a:pPr>
            <a:r>
              <a:rPr lang="en-US" b="1" dirty="0">
                <a:latin typeface="Times New Roman" panose="02020603050405020304" pitchFamily="18" charset="0"/>
                <a:cs typeface="Times New Roman" panose="02020603050405020304" pitchFamily="18" charset="0"/>
              </a:rPr>
              <a:t>Step 4: </a:t>
            </a:r>
            <a:r>
              <a:rPr lang="en-IN" b="1" dirty="0">
                <a:latin typeface="Times New Roman" panose="02020603050405020304" pitchFamily="18" charset="0"/>
                <a:cs typeface="Times New Roman" panose="02020603050405020304" pitchFamily="18" charset="0"/>
              </a:rPr>
              <a:t>Set Tag Bits</a:t>
            </a:r>
          </a:p>
          <a:p>
            <a:pPr>
              <a:lnSpc>
                <a:spcPct val="150000"/>
              </a:lnSpc>
              <a:buNone/>
            </a:pPr>
            <a:r>
              <a:rPr lang="en-US" dirty="0">
                <a:latin typeface="Times New Roman" panose="02020603050405020304" pitchFamily="18" charset="0"/>
                <a:cs typeface="Times New Roman" panose="02020603050405020304" pitchFamily="18" charset="0"/>
              </a:rPr>
              <a:t>lTag = 1 → left pointer is a thread</a:t>
            </a:r>
          </a:p>
          <a:p>
            <a:pPr>
              <a:lnSpc>
                <a:spcPct val="150000"/>
              </a:lnSpc>
              <a:buNone/>
            </a:pPr>
            <a:r>
              <a:rPr lang="en-US" dirty="0">
                <a:latin typeface="Times New Roman" panose="02020603050405020304" pitchFamily="18" charset="0"/>
                <a:cs typeface="Times New Roman" panose="02020603050405020304" pitchFamily="18" charset="0"/>
              </a:rPr>
              <a:t>rTag = 1 → right pointer is a thread</a:t>
            </a:r>
          </a:p>
          <a:p>
            <a:pPr>
              <a:lnSpc>
                <a:spcPct val="150000"/>
              </a:lnSpc>
              <a:buNone/>
            </a:pPr>
            <a:r>
              <a:rPr lang="en-US" dirty="0">
                <a:latin typeface="Times New Roman" panose="02020603050405020304" pitchFamily="18" charset="0"/>
                <a:cs typeface="Times New Roman" panose="02020603050405020304" pitchFamily="18" charset="0"/>
              </a:rPr>
              <a:t>Tag = 0 → actual child link</a:t>
            </a:r>
          </a:p>
          <a:p>
            <a:pPr>
              <a:lnSpc>
                <a:spcPct val="150000"/>
              </a:lnSpc>
              <a:buNone/>
            </a:pPr>
            <a:r>
              <a:rPr lang="en-US" b="1" dirty="0">
                <a:latin typeface="Times New Roman" panose="02020603050405020304" pitchFamily="18" charset="0"/>
                <a:cs typeface="Times New Roman" panose="02020603050405020304" pitchFamily="18" charset="0"/>
              </a:rPr>
              <a:t>Step 5: Creating a Dummy (Header) Node for Leftmost &amp; Rightmost Nodes</a:t>
            </a:r>
          </a:p>
        </p:txBody>
      </p:sp>
    </p:spTree>
    <p:extLst>
      <p:ext uri="{BB962C8B-B14F-4D97-AF65-F5344CB8AC3E}">
        <p14:creationId xmlns:p14="http://schemas.microsoft.com/office/powerpoint/2010/main" val="318914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FB3D-494C-55A3-4DFB-77FD608BF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96EF0-411B-C7D7-0B0E-31993AD3E17E}"/>
              </a:ext>
            </a:extLst>
          </p:cNvPr>
          <p:cNvSpPr>
            <a:spLocks noGrp="1"/>
          </p:cNvSpPr>
          <p:nvPr>
            <p:ph type="title"/>
          </p:nvPr>
        </p:nvSpPr>
        <p:spPr>
          <a:xfrm>
            <a:off x="590748" y="28427"/>
            <a:ext cx="7886700" cy="728004"/>
          </a:xfrm>
        </p:spPr>
        <p:txBody>
          <a:bodyPr>
            <a:noAutofit/>
          </a:bodyPr>
          <a:lstStyle/>
          <a:p>
            <a:pPr lvl="0" algn="ctr"/>
            <a:r>
              <a:rPr lang="en-IN" sz="2700" b="1" dirty="0">
                <a:latin typeface="Times New Roman" panose="02020603050405020304" pitchFamily="18" charset="0"/>
                <a:cs typeface="Times New Roman" pitchFamily="18" charset="0"/>
              </a:rPr>
              <a:t>Threaded Binary Tree</a:t>
            </a:r>
          </a:p>
        </p:txBody>
      </p:sp>
      <p:pic>
        <p:nvPicPr>
          <p:cNvPr id="15" name="Picture 14">
            <a:extLst>
              <a:ext uri="{FF2B5EF4-FFF2-40B4-BE49-F238E27FC236}">
                <a16:creationId xmlns:a16="http://schemas.microsoft.com/office/drawing/2014/main" id="{B93008C2-1965-15DA-EC30-705BE5656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F3449ABE-3814-6E29-FE7D-6F98D3922248}"/>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21</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00A2305C-61DA-E088-FC08-7ABB3D26ED71}"/>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36FF453B-188F-4855-201F-D61A4BFEB8AB}"/>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9E5BAF7-31CD-495F-8E01-9FFDC1EE3F96}"/>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C4BAF2EC-004D-BE3A-FCBD-B9845EEB99D2}"/>
              </a:ext>
            </a:extLst>
          </p:cNvPr>
          <p:cNvPicPr>
            <a:picLocks noChangeAspect="1"/>
          </p:cNvPicPr>
          <p:nvPr/>
        </p:nvPicPr>
        <p:blipFill>
          <a:blip r:embed="rId4"/>
          <a:stretch>
            <a:fillRect/>
          </a:stretch>
        </p:blipFill>
        <p:spPr>
          <a:xfrm>
            <a:off x="484064" y="623029"/>
            <a:ext cx="2354698" cy="2077502"/>
          </a:xfrm>
          <a:prstGeom prst="rect">
            <a:avLst/>
          </a:prstGeom>
        </p:spPr>
      </p:pic>
      <p:pic>
        <p:nvPicPr>
          <p:cNvPr id="10" name="Picture 9">
            <a:extLst>
              <a:ext uri="{FF2B5EF4-FFF2-40B4-BE49-F238E27FC236}">
                <a16:creationId xmlns:a16="http://schemas.microsoft.com/office/drawing/2014/main" id="{92D70CC9-644B-E151-ADA3-227D641EB5F9}"/>
              </a:ext>
            </a:extLst>
          </p:cNvPr>
          <p:cNvPicPr>
            <a:picLocks noChangeAspect="1"/>
          </p:cNvPicPr>
          <p:nvPr/>
        </p:nvPicPr>
        <p:blipFill>
          <a:blip r:embed="rId5"/>
          <a:stretch>
            <a:fillRect/>
          </a:stretch>
        </p:blipFill>
        <p:spPr>
          <a:xfrm>
            <a:off x="4415534" y="575622"/>
            <a:ext cx="3799009" cy="2172316"/>
          </a:xfrm>
          <a:prstGeom prst="rect">
            <a:avLst/>
          </a:prstGeom>
        </p:spPr>
      </p:pic>
      <p:pic>
        <p:nvPicPr>
          <p:cNvPr id="12" name="Picture 11">
            <a:extLst>
              <a:ext uri="{FF2B5EF4-FFF2-40B4-BE49-F238E27FC236}">
                <a16:creationId xmlns:a16="http://schemas.microsoft.com/office/drawing/2014/main" id="{03803411-02E1-C1AA-0D5A-DB01596C0DF0}"/>
              </a:ext>
            </a:extLst>
          </p:cNvPr>
          <p:cNvPicPr>
            <a:picLocks noChangeAspect="1"/>
          </p:cNvPicPr>
          <p:nvPr/>
        </p:nvPicPr>
        <p:blipFill>
          <a:blip r:embed="rId6"/>
          <a:stretch>
            <a:fillRect/>
          </a:stretch>
        </p:blipFill>
        <p:spPr>
          <a:xfrm>
            <a:off x="1075486" y="2983742"/>
            <a:ext cx="6983552" cy="1927140"/>
          </a:xfrm>
          <a:prstGeom prst="rect">
            <a:avLst/>
          </a:prstGeom>
        </p:spPr>
      </p:pic>
    </p:spTree>
    <p:extLst>
      <p:ext uri="{BB962C8B-B14F-4D97-AF65-F5344CB8AC3E}">
        <p14:creationId xmlns:p14="http://schemas.microsoft.com/office/powerpoint/2010/main" val="980860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679B2-7B13-2743-5F20-AB6772CD0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05C9E-B532-20C2-F347-A9BF74D75DF6}"/>
              </a:ext>
            </a:extLst>
          </p:cNvPr>
          <p:cNvSpPr>
            <a:spLocks noGrp="1"/>
          </p:cNvSpPr>
          <p:nvPr>
            <p:ph type="title"/>
          </p:nvPr>
        </p:nvSpPr>
        <p:spPr>
          <a:xfrm>
            <a:off x="590748" y="28427"/>
            <a:ext cx="7886700" cy="728004"/>
          </a:xfrm>
        </p:spPr>
        <p:txBody>
          <a:bodyPr>
            <a:noAutofit/>
          </a:bodyPr>
          <a:lstStyle/>
          <a:p>
            <a:pPr lvl="0" algn="ctr"/>
            <a:r>
              <a:rPr lang="en-IN" sz="2700" b="1" dirty="0">
                <a:latin typeface="Times New Roman" panose="02020603050405020304" pitchFamily="18" charset="0"/>
                <a:cs typeface="Times New Roman" pitchFamily="18" charset="0"/>
              </a:rPr>
              <a:t>Threaded Binary Tree</a:t>
            </a:r>
          </a:p>
        </p:txBody>
      </p:sp>
      <p:pic>
        <p:nvPicPr>
          <p:cNvPr id="15" name="Picture 14">
            <a:extLst>
              <a:ext uri="{FF2B5EF4-FFF2-40B4-BE49-F238E27FC236}">
                <a16:creationId xmlns:a16="http://schemas.microsoft.com/office/drawing/2014/main" id="{B9039619-48EC-B52B-DD58-398DDAA90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56676CBB-CDDB-A746-CACC-0513128F3D96}"/>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22</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500B055E-E9CD-64A2-6CE0-AED89C7BBE46}"/>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A3DB518F-CAD5-A416-836C-08611BF45240}"/>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AE00EF2-0010-A854-2851-17CA639CF613}"/>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4CFED4C9-1F8B-880A-E4AD-A30B61681CBE}"/>
              </a:ext>
            </a:extLst>
          </p:cNvPr>
          <p:cNvSpPr txBox="1"/>
          <p:nvPr/>
        </p:nvSpPr>
        <p:spPr>
          <a:xfrm>
            <a:off x="210833" y="971078"/>
            <a:ext cx="1883285" cy="1169551"/>
          </a:xfrm>
          <a:prstGeom prst="rect">
            <a:avLst/>
          </a:prstGeom>
          <a:noFill/>
        </p:spPr>
        <p:txBody>
          <a:bodyPr wrap="square">
            <a:spAutoFit/>
          </a:bodyPr>
          <a:lstStyle/>
          <a:p>
            <a:pPr marL="0" indent="0">
              <a:buNone/>
            </a:pPr>
            <a:r>
              <a:rPr lang="en-US" dirty="0">
                <a:latin typeface="Times New Roman" panose="02020603050405020304" pitchFamily="18" charset="0"/>
                <a:cs typeface="Times New Roman" panose="02020603050405020304" pitchFamily="18" charset="0"/>
              </a:rPr>
              <a:t>struct Node {</a:t>
            </a:r>
          </a:p>
          <a:p>
            <a:pPr marL="0" indent="0">
              <a:buNone/>
            </a:pPr>
            <a:r>
              <a:rPr lang="en-US" dirty="0">
                <a:latin typeface="Times New Roman" panose="02020603050405020304" pitchFamily="18" charset="0"/>
                <a:cs typeface="Times New Roman" panose="02020603050405020304" pitchFamily="18" charset="0"/>
              </a:rPr>
              <a:t>    int data;</a:t>
            </a:r>
          </a:p>
          <a:p>
            <a:pPr marL="0" indent="0">
              <a:buNone/>
            </a:pPr>
            <a:r>
              <a:rPr lang="en-US" dirty="0">
                <a:latin typeface="Times New Roman" panose="02020603050405020304" pitchFamily="18" charset="0"/>
                <a:cs typeface="Times New Roman" panose="02020603050405020304" pitchFamily="18" charset="0"/>
              </a:rPr>
              <a:t>    Node *left, *right;</a:t>
            </a:r>
          </a:p>
          <a:p>
            <a:pPr marL="0" indent="0">
              <a:buNone/>
            </a:pPr>
            <a:r>
              <a:rPr lang="en-US" dirty="0">
                <a:latin typeface="Times New Roman" panose="02020603050405020304" pitchFamily="18" charset="0"/>
                <a:cs typeface="Times New Roman" panose="02020603050405020304" pitchFamily="18" charset="0"/>
              </a:rPr>
              <a:t>    bool lthread, rthread;</a:t>
            </a:r>
          </a:p>
          <a:p>
            <a:pPr marL="0" indent="0">
              <a:buNone/>
            </a:pPr>
            <a:r>
              <a:rPr lang="en-US" dirty="0">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84554182-91AC-EDAE-D0D8-5FFC7B45189F}"/>
              </a:ext>
            </a:extLst>
          </p:cNvPr>
          <p:cNvSpPr txBox="1"/>
          <p:nvPr/>
        </p:nvSpPr>
        <p:spPr>
          <a:xfrm>
            <a:off x="117673" y="2376433"/>
            <a:ext cx="3336201" cy="1815882"/>
          </a:xfrm>
          <a:prstGeom prst="rect">
            <a:avLst/>
          </a:prstGeom>
          <a:noFill/>
        </p:spPr>
        <p:txBody>
          <a:bodyPr wrap="square">
            <a:spAutoFit/>
          </a:bodyPr>
          <a:lstStyle/>
          <a:p>
            <a:pPr marL="0" indent="0">
              <a:buNone/>
            </a:pPr>
            <a:r>
              <a:rPr lang="en-US" sz="1400" dirty="0">
                <a:latin typeface="Times New Roman" panose="02020603050405020304" pitchFamily="18" charset="0"/>
                <a:cs typeface="Times New Roman" panose="02020603050405020304" pitchFamily="18" charset="0"/>
              </a:rPr>
              <a:t>Node* </a:t>
            </a:r>
            <a:r>
              <a:rPr lang="en-US" sz="1400" dirty="0" err="1">
                <a:latin typeface="Times New Roman" panose="02020603050405020304" pitchFamily="18" charset="0"/>
                <a:cs typeface="Times New Roman" panose="02020603050405020304" pitchFamily="18" charset="0"/>
              </a:rPr>
              <a:t>createNode</a:t>
            </a:r>
            <a:r>
              <a:rPr lang="en-US" sz="1400" dirty="0">
                <a:latin typeface="Times New Roman" panose="02020603050405020304" pitchFamily="18" charset="0"/>
                <a:cs typeface="Times New Roman" panose="02020603050405020304" pitchFamily="18" charset="0"/>
              </a:rPr>
              <a:t>(int data) {</a:t>
            </a:r>
          </a:p>
          <a:p>
            <a:pPr marL="0" indent="0">
              <a:buNone/>
            </a:pPr>
            <a:r>
              <a:rPr lang="en-US" sz="1400" dirty="0">
                <a:latin typeface="Times New Roman" panose="02020603050405020304" pitchFamily="18" charset="0"/>
                <a:cs typeface="Times New Roman" panose="02020603050405020304" pitchFamily="18" charset="0"/>
              </a:rPr>
              <a:t>    Node* temp = new Node;</a:t>
            </a:r>
          </a:p>
          <a:p>
            <a:pPr marL="0" indent="0">
              <a:buNone/>
            </a:pPr>
            <a:r>
              <a:rPr lang="en-US" sz="1400" dirty="0">
                <a:latin typeface="Times New Roman" panose="02020603050405020304" pitchFamily="18" charset="0"/>
                <a:cs typeface="Times New Roman" panose="02020603050405020304" pitchFamily="18" charset="0"/>
              </a:rPr>
              <a:t>    temp-&gt;data = data;</a:t>
            </a:r>
          </a:p>
          <a:p>
            <a:pPr marL="0" indent="0">
              <a:buNone/>
            </a:pPr>
            <a:r>
              <a:rPr lang="en-US" sz="1400" dirty="0">
                <a:latin typeface="Times New Roman" panose="02020603050405020304" pitchFamily="18" charset="0"/>
                <a:cs typeface="Times New Roman" panose="02020603050405020304" pitchFamily="18" charset="0"/>
              </a:rPr>
              <a:t>    temp-&gt;left = temp-&gt;right = NULL;</a:t>
            </a:r>
          </a:p>
          <a:p>
            <a:pPr marL="0" indent="0">
              <a:buNone/>
            </a:pPr>
            <a:r>
              <a:rPr lang="en-US" sz="1400" dirty="0">
                <a:latin typeface="Times New Roman" panose="02020603050405020304" pitchFamily="18" charset="0"/>
                <a:cs typeface="Times New Roman" panose="02020603050405020304" pitchFamily="18" charset="0"/>
              </a:rPr>
              <a:t>    temp-&gt;lthread = true;   // left is thread</a:t>
            </a:r>
          </a:p>
          <a:p>
            <a:pPr marL="0" indent="0">
              <a:buNone/>
            </a:pPr>
            <a:r>
              <a:rPr lang="en-US" sz="1400" dirty="0">
                <a:latin typeface="Times New Roman" panose="02020603050405020304" pitchFamily="18" charset="0"/>
                <a:cs typeface="Times New Roman" panose="02020603050405020304" pitchFamily="18" charset="0"/>
              </a:rPr>
              <a:t>    temp-&gt;rthread = true;   // right is thread</a:t>
            </a:r>
          </a:p>
          <a:p>
            <a:pPr marL="0" indent="0">
              <a:buNone/>
            </a:pPr>
            <a:r>
              <a:rPr lang="en-US" sz="1400" dirty="0">
                <a:latin typeface="Times New Roman" panose="02020603050405020304" pitchFamily="18" charset="0"/>
                <a:cs typeface="Times New Roman" panose="02020603050405020304" pitchFamily="18" charset="0"/>
              </a:rPr>
              <a:t>    return temp;</a:t>
            </a:r>
          </a:p>
          <a:p>
            <a:pPr marL="0" indent="0">
              <a:buNone/>
            </a:pPr>
            <a:r>
              <a:rPr lang="en-US" sz="1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60120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3FDA-7FE2-E604-23FB-2FCDA4A81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8AF83-E566-FFD0-DB07-2D9F3AE225C3}"/>
              </a:ext>
            </a:extLst>
          </p:cNvPr>
          <p:cNvSpPr>
            <a:spLocks noGrp="1"/>
          </p:cNvSpPr>
          <p:nvPr>
            <p:ph type="title"/>
          </p:nvPr>
        </p:nvSpPr>
        <p:spPr>
          <a:xfrm>
            <a:off x="590748" y="28427"/>
            <a:ext cx="7886700" cy="728004"/>
          </a:xfrm>
        </p:spPr>
        <p:txBody>
          <a:bodyPr>
            <a:noAutofit/>
          </a:bodyPr>
          <a:lstStyle/>
          <a:p>
            <a:pPr lvl="0" algn="ctr"/>
            <a:r>
              <a:rPr lang="en-US" sz="2800" dirty="0">
                <a:latin typeface="Times New Roman" panose="02020603050405020304" pitchFamily="18" charset="0"/>
                <a:cs typeface="Times New Roman" panose="02020603050405020304" pitchFamily="18" charset="0"/>
              </a:rPr>
              <a:t>Why Threaded Binary Tree is Needed?</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D91A2A72-D8AC-046D-A52D-4C60CD7928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8BD390BD-D878-DBCD-5012-0A26F72EA158}"/>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23</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BC38C0C7-16BD-7414-CA49-28DA43B3FBCB}"/>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5A335B8-9885-F886-13D2-C46809A1133A}"/>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85FEC1D-BD14-F0A8-96C8-E10963FE3457}"/>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A55A0AE7-F143-0367-8737-6CA00CEE558C}"/>
              </a:ext>
            </a:extLst>
          </p:cNvPr>
          <p:cNvSpPr txBox="1"/>
          <p:nvPr/>
        </p:nvSpPr>
        <p:spPr>
          <a:xfrm>
            <a:off x="492734" y="992235"/>
            <a:ext cx="3548630" cy="2677656"/>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In a normal binary tree:</a:t>
            </a:r>
          </a:p>
          <a:p>
            <a:r>
              <a:rPr lang="en-US">
                <a:latin typeface="Times New Roman" panose="02020603050405020304" pitchFamily="18" charset="0"/>
                <a:cs typeface="Times New Roman" panose="02020603050405020304" pitchFamily="18" charset="0"/>
              </a:rPr>
              <a:t>Many left/right pointers are </a:t>
            </a:r>
            <a:r>
              <a:rPr lang="en-US" b="1">
                <a:latin typeface="Times New Roman" panose="02020603050405020304" pitchFamily="18" charset="0"/>
                <a:cs typeface="Times New Roman" panose="02020603050405020304" pitchFamily="18" charset="0"/>
              </a:rPr>
              <a:t>NULL</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During traversal, we need:</a:t>
            </a:r>
          </a:p>
          <a:p>
            <a:pPr lvl="1"/>
            <a:r>
              <a:rPr lang="en-US" b="1">
                <a:latin typeface="Times New Roman" panose="02020603050405020304" pitchFamily="18" charset="0"/>
                <a:cs typeface="Times New Roman" panose="02020603050405020304" pitchFamily="18" charset="0"/>
              </a:rPr>
              <a:t>Stack</a:t>
            </a:r>
            <a:endParaRPr lang="en-US">
              <a:latin typeface="Times New Roman" panose="02020603050405020304" pitchFamily="18" charset="0"/>
              <a:cs typeface="Times New Roman" panose="02020603050405020304" pitchFamily="18" charset="0"/>
            </a:endParaRPr>
          </a:p>
          <a:p>
            <a:pPr lvl="1"/>
            <a:r>
              <a:rPr lang="en-US" b="1">
                <a:latin typeface="Times New Roman" panose="02020603050405020304" pitchFamily="18" charset="0"/>
                <a:cs typeface="Times New Roman" panose="02020603050405020304" pitchFamily="18" charset="0"/>
              </a:rPr>
              <a:t>Recursion</a:t>
            </a:r>
            <a:endParaRPr lang="en-US">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Problem:</a:t>
            </a:r>
          </a:p>
          <a:p>
            <a:r>
              <a:rPr lang="en-US">
                <a:latin typeface="Times New Roman" panose="02020603050405020304" pitchFamily="18" charset="0"/>
                <a:cs typeface="Times New Roman" panose="02020603050405020304" pitchFamily="18" charset="0"/>
              </a:rPr>
              <a:t>Extra memory usage</a:t>
            </a:r>
          </a:p>
          <a:p>
            <a:r>
              <a:rPr lang="en-US">
                <a:latin typeface="Times New Roman" panose="02020603050405020304" pitchFamily="18" charset="0"/>
                <a:cs typeface="Times New Roman" panose="02020603050405020304" pitchFamily="18" charset="0"/>
              </a:rPr>
              <a:t>Slower traversal</a:t>
            </a:r>
          </a:p>
          <a:p>
            <a:r>
              <a:rPr lang="en-US" b="1">
                <a:latin typeface="Times New Roman" panose="02020603050405020304" pitchFamily="18" charset="0"/>
                <a:cs typeface="Times New Roman" panose="02020603050405020304" pitchFamily="18" charset="0"/>
              </a:rPr>
              <a:t>Solution:</a:t>
            </a:r>
          </a:p>
          <a:p>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Use those NULL pointers as threads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E26C7E4-6569-4D85-25DA-6E9A92FFAD63}"/>
              </a:ext>
            </a:extLst>
          </p:cNvPr>
          <p:cNvSpPr txBox="1"/>
          <p:nvPr/>
        </p:nvSpPr>
        <p:spPr>
          <a:xfrm>
            <a:off x="4432234" y="899872"/>
            <a:ext cx="4590950" cy="116955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Advantages of TBT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Efficient memory utilization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Faster traversal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recursion or stack</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Direct access to predecessor and successor</a:t>
            </a:r>
          </a:p>
        </p:txBody>
      </p:sp>
      <p:sp>
        <p:nvSpPr>
          <p:cNvPr id="14" name="TextBox 13">
            <a:extLst>
              <a:ext uri="{FF2B5EF4-FFF2-40B4-BE49-F238E27FC236}">
                <a16:creationId xmlns:a16="http://schemas.microsoft.com/office/drawing/2014/main" id="{C1829AD3-31B0-A6D4-576A-1269DB348E2B}"/>
              </a:ext>
            </a:extLst>
          </p:cNvPr>
          <p:cNvSpPr txBox="1"/>
          <p:nvPr/>
        </p:nvSpPr>
        <p:spPr>
          <a:xfrm>
            <a:off x="4393553" y="2331063"/>
            <a:ext cx="4590950" cy="954107"/>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Disadvantages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Insertion &amp; deletion are complex</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 tag bits required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Rare in practical libraries</a:t>
            </a:r>
          </a:p>
        </p:txBody>
      </p:sp>
    </p:spTree>
    <p:extLst>
      <p:ext uri="{BB962C8B-B14F-4D97-AF65-F5344CB8AC3E}">
        <p14:creationId xmlns:p14="http://schemas.microsoft.com/office/powerpoint/2010/main" val="2430554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F1067-DA6C-A0B5-5079-D94C9DCE9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42889-42FE-6523-9859-126CF34CA6D3}"/>
              </a:ext>
            </a:extLst>
          </p:cNvPr>
          <p:cNvSpPr>
            <a:spLocks noGrp="1"/>
          </p:cNvSpPr>
          <p:nvPr>
            <p:ph type="title"/>
          </p:nvPr>
        </p:nvSpPr>
        <p:spPr>
          <a:xfrm>
            <a:off x="590748" y="28427"/>
            <a:ext cx="7886700" cy="728004"/>
          </a:xfrm>
        </p:spPr>
        <p:txBody>
          <a:bodyPr>
            <a:noAutofit/>
          </a:bodyPr>
          <a:lstStyle/>
          <a:p>
            <a:pPr lvl="0" algn="ctr"/>
            <a:r>
              <a:rPr lang="en-US" sz="2800" dirty="0">
                <a:latin typeface="Times New Roman" panose="02020603050405020304" pitchFamily="18" charset="0"/>
                <a:cs typeface="Times New Roman" panose="02020603050405020304" pitchFamily="18" charset="0"/>
              </a:rPr>
              <a:t>Threaded Binary Tree</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7AC8C03C-9EFC-6696-CBBF-DC222310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2" y="28427"/>
            <a:ext cx="724623" cy="819345"/>
          </a:xfrm>
          <a:prstGeom prst="rect">
            <a:avLst/>
          </a:prstGeom>
        </p:spPr>
      </p:pic>
      <p:sp>
        <p:nvSpPr>
          <p:cNvPr id="19" name="Slide Number Placeholder 4">
            <a:extLst>
              <a:ext uri="{FF2B5EF4-FFF2-40B4-BE49-F238E27FC236}">
                <a16:creationId xmlns:a16="http://schemas.microsoft.com/office/drawing/2014/main" id="{D553DE6D-AA9F-02CE-0BD4-7878913C5FF4}"/>
              </a:ext>
            </a:extLst>
          </p:cNvPr>
          <p:cNvSpPr>
            <a:spLocks noGrp="1"/>
          </p:cNvSpPr>
          <p:nvPr>
            <p:ph type="sldNum" sz="quarter" idx="12"/>
          </p:nvPr>
        </p:nvSpPr>
        <p:spPr>
          <a:xfrm>
            <a:off x="8565324" y="4910882"/>
            <a:ext cx="540774" cy="273844"/>
          </a:xfrm>
        </p:spPr>
        <p:txBody>
          <a:bodyPr/>
          <a:lstStyle/>
          <a:p>
            <a:fld id="{3FCAF691-C30B-4477-A4FB-AFF7F164B000}" type="slidenum">
              <a:rPr lang="en-IN" sz="1200" b="1" smtClean="0">
                <a:solidFill>
                  <a:schemeClr val="tx1"/>
                </a:solidFill>
                <a:latin typeface="Times New Roman" panose="02020603050405020304" pitchFamily="18" charset="0"/>
                <a:cs typeface="Times New Roman" panose="02020603050405020304" pitchFamily="18" charset="0"/>
              </a:rPr>
              <a:t>24</a:t>
            </a:fld>
            <a:endParaRPr lang="en-IN" sz="1200" b="1" dirty="0">
              <a:solidFill>
                <a:schemeClr val="tx1"/>
              </a:solidFill>
              <a:latin typeface="Times New Roman" panose="02020603050405020304" pitchFamily="18" charset="0"/>
              <a:cs typeface="Times New Roman" panose="02020603050405020304" pitchFamily="18" charset="0"/>
            </a:endParaRPr>
          </a:p>
        </p:txBody>
      </p:sp>
      <p:sp>
        <p:nvSpPr>
          <p:cNvPr id="4" name="AutoShape 4" descr="Computer Clipart Png &amp; Free Computer Clipart.png Transparent Images #83348  - PNGio">
            <a:extLst>
              <a:ext uri="{FF2B5EF4-FFF2-40B4-BE49-F238E27FC236}">
                <a16:creationId xmlns:a16="http://schemas.microsoft.com/office/drawing/2014/main" id="{5122E58F-971B-540C-54D7-B8679918BECE}"/>
              </a:ext>
            </a:extLst>
          </p:cNvPr>
          <p:cNvSpPr>
            <a:spLocks noChangeAspect="1" noChangeArrowheads="1"/>
          </p:cNvSpPr>
          <p:nvPr/>
        </p:nvSpPr>
        <p:spPr bwMode="auto">
          <a:xfrm>
            <a:off x="117673" y="-11603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896B064-3C69-8023-6106-1C61F7B2E1AB}"/>
              </a:ext>
            </a:extLst>
          </p:cNvPr>
          <p:cNvSpPr/>
          <p:nvPr/>
        </p:nvSpPr>
        <p:spPr>
          <a:xfrm>
            <a:off x="422473" y="992235"/>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8429234F-EF91-D9AA-8CEC-37A755106C2C}"/>
              </a:ext>
            </a:extLst>
          </p:cNvPr>
          <p:cNvSpPr/>
          <p:nvPr/>
        </p:nvSpPr>
        <p:spPr>
          <a:xfrm>
            <a:off x="-37902" y="4910882"/>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VIT, Pune-37</a:t>
            </a:r>
            <a:endParaRPr lang="en-IN" b="1" dirty="0">
              <a:solidFill>
                <a:schemeClr val="tx1"/>
              </a:solidFill>
              <a:latin typeface="Times New Roman" pitchFamily="18" charset="0"/>
              <a:cs typeface="Times New Roman" pitchFamily="18" charset="0"/>
            </a:endParaRPr>
          </a:p>
        </p:txBody>
      </p:sp>
      <p:sp>
        <p:nvSpPr>
          <p:cNvPr id="9" name="TextBox 8">
            <a:extLst>
              <a:ext uri="{FF2B5EF4-FFF2-40B4-BE49-F238E27FC236}">
                <a16:creationId xmlns:a16="http://schemas.microsoft.com/office/drawing/2014/main" id="{6E2748AD-6078-2FF5-9AFE-A6FF3A87E896}"/>
              </a:ext>
            </a:extLst>
          </p:cNvPr>
          <p:cNvSpPr txBox="1"/>
          <p:nvPr/>
        </p:nvSpPr>
        <p:spPr>
          <a:xfrm>
            <a:off x="422473" y="942827"/>
            <a:ext cx="6437896" cy="2246769"/>
          </a:xfrm>
          <a:prstGeom prst="rect">
            <a:avLst/>
          </a:prstGeom>
          <a:noFill/>
        </p:spPr>
        <p:txBody>
          <a:bodyPr wrap="square">
            <a:spAutoFit/>
          </a:bodyPr>
          <a:lstStyle/>
          <a:p>
            <a:pPr marL="342900" indent="-342900">
              <a:buFont typeface="+mj-lt"/>
              <a:buAutoNum type="arabicPeriod"/>
            </a:pPr>
            <a:r>
              <a:rPr lang="en-US" dirty="0">
                <a:latin typeface="Times New Roman" panose="02020603050405020304" pitchFamily="18" charset="0"/>
                <a:cs typeface="Times New Roman" panose="02020603050405020304" pitchFamily="18" charset="0"/>
              </a:rPr>
              <a:t>What is a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Why are NULL pointers replaced in a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Define inorder predecessor and inorder successor.</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What is the purpose of thread links in a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What is meant by single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What is a double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What are 1Tag and 0Tag in a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How many NULL pointers are present in an n-node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State one advantage of a threaded binary tree.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Can inorder traversal be done without recursion in a threaded binary tree? Why?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4396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6457E-608F-BFB7-3595-863F5DD57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B244F-8F12-3662-6371-3622A3B65C4B}"/>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60D049A4-6FDB-84F2-728E-3ECF0A181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06872907-1937-5D9B-F730-006C0AE48D1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8C2DE191-3C20-72A2-3717-F43E213D02C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9A01ECB6-625A-D842-FC7A-42487A99A7C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964CE64E-A9E4-CBA1-183E-9F68ABAFF09E}"/>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0120E844-374C-86E5-7EC0-6896BABB432E}"/>
              </a:ext>
            </a:extLst>
          </p:cNvPr>
          <p:cNvSpPr txBox="1"/>
          <p:nvPr/>
        </p:nvSpPr>
        <p:spPr>
          <a:xfrm>
            <a:off x="460375" y="909664"/>
            <a:ext cx="8683625" cy="3970318"/>
          </a:xfrm>
          <a:prstGeom prst="rect">
            <a:avLst/>
          </a:prstGeom>
          <a:noFill/>
        </p:spPr>
        <p:txBody>
          <a:bodyPr wrap="square">
            <a:spAutoFit/>
          </a:bodyPr>
          <a:lstStyle/>
          <a:p>
            <a:pPr algn="just" fontAlgn="base"/>
            <a:r>
              <a:rPr lang="en-US" dirty="0">
                <a:solidFill>
                  <a:srgbClr val="273239"/>
                </a:solidFill>
                <a:latin typeface="Times New Roman" panose="02020603050405020304" pitchFamily="18" charset="0"/>
                <a:cs typeface="Times New Roman" panose="02020603050405020304" pitchFamily="18" charset="0"/>
              </a:rPr>
              <a:t>The AVL tree is named after its inventors,</a:t>
            </a:r>
            <a:r>
              <a:rPr lang="en-IN" dirty="0"/>
              <a:t> </a:t>
            </a:r>
            <a:r>
              <a:rPr lang="en-IN" b="1" dirty="0">
                <a:solidFill>
                  <a:srgbClr val="273239"/>
                </a:solidFill>
                <a:latin typeface="Times New Roman" panose="02020603050405020304" pitchFamily="18" charset="0"/>
                <a:cs typeface="Times New Roman" panose="02020603050405020304" pitchFamily="18" charset="0"/>
              </a:rPr>
              <a:t>Adelson-</a:t>
            </a:r>
            <a:r>
              <a:rPr lang="en-IN" b="1" dirty="0" err="1">
                <a:solidFill>
                  <a:srgbClr val="273239"/>
                </a:solidFill>
                <a:latin typeface="Times New Roman" panose="02020603050405020304" pitchFamily="18" charset="0"/>
                <a:cs typeface="Times New Roman" panose="02020603050405020304" pitchFamily="18" charset="0"/>
              </a:rPr>
              <a:t>Velskii</a:t>
            </a:r>
            <a:r>
              <a:rPr lang="en-IN" b="1" dirty="0">
                <a:solidFill>
                  <a:srgbClr val="273239"/>
                </a:solidFill>
                <a:latin typeface="Times New Roman" panose="02020603050405020304" pitchFamily="18" charset="0"/>
                <a:cs typeface="Times New Roman" panose="02020603050405020304" pitchFamily="18" charset="0"/>
              </a:rPr>
              <a:t> and Landis</a:t>
            </a:r>
            <a:r>
              <a:rPr lang="en-US" dirty="0">
                <a:solidFill>
                  <a:srgbClr val="273239"/>
                </a:solidFill>
                <a:latin typeface="Times New Roman" panose="02020603050405020304" pitchFamily="18" charset="0"/>
                <a:cs typeface="Times New Roman" panose="02020603050405020304" pitchFamily="18" charset="0"/>
              </a:rPr>
              <a:t>, who published it in their 1962 paper “An algorithm for the organization of information</a:t>
            </a:r>
          </a:p>
          <a:p>
            <a:pPr algn="just" fontAlgn="base"/>
            <a:endParaRPr lang="en-US" dirty="0">
              <a:solidFill>
                <a:srgbClr val="273239"/>
              </a:solidFill>
              <a:latin typeface="Times New Roman" panose="02020603050405020304" pitchFamily="18" charset="0"/>
              <a:cs typeface="Times New Roman" panose="02020603050405020304" pitchFamily="18" charset="0"/>
            </a:endParaRPr>
          </a:p>
          <a:p>
            <a:r>
              <a:rPr lang="en-US" dirty="0">
                <a:solidFill>
                  <a:srgbClr val="273239"/>
                </a:solidFill>
                <a:latin typeface="Times New Roman" panose="02020603050405020304" pitchFamily="18" charset="0"/>
                <a:cs typeface="Times New Roman" panose="02020603050405020304" pitchFamily="18" charset="0"/>
              </a:rPr>
              <a:t>If a node's longest path in its left subtree is longer than its longest path in its right subtree, the node is said to be "left heavy."</a:t>
            </a:r>
          </a:p>
          <a:p>
            <a:r>
              <a:rPr lang="en-US" dirty="0">
                <a:solidFill>
                  <a:srgbClr val="273239"/>
                </a:solidFill>
                <a:latin typeface="Times New Roman" panose="02020603050405020304" pitchFamily="18" charset="0"/>
                <a:cs typeface="Times New Roman" panose="02020603050405020304" pitchFamily="18" charset="0"/>
              </a:rPr>
              <a:t>If the longest path in a node's right subtree is one more long than the longest path in its left subtree, the node is said to be "right heavy."</a:t>
            </a:r>
          </a:p>
          <a:p>
            <a:r>
              <a:rPr lang="en-US" dirty="0">
                <a:solidFill>
                  <a:srgbClr val="273239"/>
                </a:solidFill>
                <a:latin typeface="Times New Roman" panose="02020603050405020304" pitchFamily="18" charset="0"/>
                <a:cs typeface="Times New Roman" panose="02020603050405020304" pitchFamily="18" charset="0"/>
              </a:rPr>
              <a:t>If the longest paths in the right and left subtrees are equal, a node is said to be balanced.</a:t>
            </a:r>
          </a:p>
          <a:p>
            <a:pPr algn="just" rtl="0" fontAlgn="base"/>
            <a:endParaRPr lang="en-US" b="0" dirty="0">
              <a:solidFill>
                <a:srgbClr val="273239"/>
              </a:solidFill>
              <a:effectLst/>
              <a:latin typeface="Times New Roman" panose="02020603050405020304" pitchFamily="18" charset="0"/>
              <a:cs typeface="Times New Roman" panose="02020603050405020304" pitchFamily="18" charset="0"/>
            </a:endParaRPr>
          </a:p>
          <a:p>
            <a:pPr algn="just" rtl="0" fontAlgn="base"/>
            <a:r>
              <a:rPr lang="en-US" b="0" dirty="0">
                <a:solidFill>
                  <a:srgbClr val="273239"/>
                </a:solidFill>
                <a:effectLst/>
                <a:latin typeface="Times New Roman" panose="02020603050405020304" pitchFamily="18" charset="0"/>
                <a:cs typeface="Times New Roman" panose="02020603050405020304" pitchFamily="18" charset="0"/>
              </a:rPr>
              <a:t>An </a:t>
            </a:r>
            <a:r>
              <a:rPr lang="en-US" b="1" dirty="0">
                <a:solidFill>
                  <a:srgbClr val="273239"/>
                </a:solidFill>
                <a:effectLst/>
                <a:latin typeface="Times New Roman" panose="02020603050405020304" pitchFamily="18" charset="0"/>
                <a:cs typeface="Times New Roman" panose="02020603050405020304" pitchFamily="18" charset="0"/>
              </a:rPr>
              <a:t>AVL tree</a:t>
            </a:r>
            <a:r>
              <a:rPr lang="en-US" b="0" dirty="0">
                <a:solidFill>
                  <a:srgbClr val="273239"/>
                </a:solidFill>
                <a:effectLst/>
                <a:latin typeface="Times New Roman" panose="02020603050405020304" pitchFamily="18" charset="0"/>
                <a:cs typeface="Times New Roman" panose="02020603050405020304" pitchFamily="18" charset="0"/>
              </a:rPr>
              <a:t> defined as a self-balancing </a:t>
            </a:r>
            <a:r>
              <a:rPr lang="en-US" b="1" u="sng" dirty="0">
                <a:solidFill>
                  <a:srgbClr val="273239"/>
                </a:solidFill>
                <a:effectLst/>
                <a:latin typeface="Times New Roman" panose="02020603050405020304" pitchFamily="18" charset="0"/>
                <a:cs typeface="Times New Roman" panose="02020603050405020304" pitchFamily="18" charset="0"/>
                <a:hlinkClick r:id="rId4"/>
              </a:rPr>
              <a:t>Binary Search Tree</a:t>
            </a:r>
            <a:r>
              <a:rPr lang="en-US" b="0" dirty="0">
                <a:solidFill>
                  <a:srgbClr val="273239"/>
                </a:solidFill>
                <a:effectLst/>
                <a:latin typeface="Times New Roman" panose="02020603050405020304" pitchFamily="18" charset="0"/>
                <a:cs typeface="Times New Roman" panose="02020603050405020304" pitchFamily="18" charset="0"/>
              </a:rPr>
              <a:t> (BST) where the difference between heights of left and right subtrees for any node cannot be more than one.</a:t>
            </a:r>
          </a:p>
          <a:p>
            <a:pPr algn="just" rtl="0" fontAlgn="base"/>
            <a:endParaRPr lang="en-US" dirty="0">
              <a:solidFill>
                <a:srgbClr val="273239"/>
              </a:solidFill>
              <a:latin typeface="Times New Roman" panose="02020603050405020304" pitchFamily="18" charset="0"/>
              <a:cs typeface="Times New Roman" panose="02020603050405020304" pitchFamily="18" charset="0"/>
            </a:endParaRPr>
          </a:p>
          <a:p>
            <a:pPr algn="just" fontAlgn="base"/>
            <a:r>
              <a:rPr lang="en-US" dirty="0">
                <a:solidFill>
                  <a:srgbClr val="273239"/>
                </a:solidFill>
                <a:latin typeface="Times New Roman" panose="02020603050405020304" pitchFamily="18" charset="0"/>
                <a:cs typeface="Times New Roman" panose="02020603050405020304" pitchFamily="18" charset="0"/>
              </a:rPr>
              <a:t>An AVL tree is a self-balancing binary search tree (BST) that automatically adjusts its structure after insertions and deletions to maintain balance, ensuring efficient O(log n) time for search, insertion, and deletion</a:t>
            </a:r>
          </a:p>
          <a:p>
            <a:pPr algn="just"/>
            <a:br>
              <a:rPr lang="en-US" dirty="0">
                <a:latin typeface="Times New Roman" panose="02020603050405020304" pitchFamily="18" charset="0"/>
                <a:cs typeface="Times New Roman" panose="02020603050405020304" pitchFamily="18" charset="0"/>
              </a:rPr>
            </a:br>
            <a:r>
              <a:rPr lang="en-US" b="0" i="0" dirty="0">
                <a:solidFill>
                  <a:srgbClr val="273239"/>
                </a:solidFill>
                <a:effectLst/>
                <a:latin typeface="Times New Roman" panose="02020603050405020304" pitchFamily="18" charset="0"/>
                <a:cs typeface="Times New Roman" panose="02020603050405020304" pitchFamily="18" charset="0"/>
              </a:rPr>
              <a:t>The difference between the heights of the left subtree and the right subtree for any node is known as the </a:t>
            </a:r>
            <a:r>
              <a:rPr lang="en-US" b="1" i="0" dirty="0">
                <a:solidFill>
                  <a:srgbClr val="273239"/>
                </a:solidFill>
                <a:effectLst/>
                <a:latin typeface="Times New Roman" panose="02020603050405020304" pitchFamily="18" charset="0"/>
                <a:cs typeface="Times New Roman" panose="02020603050405020304" pitchFamily="18" charset="0"/>
              </a:rPr>
              <a:t>balance factor</a:t>
            </a:r>
            <a:r>
              <a:rPr lang="en-US" b="0" i="0" dirty="0">
                <a:solidFill>
                  <a:srgbClr val="273239"/>
                </a:solidFill>
                <a:effectLst/>
                <a:latin typeface="Times New Roman" panose="02020603050405020304" pitchFamily="18" charset="0"/>
                <a:cs typeface="Times New Roman" panose="02020603050405020304" pitchFamily="18" charset="0"/>
              </a:rPr>
              <a:t> of the node.</a:t>
            </a:r>
          </a:p>
          <a:p>
            <a:pPr algn="just"/>
            <a:endParaRPr lang="en-US"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8627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13B8D-B2D9-97C3-9131-08F1357B3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DEEC0-A302-3713-8C36-0D5B46E05DE1}"/>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E8BF9165-9B95-0C8B-8510-8EB8F460DD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A8F636C-08AC-D5C4-F45C-1977427AB75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1C262C3-784D-F9C4-E866-988B7F34951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DD15669-A571-8E0E-B2D9-4BB2FBF9C37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96C7246-911C-586E-3B20-530F82768E20}"/>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4F06D27B-C5CB-8688-B1CA-235F08C02524}"/>
              </a:ext>
            </a:extLst>
          </p:cNvPr>
          <p:cNvSpPr txBox="1"/>
          <p:nvPr/>
        </p:nvSpPr>
        <p:spPr>
          <a:xfrm>
            <a:off x="460375" y="909664"/>
            <a:ext cx="8683625" cy="3323987"/>
          </a:xfrm>
          <a:prstGeom prst="rect">
            <a:avLst/>
          </a:prstGeom>
          <a:noFill/>
        </p:spPr>
        <p:txBody>
          <a:bodyPr wrap="square">
            <a:spAutoFit/>
          </a:bodyPr>
          <a:lstStyle/>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AVL Trees are </a:t>
            </a:r>
            <a:r>
              <a:rPr lang="en-US" b="1" i="1" dirty="0">
                <a:solidFill>
                  <a:srgbClr val="333333"/>
                </a:solidFill>
                <a:effectLst/>
                <a:latin typeface="Times New Roman" panose="02020603050405020304" pitchFamily="18" charset="0"/>
                <a:cs typeface="Times New Roman" panose="02020603050405020304" pitchFamily="18" charset="0"/>
              </a:rPr>
              <a:t>Self-Balanced Binary Search Trees.</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br>
              <a:rPr lang="en-US" dirty="0">
                <a:latin typeface="Times New Roman" panose="02020603050405020304" pitchFamily="18" charset="0"/>
                <a:cs typeface="Times New Roman" panose="02020603050405020304" pitchFamily="18" charset="0"/>
              </a:rPr>
            </a:br>
            <a:r>
              <a:rPr lang="en-US" b="0" i="0" dirty="0">
                <a:solidFill>
                  <a:srgbClr val="333333"/>
                </a:solidFill>
                <a:effectLst/>
                <a:latin typeface="Times New Roman" panose="02020603050405020304" pitchFamily="18" charset="0"/>
                <a:cs typeface="Times New Roman" panose="02020603050405020304" pitchFamily="18" charset="0"/>
              </a:rPr>
              <a:t>In AVL trees, the balancing factor of each node is either </a:t>
            </a:r>
            <a:r>
              <a:rPr lang="en-US" b="1" i="1" dirty="0">
                <a:solidFill>
                  <a:srgbClr val="333333"/>
                </a:solidFill>
                <a:effectLst/>
                <a:latin typeface="Times New Roman" panose="02020603050405020304" pitchFamily="18" charset="0"/>
                <a:cs typeface="Times New Roman" panose="02020603050405020304" pitchFamily="18" charset="0"/>
              </a:rPr>
              <a:t>0 or 1 or -1.</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r>
              <a:rPr lang="en-US" b="1" i="0" dirty="0">
                <a:solidFill>
                  <a:srgbClr val="333333"/>
                </a:solidFill>
                <a:effectLst/>
                <a:latin typeface="Times New Roman" panose="02020603050405020304" pitchFamily="18" charset="0"/>
                <a:cs typeface="Times New Roman" panose="02020603050405020304" pitchFamily="18" charset="0"/>
              </a:rPr>
              <a:t>Balance Factor of AVL Tree</a:t>
            </a:r>
            <a:r>
              <a:rPr lang="en-US" b="0" i="0" dirty="0">
                <a:solidFill>
                  <a:srgbClr val="333333"/>
                </a:solidFill>
                <a:effectLst/>
                <a:latin typeface="Times New Roman" panose="02020603050405020304" pitchFamily="18" charset="0"/>
                <a:cs typeface="Times New Roman" panose="02020603050405020304" pitchFamily="18" charset="0"/>
              </a:rPr>
              <a:t> calculated as </a:t>
            </a:r>
            <a:r>
              <a:rPr lang="en-US" b="1" i="0" dirty="0">
                <a:solidFill>
                  <a:srgbClr val="333333"/>
                </a:solidFill>
                <a:effectLst/>
                <a:latin typeface="Times New Roman" panose="02020603050405020304" pitchFamily="18" charset="0"/>
                <a:cs typeface="Times New Roman" panose="02020603050405020304" pitchFamily="18" charset="0"/>
              </a:rPr>
              <a:t>= Height of Left Sub-tree - Height of Right Sub-tree</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US" b="1" i="0" dirty="0">
                <a:solidFill>
                  <a:srgbClr val="333333"/>
                </a:solidFill>
                <a:effectLst/>
                <a:latin typeface="Times New Roman" panose="02020603050405020304" pitchFamily="18" charset="0"/>
                <a:cs typeface="Times New Roman" panose="02020603050405020304" pitchFamily="18" charset="0"/>
              </a:rPr>
              <a:t>Construction of AVL Trees -</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Insertion Operation is performed to construct the AVL Tree.</a:t>
            </a: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Inserting the element in the AVL tree is same as the insertion performed in BST.</a:t>
            </a: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After insertion, check the balance factor of each node of the resulting tree.</a:t>
            </a:r>
          </a:p>
          <a:p>
            <a:pPr marL="742950" lvl="1" indent="-285750"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After the insertion, the balance factor of each node is either </a:t>
            </a:r>
            <a:r>
              <a:rPr lang="en-US" b="1" i="1" dirty="0">
                <a:solidFill>
                  <a:srgbClr val="333333"/>
                </a:solidFill>
                <a:effectLst/>
                <a:latin typeface="Times New Roman" panose="02020603050405020304" pitchFamily="18" charset="0"/>
                <a:cs typeface="Times New Roman" panose="02020603050405020304" pitchFamily="18" charset="0"/>
              </a:rPr>
              <a:t>0 or 1 or -1,</a:t>
            </a:r>
            <a:r>
              <a:rPr lang="en-US" b="0" i="0" dirty="0">
                <a:solidFill>
                  <a:srgbClr val="333333"/>
                </a:solidFill>
                <a:effectLst/>
                <a:latin typeface="Times New Roman" panose="02020603050405020304" pitchFamily="18" charset="0"/>
                <a:cs typeface="Times New Roman" panose="02020603050405020304" pitchFamily="18" charset="0"/>
              </a:rPr>
              <a:t> then the tree is considered to be </a:t>
            </a:r>
            <a:r>
              <a:rPr lang="en-US" b="1" i="1" dirty="0">
                <a:solidFill>
                  <a:srgbClr val="333333"/>
                </a:solidFill>
                <a:effectLst/>
                <a:latin typeface="Times New Roman" panose="02020603050405020304" pitchFamily="18" charset="0"/>
                <a:cs typeface="Times New Roman" panose="02020603050405020304" pitchFamily="18" charset="0"/>
              </a:rPr>
              <a:t>balanced</a:t>
            </a:r>
            <a:r>
              <a:rPr lang="en-US" b="0" i="0" dirty="0">
                <a:solidFill>
                  <a:srgbClr val="333333"/>
                </a:solidFill>
                <a:effectLst/>
                <a:latin typeface="Times New Roman" panose="02020603050405020304" pitchFamily="18" charset="0"/>
                <a:cs typeface="Times New Roman" panose="02020603050405020304" pitchFamily="18" charset="0"/>
              </a:rPr>
              <a:t>, </a:t>
            </a:r>
            <a:r>
              <a:rPr lang="en-US" b="1" i="1" dirty="0">
                <a:solidFill>
                  <a:srgbClr val="333333"/>
                </a:solidFill>
                <a:effectLst/>
                <a:latin typeface="Times New Roman" panose="02020603050405020304" pitchFamily="18" charset="0"/>
                <a:cs typeface="Times New Roman" panose="02020603050405020304" pitchFamily="18" charset="0"/>
              </a:rPr>
              <a:t>concludes the operation</a:t>
            </a:r>
            <a:r>
              <a:rPr lang="en-US" b="0" i="0" dirty="0">
                <a:solidFill>
                  <a:srgbClr val="333333"/>
                </a:solidFill>
                <a:effectLst/>
                <a:latin typeface="Times New Roman" panose="02020603050405020304" pitchFamily="18" charset="0"/>
                <a:cs typeface="Times New Roman" panose="02020603050405020304" pitchFamily="18" charset="0"/>
              </a:rPr>
              <a:t>, and inserts the next element if any.</a:t>
            </a:r>
          </a:p>
          <a:p>
            <a:pPr marL="742950" lvl="1" indent="-285750"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After the insertion, the balance factor of at least one node is </a:t>
            </a:r>
            <a:r>
              <a:rPr lang="en-US" b="1" i="1" dirty="0">
                <a:solidFill>
                  <a:srgbClr val="333333"/>
                </a:solidFill>
                <a:effectLst/>
                <a:latin typeface="Times New Roman" panose="02020603050405020304" pitchFamily="18" charset="0"/>
                <a:cs typeface="Times New Roman" panose="02020603050405020304" pitchFamily="18" charset="0"/>
              </a:rPr>
              <a:t>not 0 or 1 or -1</a:t>
            </a:r>
            <a:r>
              <a:rPr lang="en-US" b="0" i="0" dirty="0">
                <a:solidFill>
                  <a:srgbClr val="333333"/>
                </a:solidFill>
                <a:effectLst/>
                <a:latin typeface="Times New Roman" panose="02020603050405020304" pitchFamily="18" charset="0"/>
                <a:cs typeface="Times New Roman" panose="02020603050405020304" pitchFamily="18" charset="0"/>
              </a:rPr>
              <a:t>, then the tree is considered to be </a:t>
            </a:r>
            <a:r>
              <a:rPr lang="en-US" b="1" i="1" dirty="0">
                <a:solidFill>
                  <a:srgbClr val="333333"/>
                </a:solidFill>
                <a:effectLst/>
                <a:latin typeface="Times New Roman" panose="02020603050405020304" pitchFamily="18" charset="0"/>
                <a:cs typeface="Times New Roman" panose="02020603050405020304" pitchFamily="18" charset="0"/>
              </a:rPr>
              <a:t>imbalanced</a:t>
            </a:r>
            <a:r>
              <a:rPr lang="en-US" b="0" i="0" dirty="0">
                <a:solidFill>
                  <a:srgbClr val="333333"/>
                </a:solidFill>
                <a:effectLst/>
                <a:latin typeface="Times New Roman" panose="02020603050405020304" pitchFamily="18" charset="0"/>
                <a:cs typeface="Times New Roman" panose="02020603050405020304" pitchFamily="18" charset="0"/>
              </a:rPr>
              <a:t>, </a:t>
            </a:r>
            <a:r>
              <a:rPr lang="en-US" b="1" i="1" dirty="0">
                <a:solidFill>
                  <a:srgbClr val="333333"/>
                </a:solidFill>
                <a:effectLst/>
                <a:latin typeface="Times New Roman" panose="02020603050405020304" pitchFamily="18" charset="0"/>
                <a:cs typeface="Times New Roman" panose="02020603050405020304" pitchFamily="18" charset="0"/>
              </a:rPr>
              <a:t>perform the suitable rotation</a:t>
            </a:r>
            <a:r>
              <a:rPr lang="en-US" b="0" i="0" dirty="0">
                <a:solidFill>
                  <a:srgbClr val="333333"/>
                </a:solidFill>
                <a:effectLst/>
                <a:latin typeface="Times New Roman" panose="02020603050405020304" pitchFamily="18" charset="0"/>
                <a:cs typeface="Times New Roman" panose="02020603050405020304" pitchFamily="18" charset="0"/>
              </a:rPr>
              <a:t> to balance the tree, and after the tree is balanced, insert the next element if any.</a:t>
            </a:r>
          </a:p>
          <a:p>
            <a:pPr algn="just"/>
            <a:endParaRPr lang="en-IN" dirty="0">
              <a:latin typeface="Times New Roman" panose="02020603050405020304" pitchFamily="18" charset="0"/>
              <a:cs typeface="Times New Roman" panose="02020603050405020304" pitchFamily="18" charset="0"/>
            </a:endParaRPr>
          </a:p>
        </p:txBody>
      </p:sp>
      <p:pic>
        <p:nvPicPr>
          <p:cNvPr id="23554" name="Picture 2" descr="AVL tree">
            <a:extLst>
              <a:ext uri="{FF2B5EF4-FFF2-40B4-BE49-F238E27FC236}">
                <a16:creationId xmlns:a16="http://schemas.microsoft.com/office/drawing/2014/main" id="{82AF2E5B-657F-9DA6-87DA-B561FCE978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3030" y="-59266"/>
            <a:ext cx="2110970" cy="1664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430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1AB74-A8A1-A955-BE88-D048D35CF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56AEC-4DF2-F630-95B5-923F1B5430F1}"/>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92A80EDC-3B47-094F-8D31-F7B82A7F49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3179D4C-B967-3917-BD0A-2B275DBA2C28}"/>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8515D28-F58B-6A5D-A646-0C4A4129229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D5143CE-BCA7-A4DE-BE1B-9606A985C97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016F5120-FD16-5F95-0245-A7DE928F07F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6D826C4D-8E14-1618-D464-BDB54AB1E40A}"/>
              </a:ext>
            </a:extLst>
          </p:cNvPr>
          <p:cNvSpPr txBox="1"/>
          <p:nvPr/>
        </p:nvSpPr>
        <p:spPr>
          <a:xfrm>
            <a:off x="460375" y="909664"/>
            <a:ext cx="8683625" cy="4185761"/>
          </a:xfrm>
          <a:prstGeom prst="rect">
            <a:avLst/>
          </a:prstGeom>
          <a:noFill/>
        </p:spPr>
        <p:txBody>
          <a:bodyPr wrap="square">
            <a:spAutoFit/>
          </a:bodyPr>
          <a:lstStyle/>
          <a:p>
            <a:pPr algn="l"/>
            <a:r>
              <a:rPr lang="en-US" b="1" i="0" dirty="0">
                <a:solidFill>
                  <a:srgbClr val="333333"/>
                </a:solidFill>
                <a:effectLst/>
                <a:latin typeface="Times New Roman" panose="02020603050405020304" pitchFamily="18" charset="0"/>
                <a:cs typeface="Times New Roman" panose="02020603050405020304" pitchFamily="18" charset="0"/>
              </a:rPr>
              <a:t>Rotations used to Balance the AVL Tree -</a:t>
            </a:r>
            <a:endParaRPr lang="en-US" b="0" i="0" dirty="0">
              <a:solidFill>
                <a:srgbClr val="33333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After inserting an element in the AVL tree,</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If a tree becomes imbalanced, then there exists one particular node in the tree by balancing which the entire tree becomes balanced automatically.</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To rebalance the tree, balance that particular node.</a:t>
            </a:r>
          </a:p>
          <a:p>
            <a:pPr algn="l"/>
            <a:r>
              <a:rPr lang="en-US" b="1" i="1" dirty="0">
                <a:solidFill>
                  <a:srgbClr val="333333"/>
                </a:solidFill>
                <a:effectLst/>
                <a:latin typeface="Times New Roman" panose="02020603050405020304" pitchFamily="18" charset="0"/>
                <a:cs typeface="Times New Roman" panose="02020603050405020304" pitchFamily="18" charset="0"/>
              </a:rPr>
              <a:t>To find that particular node:</a:t>
            </a:r>
            <a:endParaRPr lang="en-US" b="0" i="0" dirty="0">
              <a:solidFill>
                <a:srgbClr val="33333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Traverse the path from the newly inserted node to the root node.</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Check the balance factor of each node that is encountered while traversing the path.</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The first encountered imbalanced node will be the node that needs to be balanced.</a:t>
            </a:r>
          </a:p>
          <a:p>
            <a:pPr algn="l"/>
            <a:r>
              <a:rPr lang="en-US" b="1" i="1" dirty="0">
                <a:solidFill>
                  <a:srgbClr val="333333"/>
                </a:solidFill>
                <a:effectLst/>
                <a:latin typeface="Times New Roman" panose="02020603050405020304" pitchFamily="18" charset="0"/>
                <a:cs typeface="Times New Roman" panose="02020603050405020304" pitchFamily="18" charset="0"/>
              </a:rPr>
              <a:t>To balance that node:</a:t>
            </a:r>
            <a:endParaRPr lang="en-US" b="0" i="0" dirty="0">
              <a:solidFill>
                <a:srgbClr val="33333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Count three nodes in the direction of the leaf node.</a:t>
            </a:r>
          </a:p>
          <a:p>
            <a:pPr algn="l">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Then, use the concept of AVL Tree Rotations to rebalance the tree.</a:t>
            </a:r>
          </a:p>
          <a:p>
            <a:pPr marL="742950" lvl="1" indent="-285750" algn="l">
              <a:buFont typeface="Arial" panose="020B0604020202020204" pitchFamily="34" charset="0"/>
              <a:buChar char="•"/>
            </a:pPr>
            <a:r>
              <a:rPr lang="en-US" b="1" i="0" dirty="0">
                <a:solidFill>
                  <a:srgbClr val="333333"/>
                </a:solidFill>
                <a:effectLst/>
                <a:latin typeface="Times New Roman" panose="02020603050405020304" pitchFamily="18" charset="0"/>
                <a:cs typeface="Times New Roman" panose="02020603050405020304" pitchFamily="18" charset="0"/>
              </a:rPr>
              <a:t>LL Rotation -</a:t>
            </a:r>
            <a:r>
              <a:rPr lang="en-US" b="0" i="0" dirty="0">
                <a:solidFill>
                  <a:srgbClr val="333333"/>
                </a:solidFill>
                <a:effectLst/>
                <a:latin typeface="Times New Roman" panose="02020603050405020304" pitchFamily="18" charset="0"/>
                <a:cs typeface="Times New Roman" panose="02020603050405020304" pitchFamily="18" charset="0"/>
              </a:rPr>
              <a:t> </a:t>
            </a:r>
            <a:r>
              <a:rPr lang="en-US" b="0" i="1" dirty="0">
                <a:solidFill>
                  <a:srgbClr val="333333"/>
                </a:solidFill>
                <a:effectLst/>
                <a:latin typeface="Times New Roman" panose="02020603050405020304" pitchFamily="18" charset="0"/>
                <a:cs typeface="Times New Roman" panose="02020603050405020304" pitchFamily="18" charset="0"/>
              </a:rPr>
              <a:t>In LL rotation, every node moves one position to left from the current position.</a:t>
            </a:r>
            <a:endParaRPr lang="en-US" b="0" i="0" dirty="0">
              <a:solidFill>
                <a:srgbClr val="333333"/>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US" b="1" i="0" dirty="0">
                <a:solidFill>
                  <a:srgbClr val="333333"/>
                </a:solidFill>
                <a:effectLst/>
                <a:latin typeface="Times New Roman" panose="02020603050405020304" pitchFamily="18" charset="0"/>
                <a:cs typeface="Times New Roman" panose="02020603050405020304" pitchFamily="18" charset="0"/>
              </a:rPr>
              <a:t>RR Rotation -</a:t>
            </a:r>
            <a:r>
              <a:rPr lang="en-US" b="0" i="0" dirty="0">
                <a:solidFill>
                  <a:srgbClr val="333333"/>
                </a:solidFill>
                <a:effectLst/>
                <a:latin typeface="Times New Roman" panose="02020603050405020304" pitchFamily="18" charset="0"/>
                <a:cs typeface="Times New Roman" panose="02020603050405020304" pitchFamily="18" charset="0"/>
              </a:rPr>
              <a:t> </a:t>
            </a:r>
            <a:r>
              <a:rPr lang="en-US" b="0" i="1" dirty="0">
                <a:solidFill>
                  <a:srgbClr val="333333"/>
                </a:solidFill>
                <a:effectLst/>
                <a:latin typeface="Times New Roman" panose="02020603050405020304" pitchFamily="18" charset="0"/>
                <a:cs typeface="Times New Roman" panose="02020603050405020304" pitchFamily="18" charset="0"/>
              </a:rPr>
              <a:t>In RR rotation, every node moves one position to right from the current position.</a:t>
            </a:r>
            <a:endParaRPr lang="en-US" b="0" i="0" dirty="0">
              <a:solidFill>
                <a:srgbClr val="333333"/>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US" b="1" i="0" dirty="0">
                <a:solidFill>
                  <a:srgbClr val="333333"/>
                </a:solidFill>
                <a:effectLst/>
                <a:latin typeface="Times New Roman" panose="02020603050405020304" pitchFamily="18" charset="0"/>
                <a:cs typeface="Times New Roman" panose="02020603050405020304" pitchFamily="18" charset="0"/>
              </a:rPr>
              <a:t>LR Rotation -</a:t>
            </a:r>
            <a:r>
              <a:rPr lang="en-US" b="0" i="0" dirty="0">
                <a:solidFill>
                  <a:srgbClr val="333333"/>
                </a:solidFill>
                <a:effectLst/>
                <a:latin typeface="Times New Roman" panose="02020603050405020304" pitchFamily="18" charset="0"/>
                <a:cs typeface="Times New Roman" panose="02020603050405020304" pitchFamily="18" charset="0"/>
              </a:rPr>
              <a:t> </a:t>
            </a:r>
            <a:r>
              <a:rPr lang="en-US" b="0" i="1" dirty="0">
                <a:solidFill>
                  <a:srgbClr val="333333"/>
                </a:solidFill>
                <a:effectLst/>
                <a:latin typeface="Times New Roman" panose="02020603050405020304" pitchFamily="18" charset="0"/>
                <a:cs typeface="Times New Roman" panose="02020603050405020304" pitchFamily="18" charset="0"/>
              </a:rPr>
              <a:t>In LR rotation, at first, every node moves one position to the left and then one position to right from the current position.</a:t>
            </a:r>
            <a:endParaRPr lang="en-US" b="0" i="0" dirty="0">
              <a:solidFill>
                <a:srgbClr val="333333"/>
              </a:solidFill>
              <a:effectLst/>
              <a:latin typeface="Times New Roman" panose="02020603050405020304" pitchFamily="18" charset="0"/>
              <a:cs typeface="Times New Roman" panose="02020603050405020304" pitchFamily="18" charset="0"/>
            </a:endParaRPr>
          </a:p>
          <a:p>
            <a:pPr marL="742950" lvl="1" indent="-285750" algn="l">
              <a:buFont typeface="Arial" panose="020B0604020202020204" pitchFamily="34" charset="0"/>
              <a:buChar char="•"/>
            </a:pPr>
            <a:r>
              <a:rPr lang="en-US" b="1" i="0" dirty="0">
                <a:solidFill>
                  <a:srgbClr val="333333"/>
                </a:solidFill>
                <a:effectLst/>
                <a:latin typeface="Times New Roman" panose="02020603050405020304" pitchFamily="18" charset="0"/>
                <a:cs typeface="Times New Roman" panose="02020603050405020304" pitchFamily="18" charset="0"/>
              </a:rPr>
              <a:t>RL Rotation -</a:t>
            </a:r>
            <a:r>
              <a:rPr lang="en-US" b="0" i="0" dirty="0">
                <a:solidFill>
                  <a:srgbClr val="333333"/>
                </a:solidFill>
                <a:effectLst/>
                <a:latin typeface="Times New Roman" panose="02020603050405020304" pitchFamily="18" charset="0"/>
                <a:cs typeface="Times New Roman" panose="02020603050405020304" pitchFamily="18" charset="0"/>
              </a:rPr>
              <a:t> </a:t>
            </a:r>
            <a:r>
              <a:rPr lang="en-US" b="0" i="1" dirty="0">
                <a:solidFill>
                  <a:srgbClr val="333333"/>
                </a:solidFill>
                <a:effectLst/>
                <a:latin typeface="Times New Roman" panose="02020603050405020304" pitchFamily="18" charset="0"/>
                <a:cs typeface="Times New Roman" panose="02020603050405020304" pitchFamily="18" charset="0"/>
              </a:rPr>
              <a:t>In RL rotation, at first every node moves one position to right and then one position to left from the current position.</a:t>
            </a:r>
            <a:endParaRPr lang="en-US" b="0" i="0" dirty="0">
              <a:solidFill>
                <a:srgbClr val="333333"/>
              </a:solidFill>
              <a:effectLst/>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3906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2AE9A-B293-EBE1-7251-7E4208B490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DC3B4-5A4B-C8F9-9D31-F1D4EEC45221}"/>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4A5180BE-2F8F-5528-1B27-CA8FDF234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279BA70-E4BD-92EB-A7D6-C74A4B4CBC6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6CA30BB3-C5F6-5D1A-0504-FD955463FF9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ACAA4DC-3256-31D5-F534-85691AE4B8D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948C27EC-5FE7-0BD4-7742-0E7C96FE63E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E9DABA74-58BC-0970-8011-12C1E07F85CE}"/>
              </a:ext>
            </a:extLst>
          </p:cNvPr>
          <p:cNvPicPr>
            <a:picLocks noChangeAspect="1"/>
          </p:cNvPicPr>
          <p:nvPr/>
        </p:nvPicPr>
        <p:blipFill>
          <a:blip r:embed="rId4"/>
          <a:stretch>
            <a:fillRect/>
          </a:stretch>
        </p:blipFill>
        <p:spPr>
          <a:xfrm>
            <a:off x="76182" y="872467"/>
            <a:ext cx="2819415" cy="4009988"/>
          </a:xfrm>
          <a:prstGeom prst="rect">
            <a:avLst/>
          </a:prstGeom>
        </p:spPr>
      </p:pic>
      <p:pic>
        <p:nvPicPr>
          <p:cNvPr id="10" name="Picture 9">
            <a:extLst>
              <a:ext uri="{FF2B5EF4-FFF2-40B4-BE49-F238E27FC236}">
                <a16:creationId xmlns:a16="http://schemas.microsoft.com/office/drawing/2014/main" id="{5597FDF3-4DDD-19A3-5CF7-C1A534EB8768}"/>
              </a:ext>
            </a:extLst>
          </p:cNvPr>
          <p:cNvPicPr>
            <a:picLocks noChangeAspect="1"/>
          </p:cNvPicPr>
          <p:nvPr/>
        </p:nvPicPr>
        <p:blipFill>
          <a:blip r:embed="rId5"/>
          <a:stretch>
            <a:fillRect/>
          </a:stretch>
        </p:blipFill>
        <p:spPr>
          <a:xfrm>
            <a:off x="2891906" y="872467"/>
            <a:ext cx="2819415" cy="4009988"/>
          </a:xfrm>
          <a:prstGeom prst="rect">
            <a:avLst/>
          </a:prstGeom>
        </p:spPr>
      </p:pic>
      <p:pic>
        <p:nvPicPr>
          <p:cNvPr id="12" name="Picture 11">
            <a:extLst>
              <a:ext uri="{FF2B5EF4-FFF2-40B4-BE49-F238E27FC236}">
                <a16:creationId xmlns:a16="http://schemas.microsoft.com/office/drawing/2014/main" id="{460A4619-34CD-47FA-16E2-F42F642A63B2}"/>
              </a:ext>
            </a:extLst>
          </p:cNvPr>
          <p:cNvPicPr>
            <a:picLocks noChangeAspect="1"/>
          </p:cNvPicPr>
          <p:nvPr/>
        </p:nvPicPr>
        <p:blipFill>
          <a:blip r:embed="rId6"/>
          <a:stretch>
            <a:fillRect/>
          </a:stretch>
        </p:blipFill>
        <p:spPr>
          <a:xfrm>
            <a:off x="5739851" y="872467"/>
            <a:ext cx="3165157" cy="3929280"/>
          </a:xfrm>
          <a:prstGeom prst="rect">
            <a:avLst/>
          </a:prstGeom>
        </p:spPr>
      </p:pic>
    </p:spTree>
    <p:extLst>
      <p:ext uri="{BB962C8B-B14F-4D97-AF65-F5344CB8AC3E}">
        <p14:creationId xmlns:p14="http://schemas.microsoft.com/office/powerpoint/2010/main" val="1135927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DEA1-C7C1-A6B0-6456-A8AAAB1E6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1BEB9-E93F-C216-B3BE-F9D687A89296}"/>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ED9E0751-D50E-DA48-780C-14649B99C1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A10C595-6088-6053-C308-C9618C0F279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ADAE0D5-F54D-0348-F4B3-60A555AC4C2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9465B65-EC5D-EA7B-FBC8-BFBEA713D82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0D9147FE-644C-94B7-DF55-3F72190A7825}"/>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6" name="Picture 5">
            <a:extLst>
              <a:ext uri="{FF2B5EF4-FFF2-40B4-BE49-F238E27FC236}">
                <a16:creationId xmlns:a16="http://schemas.microsoft.com/office/drawing/2014/main" id="{7DB75DA8-EA09-BC5C-D194-3BF89D9FE2F7}"/>
              </a:ext>
            </a:extLst>
          </p:cNvPr>
          <p:cNvPicPr>
            <a:picLocks noChangeAspect="1"/>
          </p:cNvPicPr>
          <p:nvPr/>
        </p:nvPicPr>
        <p:blipFill>
          <a:blip r:embed="rId4"/>
          <a:stretch>
            <a:fillRect/>
          </a:stretch>
        </p:blipFill>
        <p:spPr>
          <a:xfrm>
            <a:off x="96294" y="829977"/>
            <a:ext cx="2923131" cy="3846797"/>
          </a:xfrm>
          <a:prstGeom prst="rect">
            <a:avLst/>
          </a:prstGeom>
        </p:spPr>
      </p:pic>
      <p:pic>
        <p:nvPicPr>
          <p:cNvPr id="11" name="Picture 10">
            <a:extLst>
              <a:ext uri="{FF2B5EF4-FFF2-40B4-BE49-F238E27FC236}">
                <a16:creationId xmlns:a16="http://schemas.microsoft.com/office/drawing/2014/main" id="{A90F949A-D9FB-9D7E-303A-9030EB4844CD}"/>
              </a:ext>
            </a:extLst>
          </p:cNvPr>
          <p:cNvPicPr>
            <a:picLocks noChangeAspect="1"/>
          </p:cNvPicPr>
          <p:nvPr/>
        </p:nvPicPr>
        <p:blipFill>
          <a:blip r:embed="rId5"/>
          <a:stretch>
            <a:fillRect/>
          </a:stretch>
        </p:blipFill>
        <p:spPr>
          <a:xfrm>
            <a:off x="3019425" y="819345"/>
            <a:ext cx="2720425" cy="3785993"/>
          </a:xfrm>
          <a:prstGeom prst="rect">
            <a:avLst/>
          </a:prstGeom>
        </p:spPr>
      </p:pic>
      <p:pic>
        <p:nvPicPr>
          <p:cNvPr id="14" name="Picture 13">
            <a:extLst>
              <a:ext uri="{FF2B5EF4-FFF2-40B4-BE49-F238E27FC236}">
                <a16:creationId xmlns:a16="http://schemas.microsoft.com/office/drawing/2014/main" id="{D5DFFFAC-A5AE-C71C-5BE8-0A272E7199B3}"/>
              </a:ext>
            </a:extLst>
          </p:cNvPr>
          <p:cNvPicPr>
            <a:picLocks noChangeAspect="1"/>
          </p:cNvPicPr>
          <p:nvPr/>
        </p:nvPicPr>
        <p:blipFill>
          <a:blip r:embed="rId6"/>
          <a:stretch>
            <a:fillRect/>
          </a:stretch>
        </p:blipFill>
        <p:spPr>
          <a:xfrm>
            <a:off x="5849404" y="738637"/>
            <a:ext cx="3155617" cy="4046294"/>
          </a:xfrm>
          <a:prstGeom prst="rect">
            <a:avLst/>
          </a:prstGeom>
        </p:spPr>
      </p:pic>
    </p:spTree>
    <p:extLst>
      <p:ext uri="{BB962C8B-B14F-4D97-AF65-F5344CB8AC3E}">
        <p14:creationId xmlns:p14="http://schemas.microsoft.com/office/powerpoint/2010/main" val="2792767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5A4D-87C3-98AE-37E9-51CE3D82A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34DDC-1638-0307-AFA7-4D9490330E4D}"/>
              </a:ext>
            </a:extLst>
          </p:cNvPr>
          <p:cNvSpPr>
            <a:spLocks noGrp="1"/>
          </p:cNvSpPr>
          <p:nvPr>
            <p:ph type="title"/>
          </p:nvPr>
        </p:nvSpPr>
        <p:spPr>
          <a:xfrm>
            <a:off x="628650" y="0"/>
            <a:ext cx="7886700" cy="728004"/>
          </a:xfrm>
        </p:spPr>
        <p:txBody>
          <a:bodyPr>
            <a:noAutofit/>
          </a:bodyPr>
          <a:lstStyle/>
          <a:p>
            <a:pPr algn="ctr"/>
            <a:br>
              <a:rPr lang="en-US" sz="1400" b="1" i="0" dirty="0">
                <a:solidFill>
                  <a:srgbClr val="333333"/>
                </a:solidFill>
                <a:effectLst/>
                <a:latin typeface="Open Sans" panose="020B0606030504020204" pitchFamily="34" charset="0"/>
              </a:rPr>
            </a:br>
            <a:r>
              <a:rPr lang="en-US" sz="1400" b="1" i="0" dirty="0">
                <a:solidFill>
                  <a:srgbClr val="333333"/>
                </a:solidFill>
                <a:effectLst/>
                <a:latin typeface="Open Sans" panose="020B0606030504020204" pitchFamily="34" charset="0"/>
              </a:rPr>
              <a:t>Step-by-Step Construction of the AVL Tree for the given Sequence </a:t>
            </a:r>
            <a:br>
              <a:rPr lang="en-US" sz="1400" b="1" i="0" dirty="0">
                <a:solidFill>
                  <a:srgbClr val="333333"/>
                </a:solidFill>
                <a:effectLst/>
                <a:latin typeface="Open Sans" panose="020B0606030504020204" pitchFamily="34" charset="0"/>
              </a:rPr>
            </a:br>
            <a:r>
              <a:rPr lang="en-US" sz="1400" b="1" i="0" dirty="0">
                <a:solidFill>
                  <a:srgbClr val="333333"/>
                </a:solidFill>
                <a:effectLst/>
                <a:latin typeface="Open Sans" panose="020B0606030504020204" pitchFamily="34" charset="0"/>
              </a:rPr>
              <a:t>21, 26, 30, 9, 4, 14, 28, 18,15,10, 2, 3, 7</a:t>
            </a:r>
            <a:br>
              <a:rPr lang="en-US" sz="1400" b="0" i="0" dirty="0">
                <a:solidFill>
                  <a:srgbClr val="333333"/>
                </a:solidFill>
                <a:effectLst/>
                <a:latin typeface="Open Sans" panose="020B0606030504020204" pitchFamily="34"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39133B79-9331-606B-3663-370537ED2C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942F090-AC08-2D56-F1BD-B03AD76CE1A7}"/>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22EB4772-E444-5B67-D608-97B661F33F7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ED24F686-8447-45E2-FBCF-3BE7D254FDA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44F1FDE-A2C8-F1AF-1863-E8BD48EAFB65}"/>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67C812EF-5B94-AA28-C918-C927828F1538}"/>
              </a:ext>
            </a:extLst>
          </p:cNvPr>
          <p:cNvPicPr>
            <a:picLocks noChangeAspect="1"/>
          </p:cNvPicPr>
          <p:nvPr/>
        </p:nvPicPr>
        <p:blipFill>
          <a:blip r:embed="rId4"/>
          <a:stretch>
            <a:fillRect/>
          </a:stretch>
        </p:blipFill>
        <p:spPr>
          <a:xfrm>
            <a:off x="1302901" y="472368"/>
            <a:ext cx="6642430" cy="4410087"/>
          </a:xfrm>
          <a:prstGeom prst="rect">
            <a:avLst/>
          </a:prstGeom>
        </p:spPr>
      </p:pic>
    </p:spTree>
    <p:extLst>
      <p:ext uri="{BB962C8B-B14F-4D97-AF65-F5344CB8AC3E}">
        <p14:creationId xmlns:p14="http://schemas.microsoft.com/office/powerpoint/2010/main" val="2058140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11A0E-0432-5E1A-AC1A-86964C506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12B1D-B645-CE6E-AFFA-A3DFFF2C6A84}"/>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40073A14-B0C9-907E-8B34-3B5197D42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60EEA79-147F-CF02-9C8E-1C2821B2C80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E8C8A66-CB08-8642-FA8D-26442ED06F1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1D3A65C-2D86-6F10-E4AF-2A9C160B590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B905212B-0BB1-DE04-2277-10EF194D494F}"/>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5942A2F8-F4FC-2123-FCCC-C415A997DDF5}"/>
              </a:ext>
            </a:extLst>
          </p:cNvPr>
          <p:cNvPicPr>
            <a:picLocks noChangeAspect="1"/>
          </p:cNvPicPr>
          <p:nvPr/>
        </p:nvPicPr>
        <p:blipFill>
          <a:blip r:embed="rId4"/>
          <a:stretch>
            <a:fillRect/>
          </a:stretch>
        </p:blipFill>
        <p:spPr>
          <a:xfrm>
            <a:off x="238991" y="597164"/>
            <a:ext cx="8710758" cy="4285292"/>
          </a:xfrm>
          <a:prstGeom prst="rect">
            <a:avLst/>
          </a:prstGeom>
        </p:spPr>
      </p:pic>
    </p:spTree>
    <p:extLst>
      <p:ext uri="{BB962C8B-B14F-4D97-AF65-F5344CB8AC3E}">
        <p14:creationId xmlns:p14="http://schemas.microsoft.com/office/powerpoint/2010/main" val="2104492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A06D-C6F8-76C2-3ACF-BD4FE89EE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62212-A763-95FC-6873-79EC670B47C0}"/>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A67C791E-64DE-14E4-6951-4FF41A992C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F47ACE3-D56B-3991-F7D0-6D035E3DD5E1}"/>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D246426-E7DD-8A4A-064F-42423318D78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CC2D847-402C-8349-51CA-AC803183D36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4E71D86-2A47-55C8-E1DD-C6A50E5B0BCE}"/>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6" name="Picture 5">
            <a:extLst>
              <a:ext uri="{FF2B5EF4-FFF2-40B4-BE49-F238E27FC236}">
                <a16:creationId xmlns:a16="http://schemas.microsoft.com/office/drawing/2014/main" id="{1CA27763-D1CE-4CCB-C81D-DBD584A7115E}"/>
              </a:ext>
            </a:extLst>
          </p:cNvPr>
          <p:cNvPicPr>
            <a:picLocks noChangeAspect="1"/>
          </p:cNvPicPr>
          <p:nvPr/>
        </p:nvPicPr>
        <p:blipFill>
          <a:blip r:embed="rId4"/>
          <a:stretch>
            <a:fillRect/>
          </a:stretch>
        </p:blipFill>
        <p:spPr>
          <a:xfrm>
            <a:off x="673723" y="535029"/>
            <a:ext cx="8017937" cy="4366497"/>
          </a:xfrm>
          <a:prstGeom prst="rect">
            <a:avLst/>
          </a:prstGeom>
        </p:spPr>
      </p:pic>
    </p:spTree>
    <p:extLst>
      <p:ext uri="{BB962C8B-B14F-4D97-AF65-F5344CB8AC3E}">
        <p14:creationId xmlns:p14="http://schemas.microsoft.com/office/powerpoint/2010/main" val="3073438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FB52-7F64-9897-C36F-B29B75571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F6E69-9290-F8BD-151D-68A5D2790B03}"/>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BB8DEDD7-EEF9-F58C-1183-D692A1CF2C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060B8856-A9B8-6ECA-BF16-0090C6B6CCF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5F8D65C-FE6B-D920-7867-532F8F4212B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912ECD8-7DC9-84BD-9711-488251DFF89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F27CC263-FE7A-D3AF-D767-9BD9F273B55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15100A2B-C6E7-356A-E889-3A16F3BB42D9}"/>
              </a:ext>
            </a:extLst>
          </p:cNvPr>
          <p:cNvPicPr>
            <a:picLocks noChangeAspect="1"/>
          </p:cNvPicPr>
          <p:nvPr/>
        </p:nvPicPr>
        <p:blipFill>
          <a:blip r:embed="rId4"/>
          <a:srcRect l="29629"/>
          <a:stretch>
            <a:fillRect/>
          </a:stretch>
        </p:blipFill>
        <p:spPr>
          <a:xfrm>
            <a:off x="2711355" y="485872"/>
            <a:ext cx="2937450" cy="4273669"/>
          </a:xfrm>
          <a:prstGeom prst="rect">
            <a:avLst/>
          </a:prstGeom>
        </p:spPr>
      </p:pic>
      <p:pic>
        <p:nvPicPr>
          <p:cNvPr id="17" name="Picture 16">
            <a:extLst>
              <a:ext uri="{FF2B5EF4-FFF2-40B4-BE49-F238E27FC236}">
                <a16:creationId xmlns:a16="http://schemas.microsoft.com/office/drawing/2014/main" id="{87342AB3-D2A3-9F87-1519-E9C935B69800}"/>
              </a:ext>
            </a:extLst>
          </p:cNvPr>
          <p:cNvPicPr>
            <a:picLocks noChangeAspect="1"/>
          </p:cNvPicPr>
          <p:nvPr/>
        </p:nvPicPr>
        <p:blipFill>
          <a:blip r:embed="rId5"/>
          <a:stretch>
            <a:fillRect/>
          </a:stretch>
        </p:blipFill>
        <p:spPr>
          <a:xfrm>
            <a:off x="0" y="485872"/>
            <a:ext cx="2711355" cy="4315875"/>
          </a:xfrm>
          <a:prstGeom prst="rect">
            <a:avLst/>
          </a:prstGeom>
        </p:spPr>
      </p:pic>
      <p:pic>
        <p:nvPicPr>
          <p:cNvPr id="18" name="Picture 17">
            <a:extLst>
              <a:ext uri="{FF2B5EF4-FFF2-40B4-BE49-F238E27FC236}">
                <a16:creationId xmlns:a16="http://schemas.microsoft.com/office/drawing/2014/main" id="{36238CA3-76C2-6C63-8925-CCEBD86CEE95}"/>
              </a:ext>
            </a:extLst>
          </p:cNvPr>
          <p:cNvPicPr>
            <a:picLocks noChangeAspect="1"/>
          </p:cNvPicPr>
          <p:nvPr/>
        </p:nvPicPr>
        <p:blipFill>
          <a:blip r:embed="rId6"/>
          <a:stretch>
            <a:fillRect/>
          </a:stretch>
        </p:blipFill>
        <p:spPr>
          <a:xfrm>
            <a:off x="5648805" y="438501"/>
            <a:ext cx="3424479" cy="4387814"/>
          </a:xfrm>
          <a:prstGeom prst="rect">
            <a:avLst/>
          </a:prstGeom>
        </p:spPr>
      </p:pic>
    </p:spTree>
    <p:extLst>
      <p:ext uri="{BB962C8B-B14F-4D97-AF65-F5344CB8AC3E}">
        <p14:creationId xmlns:p14="http://schemas.microsoft.com/office/powerpoint/2010/main" val="1406204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7CBDA-6E5E-B3A2-0FD7-F2062717B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E9176-86F2-E3A5-22DC-EBB965DBCAB7}"/>
              </a:ext>
            </a:extLst>
          </p:cNvPr>
          <p:cNvSpPr>
            <a:spLocks noGrp="1"/>
          </p:cNvSpPr>
          <p:nvPr>
            <p:ph type="title"/>
          </p:nvPr>
        </p:nvSpPr>
        <p:spPr>
          <a:xfrm>
            <a:off x="628650" y="0"/>
            <a:ext cx="7886700" cy="728004"/>
          </a:xfrm>
        </p:spPr>
        <p:txBody>
          <a:bodyPr>
            <a:noAutofit/>
          </a:bodyPr>
          <a:lstStyle/>
          <a:p>
            <a:pPr lvl="0" algn="ctr"/>
            <a:br>
              <a:rPr lang="en-IN" sz="2700" b="1" dirty="0">
                <a:latin typeface="Times New Roman" panose="02020603050405020304" pitchFamily="18" charset="0"/>
                <a:cs typeface="Times New Roman" pitchFamily="18" charset="0"/>
              </a:rPr>
            </a:br>
            <a:r>
              <a:rPr lang="en-IN" sz="2700" b="1" dirty="0">
                <a:latin typeface="Times New Roman" panose="02020603050405020304" pitchFamily="18" charset="0"/>
                <a:cs typeface="Times New Roman" pitchFamily="18" charset="0"/>
              </a:rPr>
              <a:t>AVL Tree</a:t>
            </a:r>
            <a:br>
              <a:rPr lang="en-IN" sz="2700" b="1" dirty="0">
                <a:latin typeface="Times New Roman" panose="02020603050405020304" pitchFamily="18" charset="0"/>
                <a:cs typeface="Times New Roman"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1B9EF870-23D9-9CDE-DCA6-D7377E4DB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E7B68A5-2028-C3AE-9A26-1D1156650AF9}"/>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8BE084E-D3C5-438E-360B-EDB69CDB673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CB86627-FB83-5802-EFA3-AF8629255F9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0097E059-EA71-A47A-8CC2-A49A7616ED9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14" name="Picture 13">
            <a:extLst>
              <a:ext uri="{FF2B5EF4-FFF2-40B4-BE49-F238E27FC236}">
                <a16:creationId xmlns:a16="http://schemas.microsoft.com/office/drawing/2014/main" id="{56EA3BFF-62FB-2C8B-19AA-3EBE8782262D}"/>
              </a:ext>
            </a:extLst>
          </p:cNvPr>
          <p:cNvPicPr>
            <a:picLocks noChangeAspect="1"/>
          </p:cNvPicPr>
          <p:nvPr/>
        </p:nvPicPr>
        <p:blipFill>
          <a:blip r:embed="rId4"/>
          <a:stretch>
            <a:fillRect/>
          </a:stretch>
        </p:blipFill>
        <p:spPr>
          <a:xfrm>
            <a:off x="0" y="728004"/>
            <a:ext cx="3045129" cy="4143191"/>
          </a:xfrm>
          <a:prstGeom prst="rect">
            <a:avLst/>
          </a:prstGeom>
        </p:spPr>
      </p:pic>
      <p:pic>
        <p:nvPicPr>
          <p:cNvPr id="6" name="Picture 5">
            <a:extLst>
              <a:ext uri="{FF2B5EF4-FFF2-40B4-BE49-F238E27FC236}">
                <a16:creationId xmlns:a16="http://schemas.microsoft.com/office/drawing/2014/main" id="{982636CB-0220-80DE-EB8D-59092C24F9A8}"/>
              </a:ext>
            </a:extLst>
          </p:cNvPr>
          <p:cNvPicPr>
            <a:picLocks noChangeAspect="1"/>
          </p:cNvPicPr>
          <p:nvPr/>
        </p:nvPicPr>
        <p:blipFill>
          <a:blip r:embed="rId5"/>
          <a:stretch>
            <a:fillRect/>
          </a:stretch>
        </p:blipFill>
        <p:spPr>
          <a:xfrm>
            <a:off x="3045130" y="705590"/>
            <a:ext cx="3136596" cy="4176552"/>
          </a:xfrm>
          <a:prstGeom prst="rect">
            <a:avLst/>
          </a:prstGeom>
        </p:spPr>
      </p:pic>
      <p:pic>
        <p:nvPicPr>
          <p:cNvPr id="10" name="Picture 9">
            <a:extLst>
              <a:ext uri="{FF2B5EF4-FFF2-40B4-BE49-F238E27FC236}">
                <a16:creationId xmlns:a16="http://schemas.microsoft.com/office/drawing/2014/main" id="{2BE97ECC-40A9-4970-72B5-F80D2E9BA3EA}"/>
              </a:ext>
            </a:extLst>
          </p:cNvPr>
          <p:cNvPicPr>
            <a:picLocks noChangeAspect="1"/>
          </p:cNvPicPr>
          <p:nvPr/>
        </p:nvPicPr>
        <p:blipFill>
          <a:blip r:embed="rId6"/>
          <a:stretch>
            <a:fillRect/>
          </a:stretch>
        </p:blipFill>
        <p:spPr>
          <a:xfrm>
            <a:off x="6131866" y="694644"/>
            <a:ext cx="3012134" cy="4096431"/>
          </a:xfrm>
          <a:prstGeom prst="rect">
            <a:avLst/>
          </a:prstGeom>
        </p:spPr>
      </p:pic>
    </p:spTree>
    <p:extLst>
      <p:ext uri="{BB962C8B-B14F-4D97-AF65-F5344CB8AC3E}">
        <p14:creationId xmlns:p14="http://schemas.microsoft.com/office/powerpoint/2010/main" val="2730254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2896-BFB3-AFE1-879C-E29384583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80187-924C-165E-AE7E-F97E516CE6EE}"/>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AVL Tree</a:t>
            </a:r>
          </a:p>
        </p:txBody>
      </p:sp>
      <p:pic>
        <p:nvPicPr>
          <p:cNvPr id="15" name="Picture 14">
            <a:extLst>
              <a:ext uri="{FF2B5EF4-FFF2-40B4-BE49-F238E27FC236}">
                <a16:creationId xmlns:a16="http://schemas.microsoft.com/office/drawing/2014/main" id="{447DA425-7E83-77E9-67AA-0CB8CE9D2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4A3B69F-33AC-B8E9-6AAA-DF8094912A95}"/>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F207969-4964-3223-523B-21575998914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B5E7444-288F-53CD-72D9-E24C2A9916A4}"/>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D8F0BDD-D803-D1FA-0B64-92EF3BBF966F}"/>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8ADE3FC6-37B7-E9C6-7EC5-1EEF8247B17E}"/>
              </a:ext>
            </a:extLst>
          </p:cNvPr>
          <p:cNvSpPr txBox="1"/>
          <p:nvPr/>
        </p:nvSpPr>
        <p:spPr>
          <a:xfrm>
            <a:off x="2657476" y="871058"/>
            <a:ext cx="4933950" cy="3970318"/>
          </a:xfrm>
          <a:prstGeom prst="rect">
            <a:avLst/>
          </a:prstGeom>
          <a:noFill/>
        </p:spPr>
        <p:txBody>
          <a:bodyPr wrap="square">
            <a:spAutoFit/>
          </a:bodyPr>
          <a:lstStyle/>
          <a:p>
            <a:r>
              <a:rPr lang="en-US" sz="1050" dirty="0">
                <a:latin typeface="Times New Roman" panose="02020603050405020304" pitchFamily="18" charset="0"/>
                <a:cs typeface="Times New Roman" panose="02020603050405020304" pitchFamily="18" charset="0"/>
              </a:rPr>
              <a:t>What is an AVL Tree?</a:t>
            </a:r>
          </a:p>
          <a:p>
            <a:r>
              <a:rPr lang="en-US" sz="1050" dirty="0">
                <a:latin typeface="Times New Roman" panose="02020603050405020304" pitchFamily="18" charset="0"/>
                <a:cs typeface="Times New Roman" panose="02020603050405020304" pitchFamily="18" charset="0"/>
              </a:rPr>
              <a:t>What does AVL stand for?</a:t>
            </a:r>
          </a:p>
          <a:p>
            <a:r>
              <a:rPr lang="en-US" sz="1050" dirty="0">
                <a:latin typeface="Times New Roman" panose="02020603050405020304" pitchFamily="18" charset="0"/>
                <a:cs typeface="Times New Roman" panose="02020603050405020304" pitchFamily="18" charset="0"/>
              </a:rPr>
              <a:t>What does AVL stand for?</a:t>
            </a:r>
          </a:p>
          <a:p>
            <a:r>
              <a:rPr lang="en-IN" sz="1050" dirty="0">
                <a:latin typeface="Times New Roman" panose="02020603050405020304" pitchFamily="18" charset="0"/>
                <a:cs typeface="Times New Roman" panose="02020603050405020304" pitchFamily="18" charset="0"/>
              </a:rPr>
              <a:t>What is balance factor?</a:t>
            </a:r>
          </a:p>
          <a:p>
            <a:r>
              <a:rPr lang="en-US" sz="1050" dirty="0">
                <a:latin typeface="Times New Roman" panose="02020603050405020304" pitchFamily="18" charset="0"/>
                <a:cs typeface="Times New Roman" panose="02020603050405020304" pitchFamily="18" charset="0"/>
              </a:rPr>
              <a:t>What are allowed balance factor values in AVL Tree?</a:t>
            </a:r>
          </a:p>
          <a:p>
            <a:r>
              <a:rPr lang="en-US" sz="1050" dirty="0">
                <a:latin typeface="Times New Roman" panose="02020603050405020304" pitchFamily="18" charset="0"/>
                <a:cs typeface="Times New Roman" panose="02020603050405020304" pitchFamily="18" charset="0"/>
              </a:rPr>
              <a:t>What is the height of a node?</a:t>
            </a:r>
          </a:p>
          <a:p>
            <a:r>
              <a:rPr lang="en-US" sz="1050" dirty="0">
                <a:latin typeface="Times New Roman" panose="02020603050405020304" pitchFamily="18" charset="0"/>
                <a:cs typeface="Times New Roman" panose="02020603050405020304" pitchFamily="18" charset="0"/>
              </a:rPr>
              <a:t>What is the height of a leaf node in AVL Tree?</a:t>
            </a:r>
          </a:p>
          <a:p>
            <a:r>
              <a:rPr lang="en-US" sz="1050" dirty="0">
                <a:latin typeface="Times New Roman" panose="02020603050405020304" pitchFamily="18" charset="0"/>
                <a:cs typeface="Times New Roman" panose="02020603050405020304" pitchFamily="18" charset="0"/>
              </a:rPr>
              <a:t>When does an AVL Tree become unbalanced?</a:t>
            </a:r>
          </a:p>
          <a:p>
            <a:r>
              <a:rPr lang="en-US" sz="1050" dirty="0">
                <a:latin typeface="Times New Roman" panose="02020603050405020304" pitchFamily="18" charset="0"/>
                <a:cs typeface="Times New Roman" panose="02020603050405020304" pitchFamily="18" charset="0"/>
              </a:rPr>
              <a:t>What is rotation in AVL Tree?</a:t>
            </a:r>
          </a:p>
          <a:p>
            <a:r>
              <a:rPr lang="en-US" sz="1050" dirty="0">
                <a:latin typeface="Times New Roman" panose="02020603050405020304" pitchFamily="18" charset="0"/>
                <a:cs typeface="Times New Roman" panose="02020603050405020304" pitchFamily="18" charset="0"/>
              </a:rPr>
              <a:t>How many types of rotations are there?</a:t>
            </a:r>
          </a:p>
          <a:p>
            <a:r>
              <a:rPr lang="en-US" sz="1050" dirty="0">
                <a:latin typeface="Times New Roman" panose="02020603050405020304" pitchFamily="18" charset="0"/>
                <a:cs typeface="Times New Roman" panose="02020603050405020304" pitchFamily="18" charset="0"/>
              </a:rPr>
              <a:t>When is LL rotation used?</a:t>
            </a:r>
          </a:p>
          <a:p>
            <a:r>
              <a:rPr lang="en-US" sz="1050" dirty="0">
                <a:latin typeface="Times New Roman" panose="02020603050405020304" pitchFamily="18" charset="0"/>
                <a:cs typeface="Times New Roman" panose="02020603050405020304" pitchFamily="18" charset="0"/>
              </a:rPr>
              <a:t>When is RR rotation used?</a:t>
            </a:r>
          </a:p>
          <a:p>
            <a:r>
              <a:rPr lang="en-US" sz="1050" dirty="0">
                <a:latin typeface="Times New Roman" panose="02020603050405020304" pitchFamily="18" charset="0"/>
                <a:cs typeface="Times New Roman" panose="02020603050405020304" pitchFamily="18" charset="0"/>
              </a:rPr>
              <a:t>When is LR rotation used?</a:t>
            </a:r>
          </a:p>
          <a:p>
            <a:r>
              <a:rPr lang="en-US" sz="1050" dirty="0">
                <a:latin typeface="Times New Roman" panose="02020603050405020304" pitchFamily="18" charset="0"/>
                <a:cs typeface="Times New Roman" panose="02020603050405020304" pitchFamily="18" charset="0"/>
              </a:rPr>
              <a:t>When is RL rotation used?</a:t>
            </a:r>
          </a:p>
          <a:p>
            <a:r>
              <a:rPr lang="en-US" sz="1050" dirty="0">
                <a:latin typeface="Times New Roman" panose="02020603050405020304" pitchFamily="18" charset="0"/>
                <a:cs typeface="Times New Roman" panose="02020603050405020304" pitchFamily="18" charset="0"/>
              </a:rPr>
              <a:t>What is the time complexity of insertion in AVL Tree?</a:t>
            </a:r>
          </a:p>
          <a:p>
            <a:r>
              <a:rPr lang="en-US" sz="1050" dirty="0">
                <a:latin typeface="Times New Roman" panose="02020603050405020304" pitchFamily="18" charset="0"/>
                <a:cs typeface="Times New Roman" panose="02020603050405020304" pitchFamily="18" charset="0"/>
              </a:rPr>
              <a:t>What is the time complexity of search in AVL Tree?</a:t>
            </a:r>
          </a:p>
          <a:p>
            <a:r>
              <a:rPr lang="en-US" sz="1050" dirty="0">
                <a:latin typeface="Times New Roman" panose="02020603050405020304" pitchFamily="18" charset="0"/>
                <a:cs typeface="Times New Roman" panose="02020603050405020304" pitchFamily="18" charset="0"/>
              </a:rPr>
              <a:t>Which traversal shows sorted order in AVL Tree?</a:t>
            </a:r>
          </a:p>
          <a:p>
            <a:r>
              <a:rPr lang="en-US" sz="1050" dirty="0">
                <a:latin typeface="Times New Roman" panose="02020603050405020304" pitchFamily="18" charset="0"/>
                <a:cs typeface="Times New Roman" panose="02020603050405020304" pitchFamily="18" charset="0"/>
              </a:rPr>
              <a:t>Difference between BST and AVL Tree?</a:t>
            </a:r>
          </a:p>
          <a:p>
            <a:r>
              <a:rPr lang="en-US" sz="1050" dirty="0">
                <a:latin typeface="Times New Roman" panose="02020603050405020304" pitchFamily="18" charset="0"/>
                <a:cs typeface="Times New Roman" panose="02020603050405020304" pitchFamily="18" charset="0"/>
              </a:rPr>
              <a:t>Which is faster: BST or AVL Tree?</a:t>
            </a:r>
          </a:p>
          <a:p>
            <a:r>
              <a:rPr lang="en-US" sz="1050" dirty="0">
                <a:latin typeface="Times New Roman" panose="02020603050405020304" pitchFamily="18" charset="0"/>
                <a:cs typeface="Times New Roman" panose="02020603050405020304" pitchFamily="18" charset="0"/>
              </a:rPr>
              <a:t>Why are rotations required in AVL Tree?</a:t>
            </a:r>
          </a:p>
          <a:p>
            <a:r>
              <a:rPr lang="en-US" sz="1050" dirty="0">
                <a:latin typeface="Times New Roman" panose="02020603050405020304" pitchFamily="18" charset="0"/>
                <a:cs typeface="Times New Roman" panose="02020603050405020304" pitchFamily="18" charset="0"/>
              </a:rPr>
              <a:t>Is AVL Tree always balanced?</a:t>
            </a:r>
          </a:p>
          <a:p>
            <a:r>
              <a:rPr lang="en-US" sz="1050" dirty="0">
                <a:latin typeface="Times New Roman" panose="02020603050405020304" pitchFamily="18" charset="0"/>
                <a:cs typeface="Times New Roman" panose="02020603050405020304" pitchFamily="18" charset="0"/>
              </a:rPr>
              <a:t>Can AVL Tree have duplicate keys?</a:t>
            </a:r>
          </a:p>
          <a:p>
            <a:r>
              <a:rPr lang="en-US" sz="1050" dirty="0">
                <a:latin typeface="Times New Roman" panose="02020603050405020304" pitchFamily="18" charset="0"/>
                <a:cs typeface="Times New Roman" panose="02020603050405020304" pitchFamily="18" charset="0"/>
              </a:rPr>
              <a:t>Is AVL Tree a complete binary tree?</a:t>
            </a:r>
          </a:p>
          <a:p>
            <a:endParaRPr lang="en-IN"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556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D94FA-FD52-EB45-25F6-0192626BA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6D965-5B9D-B5CC-7CAC-E5C0FE33599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FC03CEB0-FB2F-9ED3-F016-FF55229138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29326C3-2144-7CF1-0D81-6412B138D0A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26C57700-7025-958B-ABFE-3776560D809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0771B2C-6DC5-A7BC-A1F3-414013BFF2E5}"/>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3995CA1-1F65-2949-81E6-A8B97C0F14DB}"/>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A65367BC-DB65-4C03-A298-3002FAAF75D0}"/>
              </a:ext>
            </a:extLst>
          </p:cNvPr>
          <p:cNvSpPr txBox="1"/>
          <p:nvPr/>
        </p:nvSpPr>
        <p:spPr>
          <a:xfrm>
            <a:off x="460375" y="909664"/>
            <a:ext cx="8683625" cy="1600438"/>
          </a:xfrm>
          <a:prstGeom prst="rect">
            <a:avLst/>
          </a:prstGeom>
          <a:noFill/>
        </p:spPr>
        <p:txBody>
          <a:bodyPr wrap="square">
            <a:spAutoFit/>
          </a:bodyPr>
          <a:lstStyle/>
          <a:p>
            <a:pPr algn="just"/>
            <a:r>
              <a:rPr lang="en-US" b="1" i="0" dirty="0">
                <a:solidFill>
                  <a:srgbClr val="273239"/>
                </a:solidFill>
                <a:effectLst/>
                <a:latin typeface="Times New Roman" panose="02020603050405020304" pitchFamily="18" charset="0"/>
                <a:cs typeface="Times New Roman" panose="02020603050405020304" pitchFamily="18" charset="0"/>
              </a:rPr>
              <a:t>Binary search trees</a:t>
            </a:r>
            <a:r>
              <a:rPr lang="en-US" b="0" i="0" dirty="0">
                <a:solidFill>
                  <a:srgbClr val="273239"/>
                </a:solidFill>
                <a:effectLst/>
                <a:latin typeface="Times New Roman" panose="02020603050405020304" pitchFamily="18" charset="0"/>
                <a:cs typeface="Times New Roman" panose="02020603050405020304" pitchFamily="18" charset="0"/>
              </a:rPr>
              <a:t> are a fundamental</a:t>
            </a:r>
            <a:r>
              <a:rPr lang="en-US" b="0" i="0" u="sng" dirty="0">
                <a:effectLst/>
                <a:latin typeface="Times New Roman" panose="02020603050405020304" pitchFamily="18" charset="0"/>
                <a:cs typeface="Times New Roman" panose="02020603050405020304" pitchFamily="18" charset="0"/>
                <a:hlinkClick r:id="rId4"/>
              </a:rPr>
              <a:t> data structure,</a:t>
            </a:r>
            <a:r>
              <a:rPr lang="en-US" b="0" i="0" dirty="0">
                <a:solidFill>
                  <a:srgbClr val="273239"/>
                </a:solidFill>
                <a:effectLst/>
                <a:latin typeface="Times New Roman" panose="02020603050405020304" pitchFamily="18" charset="0"/>
                <a:cs typeface="Times New Roman" panose="02020603050405020304" pitchFamily="18" charset="0"/>
              </a:rPr>
              <a:t> but their performance can suffer if the tree becomes unbalanced.</a:t>
            </a:r>
            <a:r>
              <a:rPr lang="en-US" b="1" i="0" dirty="0">
                <a:solidFill>
                  <a:srgbClr val="273239"/>
                </a:solidFill>
                <a:effectLst/>
                <a:latin typeface="Times New Roman" panose="02020603050405020304" pitchFamily="18" charset="0"/>
                <a:cs typeface="Times New Roman" panose="02020603050405020304" pitchFamily="18" charset="0"/>
              </a:rPr>
              <a:t> Red Black Trees </a:t>
            </a:r>
            <a:r>
              <a:rPr lang="en-US" b="0" i="0" dirty="0">
                <a:solidFill>
                  <a:srgbClr val="273239"/>
                </a:solidFill>
                <a:effectLst/>
                <a:latin typeface="Times New Roman" panose="02020603050405020304" pitchFamily="18" charset="0"/>
                <a:cs typeface="Times New Roman" panose="02020603050405020304" pitchFamily="18" charset="0"/>
              </a:rPr>
              <a:t>are a type of</a:t>
            </a:r>
            <a:r>
              <a:rPr lang="en-US" b="1" i="0" dirty="0">
                <a:solidFill>
                  <a:srgbClr val="273239"/>
                </a:solidFill>
                <a:effectLst/>
                <a:latin typeface="Times New Roman" panose="02020603050405020304" pitchFamily="18" charset="0"/>
                <a:cs typeface="Times New Roman" panose="02020603050405020304" pitchFamily="18" charset="0"/>
              </a:rPr>
              <a:t> balanced binary search tree</a:t>
            </a:r>
            <a:r>
              <a:rPr lang="en-US" b="0" i="0" dirty="0">
                <a:solidFill>
                  <a:srgbClr val="273239"/>
                </a:solidFill>
                <a:effectLst/>
                <a:latin typeface="Times New Roman" panose="02020603050405020304" pitchFamily="18" charset="0"/>
                <a:cs typeface="Times New Roman" panose="02020603050405020304" pitchFamily="18" charset="0"/>
              </a:rPr>
              <a:t> that use a set of rules to maintain balance, ensuring logarithmic time complexity for operations like</a:t>
            </a:r>
            <a:r>
              <a:rPr lang="en-US" b="1" i="0" dirty="0">
                <a:solidFill>
                  <a:srgbClr val="273239"/>
                </a:solidFill>
                <a:effectLst/>
                <a:latin typeface="Times New Roman" panose="02020603050405020304" pitchFamily="18" charset="0"/>
                <a:cs typeface="Times New Roman" panose="02020603050405020304" pitchFamily="18" charset="0"/>
              </a:rPr>
              <a:t> insertion, deletion, and searching</a:t>
            </a:r>
            <a:r>
              <a:rPr lang="en-US" b="0" i="0" dirty="0">
                <a:solidFill>
                  <a:srgbClr val="273239"/>
                </a:solidFill>
                <a:effectLst/>
                <a:latin typeface="Times New Roman" panose="02020603050405020304" pitchFamily="18" charset="0"/>
                <a:cs typeface="Times New Roman" panose="02020603050405020304" pitchFamily="18" charset="0"/>
              </a:rPr>
              <a:t>, regardless of the initial shape of the tree. </a:t>
            </a:r>
            <a:r>
              <a:rPr lang="en-US" b="1" i="0" dirty="0">
                <a:solidFill>
                  <a:srgbClr val="273239"/>
                </a:solidFill>
                <a:effectLst/>
                <a:latin typeface="Times New Roman" panose="02020603050405020304" pitchFamily="18" charset="0"/>
                <a:cs typeface="Times New Roman" panose="02020603050405020304" pitchFamily="18" charset="0"/>
              </a:rPr>
              <a:t>Red Black Trees</a:t>
            </a:r>
            <a:r>
              <a:rPr lang="en-US" b="0" i="0" dirty="0">
                <a:solidFill>
                  <a:srgbClr val="273239"/>
                </a:solidFill>
                <a:effectLst/>
                <a:latin typeface="Times New Roman" panose="02020603050405020304" pitchFamily="18" charset="0"/>
                <a:cs typeface="Times New Roman" panose="02020603050405020304" pitchFamily="18" charset="0"/>
              </a:rPr>
              <a:t> are self-balancing, using a simple color-coding scheme to adjust the tree after each modification.</a:t>
            </a:r>
          </a:p>
          <a:p>
            <a:pPr algn="just"/>
            <a:endParaRPr lang="en-US" dirty="0">
              <a:solidFill>
                <a:srgbClr val="273239"/>
              </a:solidFill>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D4E7584-5627-AF28-4CDF-3D34BF5A65E5}"/>
              </a:ext>
            </a:extLst>
          </p:cNvPr>
          <p:cNvPicPr>
            <a:picLocks noChangeAspect="1"/>
          </p:cNvPicPr>
          <p:nvPr/>
        </p:nvPicPr>
        <p:blipFill>
          <a:blip r:embed="rId5"/>
          <a:srcRect l="38135" t="12961" r="4456" b="918"/>
          <a:stretch/>
        </p:blipFill>
        <p:spPr>
          <a:xfrm>
            <a:off x="3032209" y="1964523"/>
            <a:ext cx="4188236" cy="2837224"/>
          </a:xfrm>
          <a:prstGeom prst="rect">
            <a:avLst/>
          </a:prstGeom>
        </p:spPr>
      </p:pic>
    </p:spTree>
    <p:extLst>
      <p:ext uri="{BB962C8B-B14F-4D97-AF65-F5344CB8AC3E}">
        <p14:creationId xmlns:p14="http://schemas.microsoft.com/office/powerpoint/2010/main" val="14467491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CB9CF-578C-3BB7-5273-8A640BACD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1CEB4-7C2F-6867-6B81-B337653C293D}"/>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88D69259-4466-4B87-2731-B1CA7E1EF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0DA1921-D8F2-7405-C958-B76FE42E324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8D1DE39-7AC7-F4ED-AA6E-70CD4D243DD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AD1BC18C-3176-8F89-EC34-62AEBE880F1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41D9726-B222-9A35-B166-60F06B353B9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04374917-E6F0-98FC-7130-7A8FDF41BF55}"/>
              </a:ext>
            </a:extLst>
          </p:cNvPr>
          <p:cNvPicPr>
            <a:picLocks noChangeAspect="1"/>
          </p:cNvPicPr>
          <p:nvPr/>
        </p:nvPicPr>
        <p:blipFill>
          <a:blip r:embed="rId4"/>
          <a:srcRect l="38135" t="12961" r="4456" b="918"/>
          <a:stretch/>
        </p:blipFill>
        <p:spPr>
          <a:xfrm>
            <a:off x="3032209" y="1969261"/>
            <a:ext cx="4188236" cy="2837224"/>
          </a:xfrm>
          <a:prstGeom prst="rect">
            <a:avLst/>
          </a:prstGeom>
        </p:spPr>
      </p:pic>
      <p:sp>
        <p:nvSpPr>
          <p:cNvPr id="8" name="TextBox 7">
            <a:extLst>
              <a:ext uri="{FF2B5EF4-FFF2-40B4-BE49-F238E27FC236}">
                <a16:creationId xmlns:a16="http://schemas.microsoft.com/office/drawing/2014/main" id="{C3F7BA85-92B7-9A82-3A19-2C83A75FE806}"/>
              </a:ext>
            </a:extLst>
          </p:cNvPr>
          <p:cNvSpPr txBox="1"/>
          <p:nvPr/>
        </p:nvSpPr>
        <p:spPr>
          <a:xfrm>
            <a:off x="460375" y="1028109"/>
            <a:ext cx="8574655" cy="738664"/>
          </a:xfrm>
          <a:prstGeom prst="rect">
            <a:avLst/>
          </a:prstGeom>
          <a:noFill/>
        </p:spPr>
        <p:txBody>
          <a:bodyPr wrap="square">
            <a:spAutoFit/>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A </a:t>
            </a:r>
            <a:r>
              <a:rPr lang="en-US" b="1" i="0" dirty="0">
                <a:solidFill>
                  <a:srgbClr val="273239"/>
                </a:solidFill>
                <a:effectLst/>
                <a:latin typeface="Times New Roman" panose="02020603050405020304" pitchFamily="18" charset="0"/>
                <a:cs typeface="Times New Roman" panose="02020603050405020304" pitchFamily="18" charset="0"/>
              </a:rPr>
              <a:t>Red-Black Tree </a:t>
            </a:r>
            <a:r>
              <a:rPr lang="en-US" b="0" i="0" dirty="0">
                <a:solidFill>
                  <a:srgbClr val="273239"/>
                </a:solidFill>
                <a:effectLst/>
                <a:latin typeface="Times New Roman" panose="02020603050405020304" pitchFamily="18" charset="0"/>
                <a:cs typeface="Times New Roman" panose="02020603050405020304" pitchFamily="18" charset="0"/>
              </a:rPr>
              <a:t>is a self-balancing</a:t>
            </a:r>
            <a:r>
              <a:rPr lang="en-US" b="0" i="0" u="sng" dirty="0">
                <a:effectLst/>
                <a:latin typeface="Times New Roman" panose="02020603050405020304" pitchFamily="18" charset="0"/>
                <a:cs typeface="Times New Roman" panose="02020603050405020304" pitchFamily="18" charset="0"/>
                <a:hlinkClick r:id="rId5"/>
              </a:rPr>
              <a:t> binary search tree</a:t>
            </a:r>
            <a:r>
              <a:rPr lang="en-US" b="0" i="0" dirty="0">
                <a:solidFill>
                  <a:srgbClr val="273239"/>
                </a:solidFill>
                <a:effectLst/>
                <a:latin typeface="Times New Roman" panose="02020603050405020304" pitchFamily="18" charset="0"/>
                <a:cs typeface="Times New Roman" panose="02020603050405020304" pitchFamily="18" charset="0"/>
              </a:rPr>
              <a:t> where each node has an additional attribute: a color, which can be either </a:t>
            </a:r>
            <a:r>
              <a:rPr lang="en-US" b="1" i="0" dirty="0">
                <a:solidFill>
                  <a:srgbClr val="273239"/>
                </a:solidFill>
                <a:effectLst/>
                <a:latin typeface="Times New Roman" panose="02020603050405020304" pitchFamily="18" charset="0"/>
                <a:cs typeface="Times New Roman" panose="02020603050405020304" pitchFamily="18" charset="0"/>
              </a:rPr>
              <a:t>red</a:t>
            </a:r>
            <a:r>
              <a:rPr lang="en-US" b="0" i="0" dirty="0">
                <a:solidFill>
                  <a:srgbClr val="273239"/>
                </a:solidFill>
                <a:effectLst/>
                <a:latin typeface="Times New Roman" panose="02020603050405020304" pitchFamily="18" charset="0"/>
                <a:cs typeface="Times New Roman" panose="02020603050405020304" pitchFamily="18" charset="0"/>
              </a:rPr>
              <a:t> or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 The primary objective of these trees is to maintain balance during insertions and deletions, ensuring efficient data retrieval and manipulation.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317E9-8D09-811F-64D9-5527638A2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68429-BB66-9D52-E237-5E479347543E}"/>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42876F18-76CD-F098-CCED-053E70930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8918595-E290-1AB3-5B46-A2D35785EFA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D1A522D-53B4-6931-1B42-F8478E583C1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2D5D02E-A46C-83AB-6EFB-8D90AD325F5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4CDBA5B4-8AD5-6892-12D2-77AB9C2533AF}"/>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5A16E4EE-4AB2-6A9A-F0D6-03520C5F30BB}"/>
              </a:ext>
            </a:extLst>
          </p:cNvPr>
          <p:cNvSpPr txBox="1"/>
          <p:nvPr/>
        </p:nvSpPr>
        <p:spPr>
          <a:xfrm>
            <a:off x="460375" y="909664"/>
            <a:ext cx="8683625" cy="3904723"/>
          </a:xfrm>
          <a:prstGeom prst="rect">
            <a:avLst/>
          </a:prstGeom>
          <a:noFill/>
        </p:spPr>
        <p:txBody>
          <a:bodyPr wrap="square">
            <a:spAutoFit/>
          </a:bodyPr>
          <a:lstStyle/>
          <a:p>
            <a:pPr algn="just">
              <a:lnSpc>
                <a:spcPct val="200000"/>
              </a:lnSpc>
            </a:pPr>
            <a:r>
              <a:rPr lang="en-IN" b="1" i="0" dirty="0">
                <a:solidFill>
                  <a:srgbClr val="273239"/>
                </a:solidFill>
                <a:effectLst/>
                <a:latin typeface="Times New Roman" panose="02020603050405020304" pitchFamily="18" charset="0"/>
                <a:cs typeface="Times New Roman" panose="02020603050405020304" pitchFamily="18" charset="0"/>
              </a:rPr>
              <a:t>Properties of Red-Black Trees</a:t>
            </a:r>
          </a:p>
          <a:p>
            <a:pPr algn="l" rtl="0" fontAlgn="base">
              <a:lnSpc>
                <a:spcPct val="200000"/>
              </a:lnSpc>
            </a:pPr>
            <a:r>
              <a:rPr lang="en-US" dirty="0">
                <a:solidFill>
                  <a:srgbClr val="273239"/>
                </a:solidFill>
                <a:latin typeface="Times New Roman" panose="02020603050405020304" pitchFamily="18" charset="0"/>
                <a:cs typeface="Times New Roman" panose="02020603050405020304" pitchFamily="18" charset="0"/>
              </a:rPr>
              <a:t>A</a:t>
            </a:r>
            <a:r>
              <a:rPr lang="en-US" dirty="0">
                <a:solidFill>
                  <a:srgbClr val="273239"/>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Red-Black Tree</a:t>
            </a:r>
            <a:r>
              <a:rPr lang="en-US" dirty="0">
                <a:solidFill>
                  <a:srgbClr val="273239"/>
                </a:solidFill>
                <a:latin typeface="Times New Roman" panose="02020603050405020304" pitchFamily="18" charset="0"/>
                <a:cs typeface="Times New Roman" panose="02020603050405020304" pitchFamily="18" charset="0"/>
              </a:rPr>
              <a:t> have the following properties:</a:t>
            </a:r>
          </a:p>
          <a:p>
            <a:pPr algn="l" fontAlgn="base">
              <a:lnSpc>
                <a:spcPct val="200000"/>
              </a:lnSpc>
              <a:buFont typeface="+mj-lt"/>
              <a:buAutoNum type="arabicPeriod"/>
            </a:pPr>
            <a:r>
              <a:rPr lang="en-US" b="1" i="0" dirty="0">
                <a:solidFill>
                  <a:srgbClr val="273239"/>
                </a:solidFill>
                <a:effectLst/>
                <a:latin typeface="Times New Roman" panose="02020603050405020304" pitchFamily="18" charset="0"/>
                <a:cs typeface="Times New Roman" panose="02020603050405020304" pitchFamily="18" charset="0"/>
              </a:rPr>
              <a:t>Node Color</a:t>
            </a:r>
            <a:r>
              <a:rPr lang="en-US" b="0" i="0" dirty="0">
                <a:solidFill>
                  <a:srgbClr val="273239"/>
                </a:solidFill>
                <a:effectLst/>
                <a:latin typeface="Times New Roman" panose="02020603050405020304" pitchFamily="18" charset="0"/>
                <a:cs typeface="Times New Roman" panose="02020603050405020304" pitchFamily="18" charset="0"/>
              </a:rPr>
              <a:t>: Each node is either red or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a:t>
            </a:r>
          </a:p>
          <a:p>
            <a:pPr algn="l" fontAlgn="base">
              <a:lnSpc>
                <a:spcPct val="200000"/>
              </a:lnSpc>
              <a:buFont typeface="+mj-lt"/>
              <a:buAutoNum type="arabicPeriod" startAt="2"/>
            </a:pPr>
            <a:r>
              <a:rPr lang="en-US" b="1" i="0" dirty="0">
                <a:solidFill>
                  <a:srgbClr val="273239"/>
                </a:solidFill>
                <a:effectLst/>
                <a:latin typeface="Times New Roman" panose="02020603050405020304" pitchFamily="18" charset="0"/>
                <a:cs typeface="Times New Roman" panose="02020603050405020304" pitchFamily="18" charset="0"/>
              </a:rPr>
              <a:t>Root Property</a:t>
            </a:r>
            <a:r>
              <a:rPr lang="en-US" b="0" i="0" dirty="0">
                <a:solidFill>
                  <a:srgbClr val="273239"/>
                </a:solidFill>
                <a:effectLst/>
                <a:latin typeface="Times New Roman" panose="02020603050405020304" pitchFamily="18" charset="0"/>
                <a:cs typeface="Times New Roman" panose="02020603050405020304" pitchFamily="18" charset="0"/>
              </a:rPr>
              <a:t>: The root of the tree is always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a:t>
            </a:r>
          </a:p>
          <a:p>
            <a:pPr algn="l" fontAlgn="base">
              <a:lnSpc>
                <a:spcPct val="200000"/>
              </a:lnSpc>
              <a:buFont typeface="+mj-lt"/>
              <a:buAutoNum type="arabicPeriod" startAt="3"/>
            </a:pPr>
            <a:r>
              <a:rPr lang="en-US" b="1" i="0" dirty="0">
                <a:solidFill>
                  <a:srgbClr val="273239"/>
                </a:solidFill>
                <a:effectLst/>
                <a:latin typeface="Times New Roman" panose="02020603050405020304" pitchFamily="18" charset="0"/>
                <a:cs typeface="Times New Roman" panose="02020603050405020304" pitchFamily="18" charset="0"/>
              </a:rPr>
              <a:t>Red Property</a:t>
            </a:r>
            <a:r>
              <a:rPr lang="en-US" b="0" i="0" dirty="0">
                <a:solidFill>
                  <a:srgbClr val="273239"/>
                </a:solidFill>
                <a:effectLst/>
                <a:latin typeface="Times New Roman" panose="02020603050405020304" pitchFamily="18" charset="0"/>
                <a:cs typeface="Times New Roman" panose="02020603050405020304" pitchFamily="18" charset="0"/>
              </a:rPr>
              <a:t>: Red nodes cannot have red children (no two consecutive red nodes on any path).</a:t>
            </a:r>
          </a:p>
          <a:p>
            <a:pPr algn="l" fontAlgn="base">
              <a:lnSpc>
                <a:spcPct val="200000"/>
              </a:lnSpc>
              <a:buFont typeface="+mj-lt"/>
              <a:buAutoNum type="arabicPeriod" startAt="4"/>
            </a:pPr>
            <a:r>
              <a:rPr lang="en-US" b="1" i="0" dirty="0">
                <a:solidFill>
                  <a:srgbClr val="273239"/>
                </a:solidFill>
                <a:effectLst/>
                <a:latin typeface="Times New Roman" panose="02020603050405020304" pitchFamily="18" charset="0"/>
                <a:cs typeface="Times New Roman" panose="02020603050405020304" pitchFamily="18" charset="0"/>
              </a:rPr>
              <a:t>Black Property</a:t>
            </a:r>
            <a:r>
              <a:rPr lang="en-US" b="0" i="0" dirty="0">
                <a:solidFill>
                  <a:srgbClr val="273239"/>
                </a:solidFill>
                <a:effectLst/>
                <a:latin typeface="Times New Roman" panose="02020603050405020304" pitchFamily="18" charset="0"/>
                <a:cs typeface="Times New Roman" panose="02020603050405020304" pitchFamily="18" charset="0"/>
              </a:rPr>
              <a:t>: Every path from a node to its descendant null nodes (leaves) has the same number of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 nodes.</a:t>
            </a:r>
          </a:p>
          <a:p>
            <a:pPr algn="l" fontAlgn="base">
              <a:lnSpc>
                <a:spcPct val="200000"/>
              </a:lnSpc>
              <a:buFont typeface="+mj-lt"/>
              <a:buAutoNum type="arabicPeriod" startAt="5"/>
            </a:pPr>
            <a:r>
              <a:rPr lang="en-US" b="1" i="0" dirty="0">
                <a:solidFill>
                  <a:srgbClr val="273239"/>
                </a:solidFill>
                <a:effectLst/>
                <a:latin typeface="Times New Roman" panose="02020603050405020304" pitchFamily="18" charset="0"/>
                <a:cs typeface="Times New Roman" panose="02020603050405020304" pitchFamily="18" charset="0"/>
              </a:rPr>
              <a:t>Leaf Property</a:t>
            </a:r>
            <a:r>
              <a:rPr lang="en-US" b="0" i="0" dirty="0">
                <a:solidFill>
                  <a:srgbClr val="273239"/>
                </a:solidFill>
                <a:effectLst/>
                <a:latin typeface="Times New Roman" panose="02020603050405020304" pitchFamily="18" charset="0"/>
                <a:cs typeface="Times New Roman" panose="02020603050405020304" pitchFamily="18" charset="0"/>
              </a:rPr>
              <a:t>: All leaves (NIL nodes) are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a:t>
            </a:r>
          </a:p>
          <a:p>
            <a:pPr algn="just">
              <a:lnSpc>
                <a:spcPct val="200000"/>
              </a:lnSpc>
            </a:pPr>
            <a:endParaRPr lang="en-US" dirty="0">
              <a:solidFill>
                <a:srgbClr val="273239"/>
              </a:solidFill>
              <a:latin typeface="Times New Roman" panose="02020603050405020304" pitchFamily="18" charset="0"/>
              <a:cs typeface="Times New Roman" panose="02020603050405020304" pitchFamily="18" charset="0"/>
            </a:endParaRPr>
          </a:p>
          <a:p>
            <a:pPr algn="just">
              <a:lnSpc>
                <a:spcPct val="200000"/>
              </a:lnSpc>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BA2B983-29A2-5CD4-2B30-7D799875725F}"/>
              </a:ext>
            </a:extLst>
          </p:cNvPr>
          <p:cNvPicPr>
            <a:picLocks noChangeAspect="1"/>
          </p:cNvPicPr>
          <p:nvPr/>
        </p:nvPicPr>
        <p:blipFill>
          <a:blip r:embed="rId5"/>
          <a:srcRect l="38135" t="12961" r="4456" b="918"/>
          <a:stretch/>
        </p:blipFill>
        <p:spPr>
          <a:xfrm>
            <a:off x="5731389" y="648807"/>
            <a:ext cx="3014633" cy="2042194"/>
          </a:xfrm>
          <a:prstGeom prst="rect">
            <a:avLst/>
          </a:prstGeom>
        </p:spPr>
      </p:pic>
    </p:spTree>
    <p:extLst>
      <p:ext uri="{BB962C8B-B14F-4D97-AF65-F5344CB8AC3E}">
        <p14:creationId xmlns:p14="http://schemas.microsoft.com/office/powerpoint/2010/main" val="104153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55B83-0419-7259-BF8D-127BB1720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CBE58-2DF0-CE83-B504-D558364DD580}"/>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D662E265-D759-025F-E490-8E30C09E0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D902EE1E-6C73-B57A-90AA-4AED957BA608}"/>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02F6E50-D6E4-847A-22F0-38DB32F8B05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86B419D3-EABC-1941-9ECE-6EAD829B1A5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F7F23149-9ED0-5DDC-D591-D518A8F07731}"/>
              </a:ext>
            </a:extLst>
          </p:cNvPr>
          <p:cNvSpPr/>
          <p:nvPr/>
        </p:nvSpPr>
        <p:spPr>
          <a:xfrm>
            <a:off x="460375" y="963808"/>
            <a:ext cx="8444634" cy="1384995"/>
          </a:xfrm>
          <a:prstGeom prst="rect">
            <a:avLst/>
          </a:prstGeom>
        </p:spPr>
        <p:txBody>
          <a:bodyPr wrap="square">
            <a:spAutoFit/>
          </a:bodyPr>
          <a:lstStyle/>
          <a:p>
            <a:pPr algn="l" rtl="0" fontAlgn="base"/>
            <a:r>
              <a:rPr lang="en-IN" b="1" i="0" dirty="0">
                <a:solidFill>
                  <a:srgbClr val="273239"/>
                </a:solidFill>
                <a:effectLst/>
                <a:latin typeface="Times New Roman" panose="02020603050405020304" pitchFamily="18" charset="0"/>
                <a:cs typeface="Times New Roman" panose="02020603050405020304" pitchFamily="18" charset="0"/>
              </a:rPr>
              <a:t>Red-Black Tree: </a:t>
            </a:r>
            <a:r>
              <a:rPr lang="en-US" b="0" i="0" dirty="0">
                <a:solidFill>
                  <a:srgbClr val="273239"/>
                </a:solidFill>
                <a:effectLst/>
                <a:latin typeface="Times New Roman" panose="02020603050405020304" pitchFamily="18" charset="0"/>
                <a:cs typeface="Times New Roman" panose="02020603050405020304" pitchFamily="18" charset="0"/>
              </a:rPr>
              <a:t>The </a:t>
            </a:r>
            <a:r>
              <a:rPr lang="en-US" b="1" i="0" dirty="0">
                <a:solidFill>
                  <a:srgbClr val="273239"/>
                </a:solidFill>
                <a:effectLst/>
                <a:latin typeface="Times New Roman" panose="02020603050405020304" pitchFamily="18" charset="0"/>
                <a:cs typeface="Times New Roman" panose="02020603050405020304" pitchFamily="18" charset="0"/>
              </a:rPr>
              <a:t>Correct Red-Black Tree</a:t>
            </a:r>
            <a:r>
              <a:rPr lang="en-US" b="0" i="0" dirty="0">
                <a:solidFill>
                  <a:srgbClr val="273239"/>
                </a:solidFill>
                <a:effectLst/>
                <a:latin typeface="Times New Roman" panose="02020603050405020304" pitchFamily="18" charset="0"/>
                <a:cs typeface="Times New Roman" panose="02020603050405020304" pitchFamily="18" charset="0"/>
              </a:rPr>
              <a:t> in above image ensures that every path from the root to a leaf node has the same number of black nodes. In this case,​ there is one (excluding the root node).</a:t>
            </a:r>
          </a:p>
          <a:p>
            <a:pPr algn="l" rtl="0" fontAlgn="base"/>
            <a:r>
              <a:rPr lang="en-US" b="0" i="0" dirty="0">
                <a:solidFill>
                  <a:srgbClr val="273239"/>
                </a:solidFill>
                <a:effectLst/>
                <a:latin typeface="Times New Roman" panose="02020603050405020304" pitchFamily="18" charset="0"/>
                <a:cs typeface="Times New Roman" panose="02020603050405020304" pitchFamily="18" charset="0"/>
              </a:rPr>
              <a:t>The</a:t>
            </a:r>
            <a:r>
              <a:rPr lang="en-US" b="1" i="0" dirty="0">
                <a:solidFill>
                  <a:srgbClr val="273239"/>
                </a:solidFill>
                <a:effectLst/>
                <a:latin typeface="Times New Roman" panose="02020603050405020304" pitchFamily="18" charset="0"/>
                <a:cs typeface="Times New Roman" panose="02020603050405020304" pitchFamily="18" charset="0"/>
              </a:rPr>
              <a:t> Incorrect Red Black Tree</a:t>
            </a:r>
            <a:r>
              <a:rPr lang="en-US" b="0" i="0" dirty="0">
                <a:solidFill>
                  <a:srgbClr val="273239"/>
                </a:solidFill>
                <a:effectLst/>
                <a:latin typeface="Times New Roman" panose="02020603050405020304" pitchFamily="18" charset="0"/>
                <a:cs typeface="Times New Roman" panose="02020603050405020304" pitchFamily="18" charset="0"/>
              </a:rPr>
              <a:t> does not follow the red-black properties as</a:t>
            </a:r>
            <a:r>
              <a:rPr lang="en-US" b="1" i="0" dirty="0">
                <a:solidFill>
                  <a:srgbClr val="273239"/>
                </a:solidFill>
                <a:effectLst/>
                <a:latin typeface="Times New Roman" panose="02020603050405020304" pitchFamily="18" charset="0"/>
                <a:cs typeface="Times New Roman" panose="02020603050405020304" pitchFamily="18" charset="0"/>
              </a:rPr>
              <a:t> two red nodes</a:t>
            </a:r>
            <a:r>
              <a:rPr lang="en-US" b="0" i="0" dirty="0">
                <a:solidFill>
                  <a:srgbClr val="273239"/>
                </a:solidFill>
                <a:effectLst/>
                <a:latin typeface="Times New Roman" panose="02020603050405020304" pitchFamily="18" charset="0"/>
                <a:cs typeface="Times New Roman" panose="02020603050405020304" pitchFamily="18" charset="0"/>
              </a:rPr>
              <a:t> are adjacent to each other. Another problem is that one of the paths to a leaf node has zero black nodes, whereas the other two contain a black node.</a:t>
            </a:r>
          </a:p>
          <a:p>
            <a:pPr algn="l" fontAlgn="base"/>
            <a:endParaRPr lang="en-IN" b="1" i="0" dirty="0">
              <a:solidFill>
                <a:srgbClr val="273239"/>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F1189B3-DE84-AA6C-765B-B278D410037B}"/>
              </a:ext>
            </a:extLst>
          </p:cNvPr>
          <p:cNvPicPr>
            <a:picLocks noChangeAspect="1"/>
          </p:cNvPicPr>
          <p:nvPr/>
        </p:nvPicPr>
        <p:blipFill>
          <a:blip r:embed="rId4"/>
          <a:srcRect l="6254" t="11238" r="6451" b="7888"/>
          <a:stretch/>
        </p:blipFill>
        <p:spPr>
          <a:xfrm>
            <a:off x="2421027" y="2029018"/>
            <a:ext cx="4434605" cy="2938553"/>
          </a:xfrm>
          <a:prstGeom prst="rect">
            <a:avLst/>
          </a:prstGeom>
        </p:spPr>
      </p:pic>
    </p:spTree>
    <p:extLst>
      <p:ext uri="{BB962C8B-B14F-4D97-AF65-F5344CB8AC3E}">
        <p14:creationId xmlns:p14="http://schemas.microsoft.com/office/powerpoint/2010/main" val="2850452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8DFD-7E28-E330-25EB-8F633BAF2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DD45B-6D52-192C-4A7C-36C4F291DE3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0939DEA8-16EF-0744-C13D-3842FD41F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0EDA6C21-CB71-6827-CE81-1B27C4009A7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3485C92-55C9-37C0-EE5A-A448BDEA923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EB02EE11-E71E-F6D0-1A32-8670B02DCEC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B43FF5A4-97C0-4BF2-AC6B-FAAAF48EC597}"/>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DC8FEB69-5D30-FFE1-6396-73A28DD11398}"/>
              </a:ext>
            </a:extLst>
          </p:cNvPr>
          <p:cNvSpPr txBox="1"/>
          <p:nvPr/>
        </p:nvSpPr>
        <p:spPr>
          <a:xfrm>
            <a:off x="460375" y="909664"/>
            <a:ext cx="8683625" cy="1534844"/>
          </a:xfrm>
          <a:prstGeom prst="rect">
            <a:avLst/>
          </a:prstGeom>
          <a:noFill/>
        </p:spPr>
        <p:txBody>
          <a:bodyPr wrap="square">
            <a:spAutoFit/>
          </a:bodyPr>
          <a:lstStyle/>
          <a:p>
            <a:pPr algn="just" fontAlgn="base"/>
            <a:r>
              <a:rPr lang="en-US" b="1" i="0" dirty="0">
                <a:solidFill>
                  <a:srgbClr val="273239"/>
                </a:solidFill>
                <a:effectLst/>
                <a:latin typeface="Times New Roman" panose="02020603050405020304" pitchFamily="18" charset="0"/>
                <a:cs typeface="Times New Roman" panose="02020603050405020304" pitchFamily="18" charset="0"/>
              </a:rPr>
              <a:t>Why Red-Black Trees?</a:t>
            </a:r>
          </a:p>
          <a:p>
            <a:pPr algn="just" rtl="0" fontAlgn="base"/>
            <a:r>
              <a:rPr lang="en-US" b="0" i="0" dirty="0">
                <a:solidFill>
                  <a:srgbClr val="273239"/>
                </a:solidFill>
                <a:effectLst/>
                <a:latin typeface="Times New Roman" panose="02020603050405020304" pitchFamily="18" charset="0"/>
                <a:cs typeface="Times New Roman" panose="02020603050405020304" pitchFamily="18" charset="0"/>
              </a:rPr>
              <a:t>Most of the BST operations (e.g., search, max, min, insert, delete.. </a:t>
            </a:r>
            <a:r>
              <a:rPr lang="en-US" b="0" i="0" dirty="0" err="1">
                <a:solidFill>
                  <a:srgbClr val="273239"/>
                </a:solidFill>
                <a:effectLst/>
                <a:latin typeface="Times New Roman" panose="02020603050405020304" pitchFamily="18" charset="0"/>
                <a:cs typeface="Times New Roman" panose="02020603050405020304" pitchFamily="18" charset="0"/>
              </a:rPr>
              <a:t>etc</a:t>
            </a:r>
            <a:r>
              <a:rPr lang="en-US" b="0" i="0" dirty="0">
                <a:solidFill>
                  <a:srgbClr val="273239"/>
                </a:solidFill>
                <a:effectLst/>
                <a:latin typeface="Times New Roman" panose="02020603050405020304" pitchFamily="18" charset="0"/>
                <a:cs typeface="Times New Roman" panose="02020603050405020304" pitchFamily="18" charset="0"/>
              </a:rPr>
              <a:t>) take </a:t>
            </a:r>
            <a:r>
              <a:rPr lang="en-US" b="1" i="0" dirty="0">
                <a:solidFill>
                  <a:srgbClr val="273239"/>
                </a:solidFill>
                <a:effectLst/>
                <a:latin typeface="Times New Roman" panose="02020603050405020304" pitchFamily="18" charset="0"/>
                <a:cs typeface="Times New Roman" panose="02020603050405020304" pitchFamily="18" charset="0"/>
              </a:rPr>
              <a:t>O(h) </a:t>
            </a:r>
            <a:r>
              <a:rPr lang="en-US" b="0" i="0" dirty="0">
                <a:solidFill>
                  <a:srgbClr val="273239"/>
                </a:solidFill>
                <a:effectLst/>
                <a:latin typeface="Times New Roman" panose="02020603050405020304" pitchFamily="18" charset="0"/>
                <a:cs typeface="Times New Roman" panose="02020603050405020304" pitchFamily="18" charset="0"/>
              </a:rPr>
              <a:t>time where h is the height of the </a:t>
            </a:r>
            <a:r>
              <a:rPr lang="en-US" b="0" i="0" u="sng" dirty="0">
                <a:solidFill>
                  <a:srgbClr val="273239"/>
                </a:solidFill>
                <a:effectLst/>
                <a:latin typeface="Times New Roman" panose="02020603050405020304" pitchFamily="18" charset="0"/>
                <a:cs typeface="Times New Roman" panose="02020603050405020304" pitchFamily="18" charset="0"/>
                <a:hlinkClick r:id="rId4"/>
              </a:rPr>
              <a:t>BST</a:t>
            </a:r>
            <a:r>
              <a:rPr lang="en-US" b="0" i="0" dirty="0">
                <a:solidFill>
                  <a:srgbClr val="273239"/>
                </a:solidFill>
                <a:effectLst/>
                <a:latin typeface="Times New Roman" panose="02020603050405020304" pitchFamily="18" charset="0"/>
                <a:cs typeface="Times New Roman" panose="02020603050405020304" pitchFamily="18" charset="0"/>
              </a:rPr>
              <a:t>. The cost of these operations may become</a:t>
            </a:r>
            <a:r>
              <a:rPr lang="en-US" b="1" i="0" dirty="0">
                <a:solidFill>
                  <a:srgbClr val="273239"/>
                </a:solidFill>
                <a:effectLst/>
                <a:latin typeface="Times New Roman" panose="02020603050405020304" pitchFamily="18" charset="0"/>
                <a:cs typeface="Times New Roman" panose="02020603050405020304" pitchFamily="18" charset="0"/>
              </a:rPr>
              <a:t> O(n)</a:t>
            </a:r>
            <a:r>
              <a:rPr lang="en-US" b="0" i="0" dirty="0">
                <a:solidFill>
                  <a:srgbClr val="273239"/>
                </a:solidFill>
                <a:effectLst/>
                <a:latin typeface="Times New Roman" panose="02020603050405020304" pitchFamily="18" charset="0"/>
                <a:cs typeface="Times New Roman" panose="02020603050405020304" pitchFamily="18" charset="0"/>
              </a:rPr>
              <a:t> for a skewed</a:t>
            </a:r>
            <a:r>
              <a:rPr lang="en-US" b="0" i="0" u="sng" dirty="0">
                <a:solidFill>
                  <a:srgbClr val="273239"/>
                </a:solidFill>
                <a:effectLst/>
                <a:latin typeface="Times New Roman" panose="02020603050405020304" pitchFamily="18" charset="0"/>
                <a:cs typeface="Times New Roman" panose="02020603050405020304" pitchFamily="18" charset="0"/>
                <a:hlinkClick r:id="rId5"/>
              </a:rPr>
              <a:t> Binary tree.</a:t>
            </a:r>
            <a:r>
              <a:rPr lang="en-US" b="0" i="0" dirty="0">
                <a:solidFill>
                  <a:srgbClr val="273239"/>
                </a:solidFill>
                <a:effectLst/>
                <a:latin typeface="Times New Roman" panose="02020603050405020304" pitchFamily="18" charset="0"/>
                <a:cs typeface="Times New Roman" panose="02020603050405020304" pitchFamily="18" charset="0"/>
              </a:rPr>
              <a:t> If we make sure that the height of the tree remains </a:t>
            </a:r>
            <a:r>
              <a:rPr lang="en-US" b="1" i="0" dirty="0">
                <a:solidFill>
                  <a:srgbClr val="273239"/>
                </a:solidFill>
                <a:effectLst/>
                <a:latin typeface="Times New Roman" panose="02020603050405020304" pitchFamily="18" charset="0"/>
                <a:cs typeface="Times New Roman" panose="02020603050405020304" pitchFamily="18" charset="0"/>
              </a:rPr>
              <a:t>O(log n) </a:t>
            </a:r>
            <a:r>
              <a:rPr lang="en-US" b="0" i="0" dirty="0">
                <a:solidFill>
                  <a:srgbClr val="273239"/>
                </a:solidFill>
                <a:effectLst/>
                <a:latin typeface="Times New Roman" panose="02020603050405020304" pitchFamily="18" charset="0"/>
                <a:cs typeface="Times New Roman" panose="02020603050405020304" pitchFamily="18" charset="0"/>
              </a:rPr>
              <a:t>after every insertion and deletion, then we can guarantee an upper bound of </a:t>
            </a:r>
            <a:r>
              <a:rPr lang="en-US" b="1" i="0" dirty="0">
                <a:solidFill>
                  <a:srgbClr val="273239"/>
                </a:solidFill>
                <a:effectLst/>
                <a:latin typeface="Times New Roman" panose="02020603050405020304" pitchFamily="18" charset="0"/>
                <a:cs typeface="Times New Roman" panose="02020603050405020304" pitchFamily="18" charset="0"/>
              </a:rPr>
              <a:t>O(log n)</a:t>
            </a:r>
            <a:r>
              <a:rPr lang="en-US" b="0" i="0" dirty="0">
                <a:solidFill>
                  <a:srgbClr val="273239"/>
                </a:solidFill>
                <a:effectLst/>
                <a:latin typeface="Times New Roman" panose="02020603050405020304" pitchFamily="18" charset="0"/>
                <a:cs typeface="Times New Roman" panose="02020603050405020304" pitchFamily="18" charset="0"/>
              </a:rPr>
              <a:t> for all these operations. The height of a Red-Black tree is always </a:t>
            </a:r>
            <a:r>
              <a:rPr lang="en-US" b="1" i="0" dirty="0">
                <a:solidFill>
                  <a:srgbClr val="273239"/>
                </a:solidFill>
                <a:effectLst/>
                <a:latin typeface="Times New Roman" panose="02020603050405020304" pitchFamily="18" charset="0"/>
                <a:cs typeface="Times New Roman" panose="02020603050405020304" pitchFamily="18" charset="0"/>
              </a:rPr>
              <a:t>O(log n)</a:t>
            </a:r>
            <a:r>
              <a:rPr lang="en-US" b="0" i="0" dirty="0">
                <a:solidFill>
                  <a:srgbClr val="273239"/>
                </a:solidFill>
                <a:effectLst/>
                <a:latin typeface="Times New Roman" panose="02020603050405020304" pitchFamily="18" charset="0"/>
                <a:cs typeface="Times New Roman" panose="02020603050405020304" pitchFamily="18" charset="0"/>
              </a:rPr>
              <a:t> where n is the number of nodes in the tree. </a:t>
            </a:r>
          </a:p>
          <a:p>
            <a:pPr algn="just">
              <a:lnSpc>
                <a:spcPct val="200000"/>
              </a:lnSpc>
            </a:pP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891A947-C714-F541-F56C-C015A4B4E230}"/>
              </a:ext>
            </a:extLst>
          </p:cNvPr>
          <p:cNvPicPr>
            <a:picLocks noChangeAspect="1"/>
          </p:cNvPicPr>
          <p:nvPr/>
        </p:nvPicPr>
        <p:blipFill>
          <a:blip r:embed="rId6"/>
          <a:stretch>
            <a:fillRect/>
          </a:stretch>
        </p:blipFill>
        <p:spPr>
          <a:xfrm>
            <a:off x="2861929" y="2257762"/>
            <a:ext cx="3543326" cy="2324117"/>
          </a:xfrm>
          <a:prstGeom prst="rect">
            <a:avLst/>
          </a:prstGeom>
        </p:spPr>
      </p:pic>
    </p:spTree>
    <p:extLst>
      <p:ext uri="{BB962C8B-B14F-4D97-AF65-F5344CB8AC3E}">
        <p14:creationId xmlns:p14="http://schemas.microsoft.com/office/powerpoint/2010/main" val="3029082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0072-DB1E-C017-AAD2-9D0C11830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218A2-28EC-2896-B669-66D831C157FD}"/>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1EFC5F46-706D-E0A2-1EAE-F1E319A350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D1898B73-5969-911D-5A7B-4E2A5A86DC15}"/>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B930AAA-10C2-5339-CF25-C7FA2D78088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9D2AA83-511F-2663-B0C1-8F4E98E4F004}"/>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4BA6FA86-5832-43D5-26B8-3C6C0D14C16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A3FEF158-DCF6-B373-F7B6-ED9184E105EF}"/>
              </a:ext>
            </a:extLst>
          </p:cNvPr>
          <p:cNvSpPr txBox="1"/>
          <p:nvPr/>
        </p:nvSpPr>
        <p:spPr>
          <a:xfrm>
            <a:off x="506947" y="1530918"/>
            <a:ext cx="8348046" cy="1169551"/>
          </a:xfrm>
          <a:prstGeom prst="rect">
            <a:avLst/>
          </a:prstGeom>
          <a:noFill/>
        </p:spPr>
        <p:txBody>
          <a:bodyPr wrap="square">
            <a:spAutoFit/>
          </a:bodyPr>
          <a:lstStyle/>
          <a:p>
            <a:pPr algn="just" fontAlgn="base"/>
            <a:r>
              <a:rPr lang="en-US" b="1" i="0" dirty="0">
                <a:solidFill>
                  <a:srgbClr val="273239"/>
                </a:solidFill>
                <a:effectLst/>
                <a:latin typeface="Times New Roman" panose="02020603050405020304" pitchFamily="18" charset="0"/>
                <a:cs typeface="Times New Roman" panose="02020603050405020304" pitchFamily="18" charset="0"/>
              </a:rPr>
              <a:t>Comparison with</a:t>
            </a:r>
            <a:r>
              <a:rPr lang="en-US" b="1" i="0" u="sng" dirty="0">
                <a:solidFill>
                  <a:srgbClr val="273239"/>
                </a:solidFill>
                <a:effectLst/>
                <a:latin typeface="Times New Roman" panose="02020603050405020304" pitchFamily="18" charset="0"/>
                <a:cs typeface="Times New Roman" panose="02020603050405020304" pitchFamily="18" charset="0"/>
                <a:hlinkClick r:id="rId4"/>
              </a:rPr>
              <a:t> AVL Tree</a:t>
            </a:r>
            <a:r>
              <a:rPr lang="en-US" b="1" i="0" dirty="0">
                <a:solidFill>
                  <a:srgbClr val="273239"/>
                </a:solidFill>
                <a:effectLst/>
                <a:latin typeface="Times New Roman" panose="02020603050405020304" pitchFamily="18" charset="0"/>
                <a:cs typeface="Times New Roman" panose="02020603050405020304" pitchFamily="18" charset="0"/>
              </a:rPr>
              <a:t>:</a:t>
            </a:r>
          </a:p>
          <a:p>
            <a:pPr algn="just" rtl="0" fontAlgn="base"/>
            <a:r>
              <a:rPr lang="en-US" b="0" i="0" dirty="0">
                <a:solidFill>
                  <a:srgbClr val="273239"/>
                </a:solidFill>
                <a:effectLst/>
                <a:latin typeface="Times New Roman" panose="02020603050405020304" pitchFamily="18" charset="0"/>
                <a:cs typeface="Times New Roman" panose="02020603050405020304" pitchFamily="18" charset="0"/>
              </a:rPr>
              <a:t>The AVL trees are more balanced compared to Red-Black Trees, but they may cause more rotations during insertion and deletion. So if your application involves frequent insertions and deletions, then Red-Black trees should be preferred. And if the insertions and deletions are less frequent and search is a more frequent operation, then</a:t>
            </a:r>
            <a:r>
              <a:rPr lang="en-US" b="0" i="0" u="sng" dirty="0">
                <a:solidFill>
                  <a:srgbClr val="273239"/>
                </a:solidFill>
                <a:effectLst/>
                <a:latin typeface="Times New Roman" panose="02020603050405020304" pitchFamily="18" charset="0"/>
                <a:cs typeface="Times New Roman" panose="02020603050405020304" pitchFamily="18" charset="0"/>
                <a:hlinkClick r:id="rId4"/>
              </a:rPr>
              <a:t> AVL tree</a:t>
            </a:r>
            <a:r>
              <a:rPr lang="en-US" b="0" i="0" dirty="0">
                <a:solidFill>
                  <a:srgbClr val="273239"/>
                </a:solidFill>
                <a:effectLst/>
                <a:latin typeface="Times New Roman" panose="02020603050405020304" pitchFamily="18" charset="0"/>
                <a:cs typeface="Times New Roman" panose="02020603050405020304" pitchFamily="18" charset="0"/>
              </a:rPr>
              <a:t> should be preferred over the Red-Black Tree.</a:t>
            </a:r>
          </a:p>
        </p:txBody>
      </p:sp>
    </p:spTree>
    <p:extLst>
      <p:ext uri="{BB962C8B-B14F-4D97-AF65-F5344CB8AC3E}">
        <p14:creationId xmlns:p14="http://schemas.microsoft.com/office/powerpoint/2010/main" val="1122522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E45D0-AF6A-5195-C854-6D9E2933A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69D2E-9306-AEF6-499B-31E476AA457D}"/>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5A22B863-4071-48DC-D099-6BE8EA06C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A7E9F07-51F6-CA3F-166B-2B58DAC5C1BF}"/>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52871A7-E618-89CB-8571-7BE82176A03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7B18D3BE-9868-D345-BCE3-3AA0AA6B2C8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83B1F409-27B0-36FB-AA43-2BC67B9790D9}"/>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0C63CD76-2B48-E27B-DFBB-004F2837C617}"/>
              </a:ext>
            </a:extLst>
          </p:cNvPr>
          <p:cNvSpPr txBox="1"/>
          <p:nvPr/>
        </p:nvSpPr>
        <p:spPr>
          <a:xfrm>
            <a:off x="578015" y="912137"/>
            <a:ext cx="8494918" cy="3539430"/>
          </a:xfrm>
          <a:prstGeom prst="rect">
            <a:avLst/>
          </a:prstGeom>
          <a:noFill/>
        </p:spPr>
        <p:txBody>
          <a:bodyPr wrap="square">
            <a:spAutoFit/>
          </a:bodyPr>
          <a:lstStyle/>
          <a:p>
            <a:pPr algn="l" fontAlgn="base"/>
            <a:r>
              <a:rPr lang="en-US" b="1" i="0" dirty="0">
                <a:solidFill>
                  <a:srgbClr val="273239"/>
                </a:solidFill>
                <a:effectLst/>
                <a:latin typeface="Times New Roman" panose="02020603050405020304" pitchFamily="18" charset="0"/>
                <a:cs typeface="Times New Roman" panose="02020603050405020304" pitchFamily="18" charset="0"/>
              </a:rPr>
              <a:t>1. </a:t>
            </a:r>
            <a:r>
              <a:rPr lang="en-US" b="0" i="0" u="sng" dirty="0">
                <a:solidFill>
                  <a:srgbClr val="273239"/>
                </a:solidFill>
                <a:effectLst/>
                <a:latin typeface="Times New Roman" panose="02020603050405020304" pitchFamily="18" charset="0"/>
                <a:cs typeface="Times New Roman" panose="02020603050405020304" pitchFamily="18" charset="0"/>
                <a:hlinkClick r:id="rId4"/>
              </a:rPr>
              <a:t>Insertion</a:t>
            </a:r>
            <a:endParaRPr lang="en-US" b="1" i="0" dirty="0">
              <a:solidFill>
                <a:srgbClr val="273239"/>
              </a:solidFill>
              <a:effectLst/>
              <a:latin typeface="Times New Roman" panose="02020603050405020304" pitchFamily="18" charset="0"/>
              <a:cs typeface="Times New Roman" panose="02020603050405020304" pitchFamily="18" charset="0"/>
            </a:endParaRPr>
          </a:p>
          <a:p>
            <a:pPr algn="l" rtl="0" fontAlgn="base"/>
            <a:r>
              <a:rPr lang="en-US" b="0" i="0" dirty="0">
                <a:solidFill>
                  <a:srgbClr val="273239"/>
                </a:solidFill>
                <a:effectLst/>
                <a:latin typeface="Times New Roman" panose="02020603050405020304" pitchFamily="18" charset="0"/>
                <a:cs typeface="Times New Roman" panose="02020603050405020304" pitchFamily="18" charset="0"/>
              </a:rPr>
              <a:t>Inserting a new node in a Red-Black Tree involves a two-step process: performing a standard </a:t>
            </a:r>
            <a:r>
              <a:rPr lang="en-US" b="0" i="0" u="sng" dirty="0">
                <a:solidFill>
                  <a:srgbClr val="273239"/>
                </a:solidFill>
                <a:effectLst/>
                <a:latin typeface="Times New Roman" panose="02020603050405020304" pitchFamily="18" charset="0"/>
                <a:cs typeface="Times New Roman" panose="02020603050405020304" pitchFamily="18" charset="0"/>
                <a:hlinkClick r:id="rId5"/>
              </a:rPr>
              <a:t>binary search tree (BST) insertion</a:t>
            </a:r>
            <a:r>
              <a:rPr lang="en-US" b="0" i="0" dirty="0">
                <a:solidFill>
                  <a:srgbClr val="273239"/>
                </a:solidFill>
                <a:effectLst/>
                <a:latin typeface="Times New Roman" panose="02020603050405020304" pitchFamily="18" charset="0"/>
                <a:cs typeface="Times New Roman" panose="02020603050405020304" pitchFamily="18" charset="0"/>
              </a:rPr>
              <a:t>, followed by fixing any violations of Red-Black properties.</a:t>
            </a:r>
          </a:p>
          <a:p>
            <a:pPr algn="l" fontAlgn="base"/>
            <a:r>
              <a:rPr lang="en-US" b="1" i="0" dirty="0">
                <a:solidFill>
                  <a:srgbClr val="273239"/>
                </a:solidFill>
                <a:effectLst/>
                <a:latin typeface="Times New Roman" panose="02020603050405020304" pitchFamily="18" charset="0"/>
                <a:cs typeface="Times New Roman" panose="02020603050405020304" pitchFamily="18" charset="0"/>
              </a:rPr>
              <a:t>Insertion Steps</a:t>
            </a:r>
          </a:p>
          <a:p>
            <a:pPr algn="l" fontAlgn="base">
              <a:buFont typeface="+mj-lt"/>
              <a:buAutoNum type="arabicPeriod"/>
            </a:pPr>
            <a:r>
              <a:rPr lang="en-US" b="1" i="0" dirty="0">
                <a:solidFill>
                  <a:srgbClr val="273239"/>
                </a:solidFill>
                <a:effectLst/>
                <a:latin typeface="Times New Roman" panose="02020603050405020304" pitchFamily="18" charset="0"/>
                <a:cs typeface="Times New Roman" panose="02020603050405020304" pitchFamily="18" charset="0"/>
              </a:rPr>
              <a:t>BST Insert</a:t>
            </a:r>
            <a:r>
              <a:rPr lang="en-US" b="0" i="0" dirty="0">
                <a:solidFill>
                  <a:srgbClr val="273239"/>
                </a:solidFill>
                <a:effectLst/>
                <a:latin typeface="Times New Roman" panose="02020603050405020304" pitchFamily="18" charset="0"/>
                <a:cs typeface="Times New Roman" panose="02020603050405020304" pitchFamily="18" charset="0"/>
              </a:rPr>
              <a:t>: Insert the new node like in a standard BST.</a:t>
            </a:r>
          </a:p>
          <a:p>
            <a:pPr algn="l" fontAlgn="base">
              <a:buFont typeface="+mj-lt"/>
              <a:buAutoNum type="arabicPeriod" startAt="2"/>
            </a:pPr>
            <a:r>
              <a:rPr lang="en-US" b="1" i="0" dirty="0">
                <a:solidFill>
                  <a:srgbClr val="273239"/>
                </a:solidFill>
                <a:effectLst/>
                <a:latin typeface="Times New Roman" panose="02020603050405020304" pitchFamily="18" charset="0"/>
                <a:cs typeface="Times New Roman" panose="02020603050405020304" pitchFamily="18" charset="0"/>
              </a:rPr>
              <a:t>Fix Violations</a:t>
            </a:r>
            <a:r>
              <a:rPr lang="en-US" b="0" i="0" dirty="0">
                <a:solidFill>
                  <a:srgbClr val="273239"/>
                </a:solidFill>
                <a:effectLst/>
                <a:latin typeface="Times New Roman" panose="02020603050405020304" pitchFamily="18" charset="0"/>
                <a:cs typeface="Times New Roman" panose="02020603050405020304" pitchFamily="18" charset="0"/>
              </a:rPr>
              <a:t>:</a:t>
            </a:r>
          </a:p>
          <a:p>
            <a:pPr marL="742950" lvl="1" indent="-285750" algn="l" fontAlgn="base">
              <a:buFont typeface="+mj-lt"/>
              <a:buAutoNum type="arabicPeriod" startAt="2"/>
            </a:pPr>
            <a:r>
              <a:rPr lang="en-US" b="0" i="0" dirty="0">
                <a:solidFill>
                  <a:srgbClr val="273239"/>
                </a:solidFill>
                <a:effectLst/>
                <a:latin typeface="Times New Roman" panose="02020603050405020304" pitchFamily="18" charset="0"/>
                <a:cs typeface="Times New Roman" panose="02020603050405020304" pitchFamily="18" charset="0"/>
              </a:rPr>
              <a:t>If the parent of the new node is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 no properties are violated.</a:t>
            </a:r>
          </a:p>
          <a:p>
            <a:pPr marL="742950" lvl="1" indent="-285750" algn="l" fontAlgn="base">
              <a:buFont typeface="+mj-lt"/>
              <a:buAutoNum type="arabicPeriod" startAt="2"/>
            </a:pPr>
            <a:r>
              <a:rPr lang="en-US" b="0" i="0" dirty="0">
                <a:solidFill>
                  <a:srgbClr val="273239"/>
                </a:solidFill>
                <a:effectLst/>
                <a:latin typeface="Times New Roman" panose="02020603050405020304" pitchFamily="18" charset="0"/>
                <a:cs typeface="Times New Roman" panose="02020603050405020304" pitchFamily="18" charset="0"/>
              </a:rPr>
              <a:t>If the parent is </a:t>
            </a:r>
            <a:r>
              <a:rPr lang="en-US" b="1" i="0" dirty="0">
                <a:solidFill>
                  <a:srgbClr val="273239"/>
                </a:solidFill>
                <a:effectLst/>
                <a:latin typeface="Times New Roman" panose="02020603050405020304" pitchFamily="18" charset="0"/>
                <a:cs typeface="Times New Roman" panose="02020603050405020304" pitchFamily="18" charset="0"/>
              </a:rPr>
              <a:t>red</a:t>
            </a:r>
            <a:r>
              <a:rPr lang="en-US" b="0" i="0" dirty="0">
                <a:solidFill>
                  <a:srgbClr val="273239"/>
                </a:solidFill>
                <a:effectLst/>
                <a:latin typeface="Times New Roman" panose="02020603050405020304" pitchFamily="18" charset="0"/>
                <a:cs typeface="Times New Roman" panose="02020603050405020304" pitchFamily="18" charset="0"/>
              </a:rPr>
              <a:t>, the tree might violate the Red Property, requiring fixes.</a:t>
            </a:r>
          </a:p>
          <a:p>
            <a:pPr algn="l" fontAlgn="base"/>
            <a:r>
              <a:rPr lang="en-US" b="1" i="0" dirty="0">
                <a:solidFill>
                  <a:srgbClr val="273239"/>
                </a:solidFill>
                <a:effectLst/>
                <a:latin typeface="Times New Roman" panose="02020603050405020304" pitchFamily="18" charset="0"/>
                <a:cs typeface="Times New Roman" panose="02020603050405020304" pitchFamily="18" charset="0"/>
              </a:rPr>
              <a:t>Fixing Violations During Insertion</a:t>
            </a:r>
          </a:p>
          <a:p>
            <a:pPr algn="l" rtl="0" fontAlgn="base"/>
            <a:r>
              <a:rPr lang="en-US" b="0" i="0" dirty="0">
                <a:solidFill>
                  <a:srgbClr val="273239"/>
                </a:solidFill>
                <a:effectLst/>
                <a:latin typeface="Times New Roman" panose="02020603050405020304" pitchFamily="18" charset="0"/>
                <a:cs typeface="Times New Roman" panose="02020603050405020304" pitchFamily="18" charset="0"/>
              </a:rPr>
              <a:t>After inserting the new node as a </a:t>
            </a:r>
            <a:r>
              <a:rPr lang="en-US" b="1" i="0" dirty="0">
                <a:solidFill>
                  <a:srgbClr val="273239"/>
                </a:solidFill>
                <a:effectLst/>
                <a:latin typeface="Times New Roman" panose="02020603050405020304" pitchFamily="18" charset="0"/>
                <a:cs typeface="Times New Roman" panose="02020603050405020304" pitchFamily="18" charset="0"/>
              </a:rPr>
              <a:t>red</a:t>
            </a:r>
            <a:r>
              <a:rPr lang="en-US" b="0" i="0" dirty="0">
                <a:solidFill>
                  <a:srgbClr val="273239"/>
                </a:solidFill>
                <a:effectLst/>
                <a:latin typeface="Times New Roman" panose="02020603050405020304" pitchFamily="18" charset="0"/>
                <a:cs typeface="Times New Roman" panose="02020603050405020304" pitchFamily="18" charset="0"/>
              </a:rPr>
              <a:t> node, we might encounter several cases depending on the colors of the node’s parent and uncle (the sibling of the parent):</a:t>
            </a:r>
          </a:p>
          <a:p>
            <a:pPr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Case 1: Uncle is Red</a:t>
            </a:r>
            <a:r>
              <a:rPr lang="en-US" b="0" i="0" dirty="0">
                <a:solidFill>
                  <a:srgbClr val="273239"/>
                </a:solidFill>
                <a:effectLst/>
                <a:latin typeface="Times New Roman" panose="02020603050405020304" pitchFamily="18" charset="0"/>
                <a:cs typeface="Times New Roman" panose="02020603050405020304" pitchFamily="18" charset="0"/>
              </a:rPr>
              <a:t>: Recolor the parent and uncle to </a:t>
            </a:r>
            <a:r>
              <a:rPr lang="en-US" b="1" i="0" dirty="0">
                <a:solidFill>
                  <a:srgbClr val="273239"/>
                </a:solidFill>
                <a:effectLst/>
                <a:latin typeface="Times New Roman" panose="02020603050405020304" pitchFamily="18" charset="0"/>
                <a:cs typeface="Times New Roman" panose="02020603050405020304" pitchFamily="18" charset="0"/>
              </a:rPr>
              <a:t>black</a:t>
            </a:r>
            <a:r>
              <a:rPr lang="en-US" b="0" i="0" dirty="0">
                <a:solidFill>
                  <a:srgbClr val="273239"/>
                </a:solidFill>
                <a:effectLst/>
                <a:latin typeface="Times New Roman" panose="02020603050405020304" pitchFamily="18" charset="0"/>
                <a:cs typeface="Times New Roman" panose="02020603050405020304" pitchFamily="18" charset="0"/>
              </a:rPr>
              <a:t>, and the grandparent to </a:t>
            </a:r>
            <a:r>
              <a:rPr lang="en-US" b="1" i="0" dirty="0">
                <a:solidFill>
                  <a:srgbClr val="273239"/>
                </a:solidFill>
                <a:effectLst/>
                <a:latin typeface="Times New Roman" panose="02020603050405020304" pitchFamily="18" charset="0"/>
                <a:cs typeface="Times New Roman" panose="02020603050405020304" pitchFamily="18" charset="0"/>
              </a:rPr>
              <a:t>red</a:t>
            </a:r>
            <a:r>
              <a:rPr lang="en-US" b="0" i="0" dirty="0">
                <a:solidFill>
                  <a:srgbClr val="273239"/>
                </a:solidFill>
                <a:effectLst/>
                <a:latin typeface="Times New Roman" panose="02020603050405020304" pitchFamily="18" charset="0"/>
                <a:cs typeface="Times New Roman" panose="02020603050405020304" pitchFamily="18" charset="0"/>
              </a:rPr>
              <a:t>. Then move up the tree to check for further violations.</a:t>
            </a:r>
          </a:p>
          <a:p>
            <a:pPr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Case 2: Uncle is Black</a:t>
            </a:r>
            <a:r>
              <a:rPr lang="en-US" b="0" i="0" dirty="0">
                <a:solidFill>
                  <a:srgbClr val="273239"/>
                </a:solidFill>
                <a:effectLst/>
                <a:latin typeface="Times New Roman" panose="02020603050405020304" pitchFamily="18" charset="0"/>
                <a:cs typeface="Times New Roman" panose="02020603050405020304" pitchFamily="18" charset="0"/>
              </a:rPr>
              <a:t>:</a:t>
            </a:r>
          </a:p>
          <a:p>
            <a:pPr marL="742950" lvl="1" indent="-285750"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Sub-case 2.1: Node is a right child</a:t>
            </a:r>
            <a:r>
              <a:rPr lang="en-US" b="0" i="0" dirty="0">
                <a:solidFill>
                  <a:srgbClr val="273239"/>
                </a:solidFill>
                <a:effectLst/>
                <a:latin typeface="Times New Roman" panose="02020603050405020304" pitchFamily="18" charset="0"/>
                <a:cs typeface="Times New Roman" panose="02020603050405020304" pitchFamily="18" charset="0"/>
              </a:rPr>
              <a:t>: Perform a left rotation on the parent.</a:t>
            </a:r>
          </a:p>
          <a:p>
            <a:pPr marL="742950" lvl="1" indent="-285750" algn="l" fontAlgn="base">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Sub-case 2.2: Node is a left child</a:t>
            </a:r>
            <a:r>
              <a:rPr lang="en-US" b="0" i="0" dirty="0">
                <a:solidFill>
                  <a:srgbClr val="273239"/>
                </a:solidFill>
                <a:effectLst/>
                <a:latin typeface="Times New Roman" panose="02020603050405020304" pitchFamily="18" charset="0"/>
                <a:cs typeface="Times New Roman" panose="02020603050405020304" pitchFamily="18" charset="0"/>
              </a:rPr>
              <a:t>: Perform a right rotation on the grandparent and recolor appropriately.</a:t>
            </a:r>
          </a:p>
        </p:txBody>
      </p:sp>
    </p:spTree>
    <p:extLst>
      <p:ext uri="{BB962C8B-B14F-4D97-AF65-F5344CB8AC3E}">
        <p14:creationId xmlns:p14="http://schemas.microsoft.com/office/powerpoint/2010/main" val="861547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C7E0A-53EB-0BDB-9E80-4AA35B910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A8DAB-A993-CED6-9A4C-6C2F482105D5}"/>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1F690BE8-814E-16F3-6384-4111DF5901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56412740-57BB-32AA-1F9B-422E0D0AE4E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81D23463-1860-791B-6A9F-0D906A7DDFF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39BDDBD5-A818-4017-9F24-DD532559689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2C18293-C95B-8F91-CB96-090C180D4164}"/>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1627B5B5-CF53-0614-EB91-076EAB27FC65}"/>
              </a:ext>
            </a:extLst>
          </p:cNvPr>
          <p:cNvSpPr txBox="1"/>
          <p:nvPr/>
        </p:nvSpPr>
        <p:spPr>
          <a:xfrm>
            <a:off x="578015" y="912138"/>
            <a:ext cx="8215386" cy="1600438"/>
          </a:xfrm>
          <a:prstGeom prst="rect">
            <a:avLst/>
          </a:prstGeom>
          <a:noFill/>
        </p:spPr>
        <p:txBody>
          <a:bodyPr wrap="square">
            <a:spAutoFit/>
          </a:bodyPr>
          <a:lstStyle/>
          <a:p>
            <a:pPr algn="just"/>
            <a:r>
              <a:rPr lang="en-US" b="1" i="0" dirty="0">
                <a:solidFill>
                  <a:srgbClr val="2B2A29"/>
                </a:solidFill>
                <a:effectLst/>
                <a:latin typeface="Times New Roman" panose="02020603050405020304" pitchFamily="18" charset="0"/>
                <a:cs typeface="Times New Roman" panose="02020603050405020304" pitchFamily="18" charset="0"/>
              </a:rPr>
              <a:t>Let's understand the insertion in the Red-Black tree.</a:t>
            </a:r>
            <a:endParaRPr lang="en-US" b="0" i="0" dirty="0">
              <a:solidFill>
                <a:srgbClr val="2B2A29"/>
              </a:solidFill>
              <a:effectLst/>
              <a:latin typeface="Times New Roman" panose="02020603050405020304" pitchFamily="18" charset="0"/>
              <a:cs typeface="Times New Roman" panose="02020603050405020304" pitchFamily="18" charset="0"/>
            </a:endParaRPr>
          </a:p>
          <a:p>
            <a:pPr algn="just"/>
            <a:r>
              <a:rPr lang="en-US" b="1" i="0" dirty="0">
                <a:solidFill>
                  <a:srgbClr val="2B2A29"/>
                </a:solidFill>
                <a:effectLst/>
                <a:latin typeface="Times New Roman" panose="02020603050405020304" pitchFamily="18" charset="0"/>
                <a:cs typeface="Times New Roman" panose="02020603050405020304" pitchFamily="18" charset="0"/>
              </a:rPr>
              <a:t>10, 18, 7, 15, 16, 30, 25, 40, 60</a:t>
            </a:r>
            <a:endParaRPr lang="en-US" b="0" i="0" dirty="0">
              <a:solidFill>
                <a:srgbClr val="2B2A29"/>
              </a:solidFill>
              <a:effectLst/>
              <a:latin typeface="Times New Roman" panose="02020603050405020304" pitchFamily="18" charset="0"/>
              <a:cs typeface="Times New Roman" panose="02020603050405020304" pitchFamily="18" charset="0"/>
            </a:endParaRPr>
          </a:p>
          <a:p>
            <a:pPr algn="just" fontAlgn="base"/>
            <a:r>
              <a:rPr lang="en-US" b="1" i="0" dirty="0">
                <a:solidFill>
                  <a:srgbClr val="2B2A29"/>
                </a:solidFill>
                <a:effectLst/>
                <a:latin typeface="Times New Roman" panose="02020603050405020304" pitchFamily="18" charset="0"/>
                <a:cs typeface="Times New Roman" panose="02020603050405020304" pitchFamily="18" charset="0"/>
              </a:rPr>
              <a:t>Step 1:</a:t>
            </a:r>
            <a:r>
              <a:rPr lang="en-US" b="0" i="0" dirty="0">
                <a:solidFill>
                  <a:srgbClr val="2B2A29"/>
                </a:solidFill>
                <a:effectLst/>
                <a:latin typeface="Times New Roman" panose="02020603050405020304" pitchFamily="18" charset="0"/>
                <a:cs typeface="Times New Roman" panose="02020603050405020304" pitchFamily="18" charset="0"/>
              </a:rPr>
              <a:t> Initially, the tree is empty, so we create a new node having value 10. This is the first node of the tree, so it would be the root node of the tree. As we already discussed, that root node must be black in color, which is shown below:</a:t>
            </a:r>
          </a:p>
          <a:p>
            <a:pPr algn="just" fontAlgn="base"/>
            <a:br>
              <a:rPr lang="en-US" dirty="0">
                <a:latin typeface="Times New Roman" panose="02020603050405020304" pitchFamily="18" charset="0"/>
                <a:cs typeface="Times New Roman" panose="02020603050405020304" pitchFamily="18" charset="0"/>
              </a:rPr>
            </a:br>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4098" name="Picture 2" descr="Red-black tree in Data Structure">
            <a:extLst>
              <a:ext uri="{FF2B5EF4-FFF2-40B4-BE49-F238E27FC236}">
                <a16:creationId xmlns:a16="http://schemas.microsoft.com/office/drawing/2014/main" id="{1C308612-E3A7-9C92-42AA-2C805A89D3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857" y="2087192"/>
            <a:ext cx="1130455" cy="106539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D94872C-D5A3-7C09-009C-22C651B4806E}"/>
              </a:ext>
            </a:extLst>
          </p:cNvPr>
          <p:cNvSpPr txBox="1"/>
          <p:nvPr/>
        </p:nvSpPr>
        <p:spPr>
          <a:xfrm>
            <a:off x="529451" y="3051185"/>
            <a:ext cx="8215386" cy="523220"/>
          </a:xfrm>
          <a:prstGeom prst="rect">
            <a:avLst/>
          </a:prstGeom>
          <a:noFill/>
        </p:spPr>
        <p:txBody>
          <a:bodyPr wrap="square">
            <a:spAutoFit/>
          </a:bodyPr>
          <a:lstStyle/>
          <a:p>
            <a:pPr algn="just"/>
            <a:r>
              <a:rPr lang="en-US" b="1" i="0" dirty="0">
                <a:solidFill>
                  <a:srgbClr val="2B2A29"/>
                </a:solidFill>
                <a:effectLst/>
                <a:latin typeface="montserrat" panose="00000500000000000000" pitchFamily="2" charset="0"/>
              </a:rPr>
              <a:t>Step 2:</a:t>
            </a:r>
            <a:r>
              <a:rPr lang="en-US" b="0" i="0" dirty="0">
                <a:solidFill>
                  <a:srgbClr val="2B2A29"/>
                </a:solidFill>
                <a:effectLst/>
                <a:latin typeface="montserrat" panose="00000500000000000000" pitchFamily="2" charset="0"/>
              </a:rPr>
              <a:t> The next node is 18. As 18 is greater than 10 so it will come at the right of 10 as shown below.</a:t>
            </a:r>
            <a:endParaRPr lang="en-IN" dirty="0"/>
          </a:p>
        </p:txBody>
      </p:sp>
      <p:pic>
        <p:nvPicPr>
          <p:cNvPr id="4100" name="Picture 4" descr="Red-black tree in Data Structure">
            <a:extLst>
              <a:ext uri="{FF2B5EF4-FFF2-40B4-BE49-F238E27FC236}">
                <a16:creationId xmlns:a16="http://schemas.microsoft.com/office/drawing/2014/main" id="{53CA7B6F-3D9D-6042-39C2-738DF72793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2846" y="3411819"/>
            <a:ext cx="1517535" cy="1535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475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0179-3EB8-4B34-2C0B-060A385D7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7CD78-BDF7-31C5-56CC-91FD40C371A6}"/>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6111B999-DD10-6CAA-A112-68FB5E0DE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CBA4E72-6555-2D66-C2EF-4AA427C7E80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92F066B-BEDA-7D80-F24C-E94A6E40A6C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08765D3-0F36-A4A3-3E72-1F5E0B4E04A5}"/>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B6C400E-E023-7B7D-53C3-4EADB28E2DFF}"/>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9739EF27-C267-27AC-289F-1252A1BD603B}"/>
              </a:ext>
            </a:extLst>
          </p:cNvPr>
          <p:cNvSpPr txBox="1"/>
          <p:nvPr/>
        </p:nvSpPr>
        <p:spPr>
          <a:xfrm>
            <a:off x="578015" y="912138"/>
            <a:ext cx="8215386" cy="1815882"/>
          </a:xfrm>
          <a:prstGeom prst="rect">
            <a:avLst/>
          </a:prstGeom>
          <a:noFill/>
        </p:spPr>
        <p:txBody>
          <a:bodyPr wrap="square">
            <a:spAutoFit/>
          </a:bodyPr>
          <a:lstStyle/>
          <a:p>
            <a:pPr algn="just"/>
            <a:r>
              <a:rPr lang="en-US" b="0" i="0" dirty="0">
                <a:solidFill>
                  <a:srgbClr val="2B2A29"/>
                </a:solidFill>
                <a:effectLst/>
                <a:latin typeface="Times New Roman" panose="02020603050405020304" pitchFamily="18" charset="0"/>
                <a:cs typeface="Times New Roman" panose="02020603050405020304" pitchFamily="18" charset="0"/>
              </a:rPr>
              <a:t>We know the second rule of the Red Black tree that if the tree is not empty then the newly created node will have the </a:t>
            </a:r>
            <a:r>
              <a:rPr lang="en-US" b="1" i="0" dirty="0">
                <a:solidFill>
                  <a:srgbClr val="2B2A29"/>
                </a:solidFill>
                <a:effectLst/>
                <a:latin typeface="Times New Roman" panose="02020603050405020304" pitchFamily="18" charset="0"/>
                <a:cs typeface="Times New Roman" panose="02020603050405020304" pitchFamily="18" charset="0"/>
              </a:rPr>
              <a:t>Red</a:t>
            </a:r>
            <a:r>
              <a:rPr lang="en-US" b="0" i="0" dirty="0">
                <a:solidFill>
                  <a:srgbClr val="2B2A29"/>
                </a:solidFill>
                <a:effectLst/>
                <a:latin typeface="Times New Roman" panose="02020603050405020304" pitchFamily="18" charset="0"/>
                <a:cs typeface="Times New Roman" panose="02020603050405020304" pitchFamily="18" charset="0"/>
              </a:rPr>
              <a:t> color. Therefore, node 18 has a Red color, as shown in the below figure:</a:t>
            </a:r>
          </a:p>
          <a:p>
            <a:pPr algn="just"/>
            <a:r>
              <a:rPr lang="en-US" b="0" i="0" dirty="0">
                <a:solidFill>
                  <a:srgbClr val="2B2A29"/>
                </a:solidFill>
                <a:effectLst/>
                <a:latin typeface="Times New Roman" panose="02020603050405020304" pitchFamily="18" charset="0"/>
                <a:cs typeface="Times New Roman" panose="02020603050405020304" pitchFamily="18" charset="0"/>
              </a:rPr>
              <a:t>Now we verify the third rule of the Red-Black tree, i.e., the parent of the new node is black or not. In the above figure, the parent of the node is black in color; therefore, it is a Red-Black tree.</a:t>
            </a:r>
          </a:p>
          <a:p>
            <a:pPr algn="just"/>
            <a:endParaRPr lang="en-US" b="0" i="0" dirty="0">
              <a:solidFill>
                <a:srgbClr val="2B2A29"/>
              </a:solidFill>
              <a:effectLst/>
              <a:latin typeface="Times New Roman" panose="02020603050405020304" pitchFamily="18" charset="0"/>
              <a:cs typeface="Times New Roman" panose="02020603050405020304" pitchFamily="18" charset="0"/>
            </a:endParaRPr>
          </a:p>
          <a:p>
            <a:pPr algn="just"/>
            <a:r>
              <a:rPr lang="en-US" b="1" i="0" dirty="0">
                <a:solidFill>
                  <a:srgbClr val="2B2A29"/>
                </a:solidFill>
                <a:effectLst/>
                <a:latin typeface="Times New Roman" panose="02020603050405020304" pitchFamily="18" charset="0"/>
                <a:cs typeface="Times New Roman" panose="02020603050405020304" pitchFamily="18" charset="0"/>
              </a:rPr>
              <a:t>Step 3:</a:t>
            </a:r>
            <a:r>
              <a:rPr lang="en-US" b="0" i="0" dirty="0">
                <a:solidFill>
                  <a:srgbClr val="2B2A29"/>
                </a:solidFill>
                <a:effectLst/>
                <a:latin typeface="Times New Roman" panose="02020603050405020304" pitchFamily="18" charset="0"/>
                <a:cs typeface="Times New Roman" panose="02020603050405020304" pitchFamily="18" charset="0"/>
              </a:rPr>
              <a:t> Now, we create the new node having value 7 with Red color. As 7 is less than 10, so it will come at the left of 10 as shown below.</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6146" name="Picture 2" descr="Red-black tree in Data Structure">
            <a:extLst>
              <a:ext uri="{FF2B5EF4-FFF2-40B4-BE49-F238E27FC236}">
                <a16:creationId xmlns:a16="http://schemas.microsoft.com/office/drawing/2014/main" id="{D7AC29A6-A801-3EB8-1B0B-D2560F3585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3417" y="2839597"/>
            <a:ext cx="2381250"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259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F26B0-4244-A83F-D1A5-4AF0E69D1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4FE5B-8B83-7411-92E9-6334B945A5EC}"/>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CE2061A7-ED19-E891-F49A-D538908E45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348CF65-A7D4-F508-C78B-8C903174A0C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1751F15-5AB2-599B-9ADB-7CAF06ED0F2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DBE3EA7A-8407-B91F-0196-A6678153106E}"/>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F0C66B4-DBD3-0CE8-BB50-E7DFA4BC86EC}"/>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F035B87F-FADE-9117-1C05-1CD25A3E86F5}"/>
              </a:ext>
            </a:extLst>
          </p:cNvPr>
          <p:cNvSpPr txBox="1"/>
          <p:nvPr/>
        </p:nvSpPr>
        <p:spPr>
          <a:xfrm>
            <a:off x="578015" y="912138"/>
            <a:ext cx="8215386" cy="2031325"/>
          </a:xfrm>
          <a:prstGeom prst="rect">
            <a:avLst/>
          </a:prstGeom>
          <a:noFill/>
        </p:spPr>
        <p:txBody>
          <a:bodyPr wrap="square">
            <a:spAutoFit/>
          </a:bodyPr>
          <a:lstStyle/>
          <a:p>
            <a:pPr algn="just"/>
            <a:r>
              <a:rPr lang="en-US" b="1" i="0" dirty="0">
                <a:solidFill>
                  <a:srgbClr val="2B2A29"/>
                </a:solidFill>
                <a:effectLst/>
                <a:latin typeface="Times New Roman" panose="02020603050405020304" pitchFamily="18" charset="0"/>
                <a:cs typeface="Times New Roman" panose="02020603050405020304" pitchFamily="18" charset="0"/>
              </a:rPr>
              <a:t>Step 4:</a:t>
            </a:r>
            <a:r>
              <a:rPr lang="en-US" b="0" i="0" dirty="0">
                <a:solidFill>
                  <a:srgbClr val="2B2A29"/>
                </a:solidFill>
                <a:effectLst/>
                <a:latin typeface="Times New Roman" panose="02020603050405020304" pitchFamily="18" charset="0"/>
                <a:cs typeface="Times New Roman" panose="02020603050405020304" pitchFamily="18" charset="0"/>
              </a:rPr>
              <a:t> The next element is 15, and 15 is greater than 10, but less than 18, so the new node will be created at the left of node 18. The node 15 would be Red in color as the tree is not empty.</a:t>
            </a:r>
          </a:p>
          <a:p>
            <a:pPr algn="just"/>
            <a:r>
              <a:rPr lang="en-US" b="0" i="0" dirty="0">
                <a:solidFill>
                  <a:srgbClr val="2B2A29"/>
                </a:solidFill>
                <a:effectLst/>
                <a:latin typeface="Times New Roman" panose="02020603050405020304" pitchFamily="18" charset="0"/>
                <a:cs typeface="Times New Roman" panose="02020603050405020304" pitchFamily="18" charset="0"/>
              </a:rPr>
              <a:t>The above tree violates the property of the Red-Black tree as it has Red-red parent-child relationship. Now we have to apply some rule to make a Red-Black tree. The rule 4 says that </a:t>
            </a:r>
            <a:r>
              <a:rPr lang="en-US" b="1" i="1" dirty="0">
                <a:solidFill>
                  <a:srgbClr val="2B2A29"/>
                </a:solidFill>
                <a:effectLst/>
                <a:latin typeface="Times New Roman" panose="02020603050405020304" pitchFamily="18" charset="0"/>
                <a:cs typeface="Times New Roman" panose="02020603050405020304" pitchFamily="18" charset="0"/>
              </a:rPr>
              <a:t>if the new node's parent is Red, then we have to check the color of the parent's sibling of a new node.</a:t>
            </a:r>
            <a:r>
              <a:rPr lang="en-US" b="0" i="0" dirty="0">
                <a:solidFill>
                  <a:srgbClr val="2B2A29"/>
                </a:solidFill>
                <a:effectLst/>
                <a:latin typeface="Times New Roman" panose="02020603050405020304" pitchFamily="18" charset="0"/>
                <a:cs typeface="Times New Roman" panose="02020603050405020304" pitchFamily="18" charset="0"/>
              </a:rPr>
              <a:t> The new node is node 15; the parent of the new node is node 18 and the sibling of the parent node is node 7. As the color of the parent's sibling is Red in color, so we apply the rule 4a. The rule 4a says that we have to recolor both the parent and parent's sibling node. So, both the nodes, i.e., 7 and 18, would be recolored as shown in the below figure.</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7170" name="Picture 2" descr="Red-black tree in Data Structure">
            <a:extLst>
              <a:ext uri="{FF2B5EF4-FFF2-40B4-BE49-F238E27FC236}">
                <a16:creationId xmlns:a16="http://schemas.microsoft.com/office/drawing/2014/main" id="{D93AE060-7A95-7330-A45C-8A6F6D1C20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4380" y="2736935"/>
            <a:ext cx="2876550" cy="2084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021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2F09E-9B2E-5E34-6CB8-B8E5525A0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01D5A-67AD-1E63-A305-840E8814E2D3}"/>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1D10F736-99E9-73C4-3742-A4CB3BEA1E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561DC46-80B0-4E6C-F0D9-D500A350C750}"/>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5DB28E60-FDA4-105F-8C8F-1E9F7342D1F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833084C-C284-1647-4FB9-30FE250C8DA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D453E29D-B18A-3149-FFB0-31BF44A7EE5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FE65BBFF-7A59-1AB0-EAD6-2F80D02A05A3}"/>
              </a:ext>
            </a:extLst>
          </p:cNvPr>
          <p:cNvSpPr txBox="1"/>
          <p:nvPr/>
        </p:nvSpPr>
        <p:spPr>
          <a:xfrm>
            <a:off x="578015" y="912138"/>
            <a:ext cx="8215386" cy="1384995"/>
          </a:xfrm>
          <a:prstGeom prst="rect">
            <a:avLst/>
          </a:prstGeom>
          <a:noFill/>
        </p:spPr>
        <p:txBody>
          <a:bodyPr wrap="square">
            <a:spAutoFit/>
          </a:bodyPr>
          <a:lstStyle/>
          <a:p>
            <a:pPr algn="just"/>
            <a:r>
              <a:rPr lang="en-US" b="0" i="0" dirty="0">
                <a:solidFill>
                  <a:srgbClr val="2B2A29"/>
                </a:solidFill>
                <a:effectLst/>
                <a:latin typeface="Times New Roman" panose="02020603050405020304" pitchFamily="18" charset="0"/>
                <a:cs typeface="Times New Roman" panose="02020603050405020304" pitchFamily="18" charset="0"/>
              </a:rPr>
              <a:t>We also have to check whether the parent's parent of the new node is the root node or not. As we can observe in the above figure, the parent's parent of a new node is the root node, so we do not need to recolor it.</a:t>
            </a:r>
          </a:p>
          <a:p>
            <a:pPr algn="just"/>
            <a:r>
              <a:rPr lang="en-US" b="1" i="0" dirty="0">
                <a:solidFill>
                  <a:srgbClr val="2B2A29"/>
                </a:solidFill>
                <a:effectLst/>
                <a:latin typeface="Times New Roman" panose="02020603050405020304" pitchFamily="18" charset="0"/>
                <a:cs typeface="Times New Roman" panose="02020603050405020304" pitchFamily="18" charset="0"/>
              </a:rPr>
              <a:t>Step 5:</a:t>
            </a:r>
            <a:r>
              <a:rPr lang="en-US" b="0" i="0" dirty="0">
                <a:solidFill>
                  <a:srgbClr val="2B2A29"/>
                </a:solidFill>
                <a:effectLst/>
                <a:latin typeface="Times New Roman" panose="02020603050405020304" pitchFamily="18" charset="0"/>
                <a:cs typeface="Times New Roman" panose="02020603050405020304" pitchFamily="18" charset="0"/>
              </a:rPr>
              <a:t> The next element is 16. As 16 is greater than 10 but less than 18 and greater than 15, so node 16 will come at the right of node 15. The tree is not empty; node 16 would be Red in color, as shown in the below figure:</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8194" name="Picture 2" descr="Red-black tree in Data Structure">
            <a:extLst>
              <a:ext uri="{FF2B5EF4-FFF2-40B4-BE49-F238E27FC236}">
                <a16:creationId xmlns:a16="http://schemas.microsoft.com/office/drawing/2014/main" id="{D9F8C1BE-A420-2C33-E37B-3A0CD66FA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335746"/>
            <a:ext cx="2590800" cy="2141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41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C5F13-9588-DAF9-E74C-519578DB5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DAF7C-4676-65D1-7F47-663B455DF3EF}"/>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5CA9145A-6F03-DFC1-1E9A-413A527881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5992A90-D22F-9BE2-CEA7-2C64ADF6369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68FB670-DA10-E025-B6DB-3083109679E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C99446A3-C305-D51B-28EC-09972D72CD67}"/>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42FBAB74-C92D-FF0E-E80B-0350A1BAC344}"/>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F03EFE1A-7A38-A171-3A49-B49A489C55C6}"/>
              </a:ext>
            </a:extLst>
          </p:cNvPr>
          <p:cNvSpPr txBox="1"/>
          <p:nvPr/>
        </p:nvSpPr>
        <p:spPr>
          <a:xfrm>
            <a:off x="578015" y="912138"/>
            <a:ext cx="8215386" cy="2246769"/>
          </a:xfrm>
          <a:prstGeom prst="rect">
            <a:avLst/>
          </a:prstGeom>
          <a:noFill/>
        </p:spPr>
        <p:txBody>
          <a:bodyPr wrap="square">
            <a:spAutoFit/>
          </a:bodyPr>
          <a:lstStyle/>
          <a:p>
            <a:pPr algn="just"/>
            <a:r>
              <a:rPr lang="en-US" b="0" i="0" dirty="0">
                <a:solidFill>
                  <a:srgbClr val="2B2A29"/>
                </a:solidFill>
                <a:effectLst/>
                <a:latin typeface="Times New Roman" panose="02020603050405020304" pitchFamily="18" charset="0"/>
                <a:cs typeface="Times New Roman" panose="02020603050405020304" pitchFamily="18" charset="0"/>
              </a:rPr>
              <a:t>In the above figure, we can observe that it violates the property of the parent-child relationship as it has a red-red parent-child relationship. We have to apply some rules to make a Red-Black tree. Since the new node's parent is Red color, and the parent of the new node has no sibling, so rule </a:t>
            </a:r>
            <a:r>
              <a:rPr lang="en-US" b="1" i="0" dirty="0">
                <a:solidFill>
                  <a:srgbClr val="2B2A29"/>
                </a:solidFill>
                <a:effectLst/>
                <a:latin typeface="Times New Roman" panose="02020603050405020304" pitchFamily="18" charset="0"/>
                <a:cs typeface="Times New Roman" panose="02020603050405020304" pitchFamily="18" charset="0"/>
              </a:rPr>
              <a:t>4a</a:t>
            </a:r>
            <a:r>
              <a:rPr lang="en-US" b="0" i="0" dirty="0">
                <a:solidFill>
                  <a:srgbClr val="2B2A29"/>
                </a:solidFill>
                <a:effectLst/>
                <a:latin typeface="Times New Roman" panose="02020603050405020304" pitchFamily="18" charset="0"/>
                <a:cs typeface="Times New Roman" panose="02020603050405020304" pitchFamily="18" charset="0"/>
              </a:rPr>
              <a:t> will be applied. The rule </a:t>
            </a:r>
            <a:r>
              <a:rPr lang="en-US" b="1" i="0" dirty="0">
                <a:solidFill>
                  <a:srgbClr val="2B2A29"/>
                </a:solidFill>
                <a:effectLst/>
                <a:latin typeface="Times New Roman" panose="02020603050405020304" pitchFamily="18" charset="0"/>
                <a:cs typeface="Times New Roman" panose="02020603050405020304" pitchFamily="18" charset="0"/>
              </a:rPr>
              <a:t>4a</a:t>
            </a:r>
            <a:r>
              <a:rPr lang="en-US" b="0" i="0" dirty="0">
                <a:solidFill>
                  <a:srgbClr val="2B2A29"/>
                </a:solidFill>
                <a:effectLst/>
                <a:latin typeface="Times New Roman" panose="02020603050405020304" pitchFamily="18" charset="0"/>
                <a:cs typeface="Times New Roman" panose="02020603050405020304" pitchFamily="18" charset="0"/>
              </a:rPr>
              <a:t> says that some rotations and recoloring would be performed on the tree.</a:t>
            </a:r>
          </a:p>
          <a:p>
            <a:pPr algn="just"/>
            <a:r>
              <a:rPr lang="en-US" b="0" i="0" dirty="0">
                <a:solidFill>
                  <a:srgbClr val="2B2A29"/>
                </a:solidFill>
                <a:effectLst/>
                <a:latin typeface="Times New Roman" panose="02020603050405020304" pitchFamily="18" charset="0"/>
                <a:cs typeface="Times New Roman" panose="02020603050405020304" pitchFamily="18" charset="0"/>
              </a:rPr>
              <a:t>Since node 16 is right of node 15 and the parent of node 15 is node 18. Node 15 is the left of node 18. Here we have </a:t>
            </a:r>
            <a:r>
              <a:rPr lang="en-US" b="1" i="0" dirty="0">
                <a:solidFill>
                  <a:srgbClr val="2B2A29"/>
                </a:solidFill>
                <a:effectLst/>
                <a:latin typeface="Times New Roman" panose="02020603050405020304" pitchFamily="18" charset="0"/>
                <a:cs typeface="Times New Roman" panose="02020603050405020304" pitchFamily="18" charset="0"/>
              </a:rPr>
              <a:t>an LR</a:t>
            </a:r>
            <a:r>
              <a:rPr lang="en-US" b="0" i="0" dirty="0">
                <a:solidFill>
                  <a:srgbClr val="2B2A29"/>
                </a:solidFill>
                <a:effectLst/>
                <a:latin typeface="Times New Roman" panose="02020603050405020304" pitchFamily="18" charset="0"/>
                <a:cs typeface="Times New Roman" panose="02020603050405020304" pitchFamily="18" charset="0"/>
              </a:rPr>
              <a:t> relationship, so we require to perform two rotations. First, we will perform left, and then we will perform the right rotation. The left rotation would be performed on nodes 15 and 16, where node 16 will move upward, and node 15 will move downward. Once the left rotation is performed, the tree looks like as shown in the below figure:</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9218" name="Picture 2" descr="Red-black tree in Data Structure">
            <a:extLst>
              <a:ext uri="{FF2B5EF4-FFF2-40B4-BE49-F238E27FC236}">
                <a16:creationId xmlns:a16="http://schemas.microsoft.com/office/drawing/2014/main" id="{5AD89B3B-7F9E-72A3-F9B7-699E0C8B24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2289" y="3097160"/>
            <a:ext cx="2852302" cy="143891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Red-black tree in Data Structure">
            <a:extLst>
              <a:ext uri="{FF2B5EF4-FFF2-40B4-BE49-F238E27FC236}">
                <a16:creationId xmlns:a16="http://schemas.microsoft.com/office/drawing/2014/main" id="{C1D5D521-AD44-150E-83B1-A362AB342F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4585" y="3169540"/>
            <a:ext cx="1550429" cy="143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0132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CC964-96D7-9492-C51F-964ABFC80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C5C44-0A0D-EC49-E146-EBA48E947CAE}"/>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858419E7-5B9F-21F7-C703-E69426CEF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125064D4-B8A4-B173-7B96-3ABE64B5B8D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89A146D-6CD7-D750-5A58-39F2E4B2B88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8BB3D64-0E9F-B225-BB7D-5448A6977EA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20C2F4BE-99E3-363A-4698-43108D44F35B}"/>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0FF9F275-C19B-8C4A-DACC-67C309D510C0}"/>
              </a:ext>
            </a:extLst>
          </p:cNvPr>
          <p:cNvSpPr txBox="1"/>
          <p:nvPr/>
        </p:nvSpPr>
        <p:spPr>
          <a:xfrm>
            <a:off x="628650" y="916620"/>
            <a:ext cx="8276359" cy="523220"/>
          </a:xfrm>
          <a:prstGeom prst="rect">
            <a:avLst/>
          </a:prstGeom>
          <a:noFill/>
        </p:spPr>
        <p:txBody>
          <a:bodyPr wrap="square">
            <a:spAutoFit/>
          </a:bodyPr>
          <a:lstStyle/>
          <a:p>
            <a:r>
              <a:rPr lang="en-US" b="0" i="0" dirty="0">
                <a:solidFill>
                  <a:srgbClr val="2B2A29"/>
                </a:solidFill>
                <a:effectLst/>
                <a:latin typeface="Times New Roman" panose="02020603050405020304" pitchFamily="18" charset="0"/>
                <a:cs typeface="Times New Roman" panose="02020603050405020304" pitchFamily="18" charset="0"/>
              </a:rPr>
              <a:t>After rotation, node 16 and node 18 would be recolored; the color of node 16 is red, so it will change to black, and the color of node 18 is black, so it will change to a red color as shown in the below figure:</a:t>
            </a:r>
            <a:endParaRPr lang="en-IN" dirty="0">
              <a:latin typeface="Times New Roman" panose="02020603050405020304" pitchFamily="18" charset="0"/>
              <a:cs typeface="Times New Roman" panose="02020603050405020304" pitchFamily="18" charset="0"/>
            </a:endParaRPr>
          </a:p>
        </p:txBody>
      </p:sp>
      <p:pic>
        <p:nvPicPr>
          <p:cNvPr id="11266" name="Picture 2" descr="Red-black tree in Data Structure">
            <a:extLst>
              <a:ext uri="{FF2B5EF4-FFF2-40B4-BE49-F238E27FC236}">
                <a16:creationId xmlns:a16="http://schemas.microsoft.com/office/drawing/2014/main" id="{5DABAFCF-33A1-AEA9-9F41-13B147C0FF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0183" y="1651868"/>
            <a:ext cx="1449775" cy="134668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371FE6D-54DA-DAF2-52E6-2454E9D9BC7B}"/>
              </a:ext>
            </a:extLst>
          </p:cNvPr>
          <p:cNvSpPr txBox="1"/>
          <p:nvPr/>
        </p:nvSpPr>
        <p:spPr>
          <a:xfrm>
            <a:off x="628650" y="2898891"/>
            <a:ext cx="8231081" cy="523220"/>
          </a:xfrm>
          <a:prstGeom prst="rect">
            <a:avLst/>
          </a:prstGeom>
          <a:noFill/>
        </p:spPr>
        <p:txBody>
          <a:bodyPr wrap="square">
            <a:spAutoFit/>
          </a:bodyPr>
          <a:lstStyle/>
          <a:p>
            <a:r>
              <a:rPr lang="en-US" b="1" i="0" dirty="0">
                <a:solidFill>
                  <a:srgbClr val="2B2A29"/>
                </a:solidFill>
                <a:effectLst/>
                <a:latin typeface="Times New Roman" panose="02020603050405020304" pitchFamily="18" charset="0"/>
                <a:cs typeface="Times New Roman" panose="02020603050405020304" pitchFamily="18" charset="0"/>
              </a:rPr>
              <a:t>Step 6:</a:t>
            </a:r>
            <a:r>
              <a:rPr lang="en-US" b="0" i="0" dirty="0">
                <a:solidFill>
                  <a:srgbClr val="2B2A29"/>
                </a:solidFill>
                <a:effectLst/>
                <a:latin typeface="Times New Roman" panose="02020603050405020304" pitchFamily="18" charset="0"/>
                <a:cs typeface="Times New Roman" panose="02020603050405020304" pitchFamily="18" charset="0"/>
              </a:rPr>
              <a:t> The next element is 30. Node 30 is inserted at the right of node 18. As the tree is not empty, so the color of node 30 would be red.</a:t>
            </a:r>
            <a:endParaRPr lang="en-IN" dirty="0">
              <a:latin typeface="Times New Roman" panose="02020603050405020304" pitchFamily="18" charset="0"/>
              <a:cs typeface="Times New Roman" panose="02020603050405020304" pitchFamily="18" charset="0"/>
            </a:endParaRPr>
          </a:p>
        </p:txBody>
      </p:sp>
      <p:pic>
        <p:nvPicPr>
          <p:cNvPr id="11268" name="Picture 4" descr="Red-black tree in Data Structure">
            <a:extLst>
              <a:ext uri="{FF2B5EF4-FFF2-40B4-BE49-F238E27FC236}">
                <a16:creationId xmlns:a16="http://schemas.microsoft.com/office/drawing/2014/main" id="{77D2ACBA-9FA6-591B-BD2B-8FFA5507E7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0536" y="3257765"/>
            <a:ext cx="1543067" cy="163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33985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5208A-BF63-13F0-DA7B-4152B7E72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A3EF6-2A84-28DC-020E-9D01E0A180B1}"/>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F6F54E66-2A61-00AC-1B63-2F80C95BD1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CC0B883-8F2F-F310-D6BC-7D55BCCF5D00}"/>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0C9D594-12CD-BECD-7639-9790111AF72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A31FB5C-61FE-5B85-F160-0D3DBF37F1C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A668501A-8C38-03F5-165D-0BD487745A87}"/>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A3F181FC-7916-664C-9655-7AC99D81C3BB}"/>
              </a:ext>
            </a:extLst>
          </p:cNvPr>
          <p:cNvSpPr txBox="1"/>
          <p:nvPr/>
        </p:nvSpPr>
        <p:spPr>
          <a:xfrm>
            <a:off x="578015" y="912138"/>
            <a:ext cx="8215386" cy="2246769"/>
          </a:xfrm>
          <a:prstGeom prst="rect">
            <a:avLst/>
          </a:prstGeom>
          <a:noFill/>
        </p:spPr>
        <p:txBody>
          <a:bodyPr wrap="square">
            <a:spAutoFit/>
          </a:bodyPr>
          <a:lstStyle/>
          <a:p>
            <a:pPr algn="just"/>
            <a:r>
              <a:rPr lang="en-US" b="0" i="0" dirty="0">
                <a:solidFill>
                  <a:srgbClr val="2B2A29"/>
                </a:solidFill>
                <a:effectLst/>
                <a:latin typeface="Times New Roman" panose="02020603050405020304" pitchFamily="18" charset="0"/>
                <a:cs typeface="Times New Roman" panose="02020603050405020304" pitchFamily="18" charset="0"/>
              </a:rPr>
              <a:t>In the above figure, we can observe that it violates the property of the parent-child relationship as it has a red-red parent-child relationship. We have to apply some rules to make a Red-Black tree. Since the new node's parent is Red color, and the parent of the new node has no sibling, so rule </a:t>
            </a:r>
            <a:r>
              <a:rPr lang="en-US" b="1" i="0" dirty="0">
                <a:solidFill>
                  <a:srgbClr val="2B2A29"/>
                </a:solidFill>
                <a:effectLst/>
                <a:latin typeface="Times New Roman" panose="02020603050405020304" pitchFamily="18" charset="0"/>
                <a:cs typeface="Times New Roman" panose="02020603050405020304" pitchFamily="18" charset="0"/>
              </a:rPr>
              <a:t>4a</a:t>
            </a:r>
            <a:r>
              <a:rPr lang="en-US" b="0" i="0" dirty="0">
                <a:solidFill>
                  <a:srgbClr val="2B2A29"/>
                </a:solidFill>
                <a:effectLst/>
                <a:latin typeface="Times New Roman" panose="02020603050405020304" pitchFamily="18" charset="0"/>
                <a:cs typeface="Times New Roman" panose="02020603050405020304" pitchFamily="18" charset="0"/>
              </a:rPr>
              <a:t> will be applied. The rule </a:t>
            </a:r>
            <a:r>
              <a:rPr lang="en-US" b="1" i="0" dirty="0">
                <a:solidFill>
                  <a:srgbClr val="2B2A29"/>
                </a:solidFill>
                <a:effectLst/>
                <a:latin typeface="Times New Roman" panose="02020603050405020304" pitchFamily="18" charset="0"/>
                <a:cs typeface="Times New Roman" panose="02020603050405020304" pitchFamily="18" charset="0"/>
              </a:rPr>
              <a:t>4a</a:t>
            </a:r>
            <a:r>
              <a:rPr lang="en-US" b="0" i="0" dirty="0">
                <a:solidFill>
                  <a:srgbClr val="2B2A29"/>
                </a:solidFill>
                <a:effectLst/>
                <a:latin typeface="Times New Roman" panose="02020603050405020304" pitchFamily="18" charset="0"/>
                <a:cs typeface="Times New Roman" panose="02020603050405020304" pitchFamily="18" charset="0"/>
              </a:rPr>
              <a:t> says that some rotations and recoloring would be performed on the tree.</a:t>
            </a:r>
          </a:p>
          <a:p>
            <a:pPr algn="just"/>
            <a:r>
              <a:rPr lang="en-US" b="0" i="0" dirty="0">
                <a:solidFill>
                  <a:srgbClr val="2B2A29"/>
                </a:solidFill>
                <a:effectLst/>
                <a:latin typeface="Times New Roman" panose="02020603050405020304" pitchFamily="18" charset="0"/>
                <a:cs typeface="Times New Roman" panose="02020603050405020304" pitchFamily="18" charset="0"/>
              </a:rPr>
              <a:t>Since node 16 is right of node 15 and the parent of node 15 is node 18. Node 15 is the left of node 18. Here we have </a:t>
            </a:r>
            <a:r>
              <a:rPr lang="en-US" b="1" i="0" dirty="0">
                <a:solidFill>
                  <a:srgbClr val="2B2A29"/>
                </a:solidFill>
                <a:effectLst/>
                <a:latin typeface="Times New Roman" panose="02020603050405020304" pitchFamily="18" charset="0"/>
                <a:cs typeface="Times New Roman" panose="02020603050405020304" pitchFamily="18" charset="0"/>
              </a:rPr>
              <a:t>an LR</a:t>
            </a:r>
            <a:r>
              <a:rPr lang="en-US" b="0" i="0" dirty="0">
                <a:solidFill>
                  <a:srgbClr val="2B2A29"/>
                </a:solidFill>
                <a:effectLst/>
                <a:latin typeface="Times New Roman" panose="02020603050405020304" pitchFamily="18" charset="0"/>
                <a:cs typeface="Times New Roman" panose="02020603050405020304" pitchFamily="18" charset="0"/>
              </a:rPr>
              <a:t> relationship, so we require to perform two rotations. First, we will perform left, and then we will perform the right rotation. The left rotation would be performed on nodes 15 and 16, where node 16 will move upward, and node 15 will move downward. Once the left rotation is performed, the tree looks like as shown in the below figure:</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73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BB705-8AFF-336E-C080-3AB661656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DE263-CD07-724A-4675-8325F10A45DE}"/>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DCABBFCC-FED6-BCCB-01C5-3D552610A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5B8CFFB-BD5F-EC8F-C850-AF86770E2A2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8C1B12C2-B088-9D84-7B63-93D84EFE7D3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191240D-4C08-A33F-E403-70BAE89BCD5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A36584A6-CAC4-F0E2-CF4D-1AB682F50453}"/>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931F51E6-85BE-A211-DEE8-3622A0F5BB9A}"/>
              </a:ext>
            </a:extLst>
          </p:cNvPr>
          <p:cNvSpPr txBox="1"/>
          <p:nvPr/>
        </p:nvSpPr>
        <p:spPr>
          <a:xfrm>
            <a:off x="578015" y="912138"/>
            <a:ext cx="8215386" cy="1169551"/>
          </a:xfrm>
          <a:prstGeom prst="rect">
            <a:avLst/>
          </a:prstGeom>
          <a:noFill/>
        </p:spPr>
        <p:txBody>
          <a:bodyPr wrap="square">
            <a:spAutoFit/>
          </a:bodyPr>
          <a:lstStyle/>
          <a:p>
            <a:pPr algn="just"/>
            <a:r>
              <a:rPr lang="en-US" b="0" i="0" dirty="0">
                <a:solidFill>
                  <a:srgbClr val="2B2A29"/>
                </a:solidFill>
                <a:effectLst/>
                <a:latin typeface="Times New Roman" panose="02020603050405020304" pitchFamily="18" charset="0"/>
                <a:cs typeface="Times New Roman" panose="02020603050405020304" pitchFamily="18" charset="0"/>
              </a:rPr>
              <a:t>The color of the parent and parent's sibling of a new node is Red, so rule 4b is applied. In rule 4b, we have to do only recoloring, i.e., no rotations are required. The color of both the parent (node 18) and parent's sibling (node 15) would become black, as shown in the below image.</a:t>
            </a:r>
          </a:p>
          <a:p>
            <a:pPr algn="just"/>
            <a:br>
              <a:rPr lang="en-US" dirty="0">
                <a:latin typeface="Times New Roman" panose="02020603050405020304" pitchFamily="18" charset="0"/>
                <a:cs typeface="Times New Roman" panose="02020603050405020304" pitchFamily="18" charset="0"/>
              </a:rPr>
            </a:br>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12290" name="Picture 2" descr="Red-black tree in Data Structure">
            <a:extLst>
              <a:ext uri="{FF2B5EF4-FFF2-40B4-BE49-F238E27FC236}">
                <a16:creationId xmlns:a16="http://schemas.microsoft.com/office/drawing/2014/main" id="{F10E49B0-96F6-C831-5ED3-0F28C9046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00" y="2144276"/>
            <a:ext cx="2005013" cy="2143126"/>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Red-black tree in Data Structure">
            <a:extLst>
              <a:ext uri="{FF2B5EF4-FFF2-40B4-BE49-F238E27FC236}">
                <a16:creationId xmlns:a16="http://schemas.microsoft.com/office/drawing/2014/main" id="{36783A95-CD9E-6F06-8B94-F3EF09A416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376" y="2133359"/>
            <a:ext cx="2155857" cy="2304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44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428BD-AC51-8EAE-16AE-BC640A372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42091-A635-7076-0960-D3F963108702}"/>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B28AF7AC-8362-0587-D77B-A3EEEC63B8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8904CC7-7F09-A54E-8C30-737F551022E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F178BA7-956C-FB13-B6E1-3EB77CF79C3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C0D04B4C-9F94-A874-CE66-383745E814E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F221A702-A566-8539-08DD-F2B72F1F033B}"/>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0C7DFED8-548F-4CBC-D26E-995BB97FD819}"/>
              </a:ext>
            </a:extLst>
          </p:cNvPr>
          <p:cNvSpPr txBox="1"/>
          <p:nvPr/>
        </p:nvSpPr>
        <p:spPr>
          <a:xfrm>
            <a:off x="578015" y="912138"/>
            <a:ext cx="8215386" cy="1815882"/>
          </a:xfrm>
          <a:prstGeom prst="rect">
            <a:avLst/>
          </a:prstGeom>
          <a:noFill/>
        </p:spPr>
        <p:txBody>
          <a:bodyPr wrap="square">
            <a:spAutoFit/>
          </a:bodyPr>
          <a:lstStyle/>
          <a:p>
            <a:pPr algn="just"/>
            <a:r>
              <a:rPr lang="en-US" b="1" i="0" dirty="0">
                <a:solidFill>
                  <a:srgbClr val="2B2A29"/>
                </a:solidFill>
                <a:effectLst/>
                <a:latin typeface="Times New Roman" panose="02020603050405020304" pitchFamily="18" charset="0"/>
                <a:cs typeface="Times New Roman" panose="02020603050405020304" pitchFamily="18" charset="0"/>
              </a:rPr>
              <a:t>Step 7:</a:t>
            </a:r>
            <a:r>
              <a:rPr lang="en-US" b="0" i="0" dirty="0">
                <a:solidFill>
                  <a:srgbClr val="2B2A29"/>
                </a:solidFill>
                <a:effectLst/>
                <a:latin typeface="Times New Roman" panose="02020603050405020304" pitchFamily="18" charset="0"/>
                <a:cs typeface="Times New Roman" panose="02020603050405020304" pitchFamily="18" charset="0"/>
              </a:rPr>
              <a:t> The next element is 25, which we have to insert in a tree. Since 25 is greater than 10, 16, 18 but less than 30; so, it will come at the left of node 30. As the tree is not empty, node 25 would be in Red color. Here Red-red conflict occurs as the parent of the newly created is Red color.</a:t>
            </a:r>
          </a:p>
          <a:p>
            <a:pPr algn="just"/>
            <a:r>
              <a:rPr lang="en-US" b="0" i="0" dirty="0">
                <a:solidFill>
                  <a:srgbClr val="2B2A29"/>
                </a:solidFill>
                <a:effectLst/>
                <a:latin typeface="Times New Roman" panose="02020603050405020304" pitchFamily="18" charset="0"/>
                <a:cs typeface="Times New Roman" panose="02020603050405020304" pitchFamily="18" charset="0"/>
              </a:rPr>
              <a:t>Since there is no parent's sibling, so rule 4a is applied in which rotation, as well as recoloring, are performed. First, we will perform rotations. As the newly created node is at the left of its parent and the parent node is at the right of its parent, so the RL relationship is formed. Firstly, the right rotation is performed in which node 25 goes upwards, whereas node 30 goes downwards, as shown in the below figure.</a:t>
            </a:r>
          </a:p>
          <a:p>
            <a:pPr algn="just"/>
            <a:endParaRPr lang="en-US" b="0" i="0" dirty="0">
              <a:solidFill>
                <a:srgbClr val="273239"/>
              </a:solidFill>
              <a:effectLst/>
              <a:latin typeface="Times New Roman" panose="02020603050405020304" pitchFamily="18" charset="0"/>
              <a:cs typeface="Times New Roman" panose="02020603050405020304" pitchFamily="18" charset="0"/>
            </a:endParaRPr>
          </a:p>
        </p:txBody>
      </p:sp>
      <p:pic>
        <p:nvPicPr>
          <p:cNvPr id="13314" name="Picture 2" descr="Red-black tree in Data Structure">
            <a:extLst>
              <a:ext uri="{FF2B5EF4-FFF2-40B4-BE49-F238E27FC236}">
                <a16:creationId xmlns:a16="http://schemas.microsoft.com/office/drawing/2014/main" id="{55EC5BB1-A0C0-D374-50A5-7D4310EDDA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113" y="3056047"/>
            <a:ext cx="1378090" cy="172741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Red-black tree in Data Structure">
            <a:extLst>
              <a:ext uri="{FF2B5EF4-FFF2-40B4-BE49-F238E27FC236}">
                <a16:creationId xmlns:a16="http://schemas.microsoft.com/office/drawing/2014/main" id="{F2017B28-E6D2-04FB-6815-0DA3D480B0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7881" y="2998086"/>
            <a:ext cx="1708154" cy="1843332"/>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Red-black tree in Data Structure">
            <a:extLst>
              <a:ext uri="{FF2B5EF4-FFF2-40B4-BE49-F238E27FC236}">
                <a16:creationId xmlns:a16="http://schemas.microsoft.com/office/drawing/2014/main" id="{3A887DE2-CFC5-76E4-6A3E-5DFA09479E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2935" y="3056047"/>
            <a:ext cx="1544553" cy="1658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0144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9E16-D747-314C-1C40-B10BC1881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80838-988C-2992-169C-CB4108816524}"/>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3A290D7F-1B53-0926-B145-6D1C7C2DF0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2B0F8115-0856-818C-78CC-410042D93C0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651110B1-A7FA-B425-8D7E-E1A86AB9834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BA41CC5-C73E-A638-A52D-AFE8187929A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18690EA4-3EE4-FCE0-0552-BD0BA6CC651D}"/>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7" name="TextBox 6">
            <a:extLst>
              <a:ext uri="{FF2B5EF4-FFF2-40B4-BE49-F238E27FC236}">
                <a16:creationId xmlns:a16="http://schemas.microsoft.com/office/drawing/2014/main" id="{5690E4D4-B3FB-9D5E-A662-DD6BCFBED7B5}"/>
              </a:ext>
            </a:extLst>
          </p:cNvPr>
          <p:cNvSpPr txBox="1"/>
          <p:nvPr/>
        </p:nvSpPr>
        <p:spPr>
          <a:xfrm>
            <a:off x="539849" y="906217"/>
            <a:ext cx="8365160" cy="1954381"/>
          </a:xfrm>
          <a:prstGeom prst="rect">
            <a:avLst/>
          </a:prstGeom>
          <a:noFill/>
        </p:spPr>
        <p:txBody>
          <a:bodyPr wrap="square">
            <a:spAutoFit/>
          </a:bodyPr>
          <a:lstStyle/>
          <a:p>
            <a:r>
              <a:rPr lang="en-US" sz="1100" b="1" i="0" dirty="0">
                <a:solidFill>
                  <a:srgbClr val="2B2A29"/>
                </a:solidFill>
                <a:effectLst/>
                <a:latin typeface="Times New Roman" panose="02020603050405020304" pitchFamily="18" charset="0"/>
                <a:cs typeface="Times New Roman" panose="02020603050405020304" pitchFamily="18" charset="0"/>
              </a:rPr>
              <a:t>Step 8:</a:t>
            </a:r>
            <a:r>
              <a:rPr lang="en-US" sz="1100" b="0" i="0" dirty="0">
                <a:solidFill>
                  <a:srgbClr val="2B2A29"/>
                </a:solidFill>
                <a:effectLst/>
                <a:latin typeface="Times New Roman" panose="02020603050405020304" pitchFamily="18" charset="0"/>
                <a:cs typeface="Times New Roman" panose="02020603050405020304" pitchFamily="18" charset="0"/>
              </a:rPr>
              <a:t> The next element is 40. Since 40 is greater than 10, 16, 18, 25, and 30, so node 40 will come at the right of node 30. As the tree is not empty, node 40 would be Red in color. There is a Red-red conflict between nodes 40 and 30, so rule 4b will be applied.</a:t>
            </a:r>
          </a:p>
          <a:p>
            <a:pPr algn="just"/>
            <a:r>
              <a:rPr lang="en-US" sz="1100" b="0" i="0" dirty="0">
                <a:solidFill>
                  <a:srgbClr val="2B2A29"/>
                </a:solidFill>
                <a:effectLst/>
                <a:latin typeface="Times New Roman" panose="02020603050405020304" pitchFamily="18" charset="0"/>
                <a:cs typeface="Times New Roman" panose="02020603050405020304" pitchFamily="18" charset="0"/>
              </a:rPr>
              <a:t>As the color of parent and parent's sibling node of a new node is Red so recoloring would be performed. The color of both the nodes would become black, as shown in the below image.</a:t>
            </a:r>
          </a:p>
          <a:p>
            <a:pPr algn="just"/>
            <a:r>
              <a:rPr lang="en-US" sz="1100" b="0" i="0" dirty="0">
                <a:solidFill>
                  <a:srgbClr val="2B2A29"/>
                </a:solidFill>
                <a:effectLst/>
                <a:latin typeface="Times New Roman" panose="02020603050405020304" pitchFamily="18" charset="0"/>
                <a:cs typeface="Times New Roman" panose="02020603050405020304" pitchFamily="18" charset="0"/>
              </a:rPr>
              <a:t>After recoloring, we also have to check the parent's parent of a new node, i.e., 25, which is not a root node, so recoloring would be performed, and the color of node 25 changes to Red.</a:t>
            </a:r>
          </a:p>
          <a:p>
            <a:pPr algn="just"/>
            <a:r>
              <a:rPr lang="en-US" sz="1100" b="0" i="0" dirty="0">
                <a:solidFill>
                  <a:srgbClr val="2B2A29"/>
                </a:solidFill>
                <a:effectLst/>
                <a:latin typeface="Times New Roman" panose="02020603050405020304" pitchFamily="18" charset="0"/>
                <a:cs typeface="Times New Roman" panose="02020603050405020304" pitchFamily="18" charset="0"/>
              </a:rPr>
              <a:t>After recoloring, red-red conflict occurs between nodes 25 and 16. Now node 25 would be considered as the new node. Since the parent of node 25 is red in color, and the parent's sibling is black in color, rule 4a would be applied. Since 25 is at the right of the node 16 and 16 is at the right of its parent, so there is an RR relationship. In the RR relationship, left rotation is performed. After left rotation, the median element 16 would be the root node, as shown in the below figure.</a:t>
            </a:r>
          </a:p>
          <a:p>
            <a:endParaRPr lang="en-IN" sz="1100" dirty="0">
              <a:latin typeface="Times New Roman" panose="02020603050405020304" pitchFamily="18" charset="0"/>
              <a:cs typeface="Times New Roman" panose="02020603050405020304" pitchFamily="18" charset="0"/>
            </a:endParaRPr>
          </a:p>
        </p:txBody>
      </p:sp>
      <p:pic>
        <p:nvPicPr>
          <p:cNvPr id="15362" name="Picture 2" descr="Red-black tree in Data Structure">
            <a:extLst>
              <a:ext uri="{FF2B5EF4-FFF2-40B4-BE49-F238E27FC236}">
                <a16:creationId xmlns:a16="http://schemas.microsoft.com/office/drawing/2014/main" id="{17C25C45-390E-A3E1-771F-253C3F0859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3170" y="2749963"/>
            <a:ext cx="1985963"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Red-black tree in Data Structure">
            <a:extLst>
              <a:ext uri="{FF2B5EF4-FFF2-40B4-BE49-F238E27FC236}">
                <a16:creationId xmlns:a16="http://schemas.microsoft.com/office/drawing/2014/main" id="{A78C83DB-2135-AD9A-FFC0-60F3CAFD56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7750" y="2658726"/>
            <a:ext cx="2266123" cy="2445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24532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A07B-A104-3A39-0830-DF479C719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9630A-065B-4373-1616-FE15E99FC003}"/>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87F661A4-F06F-B849-28D9-65F2FF45C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DE0D0541-7AE5-110A-42A7-43CEB1FDBAE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B5A0422F-FBA5-D036-ACA2-A6498D10223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CDA5FDC-B80C-3FC4-25F1-E27412EAC29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6E78306A-7069-A79C-4D02-0CE9FFBCA6D2}"/>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14338" name="Picture 2" descr="Red-black tree in Data Structure">
            <a:extLst>
              <a:ext uri="{FF2B5EF4-FFF2-40B4-BE49-F238E27FC236}">
                <a16:creationId xmlns:a16="http://schemas.microsoft.com/office/drawing/2014/main" id="{26B32153-4237-BEFB-7877-015B0A3DB0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23" y="953284"/>
            <a:ext cx="1872255" cy="2020419"/>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Red-black tree in Data Structure">
            <a:extLst>
              <a:ext uri="{FF2B5EF4-FFF2-40B4-BE49-F238E27FC236}">
                <a16:creationId xmlns:a16="http://schemas.microsoft.com/office/drawing/2014/main" id="{A346825E-9DDF-5A1F-E39C-DA341E184F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714" y="1008119"/>
            <a:ext cx="2615603" cy="1799535"/>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descr="Red-black tree in Data Structure">
            <a:extLst>
              <a:ext uri="{FF2B5EF4-FFF2-40B4-BE49-F238E27FC236}">
                <a16:creationId xmlns:a16="http://schemas.microsoft.com/office/drawing/2014/main" id="{C0923A1B-4ABD-2875-A1E3-C612C8FF6A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0519" y="1157388"/>
            <a:ext cx="2053106" cy="1414362"/>
          </a:xfrm>
          <a:prstGeom prst="rect">
            <a:avLst/>
          </a:prstGeom>
          <a:noFill/>
          <a:extLst>
            <a:ext uri="{909E8E84-426E-40DD-AFC4-6F175D3DCCD1}">
              <a14:hiddenFill xmlns:a14="http://schemas.microsoft.com/office/drawing/2010/main">
                <a:solidFill>
                  <a:srgbClr val="FFFFFF"/>
                </a:solidFill>
              </a14:hiddenFill>
            </a:ext>
          </a:extLst>
        </p:spPr>
      </p:pic>
      <p:pic>
        <p:nvPicPr>
          <p:cNvPr id="14344" name="Picture 8" descr="Red-black tree in Data Structure">
            <a:extLst>
              <a:ext uri="{FF2B5EF4-FFF2-40B4-BE49-F238E27FC236}">
                <a16:creationId xmlns:a16="http://schemas.microsoft.com/office/drawing/2014/main" id="{5FD07874-C08B-DE57-D62D-F37A065CFC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311" y="3198983"/>
            <a:ext cx="2258570" cy="1756666"/>
          </a:xfrm>
          <a:prstGeom prst="rect">
            <a:avLst/>
          </a:prstGeom>
          <a:noFill/>
          <a:extLst>
            <a:ext uri="{909E8E84-426E-40DD-AFC4-6F175D3DCCD1}">
              <a14:hiddenFill xmlns:a14="http://schemas.microsoft.com/office/drawing/2010/main">
                <a:solidFill>
                  <a:srgbClr val="FFFFFF"/>
                </a:solidFill>
              </a14:hiddenFill>
            </a:ext>
          </a:extLst>
        </p:spPr>
      </p:pic>
      <p:pic>
        <p:nvPicPr>
          <p:cNvPr id="14346" name="Picture 10" descr="Red-black tree in Data Structure">
            <a:extLst>
              <a:ext uri="{FF2B5EF4-FFF2-40B4-BE49-F238E27FC236}">
                <a16:creationId xmlns:a16="http://schemas.microsoft.com/office/drawing/2014/main" id="{1E40DA0A-C06E-92BF-7374-1B7867E86C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2245" y="3093640"/>
            <a:ext cx="2479510" cy="1708107"/>
          </a:xfrm>
          <a:prstGeom prst="rect">
            <a:avLst/>
          </a:prstGeom>
          <a:noFill/>
          <a:extLst>
            <a:ext uri="{909E8E84-426E-40DD-AFC4-6F175D3DCCD1}">
              <a14:hiddenFill xmlns:a14="http://schemas.microsoft.com/office/drawing/2010/main">
                <a:solidFill>
                  <a:srgbClr val="FFFFFF"/>
                </a:solidFill>
              </a14:hiddenFill>
            </a:ext>
          </a:extLst>
        </p:spPr>
      </p:pic>
      <p:pic>
        <p:nvPicPr>
          <p:cNvPr id="14348" name="Picture 12" descr="Red-black tree in Data Structure">
            <a:extLst>
              <a:ext uri="{FF2B5EF4-FFF2-40B4-BE49-F238E27FC236}">
                <a16:creationId xmlns:a16="http://schemas.microsoft.com/office/drawing/2014/main" id="{468B6DDA-2550-A535-EAD1-AD5D154C995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17317" y="3093640"/>
            <a:ext cx="2479509" cy="1708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08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FCEAC-B158-0B54-3642-11758F3ED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79339-D067-E578-1789-D3FD37ED05B8}"/>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Red Black Tree</a:t>
            </a:r>
          </a:p>
        </p:txBody>
      </p:sp>
      <p:pic>
        <p:nvPicPr>
          <p:cNvPr id="15" name="Picture 14">
            <a:extLst>
              <a:ext uri="{FF2B5EF4-FFF2-40B4-BE49-F238E27FC236}">
                <a16:creationId xmlns:a16="http://schemas.microsoft.com/office/drawing/2014/main" id="{47E2DEB4-90DC-AD16-86DD-3225176F4A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2910345A-C76F-6E5B-EC5D-8C904B0F8F3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EFB0E6D-03A4-560F-A64B-921F2A80B44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329C3924-3759-80CE-82CC-7C29D59E93BC}"/>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EDDF89A-CE6E-EE53-30A2-2B6C3378151B}"/>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5F5A704E-1F43-B6EC-3A6D-EE647C1EF883}"/>
              </a:ext>
            </a:extLst>
          </p:cNvPr>
          <p:cNvSpPr txBox="1"/>
          <p:nvPr/>
        </p:nvSpPr>
        <p:spPr>
          <a:xfrm>
            <a:off x="506947" y="1530918"/>
            <a:ext cx="8348046" cy="1169551"/>
          </a:xfrm>
          <a:prstGeom prst="rect">
            <a:avLst/>
          </a:prstGeom>
          <a:noFill/>
        </p:spPr>
        <p:txBody>
          <a:bodyPr wrap="square">
            <a:spAutoFit/>
          </a:bodyPr>
          <a:lstStyle/>
          <a:p>
            <a:pPr algn="just" fontAlgn="base"/>
            <a:r>
              <a:rPr lang="en-US" b="1" i="0" dirty="0">
                <a:solidFill>
                  <a:srgbClr val="273239"/>
                </a:solidFill>
                <a:effectLst/>
                <a:latin typeface="Times New Roman" panose="02020603050405020304" pitchFamily="18" charset="0"/>
                <a:cs typeface="Times New Roman" panose="02020603050405020304" pitchFamily="18" charset="0"/>
              </a:rPr>
              <a:t>Comparison with</a:t>
            </a:r>
            <a:r>
              <a:rPr lang="en-US" b="1" i="0" u="sng" dirty="0">
                <a:solidFill>
                  <a:srgbClr val="273239"/>
                </a:solidFill>
                <a:effectLst/>
                <a:latin typeface="Times New Roman" panose="02020603050405020304" pitchFamily="18" charset="0"/>
                <a:cs typeface="Times New Roman" panose="02020603050405020304" pitchFamily="18" charset="0"/>
                <a:hlinkClick r:id="rId4"/>
              </a:rPr>
              <a:t> AVL Tree</a:t>
            </a:r>
            <a:r>
              <a:rPr lang="en-US" b="1" i="0" dirty="0">
                <a:solidFill>
                  <a:srgbClr val="273239"/>
                </a:solidFill>
                <a:effectLst/>
                <a:latin typeface="Times New Roman" panose="02020603050405020304" pitchFamily="18" charset="0"/>
                <a:cs typeface="Times New Roman" panose="02020603050405020304" pitchFamily="18" charset="0"/>
              </a:rPr>
              <a:t>:</a:t>
            </a:r>
          </a:p>
          <a:p>
            <a:pPr algn="just" rtl="0" fontAlgn="base"/>
            <a:r>
              <a:rPr lang="en-US" b="0" i="0" dirty="0">
                <a:solidFill>
                  <a:srgbClr val="273239"/>
                </a:solidFill>
                <a:effectLst/>
                <a:latin typeface="Times New Roman" panose="02020603050405020304" pitchFamily="18" charset="0"/>
                <a:cs typeface="Times New Roman" panose="02020603050405020304" pitchFamily="18" charset="0"/>
              </a:rPr>
              <a:t>The AVL trees are more balanced compared to Red-Black Trees, but they may cause more rotations during insertion and deletion. So if your application involves frequent insertions and deletions, then Red-Black trees should be preferred. And if the insertions and deletions are less frequent and search is a more frequent operation, then</a:t>
            </a:r>
            <a:r>
              <a:rPr lang="en-US" b="0" i="0" u="sng" dirty="0">
                <a:solidFill>
                  <a:srgbClr val="273239"/>
                </a:solidFill>
                <a:effectLst/>
                <a:latin typeface="Times New Roman" panose="02020603050405020304" pitchFamily="18" charset="0"/>
                <a:cs typeface="Times New Roman" panose="02020603050405020304" pitchFamily="18" charset="0"/>
                <a:hlinkClick r:id="rId4"/>
              </a:rPr>
              <a:t> AVL tree</a:t>
            </a:r>
            <a:r>
              <a:rPr lang="en-US" b="0" i="0" dirty="0">
                <a:solidFill>
                  <a:srgbClr val="273239"/>
                </a:solidFill>
                <a:effectLst/>
                <a:latin typeface="Times New Roman" panose="02020603050405020304" pitchFamily="18" charset="0"/>
                <a:cs typeface="Times New Roman" panose="02020603050405020304" pitchFamily="18" charset="0"/>
              </a:rPr>
              <a:t> should be preferred over the Red-Black Tree.</a:t>
            </a:r>
          </a:p>
        </p:txBody>
      </p:sp>
    </p:spTree>
    <p:extLst>
      <p:ext uri="{BB962C8B-B14F-4D97-AF65-F5344CB8AC3E}">
        <p14:creationId xmlns:p14="http://schemas.microsoft.com/office/powerpoint/2010/main" val="41122378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C9104-3B99-AC4A-1606-C7D28D240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D83A2-F9A3-7EAD-3108-79B55B5A4495}"/>
              </a:ext>
            </a:extLst>
          </p:cNvPr>
          <p:cNvSpPr>
            <a:spLocks noGrp="1"/>
          </p:cNvSpPr>
          <p:nvPr>
            <p:ph type="title"/>
          </p:nvPr>
        </p:nvSpPr>
        <p:spPr>
          <a:xfrm>
            <a:off x="628650" y="0"/>
            <a:ext cx="7886700" cy="728004"/>
          </a:xfrm>
        </p:spPr>
        <p:txBody>
          <a:bodyPr>
            <a:noAutofit/>
          </a:bodyPr>
          <a:lstStyle/>
          <a:p>
            <a:pPr lvl="0"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Heap Tree: Min Heap, Max Heap, Heap Sort </a:t>
            </a:r>
            <a:br>
              <a:rPr lang="en-US" sz="1800" b="1" dirty="0">
                <a:effectLst/>
                <a:latin typeface="Times New Roman" panose="02020603050405020304" pitchFamily="18" charset="0"/>
                <a:ea typeface="Calibri" panose="020F0502020204030204" pitchFamily="34" charset="0"/>
                <a:cs typeface="Times New Roman" panose="02020603050405020304"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C69296B3-E4D2-E49F-F647-6AB140BA0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B96995A1-1FAB-9CD8-4AB0-8B9045D350B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9FDBAF9-6FE5-89EE-E68D-61243D58B45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3A140C2-64F2-A944-20BA-763E6C47EB83}"/>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3BD262B8-FB43-96CF-61E6-376A0E50B2A6}"/>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2FC0791B-7FB9-6963-F40D-EDD317D8EFEC}"/>
              </a:ext>
            </a:extLst>
          </p:cNvPr>
          <p:cNvSpPr txBox="1"/>
          <p:nvPr/>
        </p:nvSpPr>
        <p:spPr>
          <a:xfrm>
            <a:off x="544849" y="819345"/>
            <a:ext cx="8444633" cy="2739211"/>
          </a:xfrm>
          <a:prstGeom prst="rect">
            <a:avLst/>
          </a:prstGeom>
          <a:noFill/>
        </p:spPr>
        <p:txBody>
          <a:bodyPr wrap="square">
            <a:spAutoFit/>
          </a:bodyPr>
          <a:lstStyle/>
          <a:p>
            <a:pPr algn="just"/>
            <a:r>
              <a:rPr lang="en-US" b="1" dirty="0">
                <a:latin typeface="Times New Roman" panose="02020603050405020304" pitchFamily="18" charset="0"/>
                <a:ea typeface="Calibri" panose="020F0502020204030204" pitchFamily="34" charset="0"/>
                <a:cs typeface="Times New Roman" panose="02020603050405020304" pitchFamily="18" charset="0"/>
              </a:rPr>
              <a:t>Introduction Heap</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 heap data structure is a specialized </a:t>
            </a:r>
            <a:r>
              <a:rPr lang="en-US" dirty="0">
                <a:latin typeface="Times New Roman" panose="02020603050405020304" pitchFamily="18" charset="0"/>
                <a:cs typeface="Times New Roman" panose="02020603050405020304" pitchFamily="18" charset="0"/>
                <a:hlinkClick r:id="rId4"/>
              </a:rPr>
              <a:t>binary tree</a:t>
            </a:r>
            <a:r>
              <a:rPr lang="en-US" dirty="0">
                <a:latin typeface="Times New Roman" panose="02020603050405020304" pitchFamily="18" charset="0"/>
                <a:cs typeface="Times New Roman" panose="02020603050405020304" pitchFamily="18" charset="0"/>
              </a:rPr>
              <a:t> used in </a:t>
            </a:r>
            <a:r>
              <a:rPr lang="en-US" dirty="0">
                <a:latin typeface="Times New Roman" panose="02020603050405020304" pitchFamily="18" charset="0"/>
                <a:cs typeface="Times New Roman" panose="02020603050405020304" pitchFamily="18" charset="0"/>
                <a:hlinkClick r:id="rId5"/>
              </a:rPr>
              <a:t>DSA</a:t>
            </a:r>
            <a:r>
              <a:rPr lang="en-US" dirty="0">
                <a:latin typeface="Times New Roman" panose="02020603050405020304" pitchFamily="18" charset="0"/>
                <a:cs typeface="Times New Roman" panose="02020603050405020304" pitchFamily="18" charset="0"/>
              </a:rPr>
              <a:t> to efficiently manage </a:t>
            </a:r>
            <a:r>
              <a:rPr lang="en-US" dirty="0">
                <a:latin typeface="Times New Roman" panose="02020603050405020304" pitchFamily="18" charset="0"/>
                <a:cs typeface="Times New Roman" panose="02020603050405020304" pitchFamily="18" charset="0"/>
                <a:hlinkClick r:id="rId6"/>
              </a:rPr>
              <a:t>priority queues</a:t>
            </a:r>
            <a:r>
              <a:rPr lang="en-US" dirty="0">
                <a:latin typeface="Times New Roman" panose="02020603050405020304" pitchFamily="18" charset="0"/>
                <a:cs typeface="Times New Roman" panose="02020603050405020304" pitchFamily="18" charset="0"/>
              </a:rPr>
              <a:t>. Here, we will discuss the basics of a heap tree in data structure, its types, and its significance in various </a:t>
            </a:r>
            <a:r>
              <a:rPr lang="en-US" dirty="0">
                <a:latin typeface="Times New Roman" panose="02020603050405020304" pitchFamily="18" charset="0"/>
                <a:cs typeface="Times New Roman" panose="02020603050405020304" pitchFamily="18" charset="0"/>
                <a:hlinkClick r:id="rId7"/>
              </a:rPr>
              <a:t>algorithms</a:t>
            </a:r>
            <a:r>
              <a:rPr lang="en-US" dirty="0">
                <a:latin typeface="Times New Roman" panose="02020603050405020304" pitchFamily="18" charset="0"/>
                <a:cs typeface="Times New Roman" panose="02020603050405020304" pitchFamily="18" charset="0"/>
              </a:rPr>
              <a:t>, providing a foundational understanding for beginners.</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There are two types of Heaps:</a:t>
            </a:r>
            <a:endParaRPr lang="en-IN"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Min Heap: </a:t>
            </a:r>
            <a:r>
              <a:rPr lang="en-US" dirty="0">
                <a:latin typeface="Times New Roman" panose="02020603050405020304" pitchFamily="18" charset="0"/>
                <a:cs typeface="Times New Roman" panose="02020603050405020304" pitchFamily="18" charset="0"/>
              </a:rPr>
              <a:t>The value of the parent node is always less than or equal to the values of its children. The root node contains the smallest element.</a:t>
            </a:r>
          </a:p>
          <a:p>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Max Heap: </a:t>
            </a:r>
            <a:r>
              <a:rPr lang="en-US" dirty="0">
                <a:latin typeface="Times New Roman" panose="02020603050405020304" pitchFamily="18" charset="0"/>
                <a:cs typeface="Times New Roman" panose="02020603050405020304" pitchFamily="18" charset="0"/>
              </a:rPr>
              <a:t>The value of the parent node is always greater than or equal to the values of its children. The root node contains the largest element.</a:t>
            </a:r>
            <a:endParaRPr lang="en-IN" dirty="0">
              <a:latin typeface="Times New Roman" panose="02020603050405020304" pitchFamily="18" charset="0"/>
              <a:cs typeface="Times New Roman" panose="02020603050405020304" pitchFamily="18" charset="0"/>
            </a:endParaRPr>
          </a:p>
        </p:txBody>
      </p:sp>
      <p:pic>
        <p:nvPicPr>
          <p:cNvPr id="16388" name="Picture 4">
            <a:extLst>
              <a:ext uri="{FF2B5EF4-FFF2-40B4-BE49-F238E27FC236}">
                <a16:creationId xmlns:a16="http://schemas.microsoft.com/office/drawing/2014/main" id="{7CA6E908-15A2-1710-E532-DB490017C51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4471" y="3329369"/>
            <a:ext cx="2610541" cy="1563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5545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18FCA-F6DE-8FE1-CFDD-5E7ABFFBE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3D827-353C-BC8E-BDAB-C13CD41F3160}"/>
              </a:ext>
            </a:extLst>
          </p:cNvPr>
          <p:cNvSpPr>
            <a:spLocks noGrp="1"/>
          </p:cNvSpPr>
          <p:nvPr>
            <p:ph type="title"/>
          </p:nvPr>
        </p:nvSpPr>
        <p:spPr>
          <a:xfrm>
            <a:off x="628650" y="0"/>
            <a:ext cx="7886700" cy="728004"/>
          </a:xfrm>
        </p:spPr>
        <p:txBody>
          <a:bodyPr>
            <a:noAutofit/>
          </a:bodyPr>
          <a:lstStyle/>
          <a:p>
            <a:pPr lvl="0" algn="ct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Heap Tree: Min Heap, Max Heap</a:t>
            </a:r>
            <a:br>
              <a:rPr lang="en-US" sz="1800" b="1"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Introduction Heap</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43EF972E-B2CA-AF7D-74C2-5DD49531B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B28FEBF2-A10B-E741-82AF-92DF6200337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FA36FC0-C8CE-8151-FB94-118B07A8923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0697FE08-1FF8-95C5-A93B-89A8AFDCE82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30949596-1F79-0980-8E8A-968C0AF04078}"/>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TextBox 5">
            <a:extLst>
              <a:ext uri="{FF2B5EF4-FFF2-40B4-BE49-F238E27FC236}">
                <a16:creationId xmlns:a16="http://schemas.microsoft.com/office/drawing/2014/main" id="{DD76F094-3D91-C7A6-B788-0228BE0F1385}"/>
              </a:ext>
            </a:extLst>
          </p:cNvPr>
          <p:cNvSpPr txBox="1"/>
          <p:nvPr/>
        </p:nvSpPr>
        <p:spPr>
          <a:xfrm>
            <a:off x="549587" y="919138"/>
            <a:ext cx="8444633" cy="3754874"/>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Characteristics of Heap Tree</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Heap Tree has the following important properties:</a:t>
            </a:r>
          </a:p>
          <a:p>
            <a:r>
              <a:rPr lang="en-US" b="1" dirty="0">
                <a:latin typeface="Times New Roman" panose="02020603050405020304" pitchFamily="18" charset="0"/>
                <a:cs typeface="Times New Roman" panose="02020603050405020304" pitchFamily="18" charset="0"/>
              </a:rPr>
              <a:t>Complete Binary Tree: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levels are completely filled except possibly the last.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Nodes are filled from left to right.</a:t>
            </a:r>
          </a:p>
          <a:p>
            <a:r>
              <a:rPr lang="en-US" b="1" dirty="0">
                <a:latin typeface="Times New Roman" panose="02020603050405020304" pitchFamily="18" charset="0"/>
                <a:cs typeface="Times New Roman" panose="02020603050405020304" pitchFamily="18" charset="0"/>
              </a:rPr>
              <a:t>Heap Property</a:t>
            </a:r>
          </a:p>
          <a:p>
            <a:r>
              <a:rPr lang="en-US" dirty="0">
                <a:latin typeface="Times New Roman" panose="02020603050405020304" pitchFamily="18" charset="0"/>
                <a:cs typeface="Times New Roman" panose="02020603050405020304" pitchFamily="18" charset="0"/>
              </a:rPr>
              <a:t>Determines the type of heap:</a:t>
            </a:r>
          </a:p>
          <a:p>
            <a:pPr algn="just"/>
            <a:r>
              <a:rPr lang="en-US" b="1" dirty="0">
                <a:latin typeface="Times New Roman" panose="02020603050405020304" pitchFamily="18" charset="0"/>
                <a:cs typeface="Times New Roman" panose="02020603050405020304" pitchFamily="18" charset="0"/>
              </a:rPr>
              <a:t>Max Heap </a:t>
            </a:r>
            <a:r>
              <a:rPr lang="en-US" dirty="0">
                <a:latin typeface="Times New Roman" panose="02020603050405020304" pitchFamily="18" charset="0"/>
                <a:cs typeface="Times New Roman" panose="02020603050405020304" pitchFamily="18" charset="0"/>
              </a:rPr>
              <a:t>:In a max-heap, each parent node is greater than or equal to its child nodes. This ensures that the largest value is always at the root of the tree.</a:t>
            </a:r>
          </a:p>
          <a:p>
            <a:pPr algn="just"/>
            <a:r>
              <a:rPr lang="en-US" b="1" dirty="0">
                <a:latin typeface="Times New Roman" panose="02020603050405020304" pitchFamily="18" charset="0"/>
                <a:cs typeface="Times New Roman" panose="02020603050405020304" pitchFamily="18" charset="0"/>
              </a:rPr>
              <a:t>Min Heap: </a:t>
            </a:r>
            <a:r>
              <a:rPr lang="en-US" dirty="0">
                <a:latin typeface="Times New Roman" panose="02020603050405020304" pitchFamily="18" charset="0"/>
                <a:cs typeface="Times New Roman" panose="02020603050405020304" pitchFamily="18" charset="0"/>
              </a:rPr>
              <a:t>In a min-heap, each parent node is less than or equal to its child nodes. This ensures that the smallest value is always at the root of the tree.</a:t>
            </a:r>
          </a:p>
          <a:p>
            <a:r>
              <a:rPr lang="en-US" b="1" dirty="0">
                <a:latin typeface="Times New Roman" panose="02020603050405020304" pitchFamily="18" charset="0"/>
                <a:cs typeface="Times New Roman" panose="02020603050405020304" pitchFamily="18" charset="0"/>
              </a:rPr>
              <a:t>Array Representation: </a:t>
            </a:r>
          </a:p>
          <a:p>
            <a:r>
              <a:rPr lang="en-US" dirty="0">
                <a:latin typeface="Times New Roman" panose="02020603050405020304" pitchFamily="18" charset="0"/>
                <a:cs typeface="Times New Roman" panose="02020603050405020304" pitchFamily="18" charset="0"/>
              </a:rPr>
              <a:t>Heaps are efficiently stored using arrays, not pointers.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0909A0F-CEC7-D04C-7686-B4950E701264}"/>
              </a:ext>
            </a:extLst>
          </p:cNvPr>
          <p:cNvPicPr>
            <a:picLocks noChangeAspect="1"/>
          </p:cNvPicPr>
          <p:nvPr/>
        </p:nvPicPr>
        <p:blipFill>
          <a:blip r:embed="rId4"/>
          <a:srcRect l="25337" t="6017" r="24145" b="12995"/>
          <a:stretch>
            <a:fillRect/>
          </a:stretch>
        </p:blipFill>
        <p:spPr>
          <a:xfrm>
            <a:off x="6618739" y="921832"/>
            <a:ext cx="2254873" cy="1575088"/>
          </a:xfrm>
          <a:prstGeom prst="rect">
            <a:avLst/>
          </a:prstGeom>
        </p:spPr>
      </p:pic>
      <p:pic>
        <p:nvPicPr>
          <p:cNvPr id="10" name="Picture 9">
            <a:extLst>
              <a:ext uri="{FF2B5EF4-FFF2-40B4-BE49-F238E27FC236}">
                <a16:creationId xmlns:a16="http://schemas.microsoft.com/office/drawing/2014/main" id="{D333049B-0659-266A-1788-FD42D3ABF26A}"/>
              </a:ext>
            </a:extLst>
          </p:cNvPr>
          <p:cNvPicPr>
            <a:picLocks noChangeAspect="1"/>
          </p:cNvPicPr>
          <p:nvPr/>
        </p:nvPicPr>
        <p:blipFill>
          <a:blip r:embed="rId5"/>
          <a:srcRect l="25130" t="6229" r="23265" b="17039"/>
          <a:stretch>
            <a:fillRect/>
          </a:stretch>
        </p:blipFill>
        <p:spPr>
          <a:xfrm>
            <a:off x="6687706" y="3419020"/>
            <a:ext cx="2217303" cy="1436525"/>
          </a:xfrm>
          <a:prstGeom prst="rect">
            <a:avLst/>
          </a:prstGeom>
        </p:spPr>
      </p:pic>
    </p:spTree>
    <p:extLst>
      <p:ext uri="{BB962C8B-B14F-4D97-AF65-F5344CB8AC3E}">
        <p14:creationId xmlns:p14="http://schemas.microsoft.com/office/powerpoint/2010/main" val="3170962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FBA9D-884A-BF5D-5E6E-F8A7A8863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7469A-830F-8AC3-1665-4479EA1F9F8E}"/>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Huffman Coding/Tree</a:t>
            </a:r>
          </a:p>
        </p:txBody>
      </p:sp>
      <p:pic>
        <p:nvPicPr>
          <p:cNvPr id="15" name="Picture 14">
            <a:extLst>
              <a:ext uri="{FF2B5EF4-FFF2-40B4-BE49-F238E27FC236}">
                <a16:creationId xmlns:a16="http://schemas.microsoft.com/office/drawing/2014/main" id="{9205F76B-CCE4-3018-D5ED-AB9E5BEBF0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AF567CD-B0C6-99B0-7889-F69838EC46D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372D4B9D-31FC-3947-4C28-49AD58C8801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A5CE272-CCBA-521B-045E-EDBFC44D264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9E50985D-0D72-11C3-5DFF-EBB249D92773}"/>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1B95444F-0EBE-6774-EC0C-95744C2FADA8}"/>
              </a:ext>
            </a:extLst>
          </p:cNvPr>
          <p:cNvSpPr txBox="1"/>
          <p:nvPr/>
        </p:nvSpPr>
        <p:spPr>
          <a:xfrm>
            <a:off x="668033" y="829978"/>
            <a:ext cx="8314881" cy="3785652"/>
          </a:xfrm>
          <a:prstGeom prst="rect">
            <a:avLst/>
          </a:prstGeom>
          <a:noFill/>
        </p:spPr>
        <p:txBody>
          <a:bodyPr wrap="square">
            <a:spAutoFit/>
          </a:bodyPr>
          <a:lstStyle/>
          <a:p>
            <a:pPr algn="just"/>
            <a:r>
              <a:rPr lang="en-US" sz="1200" dirty="0">
                <a:latin typeface="Times New Roman" panose="02020603050405020304" pitchFamily="18" charset="0"/>
                <a:cs typeface="Times New Roman" panose="02020603050405020304" pitchFamily="18" charset="0"/>
              </a:rPr>
              <a:t>Huffman Coding is a lossless data compression algorithm used to reduce the size of data without losing any information. It is a greedy algorithm that assigns variable-length binary codes to characters based on their frequency of occurrence.</a:t>
            </a:r>
          </a:p>
          <a:p>
            <a:pPr algn="just"/>
            <a:endParaRPr lang="en-US" sz="1200" dirty="0">
              <a:latin typeface="Times New Roman" panose="02020603050405020304" pitchFamily="18" charset="0"/>
              <a:cs typeface="Times New Roman" panose="02020603050405020304" pitchFamily="18" charset="0"/>
            </a:endParaRP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Characters that occur more frequently are assigned </a:t>
            </a:r>
            <a:r>
              <a:rPr lang="en-US" sz="1200" b="1" dirty="0">
                <a:latin typeface="Times New Roman" panose="02020603050405020304" pitchFamily="18" charset="0"/>
                <a:cs typeface="Times New Roman" panose="02020603050405020304" pitchFamily="18" charset="0"/>
              </a:rPr>
              <a:t>shorter codes</a:t>
            </a:r>
            <a:r>
              <a:rPr lang="en-US" sz="1200" dirty="0">
                <a:latin typeface="Times New Roman" panose="02020603050405020304" pitchFamily="18" charset="0"/>
                <a:cs typeface="Times New Roman" panose="02020603050405020304" pitchFamily="18" charset="0"/>
              </a:rPr>
              <a:t>, while less frequent characters receive </a:t>
            </a:r>
            <a:r>
              <a:rPr lang="en-US" sz="1200" b="1" dirty="0">
                <a:latin typeface="Times New Roman" panose="02020603050405020304" pitchFamily="18" charset="0"/>
                <a:cs typeface="Times New Roman" panose="02020603050405020304" pitchFamily="18" charset="0"/>
              </a:rPr>
              <a:t>longer codes</a:t>
            </a:r>
            <a:r>
              <a:rPr lang="en-US" sz="1200" dirty="0">
                <a:latin typeface="Times New Roman" panose="02020603050405020304" pitchFamily="18" charset="0"/>
                <a:cs typeface="Times New Roman" panose="02020603050405020304" pitchFamily="18" charset="0"/>
              </a:rPr>
              <a:t>. This minimizes the </a:t>
            </a:r>
            <a:r>
              <a:rPr lang="en-US" sz="1200" b="1" dirty="0">
                <a:latin typeface="Times New Roman" panose="02020603050405020304" pitchFamily="18" charset="0"/>
                <a:cs typeface="Times New Roman" panose="02020603050405020304" pitchFamily="18" charset="0"/>
              </a:rPr>
              <a:t>total number of bits</a:t>
            </a:r>
            <a:r>
              <a:rPr lang="en-US" sz="1200" dirty="0">
                <a:latin typeface="Times New Roman" panose="02020603050405020304" pitchFamily="18" charset="0"/>
                <a:cs typeface="Times New Roman" panose="02020603050405020304" pitchFamily="18" charset="0"/>
              </a:rPr>
              <a:t> required to encode the data.</a:t>
            </a:r>
          </a:p>
          <a:p>
            <a:pPr algn="just"/>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Huffman Coding is widely used in </a:t>
            </a:r>
            <a:r>
              <a:rPr lang="en-US" sz="1200" b="1" dirty="0">
                <a:latin typeface="Times New Roman" panose="02020603050405020304" pitchFamily="18" charset="0"/>
                <a:cs typeface="Times New Roman" panose="02020603050405020304" pitchFamily="18" charset="0"/>
              </a:rPr>
              <a:t>file compression formats</a:t>
            </a:r>
            <a:r>
              <a:rPr lang="en-US" sz="1200" dirty="0">
                <a:latin typeface="Times New Roman" panose="02020603050405020304" pitchFamily="18" charset="0"/>
                <a:cs typeface="Times New Roman" panose="02020603050405020304" pitchFamily="18" charset="0"/>
              </a:rPr>
              <a:t> such as </a:t>
            </a:r>
            <a:r>
              <a:rPr lang="en-US" sz="1200" b="1" dirty="0">
                <a:latin typeface="Times New Roman" panose="02020603050405020304" pitchFamily="18" charset="0"/>
                <a:cs typeface="Times New Roman" panose="02020603050405020304" pitchFamily="18" charset="0"/>
              </a:rPr>
              <a:t>ZIP, JPEG, PNG, MP3</a:t>
            </a:r>
            <a:r>
              <a:rPr lang="en-US" sz="1200" dirty="0">
                <a:latin typeface="Times New Roman" panose="02020603050405020304" pitchFamily="18" charset="0"/>
                <a:cs typeface="Times New Roman" panose="02020603050405020304" pitchFamily="18" charset="0"/>
              </a:rPr>
              <a:t>, and </a:t>
            </a:r>
            <a:r>
              <a:rPr lang="en-US" sz="1200" b="1" dirty="0">
                <a:latin typeface="Times New Roman" panose="02020603050405020304" pitchFamily="18" charset="0"/>
                <a:cs typeface="Times New Roman" panose="02020603050405020304" pitchFamily="18" charset="0"/>
              </a:rPr>
              <a:t>PDF</a:t>
            </a:r>
            <a:r>
              <a:rPr lang="en-US" sz="1200" dirty="0">
                <a:latin typeface="Times New Roman" panose="02020603050405020304" pitchFamily="18" charset="0"/>
                <a:cs typeface="Times New Roman" panose="02020603050405020304" pitchFamily="18" charset="0"/>
              </a:rPr>
              <a:t>.</a:t>
            </a:r>
          </a:p>
          <a:p>
            <a:pPr algn="just"/>
            <a:endParaRPr lang="en-US" sz="1200"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Key Concepts</a:t>
            </a:r>
            <a:endParaRPr lang="en-US" sz="1200" b="1" dirty="0">
              <a:latin typeface="Times New Roman" panose="02020603050405020304" pitchFamily="18" charset="0"/>
              <a:cs typeface="Times New Roman" panose="02020603050405020304" pitchFamily="18" charset="0"/>
            </a:endParaRPr>
          </a:p>
          <a:p>
            <a:pPr algn="just"/>
            <a:r>
              <a:rPr lang="en-IN" sz="1200" b="1" dirty="0">
                <a:latin typeface="Times New Roman" panose="02020603050405020304" pitchFamily="18" charset="0"/>
                <a:cs typeface="Times New Roman" panose="02020603050405020304" pitchFamily="18" charset="0"/>
              </a:rPr>
              <a:t>Lossless Compression</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Original data can be perfectly reconstructed from the compressed data.</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No information is lost during compression.</a:t>
            </a:r>
          </a:p>
          <a:p>
            <a:pPr algn="just"/>
            <a:r>
              <a:rPr lang="en-IN" sz="1200" b="1" dirty="0">
                <a:latin typeface="Times New Roman" panose="02020603050405020304" pitchFamily="18" charset="0"/>
                <a:cs typeface="Times New Roman" panose="02020603050405020304" pitchFamily="18" charset="0"/>
              </a:rPr>
              <a:t>Variable-Length Encoding</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Unlike ASCII (fixed 8 bits per character), Huffman Coding uses different bit lengths.</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Improves compression efficiency.</a:t>
            </a:r>
          </a:p>
          <a:p>
            <a:pPr algn="just"/>
            <a:r>
              <a:rPr lang="en-IN" sz="1200" b="1" dirty="0">
                <a:latin typeface="Times New Roman" panose="02020603050405020304" pitchFamily="18" charset="0"/>
                <a:cs typeface="Times New Roman" panose="02020603050405020304" pitchFamily="18" charset="0"/>
              </a:rPr>
              <a:t>Prefix Code</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Huffman codes are prefix-free.</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No code is a prefix of another code.</a:t>
            </a:r>
          </a:p>
          <a:p>
            <a:pPr marL="285750" indent="-2857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This ensures unambiguous decoding.</a:t>
            </a:r>
          </a:p>
        </p:txBody>
      </p:sp>
    </p:spTree>
    <p:extLst>
      <p:ext uri="{BB962C8B-B14F-4D97-AF65-F5344CB8AC3E}">
        <p14:creationId xmlns:p14="http://schemas.microsoft.com/office/powerpoint/2010/main" val="1825596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1183-D9C5-651D-3A0C-B524FE1DA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E763C-CEE8-D123-4F09-E604E13E57B3}"/>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Huffman Coding/Tree</a:t>
            </a:r>
          </a:p>
        </p:txBody>
      </p:sp>
      <p:pic>
        <p:nvPicPr>
          <p:cNvPr id="15" name="Picture 14">
            <a:extLst>
              <a:ext uri="{FF2B5EF4-FFF2-40B4-BE49-F238E27FC236}">
                <a16:creationId xmlns:a16="http://schemas.microsoft.com/office/drawing/2014/main" id="{A2EBB657-853D-3B8C-AE53-4EF4215416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3A978670-0C36-76D4-8D07-9B0822094D8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8813247-247F-3CEC-697D-751ED51AFDC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F0AC353-0FC5-21C5-D800-7C12F4B93FBF}"/>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50AF761-2E13-042C-882E-5AFE952CE027}"/>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8" name="TextBox 7">
            <a:extLst>
              <a:ext uri="{FF2B5EF4-FFF2-40B4-BE49-F238E27FC236}">
                <a16:creationId xmlns:a16="http://schemas.microsoft.com/office/drawing/2014/main" id="{E41B6952-15F7-AD71-0726-D62C8F518814}"/>
              </a:ext>
            </a:extLst>
          </p:cNvPr>
          <p:cNvSpPr txBox="1"/>
          <p:nvPr/>
        </p:nvSpPr>
        <p:spPr>
          <a:xfrm>
            <a:off x="668033" y="829978"/>
            <a:ext cx="8314881" cy="1200329"/>
          </a:xfrm>
          <a:prstGeom prst="rect">
            <a:avLst/>
          </a:prstGeom>
          <a:noFill/>
        </p:spPr>
        <p:txBody>
          <a:bodyPr wrap="square">
            <a:spAutoFit/>
          </a:bodyPr>
          <a:lstStyle/>
          <a:p>
            <a:pPr algn="just"/>
            <a:r>
              <a:rPr lang="en-IN" sz="1200" b="1" dirty="0">
                <a:latin typeface="Times New Roman" panose="02020603050405020304" pitchFamily="18" charset="0"/>
                <a:cs typeface="Times New Roman" panose="02020603050405020304" pitchFamily="18" charset="0"/>
              </a:rPr>
              <a:t>Huffman Tree</a:t>
            </a:r>
          </a:p>
          <a:p>
            <a:r>
              <a:rPr lang="en-US" sz="1200" dirty="0">
                <a:latin typeface="Times New Roman" panose="02020603050405020304" pitchFamily="18" charset="0"/>
                <a:cs typeface="Times New Roman" panose="02020603050405020304" pitchFamily="18" charset="0"/>
              </a:rPr>
              <a:t>A Huffman Tree is a full binary tree used to represent Huffman codes.</a:t>
            </a:r>
          </a:p>
          <a:p>
            <a:r>
              <a:rPr lang="en-US" sz="1200" dirty="0">
                <a:latin typeface="Times New Roman" panose="02020603050405020304" pitchFamily="18" charset="0"/>
                <a:cs typeface="Times New Roman" panose="02020603050405020304" pitchFamily="18" charset="0"/>
              </a:rPr>
              <a:t>Each leaf node represents a character.</a:t>
            </a:r>
          </a:p>
          <a:p>
            <a:r>
              <a:rPr lang="en-US" sz="1200" dirty="0">
                <a:latin typeface="Times New Roman" panose="02020603050405020304" pitchFamily="18" charset="0"/>
                <a:cs typeface="Times New Roman" panose="02020603050405020304" pitchFamily="18" charset="0"/>
              </a:rPr>
              <a:t>Each internal node represents the sum of frequencies of its children.</a:t>
            </a:r>
          </a:p>
          <a:p>
            <a:r>
              <a:rPr lang="en-US" sz="1200" dirty="0">
                <a:latin typeface="Times New Roman" panose="02020603050405020304" pitchFamily="18" charset="0"/>
                <a:cs typeface="Times New Roman" panose="02020603050405020304" pitchFamily="18" charset="0"/>
              </a:rPr>
              <a:t>Left edge is usually assigned 0, right edge 1 (or vice versa).</a:t>
            </a:r>
          </a:p>
          <a:p>
            <a:pPr algn="just"/>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871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AC654-20DE-AECE-2F0E-884653C599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DB467-4785-EADF-1BE0-147E2A88C1D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Step for Solving Huffman Coding/Tree</a:t>
            </a:r>
          </a:p>
        </p:txBody>
      </p:sp>
      <p:pic>
        <p:nvPicPr>
          <p:cNvPr id="15" name="Picture 14">
            <a:extLst>
              <a:ext uri="{FF2B5EF4-FFF2-40B4-BE49-F238E27FC236}">
                <a16:creationId xmlns:a16="http://schemas.microsoft.com/office/drawing/2014/main" id="{5A18E45A-F9A0-76F9-E947-E458226B2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CD41C7D-4022-9695-A55C-F50395CD3BE9}"/>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C1644C8-97D8-1A7B-BDB6-D0C3CF096FF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0705580A-3916-EA14-6F33-81F6EB7F80BA}"/>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F37AB295-8C09-C965-1B17-ABC0DBB9423C}"/>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6" name="Picture 5">
            <a:extLst>
              <a:ext uri="{FF2B5EF4-FFF2-40B4-BE49-F238E27FC236}">
                <a16:creationId xmlns:a16="http://schemas.microsoft.com/office/drawing/2014/main" id="{CA889A04-138D-6003-DC07-BBFA16C4A9DA}"/>
              </a:ext>
            </a:extLst>
          </p:cNvPr>
          <p:cNvPicPr>
            <a:picLocks noChangeAspect="1"/>
          </p:cNvPicPr>
          <p:nvPr/>
        </p:nvPicPr>
        <p:blipFill>
          <a:blip r:embed="rId4"/>
          <a:stretch>
            <a:fillRect/>
          </a:stretch>
        </p:blipFill>
        <p:spPr>
          <a:xfrm>
            <a:off x="1952792" y="607326"/>
            <a:ext cx="2827673" cy="4275129"/>
          </a:xfrm>
          <a:prstGeom prst="rect">
            <a:avLst/>
          </a:prstGeom>
        </p:spPr>
      </p:pic>
      <p:pic>
        <p:nvPicPr>
          <p:cNvPr id="10" name="Picture 9">
            <a:extLst>
              <a:ext uri="{FF2B5EF4-FFF2-40B4-BE49-F238E27FC236}">
                <a16:creationId xmlns:a16="http://schemas.microsoft.com/office/drawing/2014/main" id="{3BCB5332-7971-D8B0-FD37-ACCBCDF9ED12}"/>
              </a:ext>
            </a:extLst>
          </p:cNvPr>
          <p:cNvPicPr>
            <a:picLocks noChangeAspect="1"/>
          </p:cNvPicPr>
          <p:nvPr/>
        </p:nvPicPr>
        <p:blipFill>
          <a:blip r:embed="rId5"/>
          <a:stretch>
            <a:fillRect/>
          </a:stretch>
        </p:blipFill>
        <p:spPr>
          <a:xfrm>
            <a:off x="4780465" y="649524"/>
            <a:ext cx="4401438" cy="4190733"/>
          </a:xfrm>
          <a:prstGeom prst="rect">
            <a:avLst/>
          </a:prstGeom>
        </p:spPr>
      </p:pic>
    </p:spTree>
    <p:extLst>
      <p:ext uri="{BB962C8B-B14F-4D97-AF65-F5344CB8AC3E}">
        <p14:creationId xmlns:p14="http://schemas.microsoft.com/office/powerpoint/2010/main" val="2972129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3824-D246-AB9C-FAAF-A44F40798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CC877-A102-DA59-0E74-E4A7F3644811}"/>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Step for Solving Huffman Coding/Tree</a:t>
            </a:r>
          </a:p>
        </p:txBody>
      </p:sp>
      <p:pic>
        <p:nvPicPr>
          <p:cNvPr id="15" name="Picture 14">
            <a:extLst>
              <a:ext uri="{FF2B5EF4-FFF2-40B4-BE49-F238E27FC236}">
                <a16:creationId xmlns:a16="http://schemas.microsoft.com/office/drawing/2014/main" id="{E1C395EA-3186-0D30-C931-A83087EF3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0CEF0F6-478B-0BB2-D712-AE1FEAC0EAB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B87BC3B3-A3E9-9C1E-1E44-E4783E7195C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AE75316E-F0E4-B8A6-14DB-E95216CAAC0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610CCB3-1C1F-8A4A-3189-9F0F691EC8E1}"/>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B9005601-755B-1F1D-FEC7-58CCE36FB570}"/>
              </a:ext>
            </a:extLst>
          </p:cNvPr>
          <p:cNvPicPr>
            <a:picLocks noChangeAspect="1"/>
          </p:cNvPicPr>
          <p:nvPr/>
        </p:nvPicPr>
        <p:blipFill>
          <a:blip r:embed="rId4"/>
          <a:stretch>
            <a:fillRect/>
          </a:stretch>
        </p:blipFill>
        <p:spPr>
          <a:xfrm>
            <a:off x="63557" y="819344"/>
            <a:ext cx="4636364" cy="3918479"/>
          </a:xfrm>
          <a:prstGeom prst="rect">
            <a:avLst/>
          </a:prstGeom>
        </p:spPr>
      </p:pic>
      <p:pic>
        <p:nvPicPr>
          <p:cNvPr id="11" name="Picture 10">
            <a:extLst>
              <a:ext uri="{FF2B5EF4-FFF2-40B4-BE49-F238E27FC236}">
                <a16:creationId xmlns:a16="http://schemas.microsoft.com/office/drawing/2014/main" id="{E501ADD2-C734-2DCB-6304-F6517E8B28A8}"/>
              </a:ext>
            </a:extLst>
          </p:cNvPr>
          <p:cNvPicPr>
            <a:picLocks noChangeAspect="1"/>
          </p:cNvPicPr>
          <p:nvPr/>
        </p:nvPicPr>
        <p:blipFill>
          <a:blip r:embed="rId5"/>
          <a:stretch>
            <a:fillRect/>
          </a:stretch>
        </p:blipFill>
        <p:spPr>
          <a:xfrm>
            <a:off x="4699921" y="819344"/>
            <a:ext cx="4339847" cy="4009820"/>
          </a:xfrm>
          <a:prstGeom prst="rect">
            <a:avLst/>
          </a:prstGeom>
        </p:spPr>
      </p:pic>
    </p:spTree>
    <p:extLst>
      <p:ext uri="{BB962C8B-B14F-4D97-AF65-F5344CB8AC3E}">
        <p14:creationId xmlns:p14="http://schemas.microsoft.com/office/powerpoint/2010/main" val="19200383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93B5-AC92-7A91-4415-E9D74771B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07089-D4A8-4D1A-F1DA-7DD773752895}"/>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Huffman Tree</a:t>
            </a:r>
          </a:p>
        </p:txBody>
      </p:sp>
      <p:pic>
        <p:nvPicPr>
          <p:cNvPr id="15" name="Picture 14">
            <a:extLst>
              <a:ext uri="{FF2B5EF4-FFF2-40B4-BE49-F238E27FC236}">
                <a16:creationId xmlns:a16="http://schemas.microsoft.com/office/drawing/2014/main" id="{E2CB16BB-66B9-F48B-A5CC-5F31650DB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D50D051-8F7C-75E1-4291-5B785F7446A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E76B166-CADA-87E7-B9BE-DCF77E87BF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1A210BD8-274E-8EDF-0F35-D3D46572BFE8}"/>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5DE76231-2CE6-73D6-6A8E-B0FB07DF96E8}"/>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7" name="Picture 6">
            <a:extLst>
              <a:ext uri="{FF2B5EF4-FFF2-40B4-BE49-F238E27FC236}">
                <a16:creationId xmlns:a16="http://schemas.microsoft.com/office/drawing/2014/main" id="{B9A55D62-81FD-DFAA-635C-9E980E2FD5D5}"/>
              </a:ext>
            </a:extLst>
          </p:cNvPr>
          <p:cNvPicPr>
            <a:picLocks noChangeAspect="1"/>
          </p:cNvPicPr>
          <p:nvPr/>
        </p:nvPicPr>
        <p:blipFill>
          <a:blip r:embed="rId4"/>
          <a:stretch>
            <a:fillRect/>
          </a:stretch>
        </p:blipFill>
        <p:spPr>
          <a:xfrm>
            <a:off x="90019" y="829978"/>
            <a:ext cx="3764168" cy="3976788"/>
          </a:xfrm>
          <a:prstGeom prst="rect">
            <a:avLst/>
          </a:prstGeom>
        </p:spPr>
      </p:pic>
      <p:pic>
        <p:nvPicPr>
          <p:cNvPr id="10" name="Picture 9">
            <a:extLst>
              <a:ext uri="{FF2B5EF4-FFF2-40B4-BE49-F238E27FC236}">
                <a16:creationId xmlns:a16="http://schemas.microsoft.com/office/drawing/2014/main" id="{8DEBF2F9-F32A-154B-47F3-4ACE0B60ED0B}"/>
              </a:ext>
            </a:extLst>
          </p:cNvPr>
          <p:cNvPicPr>
            <a:picLocks noChangeAspect="1"/>
          </p:cNvPicPr>
          <p:nvPr/>
        </p:nvPicPr>
        <p:blipFill>
          <a:blip r:embed="rId5"/>
          <a:stretch>
            <a:fillRect/>
          </a:stretch>
        </p:blipFill>
        <p:spPr>
          <a:xfrm>
            <a:off x="4224543" y="814326"/>
            <a:ext cx="4600609" cy="3814528"/>
          </a:xfrm>
          <a:prstGeom prst="rect">
            <a:avLst/>
          </a:prstGeom>
        </p:spPr>
      </p:pic>
    </p:spTree>
    <p:extLst>
      <p:ext uri="{BB962C8B-B14F-4D97-AF65-F5344CB8AC3E}">
        <p14:creationId xmlns:p14="http://schemas.microsoft.com/office/powerpoint/2010/main" val="1149033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5EA7A-9A22-2A8D-2272-209D71AD0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60B02-3001-41A7-71B0-90A38C7D5A9D}"/>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D2BFE18D-6C36-CC5D-0001-99981653F6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B0ECC7D-F325-73B5-E428-DC2D190084A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AA40E958-F885-3DEC-8AF0-E6863AE1777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2A3C21D-5B91-C24A-7CE1-BDB2C7EFFCCD}"/>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CE6A773E-AB27-A7F0-B4BF-9E9775EB4B4E}"/>
              </a:ext>
            </a:extLst>
          </p:cNvPr>
          <p:cNvSpPr/>
          <p:nvPr/>
        </p:nvSpPr>
        <p:spPr>
          <a:xfrm>
            <a:off x="270056" y="963808"/>
            <a:ext cx="8634953" cy="4254819"/>
          </a:xfrm>
          <a:prstGeom prst="rect">
            <a:avLst/>
          </a:prstGeom>
        </p:spPr>
        <p:txBody>
          <a:bodyPr wrap="square">
            <a:spAutoFit/>
          </a:bodyPr>
          <a:lstStyle/>
          <a:p>
            <a:r>
              <a:rPr lang="en-US" altLang="en-US" dirty="0">
                <a:latin typeface="Times New Roman" panose="02020603050405020304" pitchFamily="18" charset="0"/>
                <a:cs typeface="Times New Roman" panose="02020603050405020304" pitchFamily="18" charset="0"/>
              </a:rPr>
              <a:t>B-Tree was developed in the year of 1972 by </a:t>
            </a:r>
            <a:r>
              <a:rPr lang="en-US" altLang="en-US" b="1" dirty="0">
                <a:latin typeface="Times New Roman" panose="02020603050405020304" pitchFamily="18" charset="0"/>
                <a:cs typeface="Times New Roman" panose="02020603050405020304" pitchFamily="18" charset="0"/>
              </a:rPr>
              <a:t>Bayer and McCreight</a:t>
            </a:r>
            <a:r>
              <a:rPr lang="en-US" altLang="en-US" dirty="0">
                <a:latin typeface="Times New Roman" panose="02020603050405020304" pitchFamily="18" charset="0"/>
                <a:cs typeface="Times New Roman" panose="02020603050405020304" pitchFamily="18" charset="0"/>
              </a:rPr>
              <a:t> with the name </a:t>
            </a:r>
            <a:r>
              <a:rPr lang="en-US" altLang="en-US" b="1" i="1" dirty="0">
                <a:latin typeface="Times New Roman" panose="02020603050405020304" pitchFamily="18" charset="0"/>
                <a:cs typeface="Times New Roman" panose="02020603050405020304" pitchFamily="18" charset="0"/>
              </a:rPr>
              <a:t>Height Balanced m-way Search Tree</a:t>
            </a:r>
            <a:r>
              <a:rPr lang="en-US" altLang="en-US" dirty="0">
                <a:latin typeface="Times New Roman" panose="02020603050405020304" pitchFamily="18" charset="0"/>
                <a:cs typeface="Times New Roman" panose="02020603050405020304" pitchFamily="18" charset="0"/>
              </a:rPr>
              <a:t>. Later it was named as B-Tree.</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Index structures for large datasets cannot be stored in main memory</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Storing it on disk requires different approach to efficiency</a:t>
            </a:r>
          </a:p>
          <a:p>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Motivation behind B Tree</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Assume that we use an AVL tree to store about 20 million records</a:t>
            </a: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We end up with a </a:t>
            </a:r>
            <a:r>
              <a:rPr lang="en-US" altLang="en-US" b="1" dirty="0">
                <a:latin typeface="Times New Roman" panose="02020603050405020304" pitchFamily="18" charset="0"/>
                <a:cs typeface="Times New Roman" panose="02020603050405020304" pitchFamily="18" charset="0"/>
              </a:rPr>
              <a:t>very</a:t>
            </a:r>
            <a:r>
              <a:rPr lang="en-US" altLang="en-US" dirty="0">
                <a:latin typeface="Times New Roman" panose="02020603050405020304" pitchFamily="18" charset="0"/>
                <a:cs typeface="Times New Roman" panose="02020603050405020304" pitchFamily="18" charset="0"/>
              </a:rPr>
              <a:t> deep binary tree with lots of different disk accesses; </a:t>
            </a: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We know we can’t improve on the log </a:t>
            </a:r>
            <a:r>
              <a:rPr lang="en-US" altLang="en-US" i="1" dirty="0">
                <a:latin typeface="Times New Roman" panose="02020603050405020304" pitchFamily="18" charset="0"/>
                <a:cs typeface="Times New Roman" panose="02020603050405020304" pitchFamily="18" charset="0"/>
              </a:rPr>
              <a:t>n </a:t>
            </a:r>
            <a:r>
              <a:rPr lang="en-US" altLang="en-US" dirty="0">
                <a:latin typeface="Times New Roman" panose="02020603050405020304" pitchFamily="18" charset="0"/>
                <a:cs typeface="Times New Roman" panose="02020603050405020304" pitchFamily="18" charset="0"/>
              </a:rPr>
              <a:t>lower</a:t>
            </a:r>
            <a:r>
              <a:rPr lang="en-US" altLang="en-US" i="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bound on search for a binary tree</a:t>
            </a:r>
          </a:p>
          <a:p>
            <a:pPr marL="285750" indent="-285750">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But, the solution is to use more branches and thus reduce the height of the tree!</a:t>
            </a:r>
          </a:p>
          <a:p>
            <a:pPr marL="628650" lvl="1"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As branching increases, depth decreases</a:t>
            </a: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65961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67149-37E5-4289-6D41-89BA4C23C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E1EF-4848-A482-5D88-F74ED619E98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3B01A3A4-D068-B29E-4035-E13F2D754E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0F38443-4FCA-CB1F-F934-686573A2A9C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992AFEE-36FA-B606-9724-1A553C67460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B2D5323-AF5A-AC47-8FF8-E0E48DB345E5}"/>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12586AD2-6322-33B9-1762-B63456DC79EE}"/>
              </a:ext>
            </a:extLst>
          </p:cNvPr>
          <p:cNvSpPr/>
          <p:nvPr/>
        </p:nvSpPr>
        <p:spPr>
          <a:xfrm>
            <a:off x="270056" y="963808"/>
            <a:ext cx="8634953" cy="3670044"/>
          </a:xfrm>
          <a:prstGeom prst="rect">
            <a:avLst/>
          </a:prstGeom>
        </p:spPr>
        <p:txBody>
          <a:bodyPr wrap="square">
            <a:spAutoFit/>
          </a:bodyPr>
          <a:lstStyle/>
          <a:p>
            <a:r>
              <a:rPr lang="en-US" altLang="en-US" dirty="0">
                <a:latin typeface="Times New Roman" panose="02020603050405020304" pitchFamily="18" charset="0"/>
                <a:cs typeface="Times New Roman" panose="02020603050405020304" pitchFamily="18" charset="0"/>
              </a:rPr>
              <a:t>A B-tree of order </a:t>
            </a:r>
            <a:r>
              <a:rPr lang="en-US" altLang="en-US" i="1" dirty="0">
                <a:latin typeface="Times New Roman" panose="02020603050405020304" pitchFamily="18" charset="0"/>
                <a:cs typeface="Times New Roman" panose="02020603050405020304" pitchFamily="18" charset="0"/>
              </a:rPr>
              <a:t>m</a:t>
            </a:r>
            <a:r>
              <a:rPr lang="en-US" altLang="en-US" dirty="0">
                <a:latin typeface="Times New Roman" panose="02020603050405020304" pitchFamily="18" charset="0"/>
                <a:cs typeface="Times New Roman" panose="02020603050405020304" pitchFamily="18" charset="0"/>
              </a:rPr>
              <a:t> is an </a:t>
            </a:r>
            <a:r>
              <a:rPr lang="en-US" altLang="en-US" i="1" dirty="0">
                <a:latin typeface="Times New Roman" panose="02020603050405020304" pitchFamily="18" charset="0"/>
                <a:cs typeface="Times New Roman" panose="02020603050405020304" pitchFamily="18" charset="0"/>
              </a:rPr>
              <a:t>m</a:t>
            </a:r>
            <a:r>
              <a:rPr lang="en-US" altLang="en-US" dirty="0">
                <a:latin typeface="Times New Roman" panose="02020603050405020304" pitchFamily="18" charset="0"/>
                <a:cs typeface="Times New Roman" panose="02020603050405020304" pitchFamily="18" charset="0"/>
              </a:rPr>
              <a:t>-way tree (i.e., a tree where each node may have up to </a:t>
            </a:r>
            <a:r>
              <a:rPr lang="en-US" altLang="en-US" i="1" dirty="0">
                <a:latin typeface="Times New Roman" panose="02020603050405020304" pitchFamily="18" charset="0"/>
                <a:cs typeface="Times New Roman" panose="02020603050405020304" pitchFamily="18" charset="0"/>
              </a:rPr>
              <a:t>m</a:t>
            </a:r>
            <a:r>
              <a:rPr lang="en-US" altLang="en-US" dirty="0">
                <a:latin typeface="Times New Roman" panose="02020603050405020304" pitchFamily="18" charset="0"/>
                <a:cs typeface="Times New Roman" panose="02020603050405020304" pitchFamily="18" charset="0"/>
              </a:rPr>
              <a:t> children) in which:</a:t>
            </a:r>
          </a:p>
          <a:p>
            <a:pPr marL="800100" lvl="1" indent="-457200">
              <a:buAutoNum type="arabicPeriod"/>
            </a:pPr>
            <a:r>
              <a:rPr lang="en-US" altLang="en-US" sz="2000" dirty="0">
                <a:latin typeface="Times New Roman" panose="02020603050405020304" pitchFamily="18" charset="0"/>
                <a:cs typeface="Times New Roman" panose="02020603050405020304" pitchFamily="18" charset="0"/>
              </a:rPr>
              <a:t>Balanced M-Way Tree</a:t>
            </a:r>
          </a:p>
          <a:p>
            <a:pPr marL="800100" lvl="1" indent="-457200">
              <a:buAutoNum type="arabicPeriod"/>
            </a:pPr>
            <a:r>
              <a:rPr lang="en-US" altLang="en-US" sz="2000" dirty="0">
                <a:latin typeface="Times New Roman" panose="02020603050405020304" pitchFamily="18" charset="0"/>
                <a:cs typeface="Times New Roman" panose="02020603050405020304" pitchFamily="18" charset="0"/>
              </a:rPr>
              <a:t>Generalized of BST in which a Node can have more than one key and more than 2 children </a:t>
            </a:r>
          </a:p>
          <a:p>
            <a:pPr marL="800100" lvl="1" indent="-457200">
              <a:buAutoNum type="arabicPeriod"/>
            </a:pPr>
            <a:r>
              <a:rPr lang="en-US" altLang="en-US" sz="2000" dirty="0">
                <a:latin typeface="Times New Roman" panose="02020603050405020304" pitchFamily="18" charset="0"/>
                <a:cs typeface="Times New Roman" panose="02020603050405020304" pitchFamily="18" charset="0"/>
              </a:rPr>
              <a:t>Maintain Sorted Data </a:t>
            </a:r>
          </a:p>
          <a:p>
            <a:pPr marL="800100" lvl="1" indent="-457200">
              <a:buFont typeface="+mj-lt"/>
              <a:buAutoNum type="arabicPeriod"/>
            </a:pPr>
            <a:r>
              <a:rPr lang="en-US" altLang="en-US" sz="2000" dirty="0">
                <a:latin typeface="Times New Roman" panose="02020603050405020304" pitchFamily="18" charset="0"/>
                <a:cs typeface="Times New Roman" panose="02020603050405020304" pitchFamily="18" charset="0"/>
              </a:rPr>
              <a:t>All leaves are </a:t>
            </a:r>
            <a:r>
              <a:rPr lang="en-US" altLang="en-US" sz="2000" dirty="0">
                <a:solidFill>
                  <a:srgbClr val="FF5050"/>
                </a:solidFill>
                <a:latin typeface="Times New Roman" panose="02020603050405020304" pitchFamily="18" charset="0"/>
                <a:cs typeface="Times New Roman" panose="02020603050405020304" pitchFamily="18" charset="0"/>
              </a:rPr>
              <a:t>on the same level</a:t>
            </a:r>
          </a:p>
          <a:p>
            <a:pPr marL="800100" lvl="1" indent="-457200">
              <a:buFont typeface="+mj-lt"/>
              <a:buAutoNum type="arabicPeriod"/>
            </a:pPr>
            <a:r>
              <a:rPr lang="en-US" altLang="en-US" sz="2000" dirty="0">
                <a:solidFill>
                  <a:srgbClr val="FF5050"/>
                </a:solidFill>
                <a:latin typeface="Times New Roman" panose="02020603050405020304" pitchFamily="18" charset="0"/>
                <a:cs typeface="Times New Roman" panose="02020603050405020304" pitchFamily="18" charset="0"/>
              </a:rPr>
              <a:t>Every node has max m children </a:t>
            </a:r>
          </a:p>
          <a:p>
            <a:pPr marL="800100" lvl="1" indent="-457200">
              <a:buFont typeface="+mj-lt"/>
              <a:buAutoNum type="arabicPeriod"/>
            </a:pPr>
            <a:r>
              <a:rPr lang="en-US" altLang="en-US" sz="2000" dirty="0">
                <a:solidFill>
                  <a:srgbClr val="FF5050"/>
                </a:solidFill>
                <a:latin typeface="Times New Roman" panose="02020603050405020304" pitchFamily="18" charset="0"/>
                <a:cs typeface="Times New Roman" panose="02020603050405020304" pitchFamily="18" charset="0"/>
              </a:rPr>
              <a:t>Min Children is leaf: 0, Root: 2,</a:t>
            </a:r>
          </a:p>
          <a:p>
            <a:pPr marL="800100" lvl="1" indent="-457200">
              <a:buFont typeface="+mj-lt"/>
              <a:buAutoNum type="arabicPeriod"/>
            </a:pPr>
            <a:r>
              <a:rPr lang="en-US" altLang="en-US" sz="2000" dirty="0">
                <a:latin typeface="Times New Roman" panose="02020603050405020304" pitchFamily="18" charset="0"/>
                <a:cs typeface="Times New Roman" panose="02020603050405020304" pitchFamily="18" charset="0"/>
              </a:rPr>
              <a:t>All non-leaf nodes except the </a:t>
            </a:r>
            <a:r>
              <a:rPr lang="en-US" altLang="en-US" sz="2000" dirty="0">
                <a:solidFill>
                  <a:srgbClr val="FF5050"/>
                </a:solidFill>
                <a:latin typeface="Times New Roman" panose="02020603050405020304" pitchFamily="18" charset="0"/>
                <a:cs typeface="Times New Roman" panose="02020603050405020304" pitchFamily="18" charset="0"/>
              </a:rPr>
              <a:t>root have at least </a:t>
            </a:r>
            <a:r>
              <a:rPr lang="en-US" altLang="en-US" sz="2000" dirty="0">
                <a:solidFill>
                  <a:srgbClr val="FF5050"/>
                </a:solidFill>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solidFill>
                  <a:srgbClr val="FF5050"/>
                </a:solidFill>
                <a:latin typeface="Times New Roman" panose="02020603050405020304" pitchFamily="18" charset="0"/>
                <a:cs typeface="Times New Roman" panose="02020603050405020304" pitchFamily="18" charset="0"/>
              </a:rPr>
              <a:t>m / 2</a:t>
            </a:r>
            <a:r>
              <a:rPr lang="en-US" altLang="en-US" sz="2000" dirty="0">
                <a:solidFill>
                  <a:srgbClr val="FF505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dirty="0">
                <a:solidFill>
                  <a:srgbClr val="FF5050"/>
                </a:solidFill>
                <a:latin typeface="Times New Roman" panose="02020603050405020304" pitchFamily="18" charset="0"/>
                <a:cs typeface="Times New Roman" panose="02020603050405020304" pitchFamily="18" charset="0"/>
              </a:rPr>
              <a:t>children</a:t>
            </a:r>
          </a:p>
          <a:p>
            <a:pPr marL="800100" lvl="1" indent="-457200">
              <a:buFont typeface="+mj-lt"/>
              <a:buAutoNum type="arabicPeriod"/>
            </a:pPr>
            <a:r>
              <a:rPr lang="en-US" altLang="en-US" sz="2000" dirty="0">
                <a:latin typeface="Times New Roman" panose="02020603050405020304" pitchFamily="18" charset="0"/>
                <a:cs typeface="Times New Roman" panose="02020603050405020304" pitchFamily="18" charset="0"/>
              </a:rPr>
              <a:t>The root is either a leaf node, or </a:t>
            </a:r>
            <a:r>
              <a:rPr lang="en-US" altLang="en-US" sz="2000" dirty="0">
                <a:solidFill>
                  <a:srgbClr val="FF5050"/>
                </a:solidFill>
                <a:latin typeface="Times New Roman" panose="02020603050405020304" pitchFamily="18" charset="0"/>
                <a:cs typeface="Times New Roman" panose="02020603050405020304" pitchFamily="18" charset="0"/>
              </a:rPr>
              <a:t>it has from two to m children</a:t>
            </a:r>
          </a:p>
          <a:p>
            <a:pPr marL="800100" lvl="1" indent="-457200">
              <a:buFont typeface="+mj-lt"/>
              <a:buAutoNum type="arabicPeriod"/>
            </a:pPr>
            <a:r>
              <a:rPr lang="en-US" altLang="en-US" sz="2000" dirty="0">
                <a:latin typeface="Times New Roman" panose="02020603050405020304" pitchFamily="18" charset="0"/>
                <a:cs typeface="Times New Roman" panose="02020603050405020304" pitchFamily="18" charset="0"/>
              </a:rPr>
              <a:t>A leaf node contains no more than </a:t>
            </a:r>
            <a:r>
              <a:rPr lang="en-US" altLang="en-US" sz="2000" dirty="0">
                <a:solidFill>
                  <a:srgbClr val="FF5050"/>
                </a:solidFill>
                <a:latin typeface="Times New Roman" panose="02020603050405020304" pitchFamily="18" charset="0"/>
                <a:cs typeface="Times New Roman" panose="02020603050405020304" pitchFamily="18" charset="0"/>
              </a:rPr>
              <a:t>m – 1 keys</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3659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CB679-0DDA-417A-9EB5-1BB149467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30555-D8C6-FD9E-88A5-8D44D20FF32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97B353ED-395E-C7FC-AEE6-849BAB7E35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291B5AE-4EA5-C3B8-808A-6477D643945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7504946-3B83-0FC0-B545-39936F67287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8264CB2-18EB-DB8C-53DF-02ABB176D5C1}"/>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8E0ED73-9E8A-B491-1C11-FAB55146D653}"/>
              </a:ext>
            </a:extLst>
          </p:cNvPr>
          <p:cNvSpPr/>
          <p:nvPr/>
        </p:nvSpPr>
        <p:spPr>
          <a:xfrm>
            <a:off x="270056" y="963808"/>
            <a:ext cx="8634953" cy="3931654"/>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B-tree is a special type of self-balancing search tree in which each node can contain more than one key and can have more than two children. It is a generalized form of the </a:t>
            </a:r>
            <a:r>
              <a:rPr lang="en-US"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binary search tree</a:t>
            </a:r>
            <a:r>
              <a:rPr lang="en-US" dirty="0">
                <a:latin typeface="Times New Roman" panose="02020603050405020304" pitchFamily="18" charset="0"/>
                <a:cs typeface="Times New Roman" panose="02020603050405020304" pitchFamily="18" charset="0"/>
              </a:rPr>
              <a:t>.</a:t>
            </a:r>
          </a:p>
          <a:p>
            <a:pPr>
              <a:lnSpc>
                <a:spcPct val="150000"/>
              </a:lnSpc>
            </a:pPr>
            <a:r>
              <a:rPr lang="en-US" b="1" dirty="0">
                <a:latin typeface="Times New Roman" panose="02020603050405020304" pitchFamily="18" charset="0"/>
                <a:cs typeface="Times New Roman" panose="02020603050405020304" pitchFamily="18" charset="0"/>
              </a:rPr>
              <a:t>A B-Tree is a self-balancing multiway search tree in which:</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node can have more than two children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Keys inside a node are stored in sorted order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tree remains balanced at all times</a:t>
            </a:r>
          </a:p>
          <a:p>
            <a:pPr>
              <a:lnSpc>
                <a:spcPct val="150000"/>
              </a:lnSpc>
            </a:pPr>
            <a:r>
              <a:rPr lang="en-US" dirty="0">
                <a:latin typeface="Times New Roman" panose="02020603050405020304" pitchFamily="18" charset="0"/>
                <a:cs typeface="Times New Roman" panose="02020603050405020304" pitchFamily="18" charset="0"/>
              </a:rPr>
              <a:t>It is mainly used in databases and file systems.</a:t>
            </a:r>
          </a:p>
          <a:p>
            <a:pPr>
              <a:lnSpc>
                <a:spcPct val="150000"/>
              </a:lnSpc>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Why B-Tree is Needed?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Binary Search Trees become inefficient for large data</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Disk access is slow → B-Tree reduces disk I/O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many keys in one node, minimizing tree height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09741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87569-8878-BEC4-7E68-CB72E6492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1D339-8422-6A18-2D64-7B0545353B18}"/>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9D731454-57F5-FC33-ADDD-56622604B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D31E20E-8F7A-2368-0F6C-104640F09317}"/>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6CB55BC2-12AA-7751-5655-D72260F8855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8C501F9-9F89-269F-91FD-8F045A30C55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626D6E20-0F72-74D6-1421-05330E79E5F6}"/>
              </a:ext>
            </a:extLst>
          </p:cNvPr>
          <p:cNvSpPr/>
          <p:nvPr/>
        </p:nvSpPr>
        <p:spPr>
          <a:xfrm>
            <a:off x="270056" y="963808"/>
            <a:ext cx="8634953" cy="2100383"/>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Properties of a B-Tree (Order = m)</a:t>
            </a:r>
          </a:p>
          <a:p>
            <a:r>
              <a:rPr lang="en-US" dirty="0">
                <a:latin typeface="Times New Roman" panose="02020603050405020304" pitchFamily="18" charset="0"/>
                <a:cs typeface="Times New Roman" panose="02020603050405020304" pitchFamily="18" charset="0"/>
              </a:rPr>
              <a:t>B-Tree of order m has the following properties: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node can have at most m children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internal node (except root) has at least ⌈m/2⌉ children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node can store at most (m−1) keys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Keys inside a node are sorted</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leaf nodes are at the same level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Root has at least 2 children (unless it is a leaf)</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10CA6CA-27B0-A696-B424-B298E7233943}"/>
              </a:ext>
            </a:extLst>
          </p:cNvPr>
          <p:cNvPicPr>
            <a:picLocks noChangeAspect="1"/>
          </p:cNvPicPr>
          <p:nvPr/>
        </p:nvPicPr>
        <p:blipFill>
          <a:blip r:embed="rId4"/>
          <a:stretch>
            <a:fillRect/>
          </a:stretch>
        </p:blipFill>
        <p:spPr>
          <a:xfrm>
            <a:off x="4900113" y="881916"/>
            <a:ext cx="4120606" cy="3737462"/>
          </a:xfrm>
          <a:prstGeom prst="rect">
            <a:avLst/>
          </a:prstGeom>
        </p:spPr>
      </p:pic>
    </p:spTree>
    <p:extLst>
      <p:ext uri="{BB962C8B-B14F-4D97-AF65-F5344CB8AC3E}">
        <p14:creationId xmlns:p14="http://schemas.microsoft.com/office/powerpoint/2010/main" val="4270923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991AB41D-95E3-830E-E136-889BC10BA799}"/>
              </a:ext>
            </a:extLst>
          </p:cNvPr>
          <p:cNvSpPr>
            <a:spLocks noGrp="1" noChangeArrowheads="1"/>
          </p:cNvSpPr>
          <p:nvPr>
            <p:ph type="title"/>
          </p:nvPr>
        </p:nvSpPr>
        <p:spPr>
          <a:xfrm>
            <a:off x="1444228" y="171450"/>
            <a:ext cx="6213872" cy="628650"/>
          </a:xfrm>
        </p:spPr>
        <p:txBody>
          <a:bodyPr/>
          <a:lstStyle/>
          <a:p>
            <a:pPr algn="ctr">
              <a:defRPr/>
            </a:pPr>
            <a:r>
              <a:rPr lang="en-US" dirty="0">
                <a:latin typeface="Times New Roman" panose="02020603050405020304" pitchFamily="18" charset="0"/>
                <a:cs typeface="Times New Roman" panose="02020603050405020304" pitchFamily="18" charset="0"/>
              </a:rPr>
              <a:t>Constructing a B-tree</a:t>
            </a:r>
          </a:p>
        </p:txBody>
      </p:sp>
      <p:sp>
        <p:nvSpPr>
          <p:cNvPr id="25603" name="Rectangle 3">
            <a:extLst>
              <a:ext uri="{FF2B5EF4-FFF2-40B4-BE49-F238E27FC236}">
                <a16:creationId xmlns:a16="http://schemas.microsoft.com/office/drawing/2014/main" id="{5CD3F261-8A10-52D5-4A7C-D0D24FFFFA78}"/>
              </a:ext>
            </a:extLst>
          </p:cNvPr>
          <p:cNvSpPr>
            <a:spLocks noGrp="1" noChangeArrowheads="1"/>
          </p:cNvSpPr>
          <p:nvPr>
            <p:ph sz="quarter" idx="1"/>
          </p:nvPr>
        </p:nvSpPr>
        <p:spPr>
          <a:xfrm>
            <a:off x="284269" y="1028700"/>
            <a:ext cx="8442803" cy="3943350"/>
          </a:xfrm>
        </p:spPr>
        <p:txBody>
          <a:bodyPr>
            <a:normAutofit lnSpcReduction="10000"/>
          </a:bodyPr>
          <a:lstStyle/>
          <a:p>
            <a:pPr eaLnBrk="1" hangingPunct="1">
              <a:lnSpc>
                <a:spcPct val="90000"/>
              </a:lnSpc>
            </a:pPr>
            <a:r>
              <a:rPr lang="en-US" altLang="en-US" dirty="0">
                <a:latin typeface="Times New Roman" panose="02020603050405020304" pitchFamily="18" charset="0"/>
                <a:cs typeface="Times New Roman" panose="02020603050405020304" pitchFamily="18" charset="0"/>
              </a:rPr>
              <a:t>Suppose we start with an empty B-tree and keys arrive in the following order:</a:t>
            </a:r>
          </a:p>
          <a:p>
            <a:pPr eaLnBrk="1" hangingPunct="1">
              <a:lnSpc>
                <a:spcPct val="90000"/>
              </a:lnSpc>
              <a:buFontTx/>
              <a:buNone/>
            </a:pPr>
            <a:r>
              <a:rPr lang="en-US" altLang="en-US" dirty="0">
                <a:latin typeface="Times New Roman" panose="02020603050405020304" pitchFamily="18" charset="0"/>
                <a:cs typeface="Times New Roman" panose="02020603050405020304" pitchFamily="18" charset="0"/>
              </a:rPr>
              <a:t>	1  12  8  2  25  6  14  28  17  7  52  16  48  68  3  26  29  53  55  45</a:t>
            </a:r>
          </a:p>
          <a:p>
            <a:pPr eaLnBrk="1" hangingPunct="1">
              <a:lnSpc>
                <a:spcPct val="90000"/>
              </a:lnSpc>
            </a:pPr>
            <a:endParaRPr lang="en-US" altLang="en-US" sz="1050" dirty="0">
              <a:latin typeface="Times New Roman" panose="02020603050405020304" pitchFamily="18" charset="0"/>
              <a:cs typeface="Times New Roman" panose="02020603050405020304" pitchFamily="18" charset="0"/>
            </a:endParaRPr>
          </a:p>
          <a:p>
            <a:pPr eaLnBrk="1" hangingPunct="1">
              <a:lnSpc>
                <a:spcPct val="90000"/>
              </a:lnSpc>
            </a:pPr>
            <a:r>
              <a:rPr lang="en-US" altLang="en-US" dirty="0">
                <a:latin typeface="Times New Roman" panose="02020603050405020304" pitchFamily="18" charset="0"/>
                <a:cs typeface="Times New Roman" panose="02020603050405020304" pitchFamily="18" charset="0"/>
              </a:rPr>
              <a:t>We want to construct a B-tree of order 5</a:t>
            </a:r>
          </a:p>
          <a:p>
            <a:pPr eaLnBrk="1" hangingPunct="1">
              <a:lnSpc>
                <a:spcPct val="90000"/>
              </a:lnSpc>
            </a:pPr>
            <a:endParaRPr lang="en-US" altLang="en-US" sz="1050" dirty="0">
              <a:latin typeface="Times New Roman" panose="02020603050405020304" pitchFamily="18" charset="0"/>
              <a:cs typeface="Times New Roman" panose="02020603050405020304" pitchFamily="18" charset="0"/>
            </a:endParaRPr>
          </a:p>
          <a:p>
            <a:pPr eaLnBrk="1" hangingPunct="1">
              <a:lnSpc>
                <a:spcPct val="90000"/>
              </a:lnSpc>
            </a:pPr>
            <a:r>
              <a:rPr lang="en-US" altLang="en-US" dirty="0">
                <a:latin typeface="Times New Roman" panose="02020603050405020304" pitchFamily="18" charset="0"/>
                <a:cs typeface="Times New Roman" panose="02020603050405020304" pitchFamily="18" charset="0"/>
              </a:rPr>
              <a:t>The first four items go into the root:</a:t>
            </a:r>
          </a:p>
          <a:p>
            <a:pPr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eaLnBrk="1" hangingPunct="1">
              <a:lnSpc>
                <a:spcPct val="90000"/>
              </a:lnSpc>
            </a:pPr>
            <a:endParaRPr lang="en-US" altLang="en-US" dirty="0">
              <a:latin typeface="Times New Roman" panose="02020603050405020304" pitchFamily="18" charset="0"/>
              <a:cs typeface="Times New Roman" panose="02020603050405020304" pitchFamily="18" charset="0"/>
            </a:endParaRPr>
          </a:p>
          <a:p>
            <a:pPr eaLnBrk="1" hangingPunct="1">
              <a:lnSpc>
                <a:spcPct val="90000"/>
              </a:lnSpc>
            </a:pPr>
            <a:r>
              <a:rPr lang="en-US" altLang="en-US" dirty="0">
                <a:latin typeface="Times New Roman" panose="02020603050405020304" pitchFamily="18" charset="0"/>
                <a:cs typeface="Times New Roman" panose="02020603050405020304" pitchFamily="18" charset="0"/>
              </a:rPr>
              <a:t>To put the fifth item in the root would overflow condition 5</a:t>
            </a:r>
          </a:p>
          <a:p>
            <a:pPr eaLnBrk="1" hangingPunct="1">
              <a:lnSpc>
                <a:spcPct val="90000"/>
              </a:lnSpc>
            </a:pPr>
            <a:endParaRPr lang="en-US" altLang="en-US" sz="1050" dirty="0">
              <a:latin typeface="Times New Roman" panose="02020603050405020304" pitchFamily="18" charset="0"/>
              <a:cs typeface="Times New Roman" panose="02020603050405020304" pitchFamily="18" charset="0"/>
            </a:endParaRPr>
          </a:p>
          <a:p>
            <a:pPr eaLnBrk="1" hangingPunct="1">
              <a:lnSpc>
                <a:spcPct val="90000"/>
              </a:lnSpc>
            </a:pPr>
            <a:r>
              <a:rPr lang="en-US" altLang="en-US" dirty="0">
                <a:latin typeface="Times New Roman" panose="02020603050405020304" pitchFamily="18" charset="0"/>
                <a:cs typeface="Times New Roman" panose="02020603050405020304" pitchFamily="18" charset="0"/>
              </a:rPr>
              <a:t>Therefore, when 25 arrives, pick the middle key to make a new root</a:t>
            </a:r>
          </a:p>
        </p:txBody>
      </p:sp>
      <p:sp>
        <p:nvSpPr>
          <p:cNvPr id="25604" name="Text Box 4">
            <a:extLst>
              <a:ext uri="{FF2B5EF4-FFF2-40B4-BE49-F238E27FC236}">
                <a16:creationId xmlns:a16="http://schemas.microsoft.com/office/drawing/2014/main" id="{A1751B94-6283-F958-72ED-1F8401391F90}"/>
              </a:ext>
            </a:extLst>
          </p:cNvPr>
          <p:cNvSpPr txBox="1">
            <a:spLocks noChangeArrowheads="1"/>
          </p:cNvSpPr>
          <p:nvPr/>
        </p:nvSpPr>
        <p:spPr bwMode="auto">
          <a:xfrm>
            <a:off x="3657600" y="315872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rPr>
              <a:t>1</a:t>
            </a:r>
          </a:p>
        </p:txBody>
      </p:sp>
      <p:sp>
        <p:nvSpPr>
          <p:cNvPr id="25605" name="Text Box 5">
            <a:extLst>
              <a:ext uri="{FF2B5EF4-FFF2-40B4-BE49-F238E27FC236}">
                <a16:creationId xmlns:a16="http://schemas.microsoft.com/office/drawing/2014/main" id="{5D3517BC-EC36-3FEA-E36B-1915F293FE2D}"/>
              </a:ext>
            </a:extLst>
          </p:cNvPr>
          <p:cNvSpPr txBox="1">
            <a:spLocks noChangeArrowheads="1"/>
          </p:cNvSpPr>
          <p:nvPr/>
        </p:nvSpPr>
        <p:spPr bwMode="auto">
          <a:xfrm>
            <a:off x="4018360" y="315872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rPr>
              <a:t>2</a:t>
            </a:r>
          </a:p>
        </p:txBody>
      </p:sp>
      <p:sp>
        <p:nvSpPr>
          <p:cNvPr id="25606" name="Text Box 6">
            <a:extLst>
              <a:ext uri="{FF2B5EF4-FFF2-40B4-BE49-F238E27FC236}">
                <a16:creationId xmlns:a16="http://schemas.microsoft.com/office/drawing/2014/main" id="{A38ED98F-076A-A16D-634A-65063C735E5B}"/>
              </a:ext>
            </a:extLst>
          </p:cNvPr>
          <p:cNvSpPr txBox="1">
            <a:spLocks noChangeArrowheads="1"/>
          </p:cNvSpPr>
          <p:nvPr/>
        </p:nvSpPr>
        <p:spPr bwMode="auto">
          <a:xfrm>
            <a:off x="4376737" y="3158728"/>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rPr>
              <a:t>8</a:t>
            </a:r>
          </a:p>
        </p:txBody>
      </p:sp>
      <p:sp>
        <p:nvSpPr>
          <p:cNvPr id="25607" name="Text Box 7">
            <a:extLst>
              <a:ext uri="{FF2B5EF4-FFF2-40B4-BE49-F238E27FC236}">
                <a16:creationId xmlns:a16="http://schemas.microsoft.com/office/drawing/2014/main" id="{15C7D88E-6F1E-6116-0569-BDF45E22DFF4}"/>
              </a:ext>
            </a:extLst>
          </p:cNvPr>
          <p:cNvSpPr txBox="1">
            <a:spLocks noChangeArrowheads="1"/>
          </p:cNvSpPr>
          <p:nvPr/>
        </p:nvSpPr>
        <p:spPr bwMode="auto">
          <a:xfrm>
            <a:off x="4735116" y="3158728"/>
            <a:ext cx="35956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rPr>
              <a:t>12</a:t>
            </a:r>
          </a:p>
        </p:txBody>
      </p:sp>
      <p:pic>
        <p:nvPicPr>
          <p:cNvPr id="2" name="Picture 1">
            <a:extLst>
              <a:ext uri="{FF2B5EF4-FFF2-40B4-BE49-F238E27FC236}">
                <a16:creationId xmlns:a16="http://schemas.microsoft.com/office/drawing/2014/main" id="{B4EA4025-4254-0F96-D9E5-AA5BB9FA5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9491CFE9-50D6-7378-3205-48AFFAF1BAA4}"/>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787141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10">
            <a:extLst>
              <a:ext uri="{FF2B5EF4-FFF2-40B4-BE49-F238E27FC236}">
                <a16:creationId xmlns:a16="http://schemas.microsoft.com/office/drawing/2014/main" id="{9DA4B370-D9A5-C1AB-4E80-AD2A8EA0FA8A}"/>
              </a:ext>
            </a:extLst>
          </p:cNvPr>
          <p:cNvSpPr>
            <a:spLocks noChangeShapeType="1"/>
          </p:cNvSpPr>
          <p:nvPr/>
        </p:nvSpPr>
        <p:spPr bwMode="auto">
          <a:xfrm flipH="1">
            <a:off x="3607962" y="1771650"/>
            <a:ext cx="506838" cy="5464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6627" name="Line 11">
            <a:extLst>
              <a:ext uri="{FF2B5EF4-FFF2-40B4-BE49-F238E27FC236}">
                <a16:creationId xmlns:a16="http://schemas.microsoft.com/office/drawing/2014/main" id="{D2EDFD2F-BB33-9111-C7F4-3D11CEC0F266}"/>
              </a:ext>
            </a:extLst>
          </p:cNvPr>
          <p:cNvSpPr>
            <a:spLocks noChangeShapeType="1"/>
          </p:cNvSpPr>
          <p:nvPr/>
        </p:nvSpPr>
        <p:spPr bwMode="auto">
          <a:xfrm>
            <a:off x="4179462" y="1771650"/>
            <a:ext cx="506838" cy="54645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6388" name="Rectangle 2">
            <a:extLst>
              <a:ext uri="{FF2B5EF4-FFF2-40B4-BE49-F238E27FC236}">
                <a16:creationId xmlns:a16="http://schemas.microsoft.com/office/drawing/2014/main" id="{40192693-F4B5-6DAA-7AF3-EC5BDD18A9D9}"/>
              </a:ext>
            </a:extLst>
          </p:cNvPr>
          <p:cNvSpPr>
            <a:spLocks noGrp="1" noChangeArrowheads="1"/>
          </p:cNvSpPr>
          <p:nvPr>
            <p:ph type="title"/>
          </p:nvPr>
        </p:nvSpPr>
        <p:spPr>
          <a:xfrm>
            <a:off x="1625074" y="273844"/>
            <a:ext cx="6890276" cy="792166"/>
          </a:xfrm>
        </p:spPr>
        <p:txBody>
          <a:bodyPr/>
          <a:lstStyle/>
          <a:p>
            <a:pPr>
              <a:defRPr/>
            </a:pPr>
            <a:r>
              <a:rPr lang="en-US" dirty="0">
                <a:latin typeface="Times New Roman" panose="02020603050405020304" pitchFamily="18" charset="0"/>
                <a:cs typeface="Times New Roman" panose="02020603050405020304" pitchFamily="18" charset="0"/>
              </a:rPr>
              <a:t>Constructing a B-tree (contd.)</a:t>
            </a:r>
          </a:p>
        </p:txBody>
      </p:sp>
      <p:sp>
        <p:nvSpPr>
          <p:cNvPr id="26629" name="Text Box 5">
            <a:extLst>
              <a:ext uri="{FF2B5EF4-FFF2-40B4-BE49-F238E27FC236}">
                <a16:creationId xmlns:a16="http://schemas.microsoft.com/office/drawing/2014/main" id="{9D7D82DF-50E2-A951-DE8E-BADE5827A77D}"/>
              </a:ext>
            </a:extLst>
          </p:cNvPr>
          <p:cNvSpPr txBox="1">
            <a:spLocks noChangeArrowheads="1"/>
          </p:cNvSpPr>
          <p:nvPr/>
        </p:nvSpPr>
        <p:spPr bwMode="auto">
          <a:xfrm>
            <a:off x="3262818" y="2343151"/>
            <a:ext cx="355491" cy="215355"/>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6630" name="Text Box 6">
            <a:extLst>
              <a:ext uri="{FF2B5EF4-FFF2-40B4-BE49-F238E27FC236}">
                <a16:creationId xmlns:a16="http://schemas.microsoft.com/office/drawing/2014/main" id="{20387A2F-3319-D2C8-B0EE-53D9F0E858AA}"/>
              </a:ext>
            </a:extLst>
          </p:cNvPr>
          <p:cNvSpPr txBox="1">
            <a:spLocks noChangeArrowheads="1"/>
          </p:cNvSpPr>
          <p:nvPr/>
        </p:nvSpPr>
        <p:spPr bwMode="auto">
          <a:xfrm>
            <a:off x="3623544" y="2343151"/>
            <a:ext cx="353144" cy="215355"/>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6631" name="Text Box 7">
            <a:extLst>
              <a:ext uri="{FF2B5EF4-FFF2-40B4-BE49-F238E27FC236}">
                <a16:creationId xmlns:a16="http://schemas.microsoft.com/office/drawing/2014/main" id="{FCE2DB4C-7ABB-1980-5AA4-DEA6BC245965}"/>
              </a:ext>
            </a:extLst>
          </p:cNvPr>
          <p:cNvSpPr txBox="1">
            <a:spLocks noChangeArrowheads="1"/>
          </p:cNvSpPr>
          <p:nvPr/>
        </p:nvSpPr>
        <p:spPr bwMode="auto">
          <a:xfrm>
            <a:off x="3981921" y="1600201"/>
            <a:ext cx="353145" cy="215355"/>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6632" name="Text Box 8">
            <a:extLst>
              <a:ext uri="{FF2B5EF4-FFF2-40B4-BE49-F238E27FC236}">
                <a16:creationId xmlns:a16="http://schemas.microsoft.com/office/drawing/2014/main" id="{182B3353-BFEA-EBB9-EE46-EC4841999CDB}"/>
              </a:ext>
            </a:extLst>
          </p:cNvPr>
          <p:cNvSpPr txBox="1">
            <a:spLocks noChangeArrowheads="1"/>
          </p:cNvSpPr>
          <p:nvPr/>
        </p:nvSpPr>
        <p:spPr bwMode="auto">
          <a:xfrm>
            <a:off x="4340318" y="2343151"/>
            <a:ext cx="354317" cy="215355"/>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6633" name="Text Box 9">
            <a:extLst>
              <a:ext uri="{FF2B5EF4-FFF2-40B4-BE49-F238E27FC236}">
                <a16:creationId xmlns:a16="http://schemas.microsoft.com/office/drawing/2014/main" id="{A939D6D3-6010-049F-BA06-6EBA491C1611}"/>
              </a:ext>
            </a:extLst>
          </p:cNvPr>
          <p:cNvSpPr txBox="1">
            <a:spLocks noChangeArrowheads="1"/>
          </p:cNvSpPr>
          <p:nvPr/>
        </p:nvSpPr>
        <p:spPr bwMode="auto">
          <a:xfrm>
            <a:off x="4674884" y="2343151"/>
            <a:ext cx="354317" cy="215355"/>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grpSp>
        <p:nvGrpSpPr>
          <p:cNvPr id="2" name="Group 23">
            <a:extLst>
              <a:ext uri="{FF2B5EF4-FFF2-40B4-BE49-F238E27FC236}">
                <a16:creationId xmlns:a16="http://schemas.microsoft.com/office/drawing/2014/main" id="{383969FF-A453-73CC-F217-1DFD64B82F1A}"/>
              </a:ext>
            </a:extLst>
          </p:cNvPr>
          <p:cNvGrpSpPr>
            <a:grpSpLocks/>
          </p:cNvGrpSpPr>
          <p:nvPr/>
        </p:nvGrpSpPr>
        <p:grpSpPr bwMode="auto">
          <a:xfrm>
            <a:off x="1743324" y="2686050"/>
            <a:ext cx="5800476" cy="1229517"/>
            <a:chOff x="432" y="2256"/>
            <a:chExt cx="4944" cy="1296"/>
          </a:xfrm>
        </p:grpSpPr>
        <p:sp>
          <p:nvSpPr>
            <p:cNvPr id="26635" name="Text Box 12">
              <a:extLst>
                <a:ext uri="{FF2B5EF4-FFF2-40B4-BE49-F238E27FC236}">
                  <a16:creationId xmlns:a16="http://schemas.microsoft.com/office/drawing/2014/main" id="{E2B7ED13-8755-4132-540B-AFE0F7545367}"/>
                </a:ext>
              </a:extLst>
            </p:cNvPr>
            <p:cNvSpPr txBox="1">
              <a:spLocks noChangeArrowheads="1"/>
            </p:cNvSpPr>
            <p:nvPr/>
          </p:nvSpPr>
          <p:spPr bwMode="auto">
            <a:xfrm>
              <a:off x="432" y="2256"/>
              <a:ext cx="494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6, 14, 28 get added to the leaf nodes:</a:t>
              </a:r>
            </a:p>
          </p:txBody>
        </p:sp>
        <p:sp>
          <p:nvSpPr>
            <p:cNvPr id="26636" name="Line 13">
              <a:extLst>
                <a:ext uri="{FF2B5EF4-FFF2-40B4-BE49-F238E27FC236}">
                  <a16:creationId xmlns:a16="http://schemas.microsoft.com/office/drawing/2014/main" id="{064F50CB-C325-7967-11B8-A12034D56568}"/>
                </a:ext>
              </a:extLst>
            </p:cNvPr>
            <p:cNvSpPr>
              <a:spLocks noChangeShapeType="1"/>
            </p:cNvSpPr>
            <p:nvPr/>
          </p:nvSpPr>
          <p:spPr bwMode="auto">
            <a:xfrm flipH="1">
              <a:off x="2064" y="2845"/>
              <a:ext cx="432"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6637" name="Line 14">
              <a:extLst>
                <a:ext uri="{FF2B5EF4-FFF2-40B4-BE49-F238E27FC236}">
                  <a16:creationId xmlns:a16="http://schemas.microsoft.com/office/drawing/2014/main" id="{449EF314-9ADE-BC1F-F0E3-51989F59EE6D}"/>
                </a:ext>
              </a:extLst>
            </p:cNvPr>
            <p:cNvSpPr>
              <a:spLocks noChangeShapeType="1"/>
            </p:cNvSpPr>
            <p:nvPr/>
          </p:nvSpPr>
          <p:spPr bwMode="auto">
            <a:xfrm>
              <a:off x="2544" y="2845"/>
              <a:ext cx="432"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6638" name="Text Box 15">
              <a:extLst>
                <a:ext uri="{FF2B5EF4-FFF2-40B4-BE49-F238E27FC236}">
                  <a16:creationId xmlns:a16="http://schemas.microsoft.com/office/drawing/2014/main" id="{08A86D73-1DEB-72F8-6875-F6D918922E88}"/>
                </a:ext>
              </a:extLst>
            </p:cNvPr>
            <p:cNvSpPr txBox="1">
              <a:spLocks noChangeArrowheads="1"/>
            </p:cNvSpPr>
            <p:nvPr/>
          </p:nvSpPr>
          <p:spPr bwMode="auto">
            <a:xfrm>
              <a:off x="1584" y="3325"/>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6639" name="Text Box 16">
              <a:extLst>
                <a:ext uri="{FF2B5EF4-FFF2-40B4-BE49-F238E27FC236}">
                  <a16:creationId xmlns:a16="http://schemas.microsoft.com/office/drawing/2014/main" id="{887035C6-0C86-E771-9094-27597F974003}"/>
                </a:ext>
              </a:extLst>
            </p:cNvPr>
            <p:cNvSpPr txBox="1">
              <a:spLocks noChangeArrowheads="1"/>
            </p:cNvSpPr>
            <p:nvPr/>
          </p:nvSpPr>
          <p:spPr bwMode="auto">
            <a:xfrm>
              <a:off x="1887" y="3325"/>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6640" name="Text Box 17">
              <a:extLst>
                <a:ext uri="{FF2B5EF4-FFF2-40B4-BE49-F238E27FC236}">
                  <a16:creationId xmlns:a16="http://schemas.microsoft.com/office/drawing/2014/main" id="{AC36E03B-1559-80C3-3F62-D49281E64CFB}"/>
                </a:ext>
              </a:extLst>
            </p:cNvPr>
            <p:cNvSpPr txBox="1">
              <a:spLocks noChangeArrowheads="1"/>
            </p:cNvSpPr>
            <p:nvPr/>
          </p:nvSpPr>
          <p:spPr bwMode="auto">
            <a:xfrm>
              <a:off x="2380" y="2701"/>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6641" name="Text Box 18">
              <a:extLst>
                <a:ext uri="{FF2B5EF4-FFF2-40B4-BE49-F238E27FC236}">
                  <a16:creationId xmlns:a16="http://schemas.microsoft.com/office/drawing/2014/main" id="{09CB67FF-4C82-8F28-EB7A-D86391379180}"/>
                </a:ext>
              </a:extLst>
            </p:cNvPr>
            <p:cNvSpPr txBox="1">
              <a:spLocks noChangeArrowheads="1"/>
            </p:cNvSpPr>
            <p:nvPr/>
          </p:nvSpPr>
          <p:spPr bwMode="auto">
            <a:xfrm>
              <a:off x="2681" y="3325"/>
              <a:ext cx="302"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6642" name="Text Box 19">
              <a:extLst>
                <a:ext uri="{FF2B5EF4-FFF2-40B4-BE49-F238E27FC236}">
                  <a16:creationId xmlns:a16="http://schemas.microsoft.com/office/drawing/2014/main" id="{3BA954CA-9ADD-69BE-AED6-C0D09FF00673}"/>
                </a:ext>
              </a:extLst>
            </p:cNvPr>
            <p:cNvSpPr txBox="1">
              <a:spLocks noChangeArrowheads="1"/>
            </p:cNvSpPr>
            <p:nvPr/>
          </p:nvSpPr>
          <p:spPr bwMode="auto">
            <a:xfrm>
              <a:off x="2962" y="3325"/>
              <a:ext cx="302"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6643" name="Text Box 20">
              <a:extLst>
                <a:ext uri="{FF2B5EF4-FFF2-40B4-BE49-F238E27FC236}">
                  <a16:creationId xmlns:a16="http://schemas.microsoft.com/office/drawing/2014/main" id="{C0FD2B0A-54E8-497E-831D-4C5E7107C97A}"/>
                </a:ext>
              </a:extLst>
            </p:cNvPr>
            <p:cNvSpPr txBox="1">
              <a:spLocks noChangeArrowheads="1"/>
            </p:cNvSpPr>
            <p:nvPr/>
          </p:nvSpPr>
          <p:spPr bwMode="auto">
            <a:xfrm>
              <a:off x="2147" y="3325"/>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6644" name="Text Box 21">
              <a:extLst>
                <a:ext uri="{FF2B5EF4-FFF2-40B4-BE49-F238E27FC236}">
                  <a16:creationId xmlns:a16="http://schemas.microsoft.com/office/drawing/2014/main" id="{DFE5D4B5-0699-3671-9EB4-49AF77A423B5}"/>
                </a:ext>
              </a:extLst>
            </p:cNvPr>
            <p:cNvSpPr txBox="1">
              <a:spLocks noChangeArrowheads="1"/>
            </p:cNvSpPr>
            <p:nvPr/>
          </p:nvSpPr>
          <p:spPr bwMode="auto">
            <a:xfrm>
              <a:off x="3264" y="3325"/>
              <a:ext cx="302"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6645" name="Text Box 22">
              <a:extLst>
                <a:ext uri="{FF2B5EF4-FFF2-40B4-BE49-F238E27FC236}">
                  <a16:creationId xmlns:a16="http://schemas.microsoft.com/office/drawing/2014/main" id="{D375DC88-7E1A-8FBC-7B62-D795C8042560}"/>
                </a:ext>
              </a:extLst>
            </p:cNvPr>
            <p:cNvSpPr txBox="1">
              <a:spLocks noChangeArrowheads="1"/>
            </p:cNvSpPr>
            <p:nvPr/>
          </p:nvSpPr>
          <p:spPr bwMode="auto">
            <a:xfrm>
              <a:off x="3545" y="3325"/>
              <a:ext cx="302"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grpSp>
      <p:pic>
        <p:nvPicPr>
          <p:cNvPr id="3" name="Picture 2">
            <a:extLst>
              <a:ext uri="{FF2B5EF4-FFF2-40B4-BE49-F238E27FC236}">
                <a16:creationId xmlns:a16="http://schemas.microsoft.com/office/drawing/2014/main" id="{5E9E371F-1E3C-DF22-0320-188638001C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3" y="0"/>
            <a:ext cx="714040" cy="807379"/>
          </a:xfrm>
          <a:prstGeom prst="rect">
            <a:avLst/>
          </a:prstGeom>
        </p:spPr>
      </p:pic>
      <p:sp>
        <p:nvSpPr>
          <p:cNvPr id="4" name="Rectangle 3">
            <a:extLst>
              <a:ext uri="{FF2B5EF4-FFF2-40B4-BE49-F238E27FC236}">
                <a16:creationId xmlns:a16="http://schemas.microsoft.com/office/drawing/2014/main" id="{0D714B98-5E96-323F-FE92-E1C7409B5ADC}"/>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13">
            <a:extLst>
              <a:ext uri="{FF2B5EF4-FFF2-40B4-BE49-F238E27FC236}">
                <a16:creationId xmlns:a16="http://schemas.microsoft.com/office/drawing/2014/main" id="{60A88893-AD81-A555-0481-D3464C36C180}"/>
              </a:ext>
            </a:extLst>
          </p:cNvPr>
          <p:cNvSpPr>
            <a:spLocks noChangeShapeType="1"/>
          </p:cNvSpPr>
          <p:nvPr/>
        </p:nvSpPr>
        <p:spPr bwMode="auto">
          <a:xfrm flipH="1">
            <a:off x="3371850" y="2286000"/>
            <a:ext cx="68580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7651" name="Line 14">
            <a:extLst>
              <a:ext uri="{FF2B5EF4-FFF2-40B4-BE49-F238E27FC236}">
                <a16:creationId xmlns:a16="http://schemas.microsoft.com/office/drawing/2014/main" id="{75C70053-EC84-0A1B-2C00-E2BBFBB8693E}"/>
              </a:ext>
            </a:extLst>
          </p:cNvPr>
          <p:cNvSpPr>
            <a:spLocks noChangeShapeType="1"/>
          </p:cNvSpPr>
          <p:nvPr/>
        </p:nvSpPr>
        <p:spPr bwMode="auto">
          <a:xfrm>
            <a:off x="4286250" y="2286000"/>
            <a:ext cx="285750" cy="571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7652" name="Line 15">
            <a:extLst>
              <a:ext uri="{FF2B5EF4-FFF2-40B4-BE49-F238E27FC236}">
                <a16:creationId xmlns:a16="http://schemas.microsoft.com/office/drawing/2014/main" id="{9F0E1091-0B4A-0C44-39C4-5CE21CD0D7EF}"/>
              </a:ext>
            </a:extLst>
          </p:cNvPr>
          <p:cNvSpPr>
            <a:spLocks noChangeShapeType="1"/>
          </p:cNvSpPr>
          <p:nvPr/>
        </p:nvSpPr>
        <p:spPr bwMode="auto">
          <a:xfrm>
            <a:off x="4514850" y="2286000"/>
            <a:ext cx="10287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7413" name="Rectangle 2">
            <a:extLst>
              <a:ext uri="{FF2B5EF4-FFF2-40B4-BE49-F238E27FC236}">
                <a16:creationId xmlns:a16="http://schemas.microsoft.com/office/drawing/2014/main" id="{51C558AF-D8D9-D517-3704-8CDB82C79FCA}"/>
              </a:ext>
            </a:extLst>
          </p:cNvPr>
          <p:cNvSpPr>
            <a:spLocks noGrp="1" noChangeArrowheads="1"/>
          </p:cNvSpPr>
          <p:nvPr>
            <p:ph type="title" idx="4294967295"/>
          </p:nvPr>
        </p:nvSpPr>
        <p:spPr/>
        <p:txBody>
          <a:bodyPr/>
          <a:lstStyle/>
          <a:p>
            <a:pPr algn="ctr">
              <a:defRPr/>
            </a:pPr>
            <a:r>
              <a:rPr lang="en-US" dirty="0">
                <a:latin typeface="Times New Roman" panose="02020603050405020304" pitchFamily="18" charset="0"/>
                <a:cs typeface="Times New Roman" panose="02020603050405020304" pitchFamily="18" charset="0"/>
              </a:rPr>
              <a:t>Constructing a B-tree (contd.)</a:t>
            </a:r>
          </a:p>
        </p:txBody>
      </p:sp>
      <p:sp>
        <p:nvSpPr>
          <p:cNvPr id="27654" name="Text Box 3">
            <a:extLst>
              <a:ext uri="{FF2B5EF4-FFF2-40B4-BE49-F238E27FC236}">
                <a16:creationId xmlns:a16="http://schemas.microsoft.com/office/drawing/2014/main" id="{DB58E8AF-5AC5-39E2-CC79-084BE8394E84}"/>
              </a:ext>
            </a:extLst>
          </p:cNvPr>
          <p:cNvSpPr txBox="1">
            <a:spLocks noChangeArrowheads="1"/>
          </p:cNvSpPr>
          <p:nvPr/>
        </p:nvSpPr>
        <p:spPr bwMode="auto">
          <a:xfrm>
            <a:off x="1485900" y="1314451"/>
            <a:ext cx="62865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Adding 17 to the right leaf node would over-fill it, so we take the middle key, promote it (to the root) and split the leaf</a:t>
            </a:r>
          </a:p>
        </p:txBody>
      </p:sp>
      <p:sp>
        <p:nvSpPr>
          <p:cNvPr id="27655" name="Text Box 4">
            <a:extLst>
              <a:ext uri="{FF2B5EF4-FFF2-40B4-BE49-F238E27FC236}">
                <a16:creationId xmlns:a16="http://schemas.microsoft.com/office/drawing/2014/main" id="{32CFCC38-8B98-F49D-F599-4918D5FD3F2A}"/>
              </a:ext>
            </a:extLst>
          </p:cNvPr>
          <p:cNvSpPr txBox="1">
            <a:spLocks noChangeArrowheads="1"/>
          </p:cNvSpPr>
          <p:nvPr/>
        </p:nvSpPr>
        <p:spPr bwMode="auto">
          <a:xfrm>
            <a:off x="3910013" y="200025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7656" name="Text Box 5">
            <a:extLst>
              <a:ext uri="{FF2B5EF4-FFF2-40B4-BE49-F238E27FC236}">
                <a16:creationId xmlns:a16="http://schemas.microsoft.com/office/drawing/2014/main" id="{8037CFBF-1298-7B02-8C69-A828E99B7BA3}"/>
              </a:ext>
            </a:extLst>
          </p:cNvPr>
          <p:cNvSpPr txBox="1">
            <a:spLocks noChangeArrowheads="1"/>
          </p:cNvSpPr>
          <p:nvPr/>
        </p:nvSpPr>
        <p:spPr bwMode="auto">
          <a:xfrm>
            <a:off x="4270773" y="200025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7657" name="Text Box 6">
            <a:extLst>
              <a:ext uri="{FF2B5EF4-FFF2-40B4-BE49-F238E27FC236}">
                <a16:creationId xmlns:a16="http://schemas.microsoft.com/office/drawing/2014/main" id="{59A0EB57-851B-DBDD-9854-589125D3C0C4}"/>
              </a:ext>
            </a:extLst>
          </p:cNvPr>
          <p:cNvSpPr txBox="1">
            <a:spLocks noChangeArrowheads="1"/>
          </p:cNvSpPr>
          <p:nvPr/>
        </p:nvSpPr>
        <p:spPr bwMode="auto">
          <a:xfrm>
            <a:off x="4195763" y="270152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7658" name="Text Box 7">
            <a:extLst>
              <a:ext uri="{FF2B5EF4-FFF2-40B4-BE49-F238E27FC236}">
                <a16:creationId xmlns:a16="http://schemas.microsoft.com/office/drawing/2014/main" id="{8D32C6C7-F13E-DEFD-C697-98B445580977}"/>
              </a:ext>
            </a:extLst>
          </p:cNvPr>
          <p:cNvSpPr txBox="1">
            <a:spLocks noChangeArrowheads="1"/>
          </p:cNvSpPr>
          <p:nvPr/>
        </p:nvSpPr>
        <p:spPr bwMode="auto">
          <a:xfrm>
            <a:off x="4556523" y="270152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7659" name="Text Box 8">
            <a:extLst>
              <a:ext uri="{FF2B5EF4-FFF2-40B4-BE49-F238E27FC236}">
                <a16:creationId xmlns:a16="http://schemas.microsoft.com/office/drawing/2014/main" id="{118AC4B8-9A45-F9DE-D6E2-64FCB64A7697}"/>
              </a:ext>
            </a:extLst>
          </p:cNvPr>
          <p:cNvSpPr txBox="1">
            <a:spLocks noChangeArrowheads="1"/>
          </p:cNvSpPr>
          <p:nvPr/>
        </p:nvSpPr>
        <p:spPr bwMode="auto">
          <a:xfrm>
            <a:off x="5167313" y="270152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7660" name="Text Box 9">
            <a:extLst>
              <a:ext uri="{FF2B5EF4-FFF2-40B4-BE49-F238E27FC236}">
                <a16:creationId xmlns:a16="http://schemas.microsoft.com/office/drawing/2014/main" id="{ABDE2BF9-1E79-B882-AC06-9329062C2D40}"/>
              </a:ext>
            </a:extLst>
          </p:cNvPr>
          <p:cNvSpPr txBox="1">
            <a:spLocks noChangeArrowheads="1"/>
          </p:cNvSpPr>
          <p:nvPr/>
        </p:nvSpPr>
        <p:spPr bwMode="auto">
          <a:xfrm>
            <a:off x="5528073" y="270152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7661" name="Text Box 10">
            <a:extLst>
              <a:ext uri="{FF2B5EF4-FFF2-40B4-BE49-F238E27FC236}">
                <a16:creationId xmlns:a16="http://schemas.microsoft.com/office/drawing/2014/main" id="{008ED391-470E-0157-1E19-8B4F4B09C265}"/>
              </a:ext>
            </a:extLst>
          </p:cNvPr>
          <p:cNvSpPr txBox="1">
            <a:spLocks noChangeArrowheads="1"/>
          </p:cNvSpPr>
          <p:nvPr/>
        </p:nvSpPr>
        <p:spPr bwMode="auto">
          <a:xfrm>
            <a:off x="2857500" y="270152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7662" name="Text Box 11">
            <a:extLst>
              <a:ext uri="{FF2B5EF4-FFF2-40B4-BE49-F238E27FC236}">
                <a16:creationId xmlns:a16="http://schemas.microsoft.com/office/drawing/2014/main" id="{BAF180CF-F812-D06B-3B20-A211B86E4E68}"/>
              </a:ext>
            </a:extLst>
          </p:cNvPr>
          <p:cNvSpPr txBox="1">
            <a:spLocks noChangeArrowheads="1"/>
          </p:cNvSpPr>
          <p:nvPr/>
        </p:nvSpPr>
        <p:spPr bwMode="auto">
          <a:xfrm>
            <a:off x="3218260" y="270152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7663" name="Text Box 12">
            <a:extLst>
              <a:ext uri="{FF2B5EF4-FFF2-40B4-BE49-F238E27FC236}">
                <a16:creationId xmlns:a16="http://schemas.microsoft.com/office/drawing/2014/main" id="{56230A3F-B290-A0A3-FE3D-A1312B88783B}"/>
              </a:ext>
            </a:extLst>
          </p:cNvPr>
          <p:cNvSpPr txBox="1">
            <a:spLocks noChangeArrowheads="1"/>
          </p:cNvSpPr>
          <p:nvPr/>
        </p:nvSpPr>
        <p:spPr bwMode="auto">
          <a:xfrm>
            <a:off x="3527823" y="270152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grpSp>
        <p:nvGrpSpPr>
          <p:cNvPr id="2" name="Group 34">
            <a:extLst>
              <a:ext uri="{FF2B5EF4-FFF2-40B4-BE49-F238E27FC236}">
                <a16:creationId xmlns:a16="http://schemas.microsoft.com/office/drawing/2014/main" id="{FA90CCC3-CFD0-7BD4-1D4C-4C9C52DD4BFD}"/>
              </a:ext>
            </a:extLst>
          </p:cNvPr>
          <p:cNvGrpSpPr>
            <a:grpSpLocks/>
          </p:cNvGrpSpPr>
          <p:nvPr/>
        </p:nvGrpSpPr>
        <p:grpSpPr bwMode="auto">
          <a:xfrm>
            <a:off x="1543050" y="3028950"/>
            <a:ext cx="6172200" cy="1371600"/>
            <a:chOff x="336" y="2544"/>
            <a:chExt cx="5184" cy="1152"/>
          </a:xfrm>
        </p:grpSpPr>
        <p:sp>
          <p:nvSpPr>
            <p:cNvPr id="27665" name="Text Box 16">
              <a:extLst>
                <a:ext uri="{FF2B5EF4-FFF2-40B4-BE49-F238E27FC236}">
                  <a16:creationId xmlns:a16="http://schemas.microsoft.com/office/drawing/2014/main" id="{FD6F4973-F8C5-4A79-8D65-7F3B3CEEEE46}"/>
                </a:ext>
              </a:extLst>
            </p:cNvPr>
            <p:cNvSpPr txBox="1">
              <a:spLocks noChangeArrowheads="1"/>
            </p:cNvSpPr>
            <p:nvPr/>
          </p:nvSpPr>
          <p:spPr bwMode="auto">
            <a:xfrm>
              <a:off x="336" y="2544"/>
              <a:ext cx="51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7, 52, 16, 48 get added to the leaf nodes</a:t>
              </a:r>
            </a:p>
          </p:txBody>
        </p:sp>
        <p:sp>
          <p:nvSpPr>
            <p:cNvPr id="27666" name="Line 17">
              <a:extLst>
                <a:ext uri="{FF2B5EF4-FFF2-40B4-BE49-F238E27FC236}">
                  <a16:creationId xmlns:a16="http://schemas.microsoft.com/office/drawing/2014/main" id="{D17C4462-B7B7-B318-D1E1-4974642CCAD1}"/>
                </a:ext>
              </a:extLst>
            </p:cNvPr>
            <p:cNvSpPr>
              <a:spLocks noChangeShapeType="1"/>
            </p:cNvSpPr>
            <p:nvPr/>
          </p:nvSpPr>
          <p:spPr bwMode="auto">
            <a:xfrm flipH="1">
              <a:off x="1392" y="3120"/>
              <a:ext cx="1056"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7667" name="Line 18">
              <a:extLst>
                <a:ext uri="{FF2B5EF4-FFF2-40B4-BE49-F238E27FC236}">
                  <a16:creationId xmlns:a16="http://schemas.microsoft.com/office/drawing/2014/main" id="{3E5849EA-6020-BAE4-5E12-6953DA749618}"/>
                </a:ext>
              </a:extLst>
            </p:cNvPr>
            <p:cNvSpPr>
              <a:spLocks noChangeShapeType="1"/>
            </p:cNvSpPr>
            <p:nvPr/>
          </p:nvSpPr>
          <p:spPr bwMode="auto">
            <a:xfrm>
              <a:off x="2640" y="3120"/>
              <a:ext cx="0" cy="48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7668" name="Line 19">
              <a:extLst>
                <a:ext uri="{FF2B5EF4-FFF2-40B4-BE49-F238E27FC236}">
                  <a16:creationId xmlns:a16="http://schemas.microsoft.com/office/drawing/2014/main" id="{D8B13DCB-A9DC-0862-8A03-C7875E6A97C0}"/>
                </a:ext>
              </a:extLst>
            </p:cNvPr>
            <p:cNvSpPr>
              <a:spLocks noChangeShapeType="1"/>
            </p:cNvSpPr>
            <p:nvPr/>
          </p:nvSpPr>
          <p:spPr bwMode="auto">
            <a:xfrm>
              <a:off x="2832" y="3120"/>
              <a:ext cx="1104"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7669" name="Text Box 20">
              <a:extLst>
                <a:ext uri="{FF2B5EF4-FFF2-40B4-BE49-F238E27FC236}">
                  <a16:creationId xmlns:a16="http://schemas.microsoft.com/office/drawing/2014/main" id="{36BF628F-8142-AB56-6D9C-32CDC1E8FDED}"/>
                </a:ext>
              </a:extLst>
            </p:cNvPr>
            <p:cNvSpPr txBox="1">
              <a:spLocks noChangeArrowheads="1"/>
            </p:cNvSpPr>
            <p:nvPr/>
          </p:nvSpPr>
          <p:spPr bwMode="auto">
            <a:xfrm>
              <a:off x="2324" y="2880"/>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7670" name="Text Box 21">
              <a:extLst>
                <a:ext uri="{FF2B5EF4-FFF2-40B4-BE49-F238E27FC236}">
                  <a16:creationId xmlns:a16="http://schemas.microsoft.com/office/drawing/2014/main" id="{5EC5C3E7-54E3-3618-8E47-1CF59FDF0761}"/>
                </a:ext>
              </a:extLst>
            </p:cNvPr>
            <p:cNvSpPr txBox="1">
              <a:spLocks noChangeArrowheads="1"/>
            </p:cNvSpPr>
            <p:nvPr/>
          </p:nvSpPr>
          <p:spPr bwMode="auto">
            <a:xfrm>
              <a:off x="2627" y="2880"/>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7671" name="Text Box 22">
              <a:extLst>
                <a:ext uri="{FF2B5EF4-FFF2-40B4-BE49-F238E27FC236}">
                  <a16:creationId xmlns:a16="http://schemas.microsoft.com/office/drawing/2014/main" id="{AE078C6E-96C6-B21F-FE36-C0EC41678F7B}"/>
                </a:ext>
              </a:extLst>
            </p:cNvPr>
            <p:cNvSpPr txBox="1">
              <a:spLocks noChangeArrowheads="1"/>
            </p:cNvSpPr>
            <p:nvPr/>
          </p:nvSpPr>
          <p:spPr bwMode="auto">
            <a:xfrm>
              <a:off x="2208" y="3469"/>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7672" name="Text Box 23">
              <a:extLst>
                <a:ext uri="{FF2B5EF4-FFF2-40B4-BE49-F238E27FC236}">
                  <a16:creationId xmlns:a16="http://schemas.microsoft.com/office/drawing/2014/main" id="{BDAB0E10-4189-CA93-4068-597E0DFCE550}"/>
                </a:ext>
              </a:extLst>
            </p:cNvPr>
            <p:cNvSpPr txBox="1">
              <a:spLocks noChangeArrowheads="1"/>
            </p:cNvSpPr>
            <p:nvPr/>
          </p:nvSpPr>
          <p:spPr bwMode="auto">
            <a:xfrm>
              <a:off x="2511"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7673" name="Text Box 24">
              <a:extLst>
                <a:ext uri="{FF2B5EF4-FFF2-40B4-BE49-F238E27FC236}">
                  <a16:creationId xmlns:a16="http://schemas.microsoft.com/office/drawing/2014/main" id="{158A59A9-FF5A-6E50-95FF-CA4FA1EA3D1F}"/>
                </a:ext>
              </a:extLst>
            </p:cNvPr>
            <p:cNvSpPr txBox="1">
              <a:spLocks noChangeArrowheads="1"/>
            </p:cNvSpPr>
            <p:nvPr/>
          </p:nvSpPr>
          <p:spPr bwMode="auto">
            <a:xfrm>
              <a:off x="3380" y="3469"/>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7674" name="Text Box 25">
              <a:extLst>
                <a:ext uri="{FF2B5EF4-FFF2-40B4-BE49-F238E27FC236}">
                  <a16:creationId xmlns:a16="http://schemas.microsoft.com/office/drawing/2014/main" id="{C3AA5A65-5E87-1F54-911C-03311D5AD6B5}"/>
                </a:ext>
              </a:extLst>
            </p:cNvPr>
            <p:cNvSpPr txBox="1">
              <a:spLocks noChangeArrowheads="1"/>
            </p:cNvSpPr>
            <p:nvPr/>
          </p:nvSpPr>
          <p:spPr bwMode="auto">
            <a:xfrm>
              <a:off x="3683"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7675" name="Text Box 26">
              <a:extLst>
                <a:ext uri="{FF2B5EF4-FFF2-40B4-BE49-F238E27FC236}">
                  <a16:creationId xmlns:a16="http://schemas.microsoft.com/office/drawing/2014/main" id="{53AA7B6C-E976-240F-7D61-CB1359A8AB8A}"/>
                </a:ext>
              </a:extLst>
            </p:cNvPr>
            <p:cNvSpPr txBox="1">
              <a:spLocks noChangeArrowheads="1"/>
            </p:cNvSpPr>
            <p:nvPr/>
          </p:nvSpPr>
          <p:spPr bwMode="auto">
            <a:xfrm>
              <a:off x="816" y="3469"/>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7676" name="Text Box 27">
              <a:extLst>
                <a:ext uri="{FF2B5EF4-FFF2-40B4-BE49-F238E27FC236}">
                  <a16:creationId xmlns:a16="http://schemas.microsoft.com/office/drawing/2014/main" id="{10F508B0-017D-E999-AC8A-C0D90FBE327F}"/>
                </a:ext>
              </a:extLst>
            </p:cNvPr>
            <p:cNvSpPr txBox="1">
              <a:spLocks noChangeArrowheads="1"/>
            </p:cNvSpPr>
            <p:nvPr/>
          </p:nvSpPr>
          <p:spPr bwMode="auto">
            <a:xfrm>
              <a:off x="1119"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7677" name="Text Box 28">
              <a:extLst>
                <a:ext uri="{FF2B5EF4-FFF2-40B4-BE49-F238E27FC236}">
                  <a16:creationId xmlns:a16="http://schemas.microsoft.com/office/drawing/2014/main" id="{9415D43F-5010-9F99-1199-7D60C8F4ED6D}"/>
                </a:ext>
              </a:extLst>
            </p:cNvPr>
            <p:cNvSpPr txBox="1">
              <a:spLocks noChangeArrowheads="1"/>
            </p:cNvSpPr>
            <p:nvPr/>
          </p:nvSpPr>
          <p:spPr bwMode="auto">
            <a:xfrm>
              <a:off x="1379"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7678" name="Text Box 29">
              <a:extLst>
                <a:ext uri="{FF2B5EF4-FFF2-40B4-BE49-F238E27FC236}">
                  <a16:creationId xmlns:a16="http://schemas.microsoft.com/office/drawing/2014/main" id="{27F52390-D2D1-BA08-A5FE-B9F967DA0594}"/>
                </a:ext>
              </a:extLst>
            </p:cNvPr>
            <p:cNvSpPr txBox="1">
              <a:spLocks noChangeArrowheads="1"/>
            </p:cNvSpPr>
            <p:nvPr/>
          </p:nvSpPr>
          <p:spPr bwMode="auto">
            <a:xfrm>
              <a:off x="2784"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sp>
          <p:nvSpPr>
            <p:cNvPr id="27679" name="Text Box 30">
              <a:extLst>
                <a:ext uri="{FF2B5EF4-FFF2-40B4-BE49-F238E27FC236}">
                  <a16:creationId xmlns:a16="http://schemas.microsoft.com/office/drawing/2014/main" id="{6FD8BD05-0CEE-3C68-779F-F762E1EF4F63}"/>
                </a:ext>
              </a:extLst>
            </p:cNvPr>
            <p:cNvSpPr txBox="1">
              <a:spLocks noChangeArrowheads="1"/>
            </p:cNvSpPr>
            <p:nvPr/>
          </p:nvSpPr>
          <p:spPr bwMode="auto">
            <a:xfrm>
              <a:off x="3956" y="3469"/>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7680" name="Text Box 31">
              <a:extLst>
                <a:ext uri="{FF2B5EF4-FFF2-40B4-BE49-F238E27FC236}">
                  <a16:creationId xmlns:a16="http://schemas.microsoft.com/office/drawing/2014/main" id="{8899AD9F-1683-CFBC-87DD-30D529CC8EA7}"/>
                </a:ext>
              </a:extLst>
            </p:cNvPr>
            <p:cNvSpPr txBox="1">
              <a:spLocks noChangeArrowheads="1"/>
            </p:cNvSpPr>
            <p:nvPr/>
          </p:nvSpPr>
          <p:spPr bwMode="auto">
            <a:xfrm>
              <a:off x="4259"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7681" name="Text Box 33">
              <a:extLst>
                <a:ext uri="{FF2B5EF4-FFF2-40B4-BE49-F238E27FC236}">
                  <a16:creationId xmlns:a16="http://schemas.microsoft.com/office/drawing/2014/main" id="{0F4E78A5-C0AF-68B7-D568-EC4A033A7B60}"/>
                </a:ext>
              </a:extLst>
            </p:cNvPr>
            <p:cNvSpPr txBox="1">
              <a:spLocks noChangeArrowheads="1"/>
            </p:cNvSpPr>
            <p:nvPr/>
          </p:nvSpPr>
          <p:spPr bwMode="auto">
            <a:xfrm>
              <a:off x="1619" y="3469"/>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grpSp>
      <p:pic>
        <p:nvPicPr>
          <p:cNvPr id="3" name="Picture 2">
            <a:extLst>
              <a:ext uri="{FF2B5EF4-FFF2-40B4-BE49-F238E27FC236}">
                <a16:creationId xmlns:a16="http://schemas.microsoft.com/office/drawing/2014/main" id="{5E469946-0CDF-769A-3EE4-244030D09C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3" y="0"/>
            <a:ext cx="714040" cy="807379"/>
          </a:xfrm>
          <a:prstGeom prst="rect">
            <a:avLst/>
          </a:prstGeom>
        </p:spPr>
      </p:pic>
      <p:sp>
        <p:nvSpPr>
          <p:cNvPr id="4" name="Rectangle 3">
            <a:extLst>
              <a:ext uri="{FF2B5EF4-FFF2-40B4-BE49-F238E27FC236}">
                <a16:creationId xmlns:a16="http://schemas.microsoft.com/office/drawing/2014/main" id="{64EB88C4-C7C8-0881-7026-CEFF14182745}"/>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23">
            <a:extLst>
              <a:ext uri="{FF2B5EF4-FFF2-40B4-BE49-F238E27FC236}">
                <a16:creationId xmlns:a16="http://schemas.microsoft.com/office/drawing/2014/main" id="{9E471771-1203-AB43-8EFE-64FA63704D9E}"/>
              </a:ext>
            </a:extLst>
          </p:cNvPr>
          <p:cNvSpPr>
            <a:spLocks noChangeShapeType="1"/>
          </p:cNvSpPr>
          <p:nvPr/>
        </p:nvSpPr>
        <p:spPr bwMode="auto">
          <a:xfrm flipH="1">
            <a:off x="2057400" y="2628900"/>
            <a:ext cx="14859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8675" name="Line 24">
            <a:extLst>
              <a:ext uri="{FF2B5EF4-FFF2-40B4-BE49-F238E27FC236}">
                <a16:creationId xmlns:a16="http://schemas.microsoft.com/office/drawing/2014/main" id="{4E4C9814-45D0-B04A-C56C-9A279877C64F}"/>
              </a:ext>
            </a:extLst>
          </p:cNvPr>
          <p:cNvSpPr>
            <a:spLocks noChangeShapeType="1"/>
          </p:cNvSpPr>
          <p:nvPr/>
        </p:nvSpPr>
        <p:spPr bwMode="auto">
          <a:xfrm flipH="1">
            <a:off x="2914650" y="2628900"/>
            <a:ext cx="9144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8676" name="Line 25">
            <a:extLst>
              <a:ext uri="{FF2B5EF4-FFF2-40B4-BE49-F238E27FC236}">
                <a16:creationId xmlns:a16="http://schemas.microsoft.com/office/drawing/2014/main" id="{43787DA6-6E5C-9BA3-1CF2-77E272C4FE66}"/>
              </a:ext>
            </a:extLst>
          </p:cNvPr>
          <p:cNvSpPr>
            <a:spLocks noChangeShapeType="1"/>
          </p:cNvSpPr>
          <p:nvPr/>
        </p:nvSpPr>
        <p:spPr bwMode="auto">
          <a:xfrm flipH="1">
            <a:off x="3886200" y="2628900"/>
            <a:ext cx="2286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8677" name="Line 26">
            <a:extLst>
              <a:ext uri="{FF2B5EF4-FFF2-40B4-BE49-F238E27FC236}">
                <a16:creationId xmlns:a16="http://schemas.microsoft.com/office/drawing/2014/main" id="{D0879AD5-6BE2-6E29-BB59-E29C2A2108FD}"/>
              </a:ext>
            </a:extLst>
          </p:cNvPr>
          <p:cNvSpPr>
            <a:spLocks noChangeShapeType="1"/>
          </p:cNvSpPr>
          <p:nvPr/>
        </p:nvSpPr>
        <p:spPr bwMode="auto">
          <a:xfrm>
            <a:off x="4514850" y="2628900"/>
            <a:ext cx="685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8678" name="Line 27">
            <a:extLst>
              <a:ext uri="{FF2B5EF4-FFF2-40B4-BE49-F238E27FC236}">
                <a16:creationId xmlns:a16="http://schemas.microsoft.com/office/drawing/2014/main" id="{79150C96-5871-F01B-2F8E-A888C332B910}"/>
              </a:ext>
            </a:extLst>
          </p:cNvPr>
          <p:cNvSpPr>
            <a:spLocks noChangeShapeType="1"/>
          </p:cNvSpPr>
          <p:nvPr/>
        </p:nvSpPr>
        <p:spPr bwMode="auto">
          <a:xfrm>
            <a:off x="4743450" y="2628900"/>
            <a:ext cx="20574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8439" name="Rectangle 2">
            <a:extLst>
              <a:ext uri="{FF2B5EF4-FFF2-40B4-BE49-F238E27FC236}">
                <a16:creationId xmlns:a16="http://schemas.microsoft.com/office/drawing/2014/main" id="{36E76089-7F68-9287-83D4-663D6B057266}"/>
              </a:ext>
            </a:extLst>
          </p:cNvPr>
          <p:cNvSpPr>
            <a:spLocks noGrp="1" noChangeArrowheads="1"/>
          </p:cNvSpPr>
          <p:nvPr>
            <p:ph type="title" idx="4294967295"/>
          </p:nvPr>
        </p:nvSpPr>
        <p:spPr>
          <a:xfrm>
            <a:off x="1444228" y="171450"/>
            <a:ext cx="6213872" cy="685800"/>
          </a:xfrm>
        </p:spPr>
        <p:txBody>
          <a:bodyPr/>
          <a:lstStyle/>
          <a:p>
            <a:pPr>
              <a:defRPr/>
            </a:pPr>
            <a:r>
              <a:rPr lang="en-US" dirty="0">
                <a:latin typeface="Times New Roman" panose="02020603050405020304" pitchFamily="18" charset="0"/>
                <a:cs typeface="Times New Roman" panose="02020603050405020304" pitchFamily="18" charset="0"/>
              </a:rPr>
              <a:t>Constructing a B-tree (contd.)</a:t>
            </a:r>
          </a:p>
        </p:txBody>
      </p:sp>
      <p:sp>
        <p:nvSpPr>
          <p:cNvPr id="28680" name="Text Box 3">
            <a:extLst>
              <a:ext uri="{FF2B5EF4-FFF2-40B4-BE49-F238E27FC236}">
                <a16:creationId xmlns:a16="http://schemas.microsoft.com/office/drawing/2014/main" id="{7EEA186B-C02C-7431-7759-A78DB628134C}"/>
              </a:ext>
            </a:extLst>
          </p:cNvPr>
          <p:cNvSpPr txBox="1">
            <a:spLocks noChangeArrowheads="1"/>
          </p:cNvSpPr>
          <p:nvPr/>
        </p:nvSpPr>
        <p:spPr bwMode="auto">
          <a:xfrm>
            <a:off x="1257300" y="995362"/>
            <a:ext cx="64008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Adding 68 causes us to split the right most leaf, promoting 48 to the root, and adding 3 causes us to split the left most leaf, promoting 3 to the root; 26, 29, 53, 55 then go into the leaves</a:t>
            </a:r>
          </a:p>
        </p:txBody>
      </p:sp>
      <p:sp>
        <p:nvSpPr>
          <p:cNvPr id="28681" name="Text Box 4">
            <a:extLst>
              <a:ext uri="{FF2B5EF4-FFF2-40B4-BE49-F238E27FC236}">
                <a16:creationId xmlns:a16="http://schemas.microsoft.com/office/drawing/2014/main" id="{06048457-AEE7-4998-E614-1506F446F51A}"/>
              </a:ext>
            </a:extLst>
          </p:cNvPr>
          <p:cNvSpPr txBox="1">
            <a:spLocks noChangeArrowheads="1"/>
          </p:cNvSpPr>
          <p:nvPr/>
        </p:nvSpPr>
        <p:spPr bwMode="auto">
          <a:xfrm>
            <a:off x="3429000" y="234315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3</a:t>
            </a:r>
          </a:p>
        </p:txBody>
      </p:sp>
      <p:sp>
        <p:nvSpPr>
          <p:cNvPr id="28682" name="Text Box 5">
            <a:extLst>
              <a:ext uri="{FF2B5EF4-FFF2-40B4-BE49-F238E27FC236}">
                <a16:creationId xmlns:a16="http://schemas.microsoft.com/office/drawing/2014/main" id="{86B36C2C-6B2A-C4BB-AF06-FF2E284EFBCA}"/>
              </a:ext>
            </a:extLst>
          </p:cNvPr>
          <p:cNvSpPr txBox="1">
            <a:spLocks noChangeArrowheads="1"/>
          </p:cNvSpPr>
          <p:nvPr/>
        </p:nvSpPr>
        <p:spPr bwMode="auto">
          <a:xfrm>
            <a:off x="3789760" y="234315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8683" name="Text Box 6">
            <a:extLst>
              <a:ext uri="{FF2B5EF4-FFF2-40B4-BE49-F238E27FC236}">
                <a16:creationId xmlns:a16="http://schemas.microsoft.com/office/drawing/2014/main" id="{828D8ADE-0BD5-E602-B8D7-1795C8115FB1}"/>
              </a:ext>
            </a:extLst>
          </p:cNvPr>
          <p:cNvSpPr txBox="1">
            <a:spLocks noChangeArrowheads="1"/>
          </p:cNvSpPr>
          <p:nvPr/>
        </p:nvSpPr>
        <p:spPr bwMode="auto">
          <a:xfrm>
            <a:off x="4114800" y="234315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8684" name="Text Box 7">
            <a:extLst>
              <a:ext uri="{FF2B5EF4-FFF2-40B4-BE49-F238E27FC236}">
                <a16:creationId xmlns:a16="http://schemas.microsoft.com/office/drawing/2014/main" id="{FE5B774D-6B15-2EED-20BD-37D62C3F00D9}"/>
              </a:ext>
            </a:extLst>
          </p:cNvPr>
          <p:cNvSpPr txBox="1">
            <a:spLocks noChangeArrowheads="1"/>
          </p:cNvSpPr>
          <p:nvPr/>
        </p:nvSpPr>
        <p:spPr bwMode="auto">
          <a:xfrm>
            <a:off x="4475560" y="234315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8685" name="Text Box 8">
            <a:extLst>
              <a:ext uri="{FF2B5EF4-FFF2-40B4-BE49-F238E27FC236}">
                <a16:creationId xmlns:a16="http://schemas.microsoft.com/office/drawing/2014/main" id="{895EA95E-8E14-2A71-4FB4-F0495BBDCC68}"/>
              </a:ext>
            </a:extLst>
          </p:cNvPr>
          <p:cNvSpPr txBox="1">
            <a:spLocks noChangeArrowheads="1"/>
          </p:cNvSpPr>
          <p:nvPr/>
        </p:nvSpPr>
        <p:spPr bwMode="auto">
          <a:xfrm>
            <a:off x="6081713" y="321587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8686" name="Text Box 9">
            <a:extLst>
              <a:ext uri="{FF2B5EF4-FFF2-40B4-BE49-F238E27FC236}">
                <a16:creationId xmlns:a16="http://schemas.microsoft.com/office/drawing/2014/main" id="{CDE22CD1-BF1B-3D64-FFC5-01C7785C6865}"/>
              </a:ext>
            </a:extLst>
          </p:cNvPr>
          <p:cNvSpPr txBox="1">
            <a:spLocks noChangeArrowheads="1"/>
          </p:cNvSpPr>
          <p:nvPr/>
        </p:nvSpPr>
        <p:spPr bwMode="auto">
          <a:xfrm>
            <a:off x="6442473" y="321587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53</a:t>
            </a:r>
          </a:p>
        </p:txBody>
      </p:sp>
      <p:sp>
        <p:nvSpPr>
          <p:cNvPr id="28687" name="Text Box 10">
            <a:extLst>
              <a:ext uri="{FF2B5EF4-FFF2-40B4-BE49-F238E27FC236}">
                <a16:creationId xmlns:a16="http://schemas.microsoft.com/office/drawing/2014/main" id="{38A0EA46-8DAE-0D28-4387-9DB32924CB5B}"/>
              </a:ext>
            </a:extLst>
          </p:cNvPr>
          <p:cNvSpPr txBox="1">
            <a:spLocks noChangeArrowheads="1"/>
          </p:cNvSpPr>
          <p:nvPr/>
        </p:nvSpPr>
        <p:spPr bwMode="auto">
          <a:xfrm>
            <a:off x="6767513" y="321587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55</a:t>
            </a:r>
          </a:p>
        </p:txBody>
      </p:sp>
      <p:sp>
        <p:nvSpPr>
          <p:cNvPr id="28688" name="Text Box 11">
            <a:extLst>
              <a:ext uri="{FF2B5EF4-FFF2-40B4-BE49-F238E27FC236}">
                <a16:creationId xmlns:a16="http://schemas.microsoft.com/office/drawing/2014/main" id="{5AD6203B-B498-81D8-0780-BCA9CE9284FB}"/>
              </a:ext>
            </a:extLst>
          </p:cNvPr>
          <p:cNvSpPr txBox="1">
            <a:spLocks noChangeArrowheads="1"/>
          </p:cNvSpPr>
          <p:nvPr/>
        </p:nvSpPr>
        <p:spPr bwMode="auto">
          <a:xfrm>
            <a:off x="7128273" y="321587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68</a:t>
            </a:r>
          </a:p>
        </p:txBody>
      </p:sp>
      <p:sp>
        <p:nvSpPr>
          <p:cNvPr id="28689" name="Text Box 12">
            <a:extLst>
              <a:ext uri="{FF2B5EF4-FFF2-40B4-BE49-F238E27FC236}">
                <a16:creationId xmlns:a16="http://schemas.microsoft.com/office/drawing/2014/main" id="{69972259-FA9D-2364-DE56-5A67DF8B11BC}"/>
              </a:ext>
            </a:extLst>
          </p:cNvPr>
          <p:cNvSpPr txBox="1">
            <a:spLocks noChangeArrowheads="1"/>
          </p:cNvSpPr>
          <p:nvPr/>
        </p:nvSpPr>
        <p:spPr bwMode="auto">
          <a:xfrm>
            <a:off x="4514850" y="321587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8690" name="Text Box 13">
            <a:extLst>
              <a:ext uri="{FF2B5EF4-FFF2-40B4-BE49-F238E27FC236}">
                <a16:creationId xmlns:a16="http://schemas.microsoft.com/office/drawing/2014/main" id="{3CAB8553-3623-6705-4EDA-7EAA373390F6}"/>
              </a:ext>
            </a:extLst>
          </p:cNvPr>
          <p:cNvSpPr txBox="1">
            <a:spLocks noChangeArrowheads="1"/>
          </p:cNvSpPr>
          <p:nvPr/>
        </p:nvSpPr>
        <p:spPr bwMode="auto">
          <a:xfrm>
            <a:off x="4875610" y="321587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8691" name="Text Box 14">
            <a:extLst>
              <a:ext uri="{FF2B5EF4-FFF2-40B4-BE49-F238E27FC236}">
                <a16:creationId xmlns:a16="http://schemas.microsoft.com/office/drawing/2014/main" id="{6677D61E-FE21-4EEF-5839-1CF87DC6136C}"/>
              </a:ext>
            </a:extLst>
          </p:cNvPr>
          <p:cNvSpPr txBox="1">
            <a:spLocks noChangeArrowheads="1"/>
          </p:cNvSpPr>
          <p:nvPr/>
        </p:nvSpPr>
        <p:spPr bwMode="auto">
          <a:xfrm>
            <a:off x="5200650" y="3215878"/>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8692" name="Text Box 15">
            <a:extLst>
              <a:ext uri="{FF2B5EF4-FFF2-40B4-BE49-F238E27FC236}">
                <a16:creationId xmlns:a16="http://schemas.microsoft.com/office/drawing/2014/main" id="{1A2D1F96-6A69-422C-A8C2-03CF94C8797F}"/>
              </a:ext>
            </a:extLst>
          </p:cNvPr>
          <p:cNvSpPr txBox="1">
            <a:spLocks noChangeArrowheads="1"/>
          </p:cNvSpPr>
          <p:nvPr/>
        </p:nvSpPr>
        <p:spPr bwMode="auto">
          <a:xfrm>
            <a:off x="5561410" y="3215878"/>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8693" name="Text Box 16">
            <a:extLst>
              <a:ext uri="{FF2B5EF4-FFF2-40B4-BE49-F238E27FC236}">
                <a16:creationId xmlns:a16="http://schemas.microsoft.com/office/drawing/2014/main" id="{A4BA063B-F34B-B697-75AB-38CA6FA2B364}"/>
              </a:ext>
            </a:extLst>
          </p:cNvPr>
          <p:cNvSpPr txBox="1">
            <a:spLocks noChangeArrowheads="1"/>
          </p:cNvSpPr>
          <p:nvPr/>
        </p:nvSpPr>
        <p:spPr bwMode="auto">
          <a:xfrm>
            <a:off x="16573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8694" name="Text Box 17">
            <a:extLst>
              <a:ext uri="{FF2B5EF4-FFF2-40B4-BE49-F238E27FC236}">
                <a16:creationId xmlns:a16="http://schemas.microsoft.com/office/drawing/2014/main" id="{4AF47F0C-AE2C-939C-5021-17B23316C3BE}"/>
              </a:ext>
            </a:extLst>
          </p:cNvPr>
          <p:cNvSpPr txBox="1">
            <a:spLocks noChangeArrowheads="1"/>
          </p:cNvSpPr>
          <p:nvPr/>
        </p:nvSpPr>
        <p:spPr bwMode="auto">
          <a:xfrm>
            <a:off x="20181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8695" name="Text Box 18">
            <a:extLst>
              <a:ext uri="{FF2B5EF4-FFF2-40B4-BE49-F238E27FC236}">
                <a16:creationId xmlns:a16="http://schemas.microsoft.com/office/drawing/2014/main" id="{A5A6F000-B9CD-FC3D-0D50-CDCF29E7438A}"/>
              </a:ext>
            </a:extLst>
          </p:cNvPr>
          <p:cNvSpPr txBox="1">
            <a:spLocks noChangeArrowheads="1"/>
          </p:cNvSpPr>
          <p:nvPr/>
        </p:nvSpPr>
        <p:spPr bwMode="auto">
          <a:xfrm>
            <a:off x="25384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8696" name="Text Box 19">
            <a:extLst>
              <a:ext uri="{FF2B5EF4-FFF2-40B4-BE49-F238E27FC236}">
                <a16:creationId xmlns:a16="http://schemas.microsoft.com/office/drawing/2014/main" id="{CE66E19C-3C64-9C5A-6313-5CF4649F2D5D}"/>
              </a:ext>
            </a:extLst>
          </p:cNvPr>
          <p:cNvSpPr txBox="1">
            <a:spLocks noChangeArrowheads="1"/>
          </p:cNvSpPr>
          <p:nvPr/>
        </p:nvSpPr>
        <p:spPr bwMode="auto">
          <a:xfrm>
            <a:off x="28991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sp>
        <p:nvSpPr>
          <p:cNvPr id="28697" name="Text Box 20">
            <a:extLst>
              <a:ext uri="{FF2B5EF4-FFF2-40B4-BE49-F238E27FC236}">
                <a16:creationId xmlns:a16="http://schemas.microsoft.com/office/drawing/2014/main" id="{EDFCD2B3-1C13-EE6C-95BD-81CD40EDAE47}"/>
              </a:ext>
            </a:extLst>
          </p:cNvPr>
          <p:cNvSpPr txBox="1">
            <a:spLocks noChangeArrowheads="1"/>
          </p:cNvSpPr>
          <p:nvPr/>
        </p:nvSpPr>
        <p:spPr bwMode="auto">
          <a:xfrm>
            <a:off x="33718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8698" name="Text Box 21">
            <a:extLst>
              <a:ext uri="{FF2B5EF4-FFF2-40B4-BE49-F238E27FC236}">
                <a16:creationId xmlns:a16="http://schemas.microsoft.com/office/drawing/2014/main" id="{AB0C1BC1-99B2-AC87-5970-F677BF6FA32D}"/>
              </a:ext>
            </a:extLst>
          </p:cNvPr>
          <p:cNvSpPr txBox="1">
            <a:spLocks noChangeArrowheads="1"/>
          </p:cNvSpPr>
          <p:nvPr/>
        </p:nvSpPr>
        <p:spPr bwMode="auto">
          <a:xfrm>
            <a:off x="37326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8699" name="Text Box 22">
            <a:extLst>
              <a:ext uri="{FF2B5EF4-FFF2-40B4-BE49-F238E27FC236}">
                <a16:creationId xmlns:a16="http://schemas.microsoft.com/office/drawing/2014/main" id="{4AE6F823-B49E-7DD7-3DE2-F73D5D4E4213}"/>
              </a:ext>
            </a:extLst>
          </p:cNvPr>
          <p:cNvSpPr txBox="1">
            <a:spLocks noChangeArrowheads="1"/>
          </p:cNvSpPr>
          <p:nvPr/>
        </p:nvSpPr>
        <p:spPr bwMode="auto">
          <a:xfrm>
            <a:off x="4057650" y="32004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grpSp>
        <p:nvGrpSpPr>
          <p:cNvPr id="2" name="Group 34">
            <a:extLst>
              <a:ext uri="{FF2B5EF4-FFF2-40B4-BE49-F238E27FC236}">
                <a16:creationId xmlns:a16="http://schemas.microsoft.com/office/drawing/2014/main" id="{15E52DF3-48FC-30E7-B558-8EFC401C930D}"/>
              </a:ext>
            </a:extLst>
          </p:cNvPr>
          <p:cNvGrpSpPr>
            <a:grpSpLocks/>
          </p:cNvGrpSpPr>
          <p:nvPr/>
        </p:nvGrpSpPr>
        <p:grpSpPr bwMode="auto">
          <a:xfrm>
            <a:off x="1428750" y="3657601"/>
            <a:ext cx="6229350" cy="826294"/>
            <a:chOff x="240" y="3072"/>
            <a:chExt cx="5232" cy="694"/>
          </a:xfrm>
        </p:grpSpPr>
        <p:sp>
          <p:nvSpPr>
            <p:cNvPr id="28701" name="Text Box 28">
              <a:extLst>
                <a:ext uri="{FF2B5EF4-FFF2-40B4-BE49-F238E27FC236}">
                  <a16:creationId xmlns:a16="http://schemas.microsoft.com/office/drawing/2014/main" id="{FF41905C-935F-0433-75EC-1539B81B942F}"/>
                </a:ext>
              </a:extLst>
            </p:cNvPr>
            <p:cNvSpPr txBox="1">
              <a:spLocks noChangeArrowheads="1"/>
            </p:cNvSpPr>
            <p:nvPr/>
          </p:nvSpPr>
          <p:spPr bwMode="auto">
            <a:xfrm>
              <a:off x="240" y="3072"/>
              <a:ext cx="230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Adding 45 causes a split of </a:t>
              </a:r>
            </a:p>
          </p:txBody>
        </p:sp>
        <p:sp>
          <p:nvSpPr>
            <p:cNvPr id="28702" name="Text Box 29">
              <a:extLst>
                <a:ext uri="{FF2B5EF4-FFF2-40B4-BE49-F238E27FC236}">
                  <a16:creationId xmlns:a16="http://schemas.microsoft.com/office/drawing/2014/main" id="{B2210F44-5B80-1339-A0E8-046D8C4420E1}"/>
                </a:ext>
              </a:extLst>
            </p:cNvPr>
            <p:cNvSpPr txBox="1">
              <a:spLocks noChangeArrowheads="1"/>
            </p:cNvSpPr>
            <p:nvPr/>
          </p:nvSpPr>
          <p:spPr bwMode="auto">
            <a:xfrm>
              <a:off x="2496" y="3120"/>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8703" name="Text Box 30">
              <a:extLst>
                <a:ext uri="{FF2B5EF4-FFF2-40B4-BE49-F238E27FC236}">
                  <a16:creationId xmlns:a16="http://schemas.microsoft.com/office/drawing/2014/main" id="{A2D0DAC6-C6F6-3DC2-BA35-2343622439D2}"/>
                </a:ext>
              </a:extLst>
            </p:cNvPr>
            <p:cNvSpPr txBox="1">
              <a:spLocks noChangeArrowheads="1"/>
            </p:cNvSpPr>
            <p:nvPr/>
          </p:nvSpPr>
          <p:spPr bwMode="auto">
            <a:xfrm>
              <a:off x="2799" y="3120"/>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8704" name="Text Box 31">
              <a:extLst>
                <a:ext uri="{FF2B5EF4-FFF2-40B4-BE49-F238E27FC236}">
                  <a16:creationId xmlns:a16="http://schemas.microsoft.com/office/drawing/2014/main" id="{3BF5B50D-6203-17CF-E743-A242EC470323}"/>
                </a:ext>
              </a:extLst>
            </p:cNvPr>
            <p:cNvSpPr txBox="1">
              <a:spLocks noChangeArrowheads="1"/>
            </p:cNvSpPr>
            <p:nvPr/>
          </p:nvSpPr>
          <p:spPr bwMode="auto">
            <a:xfrm>
              <a:off x="3072" y="3120"/>
              <a:ext cx="303"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8705" name="Text Box 32">
              <a:extLst>
                <a:ext uri="{FF2B5EF4-FFF2-40B4-BE49-F238E27FC236}">
                  <a16:creationId xmlns:a16="http://schemas.microsoft.com/office/drawing/2014/main" id="{29D6E430-2900-BDFA-5C0D-81AE55DB22F7}"/>
                </a:ext>
              </a:extLst>
            </p:cNvPr>
            <p:cNvSpPr txBox="1">
              <a:spLocks noChangeArrowheads="1"/>
            </p:cNvSpPr>
            <p:nvPr/>
          </p:nvSpPr>
          <p:spPr bwMode="auto">
            <a:xfrm>
              <a:off x="3375" y="3120"/>
              <a:ext cx="301" cy="227"/>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8706" name="Text Box 33">
              <a:extLst>
                <a:ext uri="{FF2B5EF4-FFF2-40B4-BE49-F238E27FC236}">
                  <a16:creationId xmlns:a16="http://schemas.microsoft.com/office/drawing/2014/main" id="{50FB2FA9-A897-91DC-0EDB-726C92887F0F}"/>
                </a:ext>
              </a:extLst>
            </p:cNvPr>
            <p:cNvSpPr txBox="1">
              <a:spLocks noChangeArrowheads="1"/>
            </p:cNvSpPr>
            <p:nvPr/>
          </p:nvSpPr>
          <p:spPr bwMode="auto">
            <a:xfrm>
              <a:off x="240" y="3456"/>
              <a:ext cx="523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800">
                  <a:latin typeface="Times New Roman" panose="02020603050405020304" pitchFamily="18" charset="0"/>
                  <a:cs typeface="Times New Roman" panose="02020603050405020304" pitchFamily="18" charset="0"/>
                </a:rPr>
                <a:t>and promoting 28 to the root then causes the root to split</a:t>
              </a:r>
            </a:p>
          </p:txBody>
        </p:sp>
      </p:grpSp>
      <p:pic>
        <p:nvPicPr>
          <p:cNvPr id="3" name="Picture 2">
            <a:extLst>
              <a:ext uri="{FF2B5EF4-FFF2-40B4-BE49-F238E27FC236}">
                <a16:creationId xmlns:a16="http://schemas.microsoft.com/office/drawing/2014/main" id="{DD608B1F-4650-8DE0-EB2D-2242E8FC3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3" y="0"/>
            <a:ext cx="714040" cy="807379"/>
          </a:xfrm>
          <a:prstGeom prst="rect">
            <a:avLst/>
          </a:prstGeom>
        </p:spPr>
      </p:pic>
      <p:sp>
        <p:nvSpPr>
          <p:cNvPr id="4" name="Rectangle 3">
            <a:extLst>
              <a:ext uri="{FF2B5EF4-FFF2-40B4-BE49-F238E27FC236}">
                <a16:creationId xmlns:a16="http://schemas.microsoft.com/office/drawing/2014/main" id="{161075EE-0CD5-33C2-7B71-7D2064C602BC}"/>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Line 25">
            <a:extLst>
              <a:ext uri="{FF2B5EF4-FFF2-40B4-BE49-F238E27FC236}">
                <a16:creationId xmlns:a16="http://schemas.microsoft.com/office/drawing/2014/main" id="{64E3FDB6-8B45-AC47-D5FC-1D864DEB0C87}"/>
              </a:ext>
            </a:extLst>
          </p:cNvPr>
          <p:cNvSpPr>
            <a:spLocks noChangeShapeType="1"/>
          </p:cNvSpPr>
          <p:nvPr/>
        </p:nvSpPr>
        <p:spPr bwMode="auto">
          <a:xfrm flipH="1">
            <a:off x="1714500" y="2514600"/>
            <a:ext cx="10287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699" name="Line 26">
            <a:extLst>
              <a:ext uri="{FF2B5EF4-FFF2-40B4-BE49-F238E27FC236}">
                <a16:creationId xmlns:a16="http://schemas.microsoft.com/office/drawing/2014/main" id="{B2990142-F33D-FCAA-4F69-3145DECEBC44}"/>
              </a:ext>
            </a:extLst>
          </p:cNvPr>
          <p:cNvSpPr>
            <a:spLocks noChangeShapeType="1"/>
          </p:cNvSpPr>
          <p:nvPr/>
        </p:nvSpPr>
        <p:spPr bwMode="auto">
          <a:xfrm flipH="1">
            <a:off x="2628900" y="2514600"/>
            <a:ext cx="3429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0" name="Line 27">
            <a:extLst>
              <a:ext uri="{FF2B5EF4-FFF2-40B4-BE49-F238E27FC236}">
                <a16:creationId xmlns:a16="http://schemas.microsoft.com/office/drawing/2014/main" id="{C2506D14-6685-562A-4777-9540723364AD}"/>
              </a:ext>
            </a:extLst>
          </p:cNvPr>
          <p:cNvSpPr>
            <a:spLocks noChangeShapeType="1"/>
          </p:cNvSpPr>
          <p:nvPr/>
        </p:nvSpPr>
        <p:spPr bwMode="auto">
          <a:xfrm>
            <a:off x="3257550" y="2514600"/>
            <a:ext cx="4000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1" name="Line 28">
            <a:extLst>
              <a:ext uri="{FF2B5EF4-FFF2-40B4-BE49-F238E27FC236}">
                <a16:creationId xmlns:a16="http://schemas.microsoft.com/office/drawing/2014/main" id="{1836A6DB-7CB6-BB6E-9A06-91BEEE6D86AF}"/>
              </a:ext>
            </a:extLst>
          </p:cNvPr>
          <p:cNvSpPr>
            <a:spLocks noChangeShapeType="1"/>
          </p:cNvSpPr>
          <p:nvPr/>
        </p:nvSpPr>
        <p:spPr bwMode="auto">
          <a:xfrm flipH="1">
            <a:off x="4686300" y="2514600"/>
            <a:ext cx="7429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2" name="Line 29">
            <a:extLst>
              <a:ext uri="{FF2B5EF4-FFF2-40B4-BE49-F238E27FC236}">
                <a16:creationId xmlns:a16="http://schemas.microsoft.com/office/drawing/2014/main" id="{48F7CE72-9072-C0E5-B69B-7C645DBA2598}"/>
              </a:ext>
            </a:extLst>
          </p:cNvPr>
          <p:cNvSpPr>
            <a:spLocks noChangeShapeType="1"/>
          </p:cNvSpPr>
          <p:nvPr/>
        </p:nvSpPr>
        <p:spPr bwMode="auto">
          <a:xfrm flipH="1">
            <a:off x="5600700" y="2514600"/>
            <a:ext cx="1143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3" name="Line 30">
            <a:extLst>
              <a:ext uri="{FF2B5EF4-FFF2-40B4-BE49-F238E27FC236}">
                <a16:creationId xmlns:a16="http://schemas.microsoft.com/office/drawing/2014/main" id="{B9D5CCCC-9974-B906-93B4-4AFF9649444C}"/>
              </a:ext>
            </a:extLst>
          </p:cNvPr>
          <p:cNvSpPr>
            <a:spLocks noChangeShapeType="1"/>
          </p:cNvSpPr>
          <p:nvPr/>
        </p:nvSpPr>
        <p:spPr bwMode="auto">
          <a:xfrm>
            <a:off x="5943600" y="2514600"/>
            <a:ext cx="9144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4" name="Line 23">
            <a:extLst>
              <a:ext uri="{FF2B5EF4-FFF2-40B4-BE49-F238E27FC236}">
                <a16:creationId xmlns:a16="http://schemas.microsoft.com/office/drawing/2014/main" id="{C75F8426-6DA0-3B77-0920-CC75E986E430}"/>
              </a:ext>
            </a:extLst>
          </p:cNvPr>
          <p:cNvSpPr>
            <a:spLocks noChangeShapeType="1"/>
          </p:cNvSpPr>
          <p:nvPr/>
        </p:nvSpPr>
        <p:spPr bwMode="auto">
          <a:xfrm flipH="1">
            <a:off x="2971800" y="1828800"/>
            <a:ext cx="10858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5" name="Line 24">
            <a:extLst>
              <a:ext uri="{FF2B5EF4-FFF2-40B4-BE49-F238E27FC236}">
                <a16:creationId xmlns:a16="http://schemas.microsoft.com/office/drawing/2014/main" id="{6409CBAE-2F1E-A846-C544-F0FB3AC039F7}"/>
              </a:ext>
            </a:extLst>
          </p:cNvPr>
          <p:cNvSpPr>
            <a:spLocks noChangeShapeType="1"/>
          </p:cNvSpPr>
          <p:nvPr/>
        </p:nvSpPr>
        <p:spPr bwMode="auto">
          <a:xfrm>
            <a:off x="4229100" y="1828800"/>
            <a:ext cx="14859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9466" name="Rectangle 2">
            <a:extLst>
              <a:ext uri="{FF2B5EF4-FFF2-40B4-BE49-F238E27FC236}">
                <a16:creationId xmlns:a16="http://schemas.microsoft.com/office/drawing/2014/main" id="{20B9C520-2794-63E3-31B2-11CB43222D35}"/>
              </a:ext>
            </a:extLst>
          </p:cNvPr>
          <p:cNvSpPr>
            <a:spLocks noGrp="1" noChangeArrowheads="1"/>
          </p:cNvSpPr>
          <p:nvPr>
            <p:ph type="title" idx="4294967295"/>
          </p:nvPr>
        </p:nvSpPr>
        <p:spPr/>
        <p:txBody>
          <a:bodyPr/>
          <a:lstStyle/>
          <a:p>
            <a:pPr algn="ctr">
              <a:defRPr/>
            </a:pPr>
            <a:r>
              <a:rPr lang="en-US" dirty="0">
                <a:latin typeface="Times New Roman" panose="02020603050405020304" pitchFamily="18" charset="0"/>
                <a:cs typeface="Times New Roman" panose="02020603050405020304" pitchFamily="18" charset="0"/>
              </a:rPr>
              <a:t>Constructing a B-tree (contd.)</a:t>
            </a:r>
          </a:p>
        </p:txBody>
      </p:sp>
      <p:sp>
        <p:nvSpPr>
          <p:cNvPr id="29707" name="Text Box 3">
            <a:extLst>
              <a:ext uri="{FF2B5EF4-FFF2-40B4-BE49-F238E27FC236}">
                <a16:creationId xmlns:a16="http://schemas.microsoft.com/office/drawing/2014/main" id="{64F763A8-86C0-8F1A-DB53-FC64C7A678A4}"/>
              </a:ext>
            </a:extLst>
          </p:cNvPr>
          <p:cNvSpPr txBox="1">
            <a:spLocks noChangeArrowheads="1"/>
          </p:cNvSpPr>
          <p:nvPr/>
        </p:nvSpPr>
        <p:spPr bwMode="auto">
          <a:xfrm>
            <a:off x="3976687" y="16002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9708" name="Text Box 4">
            <a:extLst>
              <a:ext uri="{FF2B5EF4-FFF2-40B4-BE49-F238E27FC236}">
                <a16:creationId xmlns:a16="http://schemas.microsoft.com/office/drawing/2014/main" id="{054819A0-A1F6-8213-C876-5E4FDC4CAEF9}"/>
              </a:ext>
            </a:extLst>
          </p:cNvPr>
          <p:cNvSpPr txBox="1">
            <a:spLocks noChangeArrowheads="1"/>
          </p:cNvSpPr>
          <p:nvPr/>
        </p:nvSpPr>
        <p:spPr bwMode="auto">
          <a:xfrm>
            <a:off x="26110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3</a:t>
            </a:r>
          </a:p>
        </p:txBody>
      </p:sp>
      <p:sp>
        <p:nvSpPr>
          <p:cNvPr id="29709" name="Text Box 5">
            <a:extLst>
              <a:ext uri="{FF2B5EF4-FFF2-40B4-BE49-F238E27FC236}">
                <a16:creationId xmlns:a16="http://schemas.microsoft.com/office/drawing/2014/main" id="{B06DEBC6-1903-A15F-81A4-45A9B98815E0}"/>
              </a:ext>
            </a:extLst>
          </p:cNvPr>
          <p:cNvSpPr txBox="1">
            <a:spLocks noChangeArrowheads="1"/>
          </p:cNvSpPr>
          <p:nvPr/>
        </p:nvSpPr>
        <p:spPr bwMode="auto">
          <a:xfrm>
            <a:off x="29718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9710" name="Text Box 6">
            <a:extLst>
              <a:ext uri="{FF2B5EF4-FFF2-40B4-BE49-F238E27FC236}">
                <a16:creationId xmlns:a16="http://schemas.microsoft.com/office/drawing/2014/main" id="{59C52877-F93D-19FC-0E7E-AABDA391E267}"/>
              </a:ext>
            </a:extLst>
          </p:cNvPr>
          <p:cNvSpPr txBox="1">
            <a:spLocks noChangeArrowheads="1"/>
          </p:cNvSpPr>
          <p:nvPr/>
        </p:nvSpPr>
        <p:spPr bwMode="auto">
          <a:xfrm>
            <a:off x="53542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9711" name="Text Box 7">
            <a:extLst>
              <a:ext uri="{FF2B5EF4-FFF2-40B4-BE49-F238E27FC236}">
                <a16:creationId xmlns:a16="http://schemas.microsoft.com/office/drawing/2014/main" id="{E190517E-6321-A9E6-B8DF-9DD699BD3D7A}"/>
              </a:ext>
            </a:extLst>
          </p:cNvPr>
          <p:cNvSpPr txBox="1">
            <a:spLocks noChangeArrowheads="1"/>
          </p:cNvSpPr>
          <p:nvPr/>
        </p:nvSpPr>
        <p:spPr bwMode="auto">
          <a:xfrm>
            <a:off x="57150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9712" name="Text Box 8">
            <a:extLst>
              <a:ext uri="{FF2B5EF4-FFF2-40B4-BE49-F238E27FC236}">
                <a16:creationId xmlns:a16="http://schemas.microsoft.com/office/drawing/2014/main" id="{C1B8BE7E-7D14-7ED8-1CC2-FE64E30323B4}"/>
              </a:ext>
            </a:extLst>
          </p:cNvPr>
          <p:cNvSpPr txBox="1">
            <a:spLocks noChangeArrowheads="1"/>
          </p:cNvSpPr>
          <p:nvPr/>
        </p:nvSpPr>
        <p:spPr bwMode="auto">
          <a:xfrm>
            <a:off x="13716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9713" name="Text Box 9">
            <a:extLst>
              <a:ext uri="{FF2B5EF4-FFF2-40B4-BE49-F238E27FC236}">
                <a16:creationId xmlns:a16="http://schemas.microsoft.com/office/drawing/2014/main" id="{4B977488-D2A3-3867-35FE-577441F0788F}"/>
              </a:ext>
            </a:extLst>
          </p:cNvPr>
          <p:cNvSpPr txBox="1">
            <a:spLocks noChangeArrowheads="1"/>
          </p:cNvSpPr>
          <p:nvPr/>
        </p:nvSpPr>
        <p:spPr bwMode="auto">
          <a:xfrm>
            <a:off x="17323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9714" name="Text Box 10">
            <a:extLst>
              <a:ext uri="{FF2B5EF4-FFF2-40B4-BE49-F238E27FC236}">
                <a16:creationId xmlns:a16="http://schemas.microsoft.com/office/drawing/2014/main" id="{C536F31F-F392-2DEF-8F22-D6F7E867964E}"/>
              </a:ext>
            </a:extLst>
          </p:cNvPr>
          <p:cNvSpPr txBox="1">
            <a:spLocks noChangeArrowheads="1"/>
          </p:cNvSpPr>
          <p:nvPr/>
        </p:nvSpPr>
        <p:spPr bwMode="auto">
          <a:xfrm>
            <a:off x="22860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9715" name="Text Box 11">
            <a:extLst>
              <a:ext uri="{FF2B5EF4-FFF2-40B4-BE49-F238E27FC236}">
                <a16:creationId xmlns:a16="http://schemas.microsoft.com/office/drawing/2014/main" id="{45340B92-9AB0-DF75-11B7-A320273089D5}"/>
              </a:ext>
            </a:extLst>
          </p:cNvPr>
          <p:cNvSpPr txBox="1">
            <a:spLocks noChangeArrowheads="1"/>
          </p:cNvSpPr>
          <p:nvPr/>
        </p:nvSpPr>
        <p:spPr bwMode="auto">
          <a:xfrm>
            <a:off x="26467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sp>
        <p:nvSpPr>
          <p:cNvPr id="29716" name="Text Box 12">
            <a:extLst>
              <a:ext uri="{FF2B5EF4-FFF2-40B4-BE49-F238E27FC236}">
                <a16:creationId xmlns:a16="http://schemas.microsoft.com/office/drawing/2014/main" id="{BADF40E0-9CB7-1DDF-0618-45C0B90EB182}"/>
              </a:ext>
            </a:extLst>
          </p:cNvPr>
          <p:cNvSpPr txBox="1">
            <a:spLocks noChangeArrowheads="1"/>
          </p:cNvSpPr>
          <p:nvPr/>
        </p:nvSpPr>
        <p:spPr bwMode="auto">
          <a:xfrm>
            <a:off x="31432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9717" name="Text Box 13">
            <a:extLst>
              <a:ext uri="{FF2B5EF4-FFF2-40B4-BE49-F238E27FC236}">
                <a16:creationId xmlns:a16="http://schemas.microsoft.com/office/drawing/2014/main" id="{F63CB00A-B23E-8AEF-BB21-F0810174E535}"/>
              </a:ext>
            </a:extLst>
          </p:cNvPr>
          <p:cNvSpPr txBox="1">
            <a:spLocks noChangeArrowheads="1"/>
          </p:cNvSpPr>
          <p:nvPr/>
        </p:nvSpPr>
        <p:spPr bwMode="auto">
          <a:xfrm>
            <a:off x="35040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9718" name="Text Box 14">
            <a:extLst>
              <a:ext uri="{FF2B5EF4-FFF2-40B4-BE49-F238E27FC236}">
                <a16:creationId xmlns:a16="http://schemas.microsoft.com/office/drawing/2014/main" id="{25DFE047-1FD2-D085-5CDB-DC10C1024DCB}"/>
              </a:ext>
            </a:extLst>
          </p:cNvPr>
          <p:cNvSpPr txBox="1">
            <a:spLocks noChangeArrowheads="1"/>
          </p:cNvSpPr>
          <p:nvPr/>
        </p:nvSpPr>
        <p:spPr bwMode="auto">
          <a:xfrm>
            <a:off x="3829050" y="32004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sp>
        <p:nvSpPr>
          <p:cNvPr id="29719" name="Text Box 15">
            <a:extLst>
              <a:ext uri="{FF2B5EF4-FFF2-40B4-BE49-F238E27FC236}">
                <a16:creationId xmlns:a16="http://schemas.microsoft.com/office/drawing/2014/main" id="{1A6D6767-43DD-6234-85B2-E15D97B569AD}"/>
              </a:ext>
            </a:extLst>
          </p:cNvPr>
          <p:cNvSpPr txBox="1">
            <a:spLocks noChangeArrowheads="1"/>
          </p:cNvSpPr>
          <p:nvPr/>
        </p:nvSpPr>
        <p:spPr bwMode="auto">
          <a:xfrm>
            <a:off x="61960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9720" name="Text Box 16">
            <a:extLst>
              <a:ext uri="{FF2B5EF4-FFF2-40B4-BE49-F238E27FC236}">
                <a16:creationId xmlns:a16="http://schemas.microsoft.com/office/drawing/2014/main" id="{2F14F677-38AB-EAE8-D56B-1F72CE3F762C}"/>
              </a:ext>
            </a:extLst>
          </p:cNvPr>
          <p:cNvSpPr txBox="1">
            <a:spLocks noChangeArrowheads="1"/>
          </p:cNvSpPr>
          <p:nvPr/>
        </p:nvSpPr>
        <p:spPr bwMode="auto">
          <a:xfrm>
            <a:off x="65567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53</a:t>
            </a:r>
          </a:p>
        </p:txBody>
      </p:sp>
      <p:sp>
        <p:nvSpPr>
          <p:cNvPr id="29721" name="Text Box 17">
            <a:extLst>
              <a:ext uri="{FF2B5EF4-FFF2-40B4-BE49-F238E27FC236}">
                <a16:creationId xmlns:a16="http://schemas.microsoft.com/office/drawing/2014/main" id="{897B6520-2EDE-8A4D-2DAC-9F14FB01677B}"/>
              </a:ext>
            </a:extLst>
          </p:cNvPr>
          <p:cNvSpPr txBox="1">
            <a:spLocks noChangeArrowheads="1"/>
          </p:cNvSpPr>
          <p:nvPr/>
        </p:nvSpPr>
        <p:spPr bwMode="auto">
          <a:xfrm>
            <a:off x="68818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55</a:t>
            </a:r>
          </a:p>
        </p:txBody>
      </p:sp>
      <p:sp>
        <p:nvSpPr>
          <p:cNvPr id="29722" name="Text Box 18">
            <a:extLst>
              <a:ext uri="{FF2B5EF4-FFF2-40B4-BE49-F238E27FC236}">
                <a16:creationId xmlns:a16="http://schemas.microsoft.com/office/drawing/2014/main" id="{5651D271-3533-2985-670E-748DF4DBD7C5}"/>
              </a:ext>
            </a:extLst>
          </p:cNvPr>
          <p:cNvSpPr txBox="1">
            <a:spLocks noChangeArrowheads="1"/>
          </p:cNvSpPr>
          <p:nvPr/>
        </p:nvSpPr>
        <p:spPr bwMode="auto">
          <a:xfrm>
            <a:off x="72425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68</a:t>
            </a:r>
          </a:p>
        </p:txBody>
      </p:sp>
      <p:sp>
        <p:nvSpPr>
          <p:cNvPr id="29723" name="Text Box 19">
            <a:extLst>
              <a:ext uri="{FF2B5EF4-FFF2-40B4-BE49-F238E27FC236}">
                <a16:creationId xmlns:a16="http://schemas.microsoft.com/office/drawing/2014/main" id="{8F090DD6-FA35-3350-1782-241613141566}"/>
              </a:ext>
            </a:extLst>
          </p:cNvPr>
          <p:cNvSpPr txBox="1">
            <a:spLocks noChangeArrowheads="1"/>
          </p:cNvSpPr>
          <p:nvPr/>
        </p:nvSpPr>
        <p:spPr bwMode="auto">
          <a:xfrm>
            <a:off x="43434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9724" name="Text Box 20">
            <a:extLst>
              <a:ext uri="{FF2B5EF4-FFF2-40B4-BE49-F238E27FC236}">
                <a16:creationId xmlns:a16="http://schemas.microsoft.com/office/drawing/2014/main" id="{F247CEC8-4EB2-420F-E50E-247E122072CD}"/>
              </a:ext>
            </a:extLst>
          </p:cNvPr>
          <p:cNvSpPr txBox="1">
            <a:spLocks noChangeArrowheads="1"/>
          </p:cNvSpPr>
          <p:nvPr/>
        </p:nvSpPr>
        <p:spPr bwMode="auto">
          <a:xfrm>
            <a:off x="47041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9725" name="Text Box 21">
            <a:extLst>
              <a:ext uri="{FF2B5EF4-FFF2-40B4-BE49-F238E27FC236}">
                <a16:creationId xmlns:a16="http://schemas.microsoft.com/office/drawing/2014/main" id="{9EFA2BA0-F4FA-EFFB-AD92-9C7680DAE0BF}"/>
              </a:ext>
            </a:extLst>
          </p:cNvPr>
          <p:cNvSpPr txBox="1">
            <a:spLocks noChangeArrowheads="1"/>
          </p:cNvSpPr>
          <p:nvPr/>
        </p:nvSpPr>
        <p:spPr bwMode="auto">
          <a:xfrm>
            <a:off x="52578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9726" name="Text Box 22">
            <a:extLst>
              <a:ext uri="{FF2B5EF4-FFF2-40B4-BE49-F238E27FC236}">
                <a16:creationId xmlns:a16="http://schemas.microsoft.com/office/drawing/2014/main" id="{239ADFBA-4883-2564-BC1E-085EFF31F47E}"/>
              </a:ext>
            </a:extLst>
          </p:cNvPr>
          <p:cNvSpPr txBox="1">
            <a:spLocks noChangeArrowheads="1"/>
          </p:cNvSpPr>
          <p:nvPr/>
        </p:nvSpPr>
        <p:spPr bwMode="auto">
          <a:xfrm>
            <a:off x="56185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45</a:t>
            </a:r>
          </a:p>
        </p:txBody>
      </p:sp>
      <p:sp>
        <p:nvSpPr>
          <p:cNvPr id="2" name="Rectangle 1">
            <a:extLst>
              <a:ext uri="{FF2B5EF4-FFF2-40B4-BE49-F238E27FC236}">
                <a16:creationId xmlns:a16="http://schemas.microsoft.com/office/drawing/2014/main" id="{5C50EFA8-6072-2CAB-3305-49C809E401DB}"/>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itchFamily="18" charset="0"/>
              </a:rPr>
              <a:t>Dr. Dattatray G. Takale, Department of  Computer engineering, VIIT, Pune-48</a:t>
            </a:r>
            <a:endParaRPr lang="en-IN" b="1" dirty="0">
              <a:solidFill>
                <a:schemeClr val="tx1"/>
              </a:solidFill>
              <a:latin typeface="Times New Roman" panose="02020603050405020304" pitchFamily="18" charset="0"/>
              <a:cs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1EB9-8988-003E-5CBC-45B2EBF7BD88}"/>
              </a:ext>
            </a:extLst>
          </p:cNvPr>
          <p:cNvSpPr>
            <a:spLocks noGrp="1"/>
          </p:cNvSpPr>
          <p:nvPr>
            <p:ph type="title"/>
          </p:nvPr>
        </p:nvSpPr>
        <p:spPr/>
        <p:txBody>
          <a:bodyPr/>
          <a:lstStyle/>
          <a:p>
            <a:pPr algn="ctr">
              <a:defRPr/>
            </a:pPr>
            <a:r>
              <a:rPr lang="en-US" dirty="0">
                <a:latin typeface="Times New Roman" panose="02020603050405020304" pitchFamily="18" charset="0"/>
                <a:cs typeface="Times New Roman" panose="02020603050405020304" pitchFamily="18" charset="0"/>
              </a:rPr>
              <a:t>Properties of B-Trees</a:t>
            </a:r>
            <a:endParaRPr lang="en-IN" dirty="0">
              <a:latin typeface="Times New Roman" panose="02020603050405020304" pitchFamily="18" charset="0"/>
              <a:cs typeface="Times New Roman" panose="02020603050405020304" pitchFamily="18" charset="0"/>
            </a:endParaRPr>
          </a:p>
        </p:txBody>
      </p:sp>
      <p:sp>
        <p:nvSpPr>
          <p:cNvPr id="40963" name="Content Placeholder 2">
            <a:extLst>
              <a:ext uri="{FF2B5EF4-FFF2-40B4-BE49-F238E27FC236}">
                <a16:creationId xmlns:a16="http://schemas.microsoft.com/office/drawing/2014/main" id="{7E8E170B-D641-5A09-A356-062C69B04E0F}"/>
              </a:ext>
            </a:extLst>
          </p:cNvPr>
          <p:cNvSpPr>
            <a:spLocks noGrp="1"/>
          </p:cNvSpPr>
          <p:nvPr>
            <p:ph sz="quarter" idx="1"/>
          </p:nvPr>
        </p:nvSpPr>
        <p:spPr>
          <a:xfrm>
            <a:off x="1485900" y="1200150"/>
            <a:ext cx="5600700" cy="3655219"/>
          </a:xfrm>
        </p:spPr>
        <p:txBody>
          <a:bodyPr>
            <a:normAutofit fontScale="92500" lnSpcReduction="10000"/>
          </a:bodyPr>
          <a:lstStyle/>
          <a:p>
            <a:r>
              <a:rPr lang="en-US" altLang="en-US" dirty="0">
                <a:latin typeface="Times New Roman" panose="02020603050405020304" pitchFamily="18" charset="0"/>
                <a:cs typeface="Times New Roman" panose="02020603050405020304" pitchFamily="18" charset="0"/>
              </a:rPr>
              <a:t>Minimum children= (M/2)</a:t>
            </a:r>
          </a:p>
          <a:p>
            <a:pP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Ex. Order 5 tree it’s (5/2)=3</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Maximum children=M</a:t>
            </a:r>
          </a:p>
          <a:p>
            <a:pP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Order 5 tree it’s 5</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Minimum keys= (M/2)-1</a:t>
            </a:r>
          </a:p>
          <a:p>
            <a:pP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Ex. Order 5 tree it’s (5/2)-1=2</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Maximum keys=M-1</a:t>
            </a:r>
          </a:p>
          <a:p>
            <a:pPr>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Order 5 tree it’s 4 </a:t>
            </a:r>
            <a:endParaRPr lang="en-IN" altLang="en-US"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A095B07-FACD-F5BE-818A-395FDA324A4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261BA-616B-4550-B46E-CE8B13F93C27}"/>
            </a:ext>
          </a:extLst>
        </p:cNvPr>
        <p:cNvGrpSpPr/>
        <p:nvPr/>
      </p:nvGrpSpPr>
      <p:grpSpPr>
        <a:xfrm>
          <a:off x="0" y="0"/>
          <a:ext cx="0" cy="0"/>
          <a:chOff x="0" y="0"/>
          <a:chExt cx="0" cy="0"/>
        </a:xfrm>
      </p:grpSpPr>
      <p:sp>
        <p:nvSpPr>
          <p:cNvPr id="29698" name="Line 25">
            <a:extLst>
              <a:ext uri="{FF2B5EF4-FFF2-40B4-BE49-F238E27FC236}">
                <a16:creationId xmlns:a16="http://schemas.microsoft.com/office/drawing/2014/main" id="{01059A08-3D71-6071-309A-27DD0C9959C1}"/>
              </a:ext>
            </a:extLst>
          </p:cNvPr>
          <p:cNvSpPr>
            <a:spLocks noChangeShapeType="1"/>
          </p:cNvSpPr>
          <p:nvPr/>
        </p:nvSpPr>
        <p:spPr bwMode="auto">
          <a:xfrm flipH="1">
            <a:off x="1714500" y="2514600"/>
            <a:ext cx="10287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699" name="Line 26">
            <a:extLst>
              <a:ext uri="{FF2B5EF4-FFF2-40B4-BE49-F238E27FC236}">
                <a16:creationId xmlns:a16="http://schemas.microsoft.com/office/drawing/2014/main" id="{111C66B3-CC0C-0590-D10D-0FC198EEF306}"/>
              </a:ext>
            </a:extLst>
          </p:cNvPr>
          <p:cNvSpPr>
            <a:spLocks noChangeShapeType="1"/>
          </p:cNvSpPr>
          <p:nvPr/>
        </p:nvSpPr>
        <p:spPr bwMode="auto">
          <a:xfrm flipH="1">
            <a:off x="2628900" y="2514600"/>
            <a:ext cx="3429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0" name="Line 27">
            <a:extLst>
              <a:ext uri="{FF2B5EF4-FFF2-40B4-BE49-F238E27FC236}">
                <a16:creationId xmlns:a16="http://schemas.microsoft.com/office/drawing/2014/main" id="{E7017743-723C-A847-4EC7-E5E12B8B346C}"/>
              </a:ext>
            </a:extLst>
          </p:cNvPr>
          <p:cNvSpPr>
            <a:spLocks noChangeShapeType="1"/>
          </p:cNvSpPr>
          <p:nvPr/>
        </p:nvSpPr>
        <p:spPr bwMode="auto">
          <a:xfrm>
            <a:off x="3257550" y="2514600"/>
            <a:ext cx="4000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1" name="Line 28">
            <a:extLst>
              <a:ext uri="{FF2B5EF4-FFF2-40B4-BE49-F238E27FC236}">
                <a16:creationId xmlns:a16="http://schemas.microsoft.com/office/drawing/2014/main" id="{71137E23-13AF-E439-055C-92C0DFA073DF}"/>
              </a:ext>
            </a:extLst>
          </p:cNvPr>
          <p:cNvSpPr>
            <a:spLocks noChangeShapeType="1"/>
          </p:cNvSpPr>
          <p:nvPr/>
        </p:nvSpPr>
        <p:spPr bwMode="auto">
          <a:xfrm flipH="1">
            <a:off x="4686300" y="2514600"/>
            <a:ext cx="7429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2" name="Line 29">
            <a:extLst>
              <a:ext uri="{FF2B5EF4-FFF2-40B4-BE49-F238E27FC236}">
                <a16:creationId xmlns:a16="http://schemas.microsoft.com/office/drawing/2014/main" id="{F089272C-7D3E-176B-443E-58FBE7F32E62}"/>
              </a:ext>
            </a:extLst>
          </p:cNvPr>
          <p:cNvSpPr>
            <a:spLocks noChangeShapeType="1"/>
          </p:cNvSpPr>
          <p:nvPr/>
        </p:nvSpPr>
        <p:spPr bwMode="auto">
          <a:xfrm flipH="1">
            <a:off x="5600700" y="2514600"/>
            <a:ext cx="1143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3" name="Line 30">
            <a:extLst>
              <a:ext uri="{FF2B5EF4-FFF2-40B4-BE49-F238E27FC236}">
                <a16:creationId xmlns:a16="http://schemas.microsoft.com/office/drawing/2014/main" id="{BC420053-8772-43E5-DA11-57016E1326F0}"/>
              </a:ext>
            </a:extLst>
          </p:cNvPr>
          <p:cNvSpPr>
            <a:spLocks noChangeShapeType="1"/>
          </p:cNvSpPr>
          <p:nvPr/>
        </p:nvSpPr>
        <p:spPr bwMode="auto">
          <a:xfrm>
            <a:off x="5943600" y="2514600"/>
            <a:ext cx="9144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4" name="Line 23">
            <a:extLst>
              <a:ext uri="{FF2B5EF4-FFF2-40B4-BE49-F238E27FC236}">
                <a16:creationId xmlns:a16="http://schemas.microsoft.com/office/drawing/2014/main" id="{8151F1DF-52B4-4014-A5CB-8BB25C54BD8A}"/>
              </a:ext>
            </a:extLst>
          </p:cNvPr>
          <p:cNvSpPr>
            <a:spLocks noChangeShapeType="1"/>
          </p:cNvSpPr>
          <p:nvPr/>
        </p:nvSpPr>
        <p:spPr bwMode="auto">
          <a:xfrm flipH="1">
            <a:off x="2971800" y="1828800"/>
            <a:ext cx="10858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5" name="Line 24">
            <a:extLst>
              <a:ext uri="{FF2B5EF4-FFF2-40B4-BE49-F238E27FC236}">
                <a16:creationId xmlns:a16="http://schemas.microsoft.com/office/drawing/2014/main" id="{62AAFF2F-08D4-DC8C-4567-938734746971}"/>
              </a:ext>
            </a:extLst>
          </p:cNvPr>
          <p:cNvSpPr>
            <a:spLocks noChangeShapeType="1"/>
          </p:cNvSpPr>
          <p:nvPr/>
        </p:nvSpPr>
        <p:spPr bwMode="auto">
          <a:xfrm>
            <a:off x="4229100" y="1828800"/>
            <a:ext cx="14859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9466" name="Rectangle 2">
            <a:extLst>
              <a:ext uri="{FF2B5EF4-FFF2-40B4-BE49-F238E27FC236}">
                <a16:creationId xmlns:a16="http://schemas.microsoft.com/office/drawing/2014/main" id="{64CAE211-7433-4131-928C-3CDE6E240981}"/>
              </a:ext>
            </a:extLst>
          </p:cNvPr>
          <p:cNvSpPr>
            <a:spLocks noGrp="1" noChangeArrowheads="1"/>
          </p:cNvSpPr>
          <p:nvPr>
            <p:ph type="title" idx="4294967295"/>
          </p:nvPr>
        </p:nvSpPr>
        <p:spPr/>
        <p:txBody>
          <a:bodyPr/>
          <a:lstStyle/>
          <a:p>
            <a:pPr>
              <a:defRPr/>
            </a:pPr>
            <a:r>
              <a:rPr lang="en-US">
                <a:latin typeface="Times New Roman" panose="02020603050405020304" pitchFamily="18" charset="0"/>
                <a:cs typeface="Times New Roman" panose="02020603050405020304" pitchFamily="18" charset="0"/>
              </a:rPr>
              <a:t>Constructing a B-tree (contd.)</a:t>
            </a:r>
          </a:p>
        </p:txBody>
      </p:sp>
      <p:sp>
        <p:nvSpPr>
          <p:cNvPr id="29707" name="Text Box 3">
            <a:extLst>
              <a:ext uri="{FF2B5EF4-FFF2-40B4-BE49-F238E27FC236}">
                <a16:creationId xmlns:a16="http://schemas.microsoft.com/office/drawing/2014/main" id="{7004276E-B8D0-9FB7-FA57-51519EFE7FB4}"/>
              </a:ext>
            </a:extLst>
          </p:cNvPr>
          <p:cNvSpPr txBox="1">
            <a:spLocks noChangeArrowheads="1"/>
          </p:cNvSpPr>
          <p:nvPr/>
        </p:nvSpPr>
        <p:spPr bwMode="auto">
          <a:xfrm>
            <a:off x="3976687" y="16002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9708" name="Text Box 4">
            <a:extLst>
              <a:ext uri="{FF2B5EF4-FFF2-40B4-BE49-F238E27FC236}">
                <a16:creationId xmlns:a16="http://schemas.microsoft.com/office/drawing/2014/main" id="{0B8741C8-3CAE-6D4C-1FE8-C324065BF91B}"/>
              </a:ext>
            </a:extLst>
          </p:cNvPr>
          <p:cNvSpPr txBox="1">
            <a:spLocks noChangeArrowheads="1"/>
          </p:cNvSpPr>
          <p:nvPr/>
        </p:nvSpPr>
        <p:spPr bwMode="auto">
          <a:xfrm>
            <a:off x="26110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3</a:t>
            </a:r>
          </a:p>
        </p:txBody>
      </p:sp>
      <p:sp>
        <p:nvSpPr>
          <p:cNvPr id="29709" name="Text Box 5">
            <a:extLst>
              <a:ext uri="{FF2B5EF4-FFF2-40B4-BE49-F238E27FC236}">
                <a16:creationId xmlns:a16="http://schemas.microsoft.com/office/drawing/2014/main" id="{8D3D12D2-0CD8-CEEB-81EC-CF2C2E5F597F}"/>
              </a:ext>
            </a:extLst>
          </p:cNvPr>
          <p:cNvSpPr txBox="1">
            <a:spLocks noChangeArrowheads="1"/>
          </p:cNvSpPr>
          <p:nvPr/>
        </p:nvSpPr>
        <p:spPr bwMode="auto">
          <a:xfrm>
            <a:off x="29718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9710" name="Text Box 6">
            <a:extLst>
              <a:ext uri="{FF2B5EF4-FFF2-40B4-BE49-F238E27FC236}">
                <a16:creationId xmlns:a16="http://schemas.microsoft.com/office/drawing/2014/main" id="{5081EF31-AD4D-1B38-5E14-BE2C98C4C903}"/>
              </a:ext>
            </a:extLst>
          </p:cNvPr>
          <p:cNvSpPr txBox="1">
            <a:spLocks noChangeArrowheads="1"/>
          </p:cNvSpPr>
          <p:nvPr/>
        </p:nvSpPr>
        <p:spPr bwMode="auto">
          <a:xfrm>
            <a:off x="53542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9711" name="Text Box 7">
            <a:extLst>
              <a:ext uri="{FF2B5EF4-FFF2-40B4-BE49-F238E27FC236}">
                <a16:creationId xmlns:a16="http://schemas.microsoft.com/office/drawing/2014/main" id="{70851CAD-9F85-6F81-64A4-07BA95D2321D}"/>
              </a:ext>
            </a:extLst>
          </p:cNvPr>
          <p:cNvSpPr txBox="1">
            <a:spLocks noChangeArrowheads="1"/>
          </p:cNvSpPr>
          <p:nvPr/>
        </p:nvSpPr>
        <p:spPr bwMode="auto">
          <a:xfrm>
            <a:off x="57150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9712" name="Text Box 8">
            <a:extLst>
              <a:ext uri="{FF2B5EF4-FFF2-40B4-BE49-F238E27FC236}">
                <a16:creationId xmlns:a16="http://schemas.microsoft.com/office/drawing/2014/main" id="{216CF1F2-7446-E983-9A19-687E1116DF8B}"/>
              </a:ext>
            </a:extLst>
          </p:cNvPr>
          <p:cNvSpPr txBox="1">
            <a:spLocks noChangeArrowheads="1"/>
          </p:cNvSpPr>
          <p:nvPr/>
        </p:nvSpPr>
        <p:spPr bwMode="auto">
          <a:xfrm>
            <a:off x="13716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9713" name="Text Box 9">
            <a:extLst>
              <a:ext uri="{FF2B5EF4-FFF2-40B4-BE49-F238E27FC236}">
                <a16:creationId xmlns:a16="http://schemas.microsoft.com/office/drawing/2014/main" id="{DBC8D64C-C763-2BA1-9010-85F5B00C836D}"/>
              </a:ext>
            </a:extLst>
          </p:cNvPr>
          <p:cNvSpPr txBox="1">
            <a:spLocks noChangeArrowheads="1"/>
          </p:cNvSpPr>
          <p:nvPr/>
        </p:nvSpPr>
        <p:spPr bwMode="auto">
          <a:xfrm>
            <a:off x="17323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9714" name="Text Box 10">
            <a:extLst>
              <a:ext uri="{FF2B5EF4-FFF2-40B4-BE49-F238E27FC236}">
                <a16:creationId xmlns:a16="http://schemas.microsoft.com/office/drawing/2014/main" id="{9C0C8741-6ECB-BF0E-5934-91EFA9B6DB9D}"/>
              </a:ext>
            </a:extLst>
          </p:cNvPr>
          <p:cNvSpPr txBox="1">
            <a:spLocks noChangeArrowheads="1"/>
          </p:cNvSpPr>
          <p:nvPr/>
        </p:nvSpPr>
        <p:spPr bwMode="auto">
          <a:xfrm>
            <a:off x="22860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9715" name="Text Box 11">
            <a:extLst>
              <a:ext uri="{FF2B5EF4-FFF2-40B4-BE49-F238E27FC236}">
                <a16:creationId xmlns:a16="http://schemas.microsoft.com/office/drawing/2014/main" id="{1EEC6BBA-DACB-5643-5059-B7198BA880BE}"/>
              </a:ext>
            </a:extLst>
          </p:cNvPr>
          <p:cNvSpPr txBox="1">
            <a:spLocks noChangeArrowheads="1"/>
          </p:cNvSpPr>
          <p:nvPr/>
        </p:nvSpPr>
        <p:spPr bwMode="auto">
          <a:xfrm>
            <a:off x="26467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sp>
        <p:nvSpPr>
          <p:cNvPr id="29716" name="Text Box 12">
            <a:extLst>
              <a:ext uri="{FF2B5EF4-FFF2-40B4-BE49-F238E27FC236}">
                <a16:creationId xmlns:a16="http://schemas.microsoft.com/office/drawing/2014/main" id="{3C967B89-AB2D-915B-0FF6-43E702986303}"/>
              </a:ext>
            </a:extLst>
          </p:cNvPr>
          <p:cNvSpPr txBox="1">
            <a:spLocks noChangeArrowheads="1"/>
          </p:cNvSpPr>
          <p:nvPr/>
        </p:nvSpPr>
        <p:spPr bwMode="auto">
          <a:xfrm>
            <a:off x="31432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9717" name="Text Box 13">
            <a:extLst>
              <a:ext uri="{FF2B5EF4-FFF2-40B4-BE49-F238E27FC236}">
                <a16:creationId xmlns:a16="http://schemas.microsoft.com/office/drawing/2014/main" id="{AEF27457-7C71-B573-55D7-720FD108AEA2}"/>
              </a:ext>
            </a:extLst>
          </p:cNvPr>
          <p:cNvSpPr txBox="1">
            <a:spLocks noChangeArrowheads="1"/>
          </p:cNvSpPr>
          <p:nvPr/>
        </p:nvSpPr>
        <p:spPr bwMode="auto">
          <a:xfrm>
            <a:off x="35040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9718" name="Text Box 14">
            <a:extLst>
              <a:ext uri="{FF2B5EF4-FFF2-40B4-BE49-F238E27FC236}">
                <a16:creationId xmlns:a16="http://schemas.microsoft.com/office/drawing/2014/main" id="{D4BAAAE2-683B-FEAE-84AB-E9605E204041}"/>
              </a:ext>
            </a:extLst>
          </p:cNvPr>
          <p:cNvSpPr txBox="1">
            <a:spLocks noChangeArrowheads="1"/>
          </p:cNvSpPr>
          <p:nvPr/>
        </p:nvSpPr>
        <p:spPr bwMode="auto">
          <a:xfrm>
            <a:off x="3829050" y="32004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sp>
        <p:nvSpPr>
          <p:cNvPr id="29719" name="Text Box 15">
            <a:extLst>
              <a:ext uri="{FF2B5EF4-FFF2-40B4-BE49-F238E27FC236}">
                <a16:creationId xmlns:a16="http://schemas.microsoft.com/office/drawing/2014/main" id="{2B62AFBD-FF15-2E0B-E1A3-92373708FDF6}"/>
              </a:ext>
            </a:extLst>
          </p:cNvPr>
          <p:cNvSpPr txBox="1">
            <a:spLocks noChangeArrowheads="1"/>
          </p:cNvSpPr>
          <p:nvPr/>
        </p:nvSpPr>
        <p:spPr bwMode="auto">
          <a:xfrm>
            <a:off x="61960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9720" name="Text Box 16">
            <a:extLst>
              <a:ext uri="{FF2B5EF4-FFF2-40B4-BE49-F238E27FC236}">
                <a16:creationId xmlns:a16="http://schemas.microsoft.com/office/drawing/2014/main" id="{4207FC78-16BB-3AB3-7761-46494B666C35}"/>
              </a:ext>
            </a:extLst>
          </p:cNvPr>
          <p:cNvSpPr txBox="1">
            <a:spLocks noChangeArrowheads="1"/>
          </p:cNvSpPr>
          <p:nvPr/>
        </p:nvSpPr>
        <p:spPr bwMode="auto">
          <a:xfrm>
            <a:off x="65567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53</a:t>
            </a:r>
          </a:p>
        </p:txBody>
      </p:sp>
      <p:sp>
        <p:nvSpPr>
          <p:cNvPr id="29721" name="Text Box 17">
            <a:extLst>
              <a:ext uri="{FF2B5EF4-FFF2-40B4-BE49-F238E27FC236}">
                <a16:creationId xmlns:a16="http://schemas.microsoft.com/office/drawing/2014/main" id="{28E89E82-79F0-A4CE-5DC6-6844A9F10D03}"/>
              </a:ext>
            </a:extLst>
          </p:cNvPr>
          <p:cNvSpPr txBox="1">
            <a:spLocks noChangeArrowheads="1"/>
          </p:cNvSpPr>
          <p:nvPr/>
        </p:nvSpPr>
        <p:spPr bwMode="auto">
          <a:xfrm>
            <a:off x="68818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55</a:t>
            </a:r>
          </a:p>
        </p:txBody>
      </p:sp>
      <p:sp>
        <p:nvSpPr>
          <p:cNvPr id="29722" name="Text Box 18">
            <a:extLst>
              <a:ext uri="{FF2B5EF4-FFF2-40B4-BE49-F238E27FC236}">
                <a16:creationId xmlns:a16="http://schemas.microsoft.com/office/drawing/2014/main" id="{0AE7A908-9AA4-57AA-07A8-1BA946FDC1A8}"/>
              </a:ext>
            </a:extLst>
          </p:cNvPr>
          <p:cNvSpPr txBox="1">
            <a:spLocks noChangeArrowheads="1"/>
          </p:cNvSpPr>
          <p:nvPr/>
        </p:nvSpPr>
        <p:spPr bwMode="auto">
          <a:xfrm>
            <a:off x="72425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68</a:t>
            </a:r>
          </a:p>
        </p:txBody>
      </p:sp>
      <p:sp>
        <p:nvSpPr>
          <p:cNvPr id="29723" name="Text Box 19">
            <a:extLst>
              <a:ext uri="{FF2B5EF4-FFF2-40B4-BE49-F238E27FC236}">
                <a16:creationId xmlns:a16="http://schemas.microsoft.com/office/drawing/2014/main" id="{1AAC13AF-11C3-400E-481E-6864F645D093}"/>
              </a:ext>
            </a:extLst>
          </p:cNvPr>
          <p:cNvSpPr txBox="1">
            <a:spLocks noChangeArrowheads="1"/>
          </p:cNvSpPr>
          <p:nvPr/>
        </p:nvSpPr>
        <p:spPr bwMode="auto">
          <a:xfrm>
            <a:off x="43434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9724" name="Text Box 20">
            <a:extLst>
              <a:ext uri="{FF2B5EF4-FFF2-40B4-BE49-F238E27FC236}">
                <a16:creationId xmlns:a16="http://schemas.microsoft.com/office/drawing/2014/main" id="{A0A939E3-C05A-9753-05DF-DF41632AA6EE}"/>
              </a:ext>
            </a:extLst>
          </p:cNvPr>
          <p:cNvSpPr txBox="1">
            <a:spLocks noChangeArrowheads="1"/>
          </p:cNvSpPr>
          <p:nvPr/>
        </p:nvSpPr>
        <p:spPr bwMode="auto">
          <a:xfrm>
            <a:off x="47041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9725" name="Text Box 21">
            <a:extLst>
              <a:ext uri="{FF2B5EF4-FFF2-40B4-BE49-F238E27FC236}">
                <a16:creationId xmlns:a16="http://schemas.microsoft.com/office/drawing/2014/main" id="{F65864EB-53E5-6861-11C0-4C71F9CA4B41}"/>
              </a:ext>
            </a:extLst>
          </p:cNvPr>
          <p:cNvSpPr txBox="1">
            <a:spLocks noChangeArrowheads="1"/>
          </p:cNvSpPr>
          <p:nvPr/>
        </p:nvSpPr>
        <p:spPr bwMode="auto">
          <a:xfrm>
            <a:off x="52578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9726" name="Text Box 22">
            <a:extLst>
              <a:ext uri="{FF2B5EF4-FFF2-40B4-BE49-F238E27FC236}">
                <a16:creationId xmlns:a16="http://schemas.microsoft.com/office/drawing/2014/main" id="{3013EF0B-0D48-0DEB-8A0F-CC0F1EB5F25B}"/>
              </a:ext>
            </a:extLst>
          </p:cNvPr>
          <p:cNvSpPr txBox="1">
            <a:spLocks noChangeArrowheads="1"/>
          </p:cNvSpPr>
          <p:nvPr/>
        </p:nvSpPr>
        <p:spPr bwMode="auto">
          <a:xfrm>
            <a:off x="56185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45</a:t>
            </a:r>
          </a:p>
        </p:txBody>
      </p:sp>
      <p:sp>
        <p:nvSpPr>
          <p:cNvPr id="2" name="Rectangle 1">
            <a:extLst>
              <a:ext uri="{FF2B5EF4-FFF2-40B4-BE49-F238E27FC236}">
                <a16:creationId xmlns:a16="http://schemas.microsoft.com/office/drawing/2014/main" id="{0B84C243-D2A4-3680-5CC3-804A712310F2}"/>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itchFamily="18" charset="0"/>
              </a:rPr>
              <a:t>Dr. Dattatray G. Takale, Department of  Computer engineering, VIIT, Pune-48</a:t>
            </a:r>
            <a:endParaRPr lang="en-IN" b="1"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512091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8D83D-8368-341A-0F68-072C9DF5DFAB}"/>
            </a:ext>
          </a:extLst>
        </p:cNvPr>
        <p:cNvGrpSpPr/>
        <p:nvPr/>
      </p:nvGrpSpPr>
      <p:grpSpPr>
        <a:xfrm>
          <a:off x="0" y="0"/>
          <a:ext cx="0" cy="0"/>
          <a:chOff x="0" y="0"/>
          <a:chExt cx="0" cy="0"/>
        </a:xfrm>
      </p:grpSpPr>
      <p:sp>
        <p:nvSpPr>
          <p:cNvPr id="29698" name="Line 25">
            <a:extLst>
              <a:ext uri="{FF2B5EF4-FFF2-40B4-BE49-F238E27FC236}">
                <a16:creationId xmlns:a16="http://schemas.microsoft.com/office/drawing/2014/main" id="{32778559-3EA8-438D-4891-F2A71BBA689A}"/>
              </a:ext>
            </a:extLst>
          </p:cNvPr>
          <p:cNvSpPr>
            <a:spLocks noChangeShapeType="1"/>
          </p:cNvSpPr>
          <p:nvPr/>
        </p:nvSpPr>
        <p:spPr bwMode="auto">
          <a:xfrm flipH="1">
            <a:off x="1714500" y="2514600"/>
            <a:ext cx="10287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699" name="Line 26">
            <a:extLst>
              <a:ext uri="{FF2B5EF4-FFF2-40B4-BE49-F238E27FC236}">
                <a16:creationId xmlns:a16="http://schemas.microsoft.com/office/drawing/2014/main" id="{8E05858C-27F3-B03D-4A03-CE7BEFAA07BB}"/>
              </a:ext>
            </a:extLst>
          </p:cNvPr>
          <p:cNvSpPr>
            <a:spLocks noChangeShapeType="1"/>
          </p:cNvSpPr>
          <p:nvPr/>
        </p:nvSpPr>
        <p:spPr bwMode="auto">
          <a:xfrm flipH="1">
            <a:off x="2628900" y="2514600"/>
            <a:ext cx="3429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0" name="Line 27">
            <a:extLst>
              <a:ext uri="{FF2B5EF4-FFF2-40B4-BE49-F238E27FC236}">
                <a16:creationId xmlns:a16="http://schemas.microsoft.com/office/drawing/2014/main" id="{747C8A43-B289-6DCE-147C-6987DF27E61D}"/>
              </a:ext>
            </a:extLst>
          </p:cNvPr>
          <p:cNvSpPr>
            <a:spLocks noChangeShapeType="1"/>
          </p:cNvSpPr>
          <p:nvPr/>
        </p:nvSpPr>
        <p:spPr bwMode="auto">
          <a:xfrm>
            <a:off x="3257550" y="2514600"/>
            <a:ext cx="4000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1" name="Line 28">
            <a:extLst>
              <a:ext uri="{FF2B5EF4-FFF2-40B4-BE49-F238E27FC236}">
                <a16:creationId xmlns:a16="http://schemas.microsoft.com/office/drawing/2014/main" id="{D112081C-C1A2-5DF1-5909-9863BE34F4F4}"/>
              </a:ext>
            </a:extLst>
          </p:cNvPr>
          <p:cNvSpPr>
            <a:spLocks noChangeShapeType="1"/>
          </p:cNvSpPr>
          <p:nvPr/>
        </p:nvSpPr>
        <p:spPr bwMode="auto">
          <a:xfrm flipH="1">
            <a:off x="4686300" y="2514600"/>
            <a:ext cx="7429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2" name="Line 29">
            <a:extLst>
              <a:ext uri="{FF2B5EF4-FFF2-40B4-BE49-F238E27FC236}">
                <a16:creationId xmlns:a16="http://schemas.microsoft.com/office/drawing/2014/main" id="{B1F4FA05-E1E6-219B-3E48-24532EEE3270}"/>
              </a:ext>
            </a:extLst>
          </p:cNvPr>
          <p:cNvSpPr>
            <a:spLocks noChangeShapeType="1"/>
          </p:cNvSpPr>
          <p:nvPr/>
        </p:nvSpPr>
        <p:spPr bwMode="auto">
          <a:xfrm flipH="1">
            <a:off x="5600700" y="2514600"/>
            <a:ext cx="1143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3" name="Line 30">
            <a:extLst>
              <a:ext uri="{FF2B5EF4-FFF2-40B4-BE49-F238E27FC236}">
                <a16:creationId xmlns:a16="http://schemas.microsoft.com/office/drawing/2014/main" id="{7DE8EC86-1514-63E7-E07C-1341FDB80D63}"/>
              </a:ext>
            </a:extLst>
          </p:cNvPr>
          <p:cNvSpPr>
            <a:spLocks noChangeShapeType="1"/>
          </p:cNvSpPr>
          <p:nvPr/>
        </p:nvSpPr>
        <p:spPr bwMode="auto">
          <a:xfrm>
            <a:off x="5943600" y="2514600"/>
            <a:ext cx="9144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4" name="Line 23">
            <a:extLst>
              <a:ext uri="{FF2B5EF4-FFF2-40B4-BE49-F238E27FC236}">
                <a16:creationId xmlns:a16="http://schemas.microsoft.com/office/drawing/2014/main" id="{8CD190DB-A7A2-EB2D-FD24-C4173EDD0C71}"/>
              </a:ext>
            </a:extLst>
          </p:cNvPr>
          <p:cNvSpPr>
            <a:spLocks noChangeShapeType="1"/>
          </p:cNvSpPr>
          <p:nvPr/>
        </p:nvSpPr>
        <p:spPr bwMode="auto">
          <a:xfrm flipH="1">
            <a:off x="2971800" y="1828800"/>
            <a:ext cx="10858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5" name="Line 24">
            <a:extLst>
              <a:ext uri="{FF2B5EF4-FFF2-40B4-BE49-F238E27FC236}">
                <a16:creationId xmlns:a16="http://schemas.microsoft.com/office/drawing/2014/main" id="{4CE664B5-5717-2353-B65F-527213F759F6}"/>
              </a:ext>
            </a:extLst>
          </p:cNvPr>
          <p:cNvSpPr>
            <a:spLocks noChangeShapeType="1"/>
          </p:cNvSpPr>
          <p:nvPr/>
        </p:nvSpPr>
        <p:spPr bwMode="auto">
          <a:xfrm>
            <a:off x="4229100" y="1828800"/>
            <a:ext cx="14859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9466" name="Rectangle 2">
            <a:extLst>
              <a:ext uri="{FF2B5EF4-FFF2-40B4-BE49-F238E27FC236}">
                <a16:creationId xmlns:a16="http://schemas.microsoft.com/office/drawing/2014/main" id="{3CF7C382-5940-731B-9677-26FA609C5320}"/>
              </a:ext>
            </a:extLst>
          </p:cNvPr>
          <p:cNvSpPr>
            <a:spLocks noGrp="1" noChangeArrowheads="1"/>
          </p:cNvSpPr>
          <p:nvPr>
            <p:ph type="title" idx="4294967295"/>
          </p:nvPr>
        </p:nvSpPr>
        <p:spPr/>
        <p:txBody>
          <a:bodyPr/>
          <a:lstStyle/>
          <a:p>
            <a:pPr>
              <a:defRPr/>
            </a:pPr>
            <a:r>
              <a:rPr lang="en-US">
                <a:latin typeface="Times New Roman" panose="02020603050405020304" pitchFamily="18" charset="0"/>
                <a:cs typeface="Times New Roman" panose="02020603050405020304" pitchFamily="18" charset="0"/>
              </a:rPr>
              <a:t>Constructing a B-tree (contd.)</a:t>
            </a:r>
          </a:p>
        </p:txBody>
      </p:sp>
      <p:sp>
        <p:nvSpPr>
          <p:cNvPr id="29707" name="Text Box 3">
            <a:extLst>
              <a:ext uri="{FF2B5EF4-FFF2-40B4-BE49-F238E27FC236}">
                <a16:creationId xmlns:a16="http://schemas.microsoft.com/office/drawing/2014/main" id="{C28CCF91-340D-F0AE-B659-09EDEFF2CEDF}"/>
              </a:ext>
            </a:extLst>
          </p:cNvPr>
          <p:cNvSpPr txBox="1">
            <a:spLocks noChangeArrowheads="1"/>
          </p:cNvSpPr>
          <p:nvPr/>
        </p:nvSpPr>
        <p:spPr bwMode="auto">
          <a:xfrm>
            <a:off x="3976687" y="16002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9708" name="Text Box 4">
            <a:extLst>
              <a:ext uri="{FF2B5EF4-FFF2-40B4-BE49-F238E27FC236}">
                <a16:creationId xmlns:a16="http://schemas.microsoft.com/office/drawing/2014/main" id="{B9094FAB-165E-10BC-3711-72B6D114A646}"/>
              </a:ext>
            </a:extLst>
          </p:cNvPr>
          <p:cNvSpPr txBox="1">
            <a:spLocks noChangeArrowheads="1"/>
          </p:cNvSpPr>
          <p:nvPr/>
        </p:nvSpPr>
        <p:spPr bwMode="auto">
          <a:xfrm>
            <a:off x="26110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3</a:t>
            </a:r>
          </a:p>
        </p:txBody>
      </p:sp>
      <p:sp>
        <p:nvSpPr>
          <p:cNvPr id="29709" name="Text Box 5">
            <a:extLst>
              <a:ext uri="{FF2B5EF4-FFF2-40B4-BE49-F238E27FC236}">
                <a16:creationId xmlns:a16="http://schemas.microsoft.com/office/drawing/2014/main" id="{6D838D58-5ADF-FCE1-13F3-9449D0A84E21}"/>
              </a:ext>
            </a:extLst>
          </p:cNvPr>
          <p:cNvSpPr txBox="1">
            <a:spLocks noChangeArrowheads="1"/>
          </p:cNvSpPr>
          <p:nvPr/>
        </p:nvSpPr>
        <p:spPr bwMode="auto">
          <a:xfrm>
            <a:off x="29718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9710" name="Text Box 6">
            <a:extLst>
              <a:ext uri="{FF2B5EF4-FFF2-40B4-BE49-F238E27FC236}">
                <a16:creationId xmlns:a16="http://schemas.microsoft.com/office/drawing/2014/main" id="{F395A415-1BB7-748E-2F26-1544AF5EBECD}"/>
              </a:ext>
            </a:extLst>
          </p:cNvPr>
          <p:cNvSpPr txBox="1">
            <a:spLocks noChangeArrowheads="1"/>
          </p:cNvSpPr>
          <p:nvPr/>
        </p:nvSpPr>
        <p:spPr bwMode="auto">
          <a:xfrm>
            <a:off x="53542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9711" name="Text Box 7">
            <a:extLst>
              <a:ext uri="{FF2B5EF4-FFF2-40B4-BE49-F238E27FC236}">
                <a16:creationId xmlns:a16="http://schemas.microsoft.com/office/drawing/2014/main" id="{5DAAFDE1-C73A-7DC6-089D-D5075A242A67}"/>
              </a:ext>
            </a:extLst>
          </p:cNvPr>
          <p:cNvSpPr txBox="1">
            <a:spLocks noChangeArrowheads="1"/>
          </p:cNvSpPr>
          <p:nvPr/>
        </p:nvSpPr>
        <p:spPr bwMode="auto">
          <a:xfrm>
            <a:off x="57150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9712" name="Text Box 8">
            <a:extLst>
              <a:ext uri="{FF2B5EF4-FFF2-40B4-BE49-F238E27FC236}">
                <a16:creationId xmlns:a16="http://schemas.microsoft.com/office/drawing/2014/main" id="{2928A730-2D9B-D574-EB18-614BE7010D1D}"/>
              </a:ext>
            </a:extLst>
          </p:cNvPr>
          <p:cNvSpPr txBox="1">
            <a:spLocks noChangeArrowheads="1"/>
          </p:cNvSpPr>
          <p:nvPr/>
        </p:nvSpPr>
        <p:spPr bwMode="auto">
          <a:xfrm>
            <a:off x="13716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9713" name="Text Box 9">
            <a:extLst>
              <a:ext uri="{FF2B5EF4-FFF2-40B4-BE49-F238E27FC236}">
                <a16:creationId xmlns:a16="http://schemas.microsoft.com/office/drawing/2014/main" id="{DE18AFFE-0318-16EF-4E7C-A61851BFB6A1}"/>
              </a:ext>
            </a:extLst>
          </p:cNvPr>
          <p:cNvSpPr txBox="1">
            <a:spLocks noChangeArrowheads="1"/>
          </p:cNvSpPr>
          <p:nvPr/>
        </p:nvSpPr>
        <p:spPr bwMode="auto">
          <a:xfrm>
            <a:off x="17323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9714" name="Text Box 10">
            <a:extLst>
              <a:ext uri="{FF2B5EF4-FFF2-40B4-BE49-F238E27FC236}">
                <a16:creationId xmlns:a16="http://schemas.microsoft.com/office/drawing/2014/main" id="{34022039-3BAB-4946-CA0F-E432752FA39A}"/>
              </a:ext>
            </a:extLst>
          </p:cNvPr>
          <p:cNvSpPr txBox="1">
            <a:spLocks noChangeArrowheads="1"/>
          </p:cNvSpPr>
          <p:nvPr/>
        </p:nvSpPr>
        <p:spPr bwMode="auto">
          <a:xfrm>
            <a:off x="22860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9715" name="Text Box 11">
            <a:extLst>
              <a:ext uri="{FF2B5EF4-FFF2-40B4-BE49-F238E27FC236}">
                <a16:creationId xmlns:a16="http://schemas.microsoft.com/office/drawing/2014/main" id="{A1B88D02-2D0C-49DF-1FB2-3B5095F59961}"/>
              </a:ext>
            </a:extLst>
          </p:cNvPr>
          <p:cNvSpPr txBox="1">
            <a:spLocks noChangeArrowheads="1"/>
          </p:cNvSpPr>
          <p:nvPr/>
        </p:nvSpPr>
        <p:spPr bwMode="auto">
          <a:xfrm>
            <a:off x="26467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sp>
        <p:nvSpPr>
          <p:cNvPr id="29716" name="Text Box 12">
            <a:extLst>
              <a:ext uri="{FF2B5EF4-FFF2-40B4-BE49-F238E27FC236}">
                <a16:creationId xmlns:a16="http://schemas.microsoft.com/office/drawing/2014/main" id="{6067A582-900A-C6E5-ADF3-BDF70E9D088B}"/>
              </a:ext>
            </a:extLst>
          </p:cNvPr>
          <p:cNvSpPr txBox="1">
            <a:spLocks noChangeArrowheads="1"/>
          </p:cNvSpPr>
          <p:nvPr/>
        </p:nvSpPr>
        <p:spPr bwMode="auto">
          <a:xfrm>
            <a:off x="31432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9717" name="Text Box 13">
            <a:extLst>
              <a:ext uri="{FF2B5EF4-FFF2-40B4-BE49-F238E27FC236}">
                <a16:creationId xmlns:a16="http://schemas.microsoft.com/office/drawing/2014/main" id="{865AC752-71D8-1924-BD7F-B7294F59715D}"/>
              </a:ext>
            </a:extLst>
          </p:cNvPr>
          <p:cNvSpPr txBox="1">
            <a:spLocks noChangeArrowheads="1"/>
          </p:cNvSpPr>
          <p:nvPr/>
        </p:nvSpPr>
        <p:spPr bwMode="auto">
          <a:xfrm>
            <a:off x="35040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9718" name="Text Box 14">
            <a:extLst>
              <a:ext uri="{FF2B5EF4-FFF2-40B4-BE49-F238E27FC236}">
                <a16:creationId xmlns:a16="http://schemas.microsoft.com/office/drawing/2014/main" id="{2B2BF210-33DE-FD00-F590-D9471C166E62}"/>
              </a:ext>
            </a:extLst>
          </p:cNvPr>
          <p:cNvSpPr txBox="1">
            <a:spLocks noChangeArrowheads="1"/>
          </p:cNvSpPr>
          <p:nvPr/>
        </p:nvSpPr>
        <p:spPr bwMode="auto">
          <a:xfrm>
            <a:off x="3829050" y="32004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sp>
        <p:nvSpPr>
          <p:cNvPr id="29719" name="Text Box 15">
            <a:extLst>
              <a:ext uri="{FF2B5EF4-FFF2-40B4-BE49-F238E27FC236}">
                <a16:creationId xmlns:a16="http://schemas.microsoft.com/office/drawing/2014/main" id="{33E09C78-0081-04C5-919C-877E2E2563B9}"/>
              </a:ext>
            </a:extLst>
          </p:cNvPr>
          <p:cNvSpPr txBox="1">
            <a:spLocks noChangeArrowheads="1"/>
          </p:cNvSpPr>
          <p:nvPr/>
        </p:nvSpPr>
        <p:spPr bwMode="auto">
          <a:xfrm>
            <a:off x="61960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9720" name="Text Box 16">
            <a:extLst>
              <a:ext uri="{FF2B5EF4-FFF2-40B4-BE49-F238E27FC236}">
                <a16:creationId xmlns:a16="http://schemas.microsoft.com/office/drawing/2014/main" id="{1034FCF0-00A6-6BE6-D71F-EA83AB6AF93A}"/>
              </a:ext>
            </a:extLst>
          </p:cNvPr>
          <p:cNvSpPr txBox="1">
            <a:spLocks noChangeArrowheads="1"/>
          </p:cNvSpPr>
          <p:nvPr/>
        </p:nvSpPr>
        <p:spPr bwMode="auto">
          <a:xfrm>
            <a:off x="65567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53</a:t>
            </a:r>
          </a:p>
        </p:txBody>
      </p:sp>
      <p:sp>
        <p:nvSpPr>
          <p:cNvPr id="29721" name="Text Box 17">
            <a:extLst>
              <a:ext uri="{FF2B5EF4-FFF2-40B4-BE49-F238E27FC236}">
                <a16:creationId xmlns:a16="http://schemas.microsoft.com/office/drawing/2014/main" id="{052827E0-7487-AE23-CEA3-F51C5CD69EB7}"/>
              </a:ext>
            </a:extLst>
          </p:cNvPr>
          <p:cNvSpPr txBox="1">
            <a:spLocks noChangeArrowheads="1"/>
          </p:cNvSpPr>
          <p:nvPr/>
        </p:nvSpPr>
        <p:spPr bwMode="auto">
          <a:xfrm>
            <a:off x="68818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55</a:t>
            </a:r>
          </a:p>
        </p:txBody>
      </p:sp>
      <p:sp>
        <p:nvSpPr>
          <p:cNvPr id="29722" name="Text Box 18">
            <a:extLst>
              <a:ext uri="{FF2B5EF4-FFF2-40B4-BE49-F238E27FC236}">
                <a16:creationId xmlns:a16="http://schemas.microsoft.com/office/drawing/2014/main" id="{B8CCE61D-2072-4B9E-1063-24C1C9C5C27A}"/>
              </a:ext>
            </a:extLst>
          </p:cNvPr>
          <p:cNvSpPr txBox="1">
            <a:spLocks noChangeArrowheads="1"/>
          </p:cNvSpPr>
          <p:nvPr/>
        </p:nvSpPr>
        <p:spPr bwMode="auto">
          <a:xfrm>
            <a:off x="72425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68</a:t>
            </a:r>
          </a:p>
        </p:txBody>
      </p:sp>
      <p:sp>
        <p:nvSpPr>
          <p:cNvPr id="29723" name="Text Box 19">
            <a:extLst>
              <a:ext uri="{FF2B5EF4-FFF2-40B4-BE49-F238E27FC236}">
                <a16:creationId xmlns:a16="http://schemas.microsoft.com/office/drawing/2014/main" id="{9EE841C9-1BC7-EC13-AB20-AB190EEE5177}"/>
              </a:ext>
            </a:extLst>
          </p:cNvPr>
          <p:cNvSpPr txBox="1">
            <a:spLocks noChangeArrowheads="1"/>
          </p:cNvSpPr>
          <p:nvPr/>
        </p:nvSpPr>
        <p:spPr bwMode="auto">
          <a:xfrm>
            <a:off x="43434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9724" name="Text Box 20">
            <a:extLst>
              <a:ext uri="{FF2B5EF4-FFF2-40B4-BE49-F238E27FC236}">
                <a16:creationId xmlns:a16="http://schemas.microsoft.com/office/drawing/2014/main" id="{BAFD8471-A002-F037-4C1A-3F12F853CB50}"/>
              </a:ext>
            </a:extLst>
          </p:cNvPr>
          <p:cNvSpPr txBox="1">
            <a:spLocks noChangeArrowheads="1"/>
          </p:cNvSpPr>
          <p:nvPr/>
        </p:nvSpPr>
        <p:spPr bwMode="auto">
          <a:xfrm>
            <a:off x="47041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9725" name="Text Box 21">
            <a:extLst>
              <a:ext uri="{FF2B5EF4-FFF2-40B4-BE49-F238E27FC236}">
                <a16:creationId xmlns:a16="http://schemas.microsoft.com/office/drawing/2014/main" id="{724386BA-BB68-687B-35FF-7554B7D36513}"/>
              </a:ext>
            </a:extLst>
          </p:cNvPr>
          <p:cNvSpPr txBox="1">
            <a:spLocks noChangeArrowheads="1"/>
          </p:cNvSpPr>
          <p:nvPr/>
        </p:nvSpPr>
        <p:spPr bwMode="auto">
          <a:xfrm>
            <a:off x="52578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9726" name="Text Box 22">
            <a:extLst>
              <a:ext uri="{FF2B5EF4-FFF2-40B4-BE49-F238E27FC236}">
                <a16:creationId xmlns:a16="http://schemas.microsoft.com/office/drawing/2014/main" id="{CE89AE26-4A94-DF42-030E-9DCA153A9F1F}"/>
              </a:ext>
            </a:extLst>
          </p:cNvPr>
          <p:cNvSpPr txBox="1">
            <a:spLocks noChangeArrowheads="1"/>
          </p:cNvSpPr>
          <p:nvPr/>
        </p:nvSpPr>
        <p:spPr bwMode="auto">
          <a:xfrm>
            <a:off x="56185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45</a:t>
            </a:r>
          </a:p>
        </p:txBody>
      </p:sp>
      <p:sp>
        <p:nvSpPr>
          <p:cNvPr id="2" name="Rectangle 1">
            <a:extLst>
              <a:ext uri="{FF2B5EF4-FFF2-40B4-BE49-F238E27FC236}">
                <a16:creationId xmlns:a16="http://schemas.microsoft.com/office/drawing/2014/main" id="{498E1196-D0CA-3049-0705-5D9CD2EDEA23}"/>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itchFamily="18" charset="0"/>
              </a:rPr>
              <a:t>Dr. Dattatray G. Takale, Department of  Computer engineering, VIIT, Pune-48</a:t>
            </a:r>
            <a:endParaRPr lang="en-IN" b="1"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8291390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6C506-C1B3-8E55-5A84-88F3130E8497}"/>
            </a:ext>
          </a:extLst>
        </p:cNvPr>
        <p:cNvGrpSpPr/>
        <p:nvPr/>
      </p:nvGrpSpPr>
      <p:grpSpPr>
        <a:xfrm>
          <a:off x="0" y="0"/>
          <a:ext cx="0" cy="0"/>
          <a:chOff x="0" y="0"/>
          <a:chExt cx="0" cy="0"/>
        </a:xfrm>
      </p:grpSpPr>
      <p:sp>
        <p:nvSpPr>
          <p:cNvPr id="29698" name="Line 25">
            <a:extLst>
              <a:ext uri="{FF2B5EF4-FFF2-40B4-BE49-F238E27FC236}">
                <a16:creationId xmlns:a16="http://schemas.microsoft.com/office/drawing/2014/main" id="{B4DDB418-E93B-F606-AEC3-31E823D66C57}"/>
              </a:ext>
            </a:extLst>
          </p:cNvPr>
          <p:cNvSpPr>
            <a:spLocks noChangeShapeType="1"/>
          </p:cNvSpPr>
          <p:nvPr/>
        </p:nvSpPr>
        <p:spPr bwMode="auto">
          <a:xfrm flipH="1">
            <a:off x="1714500" y="2514600"/>
            <a:ext cx="10287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699" name="Line 26">
            <a:extLst>
              <a:ext uri="{FF2B5EF4-FFF2-40B4-BE49-F238E27FC236}">
                <a16:creationId xmlns:a16="http://schemas.microsoft.com/office/drawing/2014/main" id="{9D1F46F5-C6AA-3E28-E126-3580C2080EC8}"/>
              </a:ext>
            </a:extLst>
          </p:cNvPr>
          <p:cNvSpPr>
            <a:spLocks noChangeShapeType="1"/>
          </p:cNvSpPr>
          <p:nvPr/>
        </p:nvSpPr>
        <p:spPr bwMode="auto">
          <a:xfrm flipH="1">
            <a:off x="2628900" y="2514600"/>
            <a:ext cx="3429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0" name="Line 27">
            <a:extLst>
              <a:ext uri="{FF2B5EF4-FFF2-40B4-BE49-F238E27FC236}">
                <a16:creationId xmlns:a16="http://schemas.microsoft.com/office/drawing/2014/main" id="{9FFEFC68-A12F-2D46-B14E-EFD7DD8ABE72}"/>
              </a:ext>
            </a:extLst>
          </p:cNvPr>
          <p:cNvSpPr>
            <a:spLocks noChangeShapeType="1"/>
          </p:cNvSpPr>
          <p:nvPr/>
        </p:nvSpPr>
        <p:spPr bwMode="auto">
          <a:xfrm>
            <a:off x="3257550" y="2514600"/>
            <a:ext cx="4000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1" name="Line 28">
            <a:extLst>
              <a:ext uri="{FF2B5EF4-FFF2-40B4-BE49-F238E27FC236}">
                <a16:creationId xmlns:a16="http://schemas.microsoft.com/office/drawing/2014/main" id="{6A7894DA-5091-FAFD-0CA8-07FDA15D80F3}"/>
              </a:ext>
            </a:extLst>
          </p:cNvPr>
          <p:cNvSpPr>
            <a:spLocks noChangeShapeType="1"/>
          </p:cNvSpPr>
          <p:nvPr/>
        </p:nvSpPr>
        <p:spPr bwMode="auto">
          <a:xfrm flipH="1">
            <a:off x="4686300" y="2514600"/>
            <a:ext cx="74295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2" name="Line 29">
            <a:extLst>
              <a:ext uri="{FF2B5EF4-FFF2-40B4-BE49-F238E27FC236}">
                <a16:creationId xmlns:a16="http://schemas.microsoft.com/office/drawing/2014/main" id="{99EB2352-B4F9-D6CB-9CE6-6966B8F5DC63}"/>
              </a:ext>
            </a:extLst>
          </p:cNvPr>
          <p:cNvSpPr>
            <a:spLocks noChangeShapeType="1"/>
          </p:cNvSpPr>
          <p:nvPr/>
        </p:nvSpPr>
        <p:spPr bwMode="auto">
          <a:xfrm flipH="1">
            <a:off x="5600700" y="2514600"/>
            <a:ext cx="1143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3" name="Line 30">
            <a:extLst>
              <a:ext uri="{FF2B5EF4-FFF2-40B4-BE49-F238E27FC236}">
                <a16:creationId xmlns:a16="http://schemas.microsoft.com/office/drawing/2014/main" id="{64948176-27DF-8866-DDC6-9A23D6C992C9}"/>
              </a:ext>
            </a:extLst>
          </p:cNvPr>
          <p:cNvSpPr>
            <a:spLocks noChangeShapeType="1"/>
          </p:cNvSpPr>
          <p:nvPr/>
        </p:nvSpPr>
        <p:spPr bwMode="auto">
          <a:xfrm>
            <a:off x="5943600" y="2514600"/>
            <a:ext cx="914400" cy="8001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4" name="Line 23">
            <a:extLst>
              <a:ext uri="{FF2B5EF4-FFF2-40B4-BE49-F238E27FC236}">
                <a16:creationId xmlns:a16="http://schemas.microsoft.com/office/drawing/2014/main" id="{11C80838-5175-AB0F-7062-8597EBC14706}"/>
              </a:ext>
            </a:extLst>
          </p:cNvPr>
          <p:cNvSpPr>
            <a:spLocks noChangeShapeType="1"/>
          </p:cNvSpPr>
          <p:nvPr/>
        </p:nvSpPr>
        <p:spPr bwMode="auto">
          <a:xfrm flipH="1">
            <a:off x="2971800" y="1828800"/>
            <a:ext cx="108585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29705" name="Line 24">
            <a:extLst>
              <a:ext uri="{FF2B5EF4-FFF2-40B4-BE49-F238E27FC236}">
                <a16:creationId xmlns:a16="http://schemas.microsoft.com/office/drawing/2014/main" id="{DE43B37B-54B2-C069-A2C1-F596F95F7CEF}"/>
              </a:ext>
            </a:extLst>
          </p:cNvPr>
          <p:cNvSpPr>
            <a:spLocks noChangeShapeType="1"/>
          </p:cNvSpPr>
          <p:nvPr/>
        </p:nvSpPr>
        <p:spPr bwMode="auto">
          <a:xfrm>
            <a:off x="4229100" y="1828800"/>
            <a:ext cx="1485900" cy="5143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19466" name="Rectangle 2">
            <a:extLst>
              <a:ext uri="{FF2B5EF4-FFF2-40B4-BE49-F238E27FC236}">
                <a16:creationId xmlns:a16="http://schemas.microsoft.com/office/drawing/2014/main" id="{CC389B6D-C3D7-39D4-C7EF-4ECE596EB464}"/>
              </a:ext>
            </a:extLst>
          </p:cNvPr>
          <p:cNvSpPr>
            <a:spLocks noGrp="1" noChangeArrowheads="1"/>
          </p:cNvSpPr>
          <p:nvPr>
            <p:ph type="title" idx="4294967295"/>
          </p:nvPr>
        </p:nvSpPr>
        <p:spPr/>
        <p:txBody>
          <a:bodyPr/>
          <a:lstStyle/>
          <a:p>
            <a:pPr>
              <a:defRPr/>
            </a:pPr>
            <a:r>
              <a:rPr lang="en-US">
                <a:latin typeface="Times New Roman" panose="02020603050405020304" pitchFamily="18" charset="0"/>
                <a:cs typeface="Times New Roman" panose="02020603050405020304" pitchFamily="18" charset="0"/>
              </a:rPr>
              <a:t>Constructing a B-tree (contd.)</a:t>
            </a:r>
          </a:p>
        </p:txBody>
      </p:sp>
      <p:sp>
        <p:nvSpPr>
          <p:cNvPr id="29707" name="Text Box 3">
            <a:extLst>
              <a:ext uri="{FF2B5EF4-FFF2-40B4-BE49-F238E27FC236}">
                <a16:creationId xmlns:a16="http://schemas.microsoft.com/office/drawing/2014/main" id="{5C9E12E4-0423-5152-5314-F185C735E053}"/>
              </a:ext>
            </a:extLst>
          </p:cNvPr>
          <p:cNvSpPr txBox="1">
            <a:spLocks noChangeArrowheads="1"/>
          </p:cNvSpPr>
          <p:nvPr/>
        </p:nvSpPr>
        <p:spPr bwMode="auto">
          <a:xfrm>
            <a:off x="3976687" y="16002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17</a:t>
            </a:r>
          </a:p>
        </p:txBody>
      </p:sp>
      <p:sp>
        <p:nvSpPr>
          <p:cNvPr id="29708" name="Text Box 4">
            <a:extLst>
              <a:ext uri="{FF2B5EF4-FFF2-40B4-BE49-F238E27FC236}">
                <a16:creationId xmlns:a16="http://schemas.microsoft.com/office/drawing/2014/main" id="{7B6616D9-8647-5995-DAC5-D5052E95A3CE}"/>
              </a:ext>
            </a:extLst>
          </p:cNvPr>
          <p:cNvSpPr txBox="1">
            <a:spLocks noChangeArrowheads="1"/>
          </p:cNvSpPr>
          <p:nvPr/>
        </p:nvSpPr>
        <p:spPr bwMode="auto">
          <a:xfrm>
            <a:off x="26110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3</a:t>
            </a:r>
          </a:p>
        </p:txBody>
      </p:sp>
      <p:sp>
        <p:nvSpPr>
          <p:cNvPr id="29709" name="Text Box 5">
            <a:extLst>
              <a:ext uri="{FF2B5EF4-FFF2-40B4-BE49-F238E27FC236}">
                <a16:creationId xmlns:a16="http://schemas.microsoft.com/office/drawing/2014/main" id="{39D4C92D-E8B8-05E3-9636-B8E76FD960A2}"/>
              </a:ext>
            </a:extLst>
          </p:cNvPr>
          <p:cNvSpPr txBox="1">
            <a:spLocks noChangeArrowheads="1"/>
          </p:cNvSpPr>
          <p:nvPr/>
        </p:nvSpPr>
        <p:spPr bwMode="auto">
          <a:xfrm>
            <a:off x="29718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8</a:t>
            </a:r>
          </a:p>
        </p:txBody>
      </p:sp>
      <p:sp>
        <p:nvSpPr>
          <p:cNvPr id="29710" name="Text Box 6">
            <a:extLst>
              <a:ext uri="{FF2B5EF4-FFF2-40B4-BE49-F238E27FC236}">
                <a16:creationId xmlns:a16="http://schemas.microsoft.com/office/drawing/2014/main" id="{5B9795B8-86B8-9A73-1039-D602DA7790DF}"/>
              </a:ext>
            </a:extLst>
          </p:cNvPr>
          <p:cNvSpPr txBox="1">
            <a:spLocks noChangeArrowheads="1"/>
          </p:cNvSpPr>
          <p:nvPr/>
        </p:nvSpPr>
        <p:spPr bwMode="auto">
          <a:xfrm>
            <a:off x="5354241" y="2228851"/>
            <a:ext cx="36075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28</a:t>
            </a:r>
          </a:p>
        </p:txBody>
      </p:sp>
      <p:sp>
        <p:nvSpPr>
          <p:cNvPr id="29711" name="Text Box 7">
            <a:extLst>
              <a:ext uri="{FF2B5EF4-FFF2-40B4-BE49-F238E27FC236}">
                <a16:creationId xmlns:a16="http://schemas.microsoft.com/office/drawing/2014/main" id="{232E13AA-D1EA-B402-5749-D8D71230142B}"/>
              </a:ext>
            </a:extLst>
          </p:cNvPr>
          <p:cNvSpPr txBox="1">
            <a:spLocks noChangeArrowheads="1"/>
          </p:cNvSpPr>
          <p:nvPr/>
        </p:nvSpPr>
        <p:spPr bwMode="auto">
          <a:xfrm>
            <a:off x="5715000" y="222885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48</a:t>
            </a:r>
          </a:p>
        </p:txBody>
      </p:sp>
      <p:sp>
        <p:nvSpPr>
          <p:cNvPr id="29712" name="Text Box 8">
            <a:extLst>
              <a:ext uri="{FF2B5EF4-FFF2-40B4-BE49-F238E27FC236}">
                <a16:creationId xmlns:a16="http://schemas.microsoft.com/office/drawing/2014/main" id="{DE335FED-8556-6E5F-3083-93A399F6FF6B}"/>
              </a:ext>
            </a:extLst>
          </p:cNvPr>
          <p:cNvSpPr txBox="1">
            <a:spLocks noChangeArrowheads="1"/>
          </p:cNvSpPr>
          <p:nvPr/>
        </p:nvSpPr>
        <p:spPr bwMode="auto">
          <a:xfrm>
            <a:off x="13716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a:t>
            </a:r>
          </a:p>
        </p:txBody>
      </p:sp>
      <p:sp>
        <p:nvSpPr>
          <p:cNvPr id="29713" name="Text Box 9">
            <a:extLst>
              <a:ext uri="{FF2B5EF4-FFF2-40B4-BE49-F238E27FC236}">
                <a16:creationId xmlns:a16="http://schemas.microsoft.com/office/drawing/2014/main" id="{73B94F42-0243-ECE0-9431-48B2BB88CDCB}"/>
              </a:ext>
            </a:extLst>
          </p:cNvPr>
          <p:cNvSpPr txBox="1">
            <a:spLocks noChangeArrowheads="1"/>
          </p:cNvSpPr>
          <p:nvPr/>
        </p:nvSpPr>
        <p:spPr bwMode="auto">
          <a:xfrm>
            <a:off x="17323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a:t>
            </a:r>
          </a:p>
        </p:txBody>
      </p:sp>
      <p:sp>
        <p:nvSpPr>
          <p:cNvPr id="29714" name="Text Box 10">
            <a:extLst>
              <a:ext uri="{FF2B5EF4-FFF2-40B4-BE49-F238E27FC236}">
                <a16:creationId xmlns:a16="http://schemas.microsoft.com/office/drawing/2014/main" id="{42F5A3B9-0759-E869-3609-64E970ECA68D}"/>
              </a:ext>
            </a:extLst>
          </p:cNvPr>
          <p:cNvSpPr txBox="1">
            <a:spLocks noChangeArrowheads="1"/>
          </p:cNvSpPr>
          <p:nvPr/>
        </p:nvSpPr>
        <p:spPr bwMode="auto">
          <a:xfrm>
            <a:off x="22860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a:t>
            </a:r>
          </a:p>
        </p:txBody>
      </p:sp>
      <p:sp>
        <p:nvSpPr>
          <p:cNvPr id="29715" name="Text Box 11">
            <a:extLst>
              <a:ext uri="{FF2B5EF4-FFF2-40B4-BE49-F238E27FC236}">
                <a16:creationId xmlns:a16="http://schemas.microsoft.com/office/drawing/2014/main" id="{EBA6341E-BAC1-F012-4F5D-F88AAF11949D}"/>
              </a:ext>
            </a:extLst>
          </p:cNvPr>
          <p:cNvSpPr txBox="1">
            <a:spLocks noChangeArrowheads="1"/>
          </p:cNvSpPr>
          <p:nvPr/>
        </p:nvSpPr>
        <p:spPr bwMode="auto">
          <a:xfrm>
            <a:off x="26467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7</a:t>
            </a:r>
          </a:p>
        </p:txBody>
      </p:sp>
      <p:sp>
        <p:nvSpPr>
          <p:cNvPr id="29716" name="Text Box 12">
            <a:extLst>
              <a:ext uri="{FF2B5EF4-FFF2-40B4-BE49-F238E27FC236}">
                <a16:creationId xmlns:a16="http://schemas.microsoft.com/office/drawing/2014/main" id="{D3692B20-ECF2-BB95-699D-F6B562CB9D39}"/>
              </a:ext>
            </a:extLst>
          </p:cNvPr>
          <p:cNvSpPr txBox="1">
            <a:spLocks noChangeArrowheads="1"/>
          </p:cNvSpPr>
          <p:nvPr/>
        </p:nvSpPr>
        <p:spPr bwMode="auto">
          <a:xfrm>
            <a:off x="314325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12</a:t>
            </a:r>
          </a:p>
        </p:txBody>
      </p:sp>
      <p:sp>
        <p:nvSpPr>
          <p:cNvPr id="29717" name="Text Box 13">
            <a:extLst>
              <a:ext uri="{FF2B5EF4-FFF2-40B4-BE49-F238E27FC236}">
                <a16:creationId xmlns:a16="http://schemas.microsoft.com/office/drawing/2014/main" id="{3BFA7D73-E9A4-0FC5-833B-6F395645773F}"/>
              </a:ext>
            </a:extLst>
          </p:cNvPr>
          <p:cNvSpPr txBox="1">
            <a:spLocks noChangeArrowheads="1"/>
          </p:cNvSpPr>
          <p:nvPr/>
        </p:nvSpPr>
        <p:spPr bwMode="auto">
          <a:xfrm>
            <a:off x="350401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14</a:t>
            </a:r>
          </a:p>
        </p:txBody>
      </p:sp>
      <p:sp>
        <p:nvSpPr>
          <p:cNvPr id="29718" name="Text Box 14">
            <a:extLst>
              <a:ext uri="{FF2B5EF4-FFF2-40B4-BE49-F238E27FC236}">
                <a16:creationId xmlns:a16="http://schemas.microsoft.com/office/drawing/2014/main" id="{4F5EE60C-D27D-52E9-CD80-940408891A2D}"/>
              </a:ext>
            </a:extLst>
          </p:cNvPr>
          <p:cNvSpPr txBox="1">
            <a:spLocks noChangeArrowheads="1"/>
          </p:cNvSpPr>
          <p:nvPr/>
        </p:nvSpPr>
        <p:spPr bwMode="auto">
          <a:xfrm>
            <a:off x="3829050" y="3200401"/>
            <a:ext cx="358379"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16</a:t>
            </a:r>
          </a:p>
        </p:txBody>
      </p:sp>
      <p:sp>
        <p:nvSpPr>
          <p:cNvPr id="29719" name="Text Box 15">
            <a:extLst>
              <a:ext uri="{FF2B5EF4-FFF2-40B4-BE49-F238E27FC236}">
                <a16:creationId xmlns:a16="http://schemas.microsoft.com/office/drawing/2014/main" id="{23296348-BB50-597A-7299-CF0978834ACB}"/>
              </a:ext>
            </a:extLst>
          </p:cNvPr>
          <p:cNvSpPr txBox="1">
            <a:spLocks noChangeArrowheads="1"/>
          </p:cNvSpPr>
          <p:nvPr/>
        </p:nvSpPr>
        <p:spPr bwMode="auto">
          <a:xfrm>
            <a:off x="61960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52</a:t>
            </a:r>
          </a:p>
        </p:txBody>
      </p:sp>
      <p:sp>
        <p:nvSpPr>
          <p:cNvPr id="29720" name="Text Box 16">
            <a:extLst>
              <a:ext uri="{FF2B5EF4-FFF2-40B4-BE49-F238E27FC236}">
                <a16:creationId xmlns:a16="http://schemas.microsoft.com/office/drawing/2014/main" id="{7535717B-9E2C-BFB8-8232-516F09593631}"/>
              </a:ext>
            </a:extLst>
          </p:cNvPr>
          <p:cNvSpPr txBox="1">
            <a:spLocks noChangeArrowheads="1"/>
          </p:cNvSpPr>
          <p:nvPr/>
        </p:nvSpPr>
        <p:spPr bwMode="auto">
          <a:xfrm>
            <a:off x="65567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53</a:t>
            </a:r>
          </a:p>
        </p:txBody>
      </p:sp>
      <p:sp>
        <p:nvSpPr>
          <p:cNvPr id="29721" name="Text Box 17">
            <a:extLst>
              <a:ext uri="{FF2B5EF4-FFF2-40B4-BE49-F238E27FC236}">
                <a16:creationId xmlns:a16="http://schemas.microsoft.com/office/drawing/2014/main" id="{AAEA28EA-7828-792E-F2C4-A0110E4CCCA9}"/>
              </a:ext>
            </a:extLst>
          </p:cNvPr>
          <p:cNvSpPr txBox="1">
            <a:spLocks noChangeArrowheads="1"/>
          </p:cNvSpPr>
          <p:nvPr/>
        </p:nvSpPr>
        <p:spPr bwMode="auto">
          <a:xfrm>
            <a:off x="6881813"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55</a:t>
            </a:r>
          </a:p>
        </p:txBody>
      </p:sp>
      <p:sp>
        <p:nvSpPr>
          <p:cNvPr id="29722" name="Text Box 18">
            <a:extLst>
              <a:ext uri="{FF2B5EF4-FFF2-40B4-BE49-F238E27FC236}">
                <a16:creationId xmlns:a16="http://schemas.microsoft.com/office/drawing/2014/main" id="{5C96FD65-C8D9-1D49-3296-FA4242FD301C}"/>
              </a:ext>
            </a:extLst>
          </p:cNvPr>
          <p:cNvSpPr txBox="1">
            <a:spLocks noChangeArrowheads="1"/>
          </p:cNvSpPr>
          <p:nvPr/>
        </p:nvSpPr>
        <p:spPr bwMode="auto">
          <a:xfrm>
            <a:off x="7242573"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68</a:t>
            </a:r>
          </a:p>
        </p:txBody>
      </p:sp>
      <p:sp>
        <p:nvSpPr>
          <p:cNvPr id="29723" name="Text Box 19">
            <a:extLst>
              <a:ext uri="{FF2B5EF4-FFF2-40B4-BE49-F238E27FC236}">
                <a16:creationId xmlns:a16="http://schemas.microsoft.com/office/drawing/2014/main" id="{E5364C97-9899-AE00-29C5-CD77A986C757}"/>
              </a:ext>
            </a:extLst>
          </p:cNvPr>
          <p:cNvSpPr txBox="1">
            <a:spLocks noChangeArrowheads="1"/>
          </p:cNvSpPr>
          <p:nvPr/>
        </p:nvSpPr>
        <p:spPr bwMode="auto">
          <a:xfrm>
            <a:off x="43434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25</a:t>
            </a:r>
          </a:p>
        </p:txBody>
      </p:sp>
      <p:sp>
        <p:nvSpPr>
          <p:cNvPr id="29724" name="Text Box 20">
            <a:extLst>
              <a:ext uri="{FF2B5EF4-FFF2-40B4-BE49-F238E27FC236}">
                <a16:creationId xmlns:a16="http://schemas.microsoft.com/office/drawing/2014/main" id="{A9196212-FE92-47B5-5A82-6AE40A48F8EF}"/>
              </a:ext>
            </a:extLst>
          </p:cNvPr>
          <p:cNvSpPr txBox="1">
            <a:spLocks noChangeArrowheads="1"/>
          </p:cNvSpPr>
          <p:nvPr/>
        </p:nvSpPr>
        <p:spPr bwMode="auto">
          <a:xfrm>
            <a:off x="47041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26</a:t>
            </a:r>
          </a:p>
        </p:txBody>
      </p:sp>
      <p:sp>
        <p:nvSpPr>
          <p:cNvPr id="29725" name="Text Box 21">
            <a:extLst>
              <a:ext uri="{FF2B5EF4-FFF2-40B4-BE49-F238E27FC236}">
                <a16:creationId xmlns:a16="http://schemas.microsoft.com/office/drawing/2014/main" id="{2BCBF756-10AE-CFE5-6C2B-8EE1416FB772}"/>
              </a:ext>
            </a:extLst>
          </p:cNvPr>
          <p:cNvSpPr txBox="1">
            <a:spLocks noChangeArrowheads="1"/>
          </p:cNvSpPr>
          <p:nvPr/>
        </p:nvSpPr>
        <p:spPr bwMode="auto">
          <a:xfrm>
            <a:off x="5257800" y="3200401"/>
            <a:ext cx="360760"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29</a:t>
            </a:r>
          </a:p>
        </p:txBody>
      </p:sp>
      <p:sp>
        <p:nvSpPr>
          <p:cNvPr id="29726" name="Text Box 22">
            <a:extLst>
              <a:ext uri="{FF2B5EF4-FFF2-40B4-BE49-F238E27FC236}">
                <a16:creationId xmlns:a16="http://schemas.microsoft.com/office/drawing/2014/main" id="{AF82EFEB-4AE7-6B37-0112-826E7B94B01A}"/>
              </a:ext>
            </a:extLst>
          </p:cNvPr>
          <p:cNvSpPr txBox="1">
            <a:spLocks noChangeArrowheads="1"/>
          </p:cNvSpPr>
          <p:nvPr/>
        </p:nvSpPr>
        <p:spPr bwMode="auto">
          <a:xfrm>
            <a:off x="5618560" y="3200401"/>
            <a:ext cx="358378" cy="270272"/>
          </a:xfrm>
          <a:prstGeom prst="rect">
            <a:avLst/>
          </a:prstGeom>
          <a:solidFill>
            <a:srgbClr val="FFFFFF"/>
          </a:solidFill>
          <a:ln w="9525">
            <a:solidFill>
              <a:srgbClr val="000000"/>
            </a:solidFill>
            <a:miter lim="800000"/>
            <a:headEnd/>
            <a:tailEnd/>
          </a:ln>
        </p:spPr>
        <p:txBody>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n-US" altLang="en-US" sz="1200">
                <a:latin typeface="Times New Roman" panose="02020603050405020304" pitchFamily="18" charset="0"/>
                <a:cs typeface="Times New Roman" panose="02020603050405020304" pitchFamily="18" charset="0"/>
              </a:rPr>
              <a:t>45</a:t>
            </a:r>
          </a:p>
        </p:txBody>
      </p:sp>
      <p:sp>
        <p:nvSpPr>
          <p:cNvPr id="2" name="Rectangle 1">
            <a:extLst>
              <a:ext uri="{FF2B5EF4-FFF2-40B4-BE49-F238E27FC236}">
                <a16:creationId xmlns:a16="http://schemas.microsoft.com/office/drawing/2014/main" id="{15CC2A8E-4046-383C-26A9-C93068DE8D82}"/>
              </a:ext>
            </a:extLst>
          </p:cNvPr>
          <p:cNvSpPr/>
          <p:nvPr/>
        </p:nvSpPr>
        <p:spPr>
          <a:xfrm>
            <a:off x="133550" y="4893088"/>
            <a:ext cx="9010449" cy="201343"/>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itchFamily="18" charset="0"/>
              </a:rPr>
              <a:t>Dr. Dattatray G. Takale, Department of  Computer engineering, VIIT, Pune-48</a:t>
            </a:r>
            <a:endParaRPr lang="en-IN" b="1" dirty="0">
              <a:solidFill>
                <a:schemeClr val="tx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4107404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8E81547-E33C-D1DA-CEB4-E838F5C6BC62}"/>
              </a:ext>
            </a:extLst>
          </p:cNvPr>
          <p:cNvSpPr>
            <a:spLocks noGrp="1" noChangeArrowheads="1"/>
          </p:cNvSpPr>
          <p:nvPr>
            <p:ph type="title" idx="4294967295"/>
          </p:nvPr>
        </p:nvSpPr>
        <p:spPr>
          <a:xfrm>
            <a:off x="1714500" y="228600"/>
            <a:ext cx="5829300" cy="685800"/>
          </a:xfrm>
        </p:spPr>
        <p:txBody>
          <a:bodyPr/>
          <a:lstStyle/>
          <a:p>
            <a:pPr>
              <a:defRPr/>
            </a:pPr>
            <a:r>
              <a:rPr lang="en-US" sz="1050" dirty="0">
                <a:latin typeface="Times New Roman" panose="02020603050405020304" pitchFamily="18" charset="0"/>
                <a:cs typeface="Times New Roman" panose="02020603050405020304" pitchFamily="18" charset="0"/>
              </a:rPr>
              <a:t>B Tree</a:t>
            </a:r>
          </a:p>
        </p:txBody>
      </p:sp>
      <p:sp>
        <p:nvSpPr>
          <p:cNvPr id="44035" name="Text Box 4">
            <a:extLst>
              <a:ext uri="{FF2B5EF4-FFF2-40B4-BE49-F238E27FC236}">
                <a16:creationId xmlns:a16="http://schemas.microsoft.com/office/drawing/2014/main" id="{51EBA65A-BE4C-82CC-7114-C25524C31DB9}"/>
              </a:ext>
            </a:extLst>
          </p:cNvPr>
          <p:cNvSpPr txBox="1">
            <a:spLocks noChangeArrowheads="1"/>
          </p:cNvSpPr>
          <p:nvPr/>
        </p:nvSpPr>
        <p:spPr bwMode="auto">
          <a:xfrm>
            <a:off x="2514600" y="2038350"/>
            <a:ext cx="102870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3 * 7 *</a:t>
            </a:r>
          </a:p>
        </p:txBody>
      </p:sp>
      <p:sp>
        <p:nvSpPr>
          <p:cNvPr id="44036" name="Text Box 5">
            <a:extLst>
              <a:ext uri="{FF2B5EF4-FFF2-40B4-BE49-F238E27FC236}">
                <a16:creationId xmlns:a16="http://schemas.microsoft.com/office/drawing/2014/main" id="{F9278CD6-E5E3-2529-22B2-BACD40BC1700}"/>
              </a:ext>
            </a:extLst>
          </p:cNvPr>
          <p:cNvSpPr txBox="1">
            <a:spLocks noChangeArrowheads="1"/>
          </p:cNvSpPr>
          <p:nvPr/>
        </p:nvSpPr>
        <p:spPr bwMode="auto">
          <a:xfrm>
            <a:off x="6743700" y="3086100"/>
            <a:ext cx="85725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 21 *</a:t>
            </a:r>
          </a:p>
        </p:txBody>
      </p:sp>
      <p:sp>
        <p:nvSpPr>
          <p:cNvPr id="44037" name="Text Box 7">
            <a:extLst>
              <a:ext uri="{FF2B5EF4-FFF2-40B4-BE49-F238E27FC236}">
                <a16:creationId xmlns:a16="http://schemas.microsoft.com/office/drawing/2014/main" id="{130702FF-0316-AC92-45A8-61217BE8C026}"/>
              </a:ext>
            </a:extLst>
          </p:cNvPr>
          <p:cNvSpPr txBox="1">
            <a:spLocks noChangeArrowheads="1"/>
          </p:cNvSpPr>
          <p:nvPr/>
        </p:nvSpPr>
        <p:spPr bwMode="auto">
          <a:xfrm>
            <a:off x="5429250" y="2038350"/>
            <a:ext cx="120015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13 *</a:t>
            </a:r>
          </a:p>
        </p:txBody>
      </p:sp>
      <p:sp>
        <p:nvSpPr>
          <p:cNvPr id="44038" name="Text Box 12">
            <a:extLst>
              <a:ext uri="{FF2B5EF4-FFF2-40B4-BE49-F238E27FC236}">
                <a16:creationId xmlns:a16="http://schemas.microsoft.com/office/drawing/2014/main" id="{D33C32B5-D45C-23EF-C456-06ECC0431AC1}"/>
              </a:ext>
            </a:extLst>
          </p:cNvPr>
          <p:cNvSpPr txBox="1">
            <a:spLocks noChangeArrowheads="1"/>
          </p:cNvSpPr>
          <p:nvPr/>
        </p:nvSpPr>
        <p:spPr bwMode="auto">
          <a:xfrm>
            <a:off x="4171950" y="1200150"/>
            <a:ext cx="85725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 9 *</a:t>
            </a:r>
          </a:p>
        </p:txBody>
      </p:sp>
      <p:sp>
        <p:nvSpPr>
          <p:cNvPr id="44039" name="Text Box 13">
            <a:extLst>
              <a:ext uri="{FF2B5EF4-FFF2-40B4-BE49-F238E27FC236}">
                <a16:creationId xmlns:a16="http://schemas.microsoft.com/office/drawing/2014/main" id="{44D69E80-F2CB-B8DB-D698-4D6FABEF9AFF}"/>
              </a:ext>
            </a:extLst>
          </p:cNvPr>
          <p:cNvSpPr txBox="1">
            <a:spLocks noChangeArrowheads="1"/>
          </p:cNvSpPr>
          <p:nvPr/>
        </p:nvSpPr>
        <p:spPr bwMode="auto">
          <a:xfrm>
            <a:off x="1543050" y="3086100"/>
            <a:ext cx="102870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1 * 2 *</a:t>
            </a:r>
          </a:p>
        </p:txBody>
      </p:sp>
      <p:sp>
        <p:nvSpPr>
          <p:cNvPr id="44040" name="Text Box 14">
            <a:extLst>
              <a:ext uri="{FF2B5EF4-FFF2-40B4-BE49-F238E27FC236}">
                <a16:creationId xmlns:a16="http://schemas.microsoft.com/office/drawing/2014/main" id="{B2640279-CA41-740F-31A8-675592E2B1A6}"/>
              </a:ext>
            </a:extLst>
          </p:cNvPr>
          <p:cNvSpPr txBox="1">
            <a:spLocks noChangeArrowheads="1"/>
          </p:cNvSpPr>
          <p:nvPr/>
        </p:nvSpPr>
        <p:spPr bwMode="auto">
          <a:xfrm>
            <a:off x="2857500" y="3067050"/>
            <a:ext cx="102870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4 * 5 *</a:t>
            </a:r>
          </a:p>
        </p:txBody>
      </p:sp>
      <p:sp>
        <p:nvSpPr>
          <p:cNvPr id="44041" name="Text Box 15">
            <a:extLst>
              <a:ext uri="{FF2B5EF4-FFF2-40B4-BE49-F238E27FC236}">
                <a16:creationId xmlns:a16="http://schemas.microsoft.com/office/drawing/2014/main" id="{629591E0-1487-09AB-1F3B-A81E4780F769}"/>
              </a:ext>
            </a:extLst>
          </p:cNvPr>
          <p:cNvSpPr txBox="1">
            <a:spLocks noChangeArrowheads="1"/>
          </p:cNvSpPr>
          <p:nvPr/>
        </p:nvSpPr>
        <p:spPr bwMode="auto">
          <a:xfrm>
            <a:off x="5200650" y="3086100"/>
            <a:ext cx="137160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10 * 12 *</a:t>
            </a:r>
          </a:p>
        </p:txBody>
      </p:sp>
      <p:sp>
        <p:nvSpPr>
          <p:cNvPr id="44042" name="Text Box 16">
            <a:extLst>
              <a:ext uri="{FF2B5EF4-FFF2-40B4-BE49-F238E27FC236}">
                <a16:creationId xmlns:a16="http://schemas.microsoft.com/office/drawing/2014/main" id="{4F3A803F-10D4-90AE-EDA5-FF8318B251C1}"/>
              </a:ext>
            </a:extLst>
          </p:cNvPr>
          <p:cNvSpPr txBox="1">
            <a:spLocks noChangeArrowheads="1"/>
          </p:cNvSpPr>
          <p:nvPr/>
        </p:nvSpPr>
        <p:spPr bwMode="auto">
          <a:xfrm>
            <a:off x="4114800" y="3067050"/>
            <a:ext cx="857250" cy="253916"/>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 * </a:t>
            </a:r>
            <a:r>
              <a:rPr lang="en-US" altLang="en-US" sz="1050" b="1">
                <a:latin typeface="Times New Roman" panose="02020603050405020304" pitchFamily="18" charset="0"/>
                <a:cs typeface="Times New Roman" panose="02020603050405020304" pitchFamily="18" charset="0"/>
              </a:rPr>
              <a:t>8</a:t>
            </a:r>
            <a:r>
              <a:rPr lang="en-US" altLang="en-US" sz="1050">
                <a:latin typeface="Times New Roman" panose="02020603050405020304" pitchFamily="18" charset="0"/>
                <a:cs typeface="Times New Roman" panose="02020603050405020304" pitchFamily="18" charset="0"/>
              </a:rPr>
              <a:t> *</a:t>
            </a:r>
          </a:p>
        </p:txBody>
      </p:sp>
      <p:sp>
        <p:nvSpPr>
          <p:cNvPr id="44043" name="Line 17">
            <a:extLst>
              <a:ext uri="{FF2B5EF4-FFF2-40B4-BE49-F238E27FC236}">
                <a16:creationId xmlns:a16="http://schemas.microsoft.com/office/drawing/2014/main" id="{807D60A2-8C35-465B-AA3E-8382311F9477}"/>
              </a:ext>
            </a:extLst>
          </p:cNvPr>
          <p:cNvSpPr>
            <a:spLocks noChangeShapeType="1"/>
          </p:cNvSpPr>
          <p:nvPr/>
        </p:nvSpPr>
        <p:spPr bwMode="auto">
          <a:xfrm flipH="1">
            <a:off x="3028950" y="137160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4" name="Line 18">
            <a:extLst>
              <a:ext uri="{FF2B5EF4-FFF2-40B4-BE49-F238E27FC236}">
                <a16:creationId xmlns:a16="http://schemas.microsoft.com/office/drawing/2014/main" id="{08E31DED-3933-80F8-6094-EF074111235B}"/>
              </a:ext>
            </a:extLst>
          </p:cNvPr>
          <p:cNvSpPr>
            <a:spLocks noChangeShapeType="1"/>
          </p:cNvSpPr>
          <p:nvPr/>
        </p:nvSpPr>
        <p:spPr bwMode="auto">
          <a:xfrm>
            <a:off x="4800600" y="137160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5" name="Line 19">
            <a:extLst>
              <a:ext uri="{FF2B5EF4-FFF2-40B4-BE49-F238E27FC236}">
                <a16:creationId xmlns:a16="http://schemas.microsoft.com/office/drawing/2014/main" id="{102DA31E-302E-7FB5-A3B3-DB4C6A40B08B}"/>
              </a:ext>
            </a:extLst>
          </p:cNvPr>
          <p:cNvSpPr>
            <a:spLocks noChangeShapeType="1"/>
          </p:cNvSpPr>
          <p:nvPr/>
        </p:nvSpPr>
        <p:spPr bwMode="auto">
          <a:xfrm flipH="1">
            <a:off x="2057400" y="217170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6" name="Line 20">
            <a:extLst>
              <a:ext uri="{FF2B5EF4-FFF2-40B4-BE49-F238E27FC236}">
                <a16:creationId xmlns:a16="http://schemas.microsoft.com/office/drawing/2014/main" id="{75E3C6EC-8424-AB2C-2F98-F25A1730CE9D}"/>
              </a:ext>
            </a:extLst>
          </p:cNvPr>
          <p:cNvSpPr>
            <a:spLocks noChangeShapeType="1"/>
          </p:cNvSpPr>
          <p:nvPr/>
        </p:nvSpPr>
        <p:spPr bwMode="auto">
          <a:xfrm>
            <a:off x="3028950" y="217170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7" name="Line 21">
            <a:extLst>
              <a:ext uri="{FF2B5EF4-FFF2-40B4-BE49-F238E27FC236}">
                <a16:creationId xmlns:a16="http://schemas.microsoft.com/office/drawing/2014/main" id="{96FD073D-CE85-665D-5348-FB09F1AD6ABC}"/>
              </a:ext>
            </a:extLst>
          </p:cNvPr>
          <p:cNvSpPr>
            <a:spLocks noChangeShapeType="1"/>
          </p:cNvSpPr>
          <p:nvPr/>
        </p:nvSpPr>
        <p:spPr bwMode="auto">
          <a:xfrm>
            <a:off x="3371850" y="217170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8" name="Line 22">
            <a:extLst>
              <a:ext uri="{FF2B5EF4-FFF2-40B4-BE49-F238E27FC236}">
                <a16:creationId xmlns:a16="http://schemas.microsoft.com/office/drawing/2014/main" id="{2AC67701-4B47-DF1F-24C8-0D80526020F9}"/>
              </a:ext>
            </a:extLst>
          </p:cNvPr>
          <p:cNvSpPr>
            <a:spLocks noChangeShapeType="1"/>
          </p:cNvSpPr>
          <p:nvPr/>
        </p:nvSpPr>
        <p:spPr bwMode="auto">
          <a:xfrm>
            <a:off x="5829300" y="2171700"/>
            <a:ext cx="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49" name="Line 23">
            <a:extLst>
              <a:ext uri="{FF2B5EF4-FFF2-40B4-BE49-F238E27FC236}">
                <a16:creationId xmlns:a16="http://schemas.microsoft.com/office/drawing/2014/main" id="{75EF0DC3-7EA2-B556-8402-51FA37AEC9AF}"/>
              </a:ext>
            </a:extLst>
          </p:cNvPr>
          <p:cNvSpPr>
            <a:spLocks noChangeShapeType="1"/>
          </p:cNvSpPr>
          <p:nvPr/>
        </p:nvSpPr>
        <p:spPr bwMode="auto">
          <a:xfrm>
            <a:off x="6286500" y="217170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4050" name="Text Box 24">
            <a:extLst>
              <a:ext uri="{FF2B5EF4-FFF2-40B4-BE49-F238E27FC236}">
                <a16:creationId xmlns:a16="http://schemas.microsoft.com/office/drawing/2014/main" id="{3AE520B5-2DCA-BDC3-1DD1-A5280DC99656}"/>
              </a:ext>
            </a:extLst>
          </p:cNvPr>
          <p:cNvSpPr txBox="1">
            <a:spLocks noChangeArrowheads="1"/>
          </p:cNvSpPr>
          <p:nvPr/>
        </p:nvSpPr>
        <p:spPr bwMode="auto">
          <a:xfrm>
            <a:off x="1543050" y="268605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b</a:t>
            </a:r>
          </a:p>
        </p:txBody>
      </p:sp>
      <p:sp>
        <p:nvSpPr>
          <p:cNvPr id="44051" name="Text Box 25">
            <a:extLst>
              <a:ext uri="{FF2B5EF4-FFF2-40B4-BE49-F238E27FC236}">
                <a16:creationId xmlns:a16="http://schemas.microsoft.com/office/drawing/2014/main" id="{D3CF5123-97F5-9FCB-6CDC-B98A95ABA296}"/>
              </a:ext>
            </a:extLst>
          </p:cNvPr>
          <p:cNvSpPr txBox="1">
            <a:spLocks noChangeArrowheads="1"/>
          </p:cNvSpPr>
          <p:nvPr/>
        </p:nvSpPr>
        <p:spPr bwMode="auto">
          <a:xfrm>
            <a:off x="5086350" y="108585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a</a:t>
            </a:r>
          </a:p>
        </p:txBody>
      </p:sp>
      <p:sp>
        <p:nvSpPr>
          <p:cNvPr id="44052" name="Text Box 26">
            <a:extLst>
              <a:ext uri="{FF2B5EF4-FFF2-40B4-BE49-F238E27FC236}">
                <a16:creationId xmlns:a16="http://schemas.microsoft.com/office/drawing/2014/main" id="{4D3C93C1-4E5F-D28D-0C81-367E15E8D313}"/>
              </a:ext>
            </a:extLst>
          </p:cNvPr>
          <p:cNvSpPr txBox="1">
            <a:spLocks noChangeArrowheads="1"/>
          </p:cNvSpPr>
          <p:nvPr/>
        </p:nvSpPr>
        <p:spPr bwMode="auto">
          <a:xfrm>
            <a:off x="2514600" y="160020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f</a:t>
            </a:r>
          </a:p>
        </p:txBody>
      </p:sp>
      <p:sp>
        <p:nvSpPr>
          <p:cNvPr id="44053" name="Text Box 27">
            <a:extLst>
              <a:ext uri="{FF2B5EF4-FFF2-40B4-BE49-F238E27FC236}">
                <a16:creationId xmlns:a16="http://schemas.microsoft.com/office/drawing/2014/main" id="{42AD5CFC-C3E6-825D-E2B7-6B69B5A89C7D}"/>
              </a:ext>
            </a:extLst>
          </p:cNvPr>
          <p:cNvSpPr txBox="1">
            <a:spLocks noChangeArrowheads="1"/>
          </p:cNvSpPr>
          <p:nvPr/>
        </p:nvSpPr>
        <p:spPr bwMode="auto">
          <a:xfrm>
            <a:off x="6172200" y="165735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g</a:t>
            </a:r>
          </a:p>
        </p:txBody>
      </p:sp>
      <p:sp>
        <p:nvSpPr>
          <p:cNvPr id="44054" name="Text Box 28">
            <a:extLst>
              <a:ext uri="{FF2B5EF4-FFF2-40B4-BE49-F238E27FC236}">
                <a16:creationId xmlns:a16="http://schemas.microsoft.com/office/drawing/2014/main" id="{2B8CAE04-BDAB-77CE-23F2-13B80FEA0945}"/>
              </a:ext>
            </a:extLst>
          </p:cNvPr>
          <p:cNvSpPr txBox="1">
            <a:spLocks noChangeArrowheads="1"/>
          </p:cNvSpPr>
          <p:nvPr/>
        </p:nvSpPr>
        <p:spPr bwMode="auto">
          <a:xfrm>
            <a:off x="2857500" y="268605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d</a:t>
            </a:r>
          </a:p>
        </p:txBody>
      </p:sp>
      <p:sp>
        <p:nvSpPr>
          <p:cNvPr id="44055" name="Text Box 29">
            <a:extLst>
              <a:ext uri="{FF2B5EF4-FFF2-40B4-BE49-F238E27FC236}">
                <a16:creationId xmlns:a16="http://schemas.microsoft.com/office/drawing/2014/main" id="{2D271093-79D3-DA0A-E393-55B38F23339E}"/>
              </a:ext>
            </a:extLst>
          </p:cNvPr>
          <p:cNvSpPr txBox="1">
            <a:spLocks noChangeArrowheads="1"/>
          </p:cNvSpPr>
          <p:nvPr/>
        </p:nvSpPr>
        <p:spPr bwMode="auto">
          <a:xfrm>
            <a:off x="4572000" y="268605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h</a:t>
            </a:r>
          </a:p>
        </p:txBody>
      </p:sp>
      <p:sp>
        <p:nvSpPr>
          <p:cNvPr id="44056" name="Text Box 30">
            <a:extLst>
              <a:ext uri="{FF2B5EF4-FFF2-40B4-BE49-F238E27FC236}">
                <a16:creationId xmlns:a16="http://schemas.microsoft.com/office/drawing/2014/main" id="{2E81E6EF-F433-A785-99D7-D3C8EADA3871}"/>
              </a:ext>
            </a:extLst>
          </p:cNvPr>
          <p:cNvSpPr txBox="1">
            <a:spLocks noChangeArrowheads="1"/>
          </p:cNvSpPr>
          <p:nvPr/>
        </p:nvSpPr>
        <p:spPr bwMode="auto">
          <a:xfrm>
            <a:off x="5200650" y="274320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c</a:t>
            </a:r>
          </a:p>
        </p:txBody>
      </p:sp>
      <p:sp>
        <p:nvSpPr>
          <p:cNvPr id="44057" name="Text Box 31">
            <a:extLst>
              <a:ext uri="{FF2B5EF4-FFF2-40B4-BE49-F238E27FC236}">
                <a16:creationId xmlns:a16="http://schemas.microsoft.com/office/drawing/2014/main" id="{4770ED01-D9FA-15CB-1DD2-4FCD3DB8063B}"/>
              </a:ext>
            </a:extLst>
          </p:cNvPr>
          <p:cNvSpPr txBox="1">
            <a:spLocks noChangeArrowheads="1"/>
          </p:cNvSpPr>
          <p:nvPr/>
        </p:nvSpPr>
        <p:spPr bwMode="auto">
          <a:xfrm>
            <a:off x="7200900" y="2743200"/>
            <a:ext cx="34290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e</a:t>
            </a:r>
          </a:p>
        </p:txBody>
      </p:sp>
      <p:sp>
        <p:nvSpPr>
          <p:cNvPr id="44058" name="Text Box 32">
            <a:extLst>
              <a:ext uri="{FF2B5EF4-FFF2-40B4-BE49-F238E27FC236}">
                <a16:creationId xmlns:a16="http://schemas.microsoft.com/office/drawing/2014/main" id="{0B4CB6FB-729F-BCFA-0943-FCDD56475DB6}"/>
              </a:ext>
            </a:extLst>
          </p:cNvPr>
          <p:cNvSpPr txBox="1">
            <a:spLocks noChangeArrowheads="1"/>
          </p:cNvSpPr>
          <p:nvPr/>
        </p:nvSpPr>
        <p:spPr bwMode="auto">
          <a:xfrm>
            <a:off x="1600200" y="3543300"/>
            <a:ext cx="5772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050">
                <a:latin typeface="Times New Roman" panose="02020603050405020304" pitchFamily="18" charset="0"/>
                <a:cs typeface="Times New Roman" panose="02020603050405020304" pitchFamily="18" charset="0"/>
              </a:rPr>
              <a:t>B tree Of order 4</a:t>
            </a:r>
          </a:p>
        </p:txBody>
      </p:sp>
      <p:sp>
        <p:nvSpPr>
          <p:cNvPr id="44059" name="Text Box 32">
            <a:extLst>
              <a:ext uri="{FF2B5EF4-FFF2-40B4-BE49-F238E27FC236}">
                <a16:creationId xmlns:a16="http://schemas.microsoft.com/office/drawing/2014/main" id="{56AEBF25-77A4-FD52-D48C-38E72941979E}"/>
              </a:ext>
            </a:extLst>
          </p:cNvPr>
          <p:cNvSpPr txBox="1">
            <a:spLocks noChangeArrowheads="1"/>
          </p:cNvSpPr>
          <p:nvPr/>
        </p:nvSpPr>
        <p:spPr bwMode="auto">
          <a:xfrm>
            <a:off x="1543050" y="3805238"/>
            <a:ext cx="5772150" cy="9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050">
                <a:latin typeface="Times New Roman" panose="02020603050405020304" pitchFamily="18" charset="0"/>
                <a:cs typeface="Times New Roman" panose="02020603050405020304" pitchFamily="18" charset="0"/>
              </a:rPr>
              <a:t>Minimum Keys: 1</a:t>
            </a:r>
          </a:p>
          <a:p>
            <a:pPr>
              <a:spcBef>
                <a:spcPct val="50000"/>
              </a:spcBef>
            </a:pPr>
            <a:r>
              <a:rPr lang="en-US" altLang="en-US" sz="1050">
                <a:latin typeface="Times New Roman" panose="02020603050405020304" pitchFamily="18" charset="0"/>
                <a:cs typeface="Times New Roman" panose="02020603050405020304" pitchFamily="18" charset="0"/>
              </a:rPr>
              <a:t>Maximum keys 3</a:t>
            </a:r>
          </a:p>
          <a:p>
            <a:pPr>
              <a:spcBef>
                <a:spcPct val="50000"/>
              </a:spcBef>
            </a:pPr>
            <a:r>
              <a:rPr lang="en-US" altLang="en-US" sz="1050">
                <a:latin typeface="Times New Roman" panose="02020603050405020304" pitchFamily="18" charset="0"/>
                <a:cs typeface="Times New Roman" panose="02020603050405020304" pitchFamily="18" charset="0"/>
              </a:rPr>
              <a:t>Minimum children: 2</a:t>
            </a:r>
          </a:p>
          <a:p>
            <a:pPr>
              <a:spcBef>
                <a:spcPct val="50000"/>
              </a:spcBef>
            </a:pPr>
            <a:r>
              <a:rPr lang="en-US" altLang="en-US" sz="1050">
                <a:latin typeface="Times New Roman" panose="02020603050405020304" pitchFamily="18" charset="0"/>
                <a:cs typeface="Times New Roman" panose="02020603050405020304" pitchFamily="18" charset="0"/>
              </a:rPr>
              <a:t>Maximum children 4</a:t>
            </a:r>
          </a:p>
        </p:txBody>
      </p:sp>
      <p:sp>
        <p:nvSpPr>
          <p:cNvPr id="2" name="Rectangle 1">
            <a:extLst>
              <a:ext uri="{FF2B5EF4-FFF2-40B4-BE49-F238E27FC236}">
                <a16:creationId xmlns:a16="http://schemas.microsoft.com/office/drawing/2014/main" id="{4500217F-F3F5-B464-C60F-BF2B4B4695A6}"/>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latin typeface="Times New Roman" pitchFamily="18" charset="0"/>
                <a:cs typeface="Times New Roman" pitchFamily="18" charset="0"/>
              </a:rPr>
              <a:t>Dr. Dattatray G. Takale, Department of  Computer engineering, VIIT, Pune-48</a:t>
            </a:r>
            <a:endParaRPr lang="en-IN" sz="1050" b="1" dirty="0">
              <a:solidFill>
                <a:schemeClr val="tx1"/>
              </a:solidFill>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37A5293-D922-D2F0-464E-102C6A35F87B}"/>
              </a:ext>
            </a:extLst>
          </p:cNvPr>
          <p:cNvSpPr>
            <a:spLocks noGrp="1" noChangeArrowheads="1"/>
          </p:cNvSpPr>
          <p:nvPr>
            <p:ph type="title" idx="4294967295"/>
          </p:nvPr>
        </p:nvSpPr>
        <p:spPr>
          <a:xfrm>
            <a:off x="923875" y="113616"/>
            <a:ext cx="7447859" cy="934134"/>
          </a:xfrm>
        </p:spPr>
        <p:txBody>
          <a:bodyPr>
            <a:noAutofit/>
          </a:bodyPr>
          <a:lstStyle/>
          <a:p>
            <a:pPr algn="ctr">
              <a:defRPr/>
            </a:pPr>
            <a:r>
              <a:rPr lang="en-US" sz="2000" dirty="0">
                <a:latin typeface="Times New Roman" panose="02020603050405020304" pitchFamily="18" charset="0"/>
                <a:cs typeface="Times New Roman" panose="02020603050405020304" pitchFamily="18" charset="0"/>
              </a:rPr>
              <a:t>Delete 2</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Case 1: Deletion from a Leaf Node (Simple Case)</a:t>
            </a:r>
            <a:br>
              <a:rPr 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Node has more than min. number of keys</a:t>
            </a:r>
            <a:br>
              <a:rPr lang="en-US" alt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5059" name="Text Box 3">
            <a:extLst>
              <a:ext uri="{FF2B5EF4-FFF2-40B4-BE49-F238E27FC236}">
                <a16:creationId xmlns:a16="http://schemas.microsoft.com/office/drawing/2014/main" id="{FD032344-213E-E0C0-9AC9-37CCD33C5933}"/>
              </a:ext>
            </a:extLst>
          </p:cNvPr>
          <p:cNvSpPr txBox="1">
            <a:spLocks noChangeArrowheads="1"/>
          </p:cNvSpPr>
          <p:nvPr/>
        </p:nvSpPr>
        <p:spPr bwMode="auto">
          <a:xfrm>
            <a:off x="2514600" y="23622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 * 7 *</a:t>
            </a:r>
          </a:p>
        </p:txBody>
      </p:sp>
      <p:sp>
        <p:nvSpPr>
          <p:cNvPr id="45060" name="Text Box 4">
            <a:extLst>
              <a:ext uri="{FF2B5EF4-FFF2-40B4-BE49-F238E27FC236}">
                <a16:creationId xmlns:a16="http://schemas.microsoft.com/office/drawing/2014/main" id="{FD4D5227-B232-D7C9-C4B1-DC371BCC2190}"/>
              </a:ext>
            </a:extLst>
          </p:cNvPr>
          <p:cNvSpPr txBox="1">
            <a:spLocks noChangeArrowheads="1"/>
          </p:cNvSpPr>
          <p:nvPr/>
        </p:nvSpPr>
        <p:spPr bwMode="auto">
          <a:xfrm>
            <a:off x="6743700" y="340995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21 *</a:t>
            </a:r>
          </a:p>
        </p:txBody>
      </p:sp>
      <p:sp>
        <p:nvSpPr>
          <p:cNvPr id="45061" name="Text Box 5">
            <a:extLst>
              <a:ext uri="{FF2B5EF4-FFF2-40B4-BE49-F238E27FC236}">
                <a16:creationId xmlns:a16="http://schemas.microsoft.com/office/drawing/2014/main" id="{1A9524D9-3A9D-8070-D462-CAFF9801234B}"/>
              </a:ext>
            </a:extLst>
          </p:cNvPr>
          <p:cNvSpPr txBox="1">
            <a:spLocks noChangeArrowheads="1"/>
          </p:cNvSpPr>
          <p:nvPr/>
        </p:nvSpPr>
        <p:spPr bwMode="auto">
          <a:xfrm>
            <a:off x="5429250" y="2362200"/>
            <a:ext cx="12001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13 *</a:t>
            </a:r>
          </a:p>
        </p:txBody>
      </p:sp>
      <p:sp>
        <p:nvSpPr>
          <p:cNvPr id="45062" name="Text Box 6">
            <a:extLst>
              <a:ext uri="{FF2B5EF4-FFF2-40B4-BE49-F238E27FC236}">
                <a16:creationId xmlns:a16="http://schemas.microsoft.com/office/drawing/2014/main" id="{BFE49690-ADF7-FCB1-D7E6-83729B5A4B2F}"/>
              </a:ext>
            </a:extLst>
          </p:cNvPr>
          <p:cNvSpPr txBox="1">
            <a:spLocks noChangeArrowheads="1"/>
          </p:cNvSpPr>
          <p:nvPr/>
        </p:nvSpPr>
        <p:spPr bwMode="auto">
          <a:xfrm>
            <a:off x="4171950" y="15240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9 *</a:t>
            </a:r>
          </a:p>
        </p:txBody>
      </p:sp>
      <p:sp>
        <p:nvSpPr>
          <p:cNvPr id="45063" name="Text Box 7">
            <a:extLst>
              <a:ext uri="{FF2B5EF4-FFF2-40B4-BE49-F238E27FC236}">
                <a16:creationId xmlns:a16="http://schemas.microsoft.com/office/drawing/2014/main" id="{540C8165-D1F6-EF9B-08EA-C26136600E1A}"/>
              </a:ext>
            </a:extLst>
          </p:cNvPr>
          <p:cNvSpPr txBox="1">
            <a:spLocks noChangeArrowheads="1"/>
          </p:cNvSpPr>
          <p:nvPr/>
        </p:nvSpPr>
        <p:spPr bwMode="auto">
          <a:xfrm>
            <a:off x="1543050" y="3409950"/>
            <a:ext cx="102870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 *</a:t>
            </a:r>
          </a:p>
        </p:txBody>
      </p:sp>
      <p:sp>
        <p:nvSpPr>
          <p:cNvPr id="45064" name="Text Box 8">
            <a:extLst>
              <a:ext uri="{FF2B5EF4-FFF2-40B4-BE49-F238E27FC236}">
                <a16:creationId xmlns:a16="http://schemas.microsoft.com/office/drawing/2014/main" id="{06820EF8-DCBB-636D-3C1F-02E22E4001E7}"/>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4 * 5 *</a:t>
            </a:r>
          </a:p>
        </p:txBody>
      </p:sp>
      <p:sp>
        <p:nvSpPr>
          <p:cNvPr id="45065" name="Text Box 9">
            <a:extLst>
              <a:ext uri="{FF2B5EF4-FFF2-40B4-BE49-F238E27FC236}">
                <a16:creationId xmlns:a16="http://schemas.microsoft.com/office/drawing/2014/main" id="{1D2C99CA-E898-4515-E879-3B739CDECF73}"/>
              </a:ext>
            </a:extLst>
          </p:cNvPr>
          <p:cNvSpPr txBox="1">
            <a:spLocks noChangeArrowheads="1"/>
          </p:cNvSpPr>
          <p:nvPr/>
        </p:nvSpPr>
        <p:spPr bwMode="auto">
          <a:xfrm>
            <a:off x="5200650" y="3409950"/>
            <a:ext cx="13716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10 * 12 *</a:t>
            </a:r>
          </a:p>
        </p:txBody>
      </p:sp>
      <p:sp>
        <p:nvSpPr>
          <p:cNvPr id="45066" name="Text Box 10">
            <a:extLst>
              <a:ext uri="{FF2B5EF4-FFF2-40B4-BE49-F238E27FC236}">
                <a16:creationId xmlns:a16="http://schemas.microsoft.com/office/drawing/2014/main" id="{F6919261-7D22-B6B6-B5BF-84933A1020DD}"/>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45067" name="Line 11">
            <a:extLst>
              <a:ext uri="{FF2B5EF4-FFF2-40B4-BE49-F238E27FC236}">
                <a16:creationId xmlns:a16="http://schemas.microsoft.com/office/drawing/2014/main" id="{25F910D5-B998-BD29-DEA1-869266D55810}"/>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68" name="Line 12">
            <a:extLst>
              <a:ext uri="{FF2B5EF4-FFF2-40B4-BE49-F238E27FC236}">
                <a16:creationId xmlns:a16="http://schemas.microsoft.com/office/drawing/2014/main" id="{69E128DE-3DD5-3403-2849-D89B7E8AE5D4}"/>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69" name="Line 13">
            <a:extLst>
              <a:ext uri="{FF2B5EF4-FFF2-40B4-BE49-F238E27FC236}">
                <a16:creationId xmlns:a16="http://schemas.microsoft.com/office/drawing/2014/main" id="{9F5F12FA-D4FC-F0E7-0866-55B8CDE0D7D5}"/>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70" name="Line 14">
            <a:extLst>
              <a:ext uri="{FF2B5EF4-FFF2-40B4-BE49-F238E27FC236}">
                <a16:creationId xmlns:a16="http://schemas.microsoft.com/office/drawing/2014/main" id="{88CB484F-E549-D1FA-12F9-5D33487BAF19}"/>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71" name="Line 15">
            <a:extLst>
              <a:ext uri="{FF2B5EF4-FFF2-40B4-BE49-F238E27FC236}">
                <a16:creationId xmlns:a16="http://schemas.microsoft.com/office/drawing/2014/main" id="{CE649FA1-C952-1170-37F5-CA626C6A0890}"/>
              </a:ext>
            </a:extLst>
          </p:cNvPr>
          <p:cNvSpPr>
            <a:spLocks noChangeShapeType="1"/>
          </p:cNvSpPr>
          <p:nvPr/>
        </p:nvSpPr>
        <p:spPr bwMode="auto">
          <a:xfrm>
            <a:off x="3371850" y="249555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72" name="Line 16">
            <a:extLst>
              <a:ext uri="{FF2B5EF4-FFF2-40B4-BE49-F238E27FC236}">
                <a16:creationId xmlns:a16="http://schemas.microsoft.com/office/drawing/2014/main" id="{E32E07DC-7C9C-5CAF-E357-B5A88005F81A}"/>
              </a:ext>
            </a:extLst>
          </p:cNvPr>
          <p:cNvSpPr>
            <a:spLocks noChangeShapeType="1"/>
          </p:cNvSpPr>
          <p:nvPr/>
        </p:nvSpPr>
        <p:spPr bwMode="auto">
          <a:xfrm>
            <a:off x="5829300" y="2495550"/>
            <a:ext cx="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73" name="Line 17">
            <a:extLst>
              <a:ext uri="{FF2B5EF4-FFF2-40B4-BE49-F238E27FC236}">
                <a16:creationId xmlns:a16="http://schemas.microsoft.com/office/drawing/2014/main" id="{D0C69498-890F-B92B-6E22-DC2A3D469A6B}"/>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5074" name="Text Box 18">
            <a:extLst>
              <a:ext uri="{FF2B5EF4-FFF2-40B4-BE49-F238E27FC236}">
                <a16:creationId xmlns:a16="http://schemas.microsoft.com/office/drawing/2014/main" id="{DCCD304B-0268-934A-AA60-420C5D82EFAF}"/>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45075" name="Text Box 19">
            <a:extLst>
              <a:ext uri="{FF2B5EF4-FFF2-40B4-BE49-F238E27FC236}">
                <a16:creationId xmlns:a16="http://schemas.microsoft.com/office/drawing/2014/main" id="{41FC2985-4EF6-5B56-99FB-922BF1BA9AEB}"/>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45076" name="Text Box 20">
            <a:extLst>
              <a:ext uri="{FF2B5EF4-FFF2-40B4-BE49-F238E27FC236}">
                <a16:creationId xmlns:a16="http://schemas.microsoft.com/office/drawing/2014/main" id="{2947336F-7258-A2BE-FC24-4C0F1A43C9D9}"/>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45077" name="Text Box 21">
            <a:extLst>
              <a:ext uri="{FF2B5EF4-FFF2-40B4-BE49-F238E27FC236}">
                <a16:creationId xmlns:a16="http://schemas.microsoft.com/office/drawing/2014/main" id="{E9641444-B49E-F68D-CFF9-2192CBAF0F23}"/>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45078" name="Text Box 22">
            <a:extLst>
              <a:ext uri="{FF2B5EF4-FFF2-40B4-BE49-F238E27FC236}">
                <a16:creationId xmlns:a16="http://schemas.microsoft.com/office/drawing/2014/main" id="{09824041-1A04-52F6-4480-C7EABA617FAC}"/>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45079" name="Text Box 23">
            <a:extLst>
              <a:ext uri="{FF2B5EF4-FFF2-40B4-BE49-F238E27FC236}">
                <a16:creationId xmlns:a16="http://schemas.microsoft.com/office/drawing/2014/main" id="{2D7D8763-4290-DB1E-D5E0-E493978159F8}"/>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45080" name="Text Box 24">
            <a:extLst>
              <a:ext uri="{FF2B5EF4-FFF2-40B4-BE49-F238E27FC236}">
                <a16:creationId xmlns:a16="http://schemas.microsoft.com/office/drawing/2014/main" id="{D9AD2104-971E-8C78-1F45-C496F3861778}"/>
              </a:ext>
            </a:extLst>
          </p:cNvPr>
          <p:cNvSpPr txBox="1">
            <a:spLocks noChangeArrowheads="1"/>
          </p:cNvSpPr>
          <p:nvPr/>
        </p:nvSpPr>
        <p:spPr bwMode="auto">
          <a:xfrm>
            <a:off x="52578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c</a:t>
            </a:r>
          </a:p>
        </p:txBody>
      </p:sp>
      <p:sp>
        <p:nvSpPr>
          <p:cNvPr id="45081" name="Text Box 25">
            <a:extLst>
              <a:ext uri="{FF2B5EF4-FFF2-40B4-BE49-F238E27FC236}">
                <a16:creationId xmlns:a16="http://schemas.microsoft.com/office/drawing/2014/main" id="{FEDFD7CF-2264-FE10-7B5B-19928FE32C8F}"/>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45082" name="Text Box 26">
            <a:extLst>
              <a:ext uri="{FF2B5EF4-FFF2-40B4-BE49-F238E27FC236}">
                <a16:creationId xmlns:a16="http://schemas.microsoft.com/office/drawing/2014/main" id="{75FEE268-9943-6D30-1A66-E8EBE09E59EC}"/>
              </a:ext>
            </a:extLst>
          </p:cNvPr>
          <p:cNvSpPr txBox="1">
            <a:spLocks noChangeArrowheads="1"/>
          </p:cNvSpPr>
          <p:nvPr/>
        </p:nvSpPr>
        <p:spPr bwMode="auto">
          <a:xfrm>
            <a:off x="2000250" y="4057650"/>
            <a:ext cx="52006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2 deleted directly. Node b can loose an element without underflow. </a:t>
            </a:r>
          </a:p>
        </p:txBody>
      </p:sp>
      <p:sp>
        <p:nvSpPr>
          <p:cNvPr id="2" name="Rectangle 1">
            <a:extLst>
              <a:ext uri="{FF2B5EF4-FFF2-40B4-BE49-F238E27FC236}">
                <a16:creationId xmlns:a16="http://schemas.microsoft.com/office/drawing/2014/main" id="{FA393560-9DD4-C9BB-E96B-6D40E483DD3C}"/>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774BB55D-30BE-12DC-EF5D-D88B3473208D}"/>
              </a:ext>
            </a:extLst>
          </p:cNvPr>
          <p:cNvSpPr txBox="1"/>
          <p:nvPr/>
        </p:nvSpPr>
        <p:spPr>
          <a:xfrm>
            <a:off x="114302" y="993702"/>
            <a:ext cx="3576463" cy="160043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Condition</a:t>
            </a:r>
          </a:p>
          <a:p>
            <a:r>
              <a:rPr lang="en-US" dirty="0">
                <a:latin typeface="Times New Roman" panose="02020603050405020304" pitchFamily="18" charset="0"/>
                <a:cs typeface="Times New Roman" panose="02020603050405020304" pitchFamily="18" charset="0"/>
              </a:rPr>
              <a:t>The key to be deleted is in a leaf node</a:t>
            </a:r>
          </a:p>
          <a:p>
            <a:r>
              <a:rPr lang="en-US" dirty="0">
                <a:latin typeface="Times New Roman" panose="02020603050405020304" pitchFamily="18" charset="0"/>
                <a:cs typeface="Times New Roman" panose="02020603050405020304" pitchFamily="18" charset="0"/>
              </a:rPr>
              <a:t>After deletion, the node still has at least the minimum number of keys</a:t>
            </a:r>
          </a:p>
          <a:p>
            <a:r>
              <a:rPr lang="en-US" b="1" dirty="0">
                <a:latin typeface="Times New Roman" panose="02020603050405020304" pitchFamily="18" charset="0"/>
                <a:cs typeface="Times New Roman" panose="02020603050405020304" pitchFamily="18" charset="0"/>
              </a:rPr>
              <a:t>Action </a:t>
            </a:r>
          </a:p>
          <a:p>
            <a:r>
              <a:rPr lang="en-US" dirty="0">
                <a:latin typeface="Times New Roman" panose="02020603050405020304" pitchFamily="18" charset="0"/>
                <a:cs typeface="Times New Roman" panose="02020603050405020304" pitchFamily="18" charset="0"/>
              </a:rPr>
              <a:t>Simply remove the key</a:t>
            </a:r>
          </a:p>
          <a:p>
            <a:r>
              <a:rPr lang="en-US" dirty="0">
                <a:latin typeface="Times New Roman" panose="02020603050405020304" pitchFamily="18" charset="0"/>
                <a:cs typeface="Times New Roman" panose="02020603050405020304" pitchFamily="18" charset="0"/>
              </a:rPr>
              <a:t>No restructuring required</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022E9-BE87-B343-F788-B21DD96B13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1D4953-1D7F-3AC7-BD05-7289D6A1F1F2}"/>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8C096D6A-541F-AFCF-6151-17DDA97C6CED}"/>
              </a:ext>
            </a:extLst>
          </p:cNvPr>
          <p:cNvPicPr>
            <a:picLocks noChangeAspect="1"/>
          </p:cNvPicPr>
          <p:nvPr/>
        </p:nvPicPr>
        <p:blipFill>
          <a:blip r:embed="rId2"/>
          <a:stretch>
            <a:fillRect/>
          </a:stretch>
        </p:blipFill>
        <p:spPr>
          <a:xfrm>
            <a:off x="36417" y="741864"/>
            <a:ext cx="2829967" cy="4114405"/>
          </a:xfrm>
          <a:prstGeom prst="rect">
            <a:avLst/>
          </a:prstGeom>
        </p:spPr>
      </p:pic>
      <p:pic>
        <p:nvPicPr>
          <p:cNvPr id="7" name="Picture 6">
            <a:extLst>
              <a:ext uri="{FF2B5EF4-FFF2-40B4-BE49-F238E27FC236}">
                <a16:creationId xmlns:a16="http://schemas.microsoft.com/office/drawing/2014/main" id="{1E517228-7F34-EDFA-BB2A-9E27D6929223}"/>
              </a:ext>
            </a:extLst>
          </p:cNvPr>
          <p:cNvPicPr>
            <a:picLocks noChangeAspect="1"/>
          </p:cNvPicPr>
          <p:nvPr/>
        </p:nvPicPr>
        <p:blipFill>
          <a:blip r:embed="rId3"/>
          <a:stretch>
            <a:fillRect/>
          </a:stretch>
        </p:blipFill>
        <p:spPr>
          <a:xfrm>
            <a:off x="2832163" y="741864"/>
            <a:ext cx="3038001" cy="4114405"/>
          </a:xfrm>
          <a:prstGeom prst="rect">
            <a:avLst/>
          </a:prstGeom>
        </p:spPr>
      </p:pic>
      <p:pic>
        <p:nvPicPr>
          <p:cNvPr id="9" name="Picture 8">
            <a:extLst>
              <a:ext uri="{FF2B5EF4-FFF2-40B4-BE49-F238E27FC236}">
                <a16:creationId xmlns:a16="http://schemas.microsoft.com/office/drawing/2014/main" id="{2FCCBF6F-5F83-80C7-1A31-2C17BEF9A33E}"/>
              </a:ext>
            </a:extLst>
          </p:cNvPr>
          <p:cNvPicPr>
            <a:picLocks noChangeAspect="1"/>
          </p:cNvPicPr>
          <p:nvPr/>
        </p:nvPicPr>
        <p:blipFill>
          <a:blip r:embed="rId4"/>
          <a:stretch>
            <a:fillRect/>
          </a:stretch>
        </p:blipFill>
        <p:spPr>
          <a:xfrm>
            <a:off x="5908067" y="741864"/>
            <a:ext cx="2923237" cy="4114405"/>
          </a:xfrm>
          <a:prstGeom prst="rect">
            <a:avLst/>
          </a:prstGeom>
        </p:spPr>
      </p:pic>
    </p:spTree>
    <p:extLst>
      <p:ext uri="{BB962C8B-B14F-4D97-AF65-F5344CB8AC3E}">
        <p14:creationId xmlns:p14="http://schemas.microsoft.com/office/powerpoint/2010/main" val="27795499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6E90-C2F3-59D4-924D-37B4F577F6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921848F-9037-C6EA-20D7-DF206D99482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8" name="Picture 7">
            <a:extLst>
              <a:ext uri="{FF2B5EF4-FFF2-40B4-BE49-F238E27FC236}">
                <a16:creationId xmlns:a16="http://schemas.microsoft.com/office/drawing/2014/main" id="{40F414BF-C0B1-9794-7333-0B6E0687228B}"/>
              </a:ext>
            </a:extLst>
          </p:cNvPr>
          <p:cNvPicPr>
            <a:picLocks noChangeAspect="1"/>
          </p:cNvPicPr>
          <p:nvPr/>
        </p:nvPicPr>
        <p:blipFill>
          <a:blip r:embed="rId2"/>
          <a:srcRect l="39437"/>
          <a:stretch>
            <a:fillRect/>
          </a:stretch>
        </p:blipFill>
        <p:spPr>
          <a:xfrm>
            <a:off x="-42640" y="0"/>
            <a:ext cx="2933709" cy="4846794"/>
          </a:xfrm>
          <a:prstGeom prst="rect">
            <a:avLst/>
          </a:prstGeom>
        </p:spPr>
      </p:pic>
      <p:pic>
        <p:nvPicPr>
          <p:cNvPr id="11" name="Picture 10">
            <a:extLst>
              <a:ext uri="{FF2B5EF4-FFF2-40B4-BE49-F238E27FC236}">
                <a16:creationId xmlns:a16="http://schemas.microsoft.com/office/drawing/2014/main" id="{DC353C1D-99B5-9138-0358-EBAFD9AB0980}"/>
              </a:ext>
            </a:extLst>
          </p:cNvPr>
          <p:cNvPicPr>
            <a:picLocks noChangeAspect="1"/>
          </p:cNvPicPr>
          <p:nvPr/>
        </p:nvPicPr>
        <p:blipFill>
          <a:blip r:embed="rId3"/>
          <a:srcRect l="23805"/>
          <a:stretch>
            <a:fillRect/>
          </a:stretch>
        </p:blipFill>
        <p:spPr>
          <a:xfrm>
            <a:off x="2932052" y="0"/>
            <a:ext cx="3279895" cy="4893088"/>
          </a:xfrm>
          <a:prstGeom prst="rect">
            <a:avLst/>
          </a:prstGeom>
        </p:spPr>
      </p:pic>
      <p:pic>
        <p:nvPicPr>
          <p:cNvPr id="13" name="Picture 12">
            <a:extLst>
              <a:ext uri="{FF2B5EF4-FFF2-40B4-BE49-F238E27FC236}">
                <a16:creationId xmlns:a16="http://schemas.microsoft.com/office/drawing/2014/main" id="{207085C2-A492-FA42-6BC4-4DE44F4C7C58}"/>
              </a:ext>
            </a:extLst>
          </p:cNvPr>
          <p:cNvPicPr>
            <a:picLocks noChangeAspect="1"/>
          </p:cNvPicPr>
          <p:nvPr/>
        </p:nvPicPr>
        <p:blipFill>
          <a:blip r:embed="rId4"/>
          <a:stretch>
            <a:fillRect/>
          </a:stretch>
        </p:blipFill>
        <p:spPr>
          <a:xfrm>
            <a:off x="6252930" y="-1"/>
            <a:ext cx="2895621" cy="4846793"/>
          </a:xfrm>
          <a:prstGeom prst="rect">
            <a:avLst/>
          </a:prstGeom>
        </p:spPr>
      </p:pic>
    </p:spTree>
    <p:extLst>
      <p:ext uri="{BB962C8B-B14F-4D97-AF65-F5344CB8AC3E}">
        <p14:creationId xmlns:p14="http://schemas.microsoft.com/office/powerpoint/2010/main" val="26551316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A85003D-BB11-5EA0-D475-5F422ADE9C7D}"/>
              </a:ext>
            </a:extLst>
          </p:cNvPr>
          <p:cNvSpPr>
            <a:spLocks noGrp="1" noChangeArrowheads="1"/>
          </p:cNvSpPr>
          <p:nvPr>
            <p:ph type="title" idx="4294967295"/>
          </p:nvPr>
        </p:nvSpPr>
        <p:spPr>
          <a:xfrm>
            <a:off x="1543050" y="5715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21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Left Sibling   (Delete 21)</a:t>
            </a:r>
            <a:br>
              <a:rPr lang="en-US" altLang="en-US"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6083" name="Text Box 3">
            <a:extLst>
              <a:ext uri="{FF2B5EF4-FFF2-40B4-BE49-F238E27FC236}">
                <a16:creationId xmlns:a16="http://schemas.microsoft.com/office/drawing/2014/main" id="{448AC300-6824-BB6C-7734-BC3855C68664}"/>
              </a:ext>
            </a:extLst>
          </p:cNvPr>
          <p:cNvSpPr txBox="1">
            <a:spLocks noChangeArrowheads="1"/>
          </p:cNvSpPr>
          <p:nvPr/>
        </p:nvSpPr>
        <p:spPr bwMode="auto">
          <a:xfrm>
            <a:off x="2514600" y="23622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 * 7 *</a:t>
            </a:r>
          </a:p>
        </p:txBody>
      </p:sp>
      <p:sp>
        <p:nvSpPr>
          <p:cNvPr id="46084" name="Text Box 4">
            <a:extLst>
              <a:ext uri="{FF2B5EF4-FFF2-40B4-BE49-F238E27FC236}">
                <a16:creationId xmlns:a16="http://schemas.microsoft.com/office/drawing/2014/main" id="{5027BBA2-6790-77ED-2ABA-20E0E1FA79FE}"/>
              </a:ext>
            </a:extLst>
          </p:cNvPr>
          <p:cNvSpPr txBox="1">
            <a:spLocks noChangeArrowheads="1"/>
          </p:cNvSpPr>
          <p:nvPr/>
        </p:nvSpPr>
        <p:spPr bwMode="auto">
          <a:xfrm>
            <a:off x="6743700" y="340995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21 *</a:t>
            </a:r>
          </a:p>
        </p:txBody>
      </p:sp>
      <p:sp>
        <p:nvSpPr>
          <p:cNvPr id="46085" name="Text Box 5">
            <a:extLst>
              <a:ext uri="{FF2B5EF4-FFF2-40B4-BE49-F238E27FC236}">
                <a16:creationId xmlns:a16="http://schemas.microsoft.com/office/drawing/2014/main" id="{6F429762-6910-46D1-8C3E-511A7284A502}"/>
              </a:ext>
            </a:extLst>
          </p:cNvPr>
          <p:cNvSpPr txBox="1">
            <a:spLocks noChangeArrowheads="1"/>
          </p:cNvSpPr>
          <p:nvPr/>
        </p:nvSpPr>
        <p:spPr bwMode="auto">
          <a:xfrm>
            <a:off x="5429250" y="2362200"/>
            <a:ext cx="12001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13 *</a:t>
            </a:r>
          </a:p>
        </p:txBody>
      </p:sp>
      <p:sp>
        <p:nvSpPr>
          <p:cNvPr id="46086" name="Text Box 6">
            <a:extLst>
              <a:ext uri="{FF2B5EF4-FFF2-40B4-BE49-F238E27FC236}">
                <a16:creationId xmlns:a16="http://schemas.microsoft.com/office/drawing/2014/main" id="{B4175DE8-C77A-BBF0-07A6-3975FFB72970}"/>
              </a:ext>
            </a:extLst>
          </p:cNvPr>
          <p:cNvSpPr txBox="1">
            <a:spLocks noChangeArrowheads="1"/>
          </p:cNvSpPr>
          <p:nvPr/>
        </p:nvSpPr>
        <p:spPr bwMode="auto">
          <a:xfrm>
            <a:off x="4171950" y="15240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9 *</a:t>
            </a:r>
          </a:p>
        </p:txBody>
      </p:sp>
      <p:sp>
        <p:nvSpPr>
          <p:cNvPr id="46087" name="Text Box 7">
            <a:extLst>
              <a:ext uri="{FF2B5EF4-FFF2-40B4-BE49-F238E27FC236}">
                <a16:creationId xmlns:a16="http://schemas.microsoft.com/office/drawing/2014/main" id="{35BFDD21-DC2F-FC3B-2727-3278F1083341}"/>
              </a:ext>
            </a:extLst>
          </p:cNvPr>
          <p:cNvSpPr txBox="1">
            <a:spLocks noChangeArrowheads="1"/>
          </p:cNvSpPr>
          <p:nvPr/>
        </p:nvSpPr>
        <p:spPr bwMode="auto">
          <a:xfrm>
            <a:off x="1543050" y="340995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 *</a:t>
            </a:r>
          </a:p>
        </p:txBody>
      </p:sp>
      <p:sp>
        <p:nvSpPr>
          <p:cNvPr id="46088" name="Text Box 8">
            <a:extLst>
              <a:ext uri="{FF2B5EF4-FFF2-40B4-BE49-F238E27FC236}">
                <a16:creationId xmlns:a16="http://schemas.microsoft.com/office/drawing/2014/main" id="{E369EA98-DA19-B6C9-EAC7-B5CF3772B15B}"/>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4 * 5 *</a:t>
            </a:r>
          </a:p>
        </p:txBody>
      </p:sp>
      <p:sp>
        <p:nvSpPr>
          <p:cNvPr id="46089" name="Text Box 9">
            <a:extLst>
              <a:ext uri="{FF2B5EF4-FFF2-40B4-BE49-F238E27FC236}">
                <a16:creationId xmlns:a16="http://schemas.microsoft.com/office/drawing/2014/main" id="{F53675DB-1849-1D0E-8DD5-C33B7D3F7332}"/>
              </a:ext>
            </a:extLst>
          </p:cNvPr>
          <p:cNvSpPr txBox="1">
            <a:spLocks noChangeArrowheads="1"/>
          </p:cNvSpPr>
          <p:nvPr/>
        </p:nvSpPr>
        <p:spPr bwMode="auto">
          <a:xfrm>
            <a:off x="5200650" y="3409950"/>
            <a:ext cx="13716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dirty="0">
                <a:latin typeface="Times New Roman" panose="02020603050405020304" pitchFamily="18" charset="0"/>
                <a:cs typeface="Times New Roman" panose="02020603050405020304" pitchFamily="18" charset="0"/>
              </a:rPr>
              <a:t>* 10 * 12 *</a:t>
            </a:r>
          </a:p>
        </p:txBody>
      </p:sp>
      <p:sp>
        <p:nvSpPr>
          <p:cNvPr id="46090" name="Text Box 10">
            <a:extLst>
              <a:ext uri="{FF2B5EF4-FFF2-40B4-BE49-F238E27FC236}">
                <a16:creationId xmlns:a16="http://schemas.microsoft.com/office/drawing/2014/main" id="{DE47B3E9-3EB6-2F6D-DB5F-EE12F14CEAE8}"/>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46091" name="Line 11">
            <a:extLst>
              <a:ext uri="{FF2B5EF4-FFF2-40B4-BE49-F238E27FC236}">
                <a16:creationId xmlns:a16="http://schemas.microsoft.com/office/drawing/2014/main" id="{5F21E8B4-72C6-6375-1647-7E825A9C2624}"/>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2" name="Line 12">
            <a:extLst>
              <a:ext uri="{FF2B5EF4-FFF2-40B4-BE49-F238E27FC236}">
                <a16:creationId xmlns:a16="http://schemas.microsoft.com/office/drawing/2014/main" id="{E0CC8F49-8A9F-BECE-42FE-056E2A71A2B8}"/>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3" name="Line 13">
            <a:extLst>
              <a:ext uri="{FF2B5EF4-FFF2-40B4-BE49-F238E27FC236}">
                <a16:creationId xmlns:a16="http://schemas.microsoft.com/office/drawing/2014/main" id="{C89D0FDB-DEC1-C288-84CE-902195654954}"/>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4" name="Line 14">
            <a:extLst>
              <a:ext uri="{FF2B5EF4-FFF2-40B4-BE49-F238E27FC236}">
                <a16:creationId xmlns:a16="http://schemas.microsoft.com/office/drawing/2014/main" id="{270B40C4-3496-534E-4547-A3A8BCD2F9CF}"/>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5" name="Line 15">
            <a:extLst>
              <a:ext uri="{FF2B5EF4-FFF2-40B4-BE49-F238E27FC236}">
                <a16:creationId xmlns:a16="http://schemas.microsoft.com/office/drawing/2014/main" id="{82C932F2-47C0-968F-A33D-8D8B4B794CF0}"/>
              </a:ext>
            </a:extLst>
          </p:cNvPr>
          <p:cNvSpPr>
            <a:spLocks noChangeShapeType="1"/>
          </p:cNvSpPr>
          <p:nvPr/>
        </p:nvSpPr>
        <p:spPr bwMode="auto">
          <a:xfrm>
            <a:off x="3371850" y="249555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6" name="Line 16">
            <a:extLst>
              <a:ext uri="{FF2B5EF4-FFF2-40B4-BE49-F238E27FC236}">
                <a16:creationId xmlns:a16="http://schemas.microsoft.com/office/drawing/2014/main" id="{7BE2A986-5C4E-372D-9E37-363824DDC2FC}"/>
              </a:ext>
            </a:extLst>
          </p:cNvPr>
          <p:cNvSpPr>
            <a:spLocks noChangeShapeType="1"/>
          </p:cNvSpPr>
          <p:nvPr/>
        </p:nvSpPr>
        <p:spPr bwMode="auto">
          <a:xfrm>
            <a:off x="5829300" y="2495550"/>
            <a:ext cx="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7" name="Line 17">
            <a:extLst>
              <a:ext uri="{FF2B5EF4-FFF2-40B4-BE49-F238E27FC236}">
                <a16:creationId xmlns:a16="http://schemas.microsoft.com/office/drawing/2014/main" id="{EC35131B-8214-39CC-F22D-508938AF8AE2}"/>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sz="1050">
              <a:latin typeface="Times New Roman" panose="02020603050405020304" pitchFamily="18" charset="0"/>
              <a:cs typeface="Times New Roman" panose="02020603050405020304" pitchFamily="18" charset="0"/>
            </a:endParaRPr>
          </a:p>
        </p:txBody>
      </p:sp>
      <p:sp>
        <p:nvSpPr>
          <p:cNvPr id="46098" name="Text Box 18">
            <a:extLst>
              <a:ext uri="{FF2B5EF4-FFF2-40B4-BE49-F238E27FC236}">
                <a16:creationId xmlns:a16="http://schemas.microsoft.com/office/drawing/2014/main" id="{0781A4EF-C98D-5CFC-37C4-18BF6EAA6416}"/>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46099" name="Text Box 19">
            <a:extLst>
              <a:ext uri="{FF2B5EF4-FFF2-40B4-BE49-F238E27FC236}">
                <a16:creationId xmlns:a16="http://schemas.microsoft.com/office/drawing/2014/main" id="{6638E05E-0BDA-3645-2A75-AB325C97DDCB}"/>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46100" name="Text Box 20">
            <a:extLst>
              <a:ext uri="{FF2B5EF4-FFF2-40B4-BE49-F238E27FC236}">
                <a16:creationId xmlns:a16="http://schemas.microsoft.com/office/drawing/2014/main" id="{A2FD0A1B-F4CF-C21E-CD0F-AA13315C9F22}"/>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46101" name="Text Box 21">
            <a:extLst>
              <a:ext uri="{FF2B5EF4-FFF2-40B4-BE49-F238E27FC236}">
                <a16:creationId xmlns:a16="http://schemas.microsoft.com/office/drawing/2014/main" id="{3DE352E1-D2A5-6657-E3E1-B497611BAECC}"/>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46102" name="Text Box 22">
            <a:extLst>
              <a:ext uri="{FF2B5EF4-FFF2-40B4-BE49-F238E27FC236}">
                <a16:creationId xmlns:a16="http://schemas.microsoft.com/office/drawing/2014/main" id="{D64C6ECE-1C85-F1FD-149F-D8672DFA5491}"/>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46103" name="Text Box 23">
            <a:extLst>
              <a:ext uri="{FF2B5EF4-FFF2-40B4-BE49-F238E27FC236}">
                <a16:creationId xmlns:a16="http://schemas.microsoft.com/office/drawing/2014/main" id="{476A214C-E453-969A-7FE4-A15E1894FF9F}"/>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46104" name="Text Box 24">
            <a:extLst>
              <a:ext uri="{FF2B5EF4-FFF2-40B4-BE49-F238E27FC236}">
                <a16:creationId xmlns:a16="http://schemas.microsoft.com/office/drawing/2014/main" id="{78B80347-2E97-A201-DF05-9A4FAC4421F6}"/>
              </a:ext>
            </a:extLst>
          </p:cNvPr>
          <p:cNvSpPr txBox="1">
            <a:spLocks noChangeArrowheads="1"/>
          </p:cNvSpPr>
          <p:nvPr/>
        </p:nvSpPr>
        <p:spPr bwMode="auto">
          <a:xfrm>
            <a:off x="52578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c</a:t>
            </a:r>
          </a:p>
        </p:txBody>
      </p:sp>
      <p:sp>
        <p:nvSpPr>
          <p:cNvPr id="46105" name="Text Box 25">
            <a:extLst>
              <a:ext uri="{FF2B5EF4-FFF2-40B4-BE49-F238E27FC236}">
                <a16:creationId xmlns:a16="http://schemas.microsoft.com/office/drawing/2014/main" id="{CA86D132-3C37-F4E7-E3A3-DA1DD8767B49}"/>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46106" name="Text Box 26">
            <a:extLst>
              <a:ext uri="{FF2B5EF4-FFF2-40B4-BE49-F238E27FC236}">
                <a16:creationId xmlns:a16="http://schemas.microsoft.com/office/drawing/2014/main" id="{6F3E004C-1611-DB4B-741E-7139323EF72C}"/>
              </a:ext>
            </a:extLst>
          </p:cNvPr>
          <p:cNvSpPr txBox="1">
            <a:spLocks noChangeArrowheads="1"/>
          </p:cNvSpPr>
          <p:nvPr/>
        </p:nvSpPr>
        <p:spPr bwMode="auto">
          <a:xfrm>
            <a:off x="2000250" y="4057650"/>
            <a:ext cx="52006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spcBef>
                <a:spcPct val="50000"/>
              </a:spcBef>
            </a:pPr>
            <a:r>
              <a:rPr lang="en-US" altLang="en-US" sz="1500" dirty="0">
                <a:latin typeface="Times New Roman" panose="02020603050405020304" pitchFamily="18" charset="0"/>
                <a:cs typeface="Times New Roman" panose="02020603050405020304" pitchFamily="18" charset="0"/>
              </a:rPr>
              <a:t>Consider left sibling as more keys are there. Rearrange nodes.</a:t>
            </a:r>
          </a:p>
        </p:txBody>
      </p:sp>
      <p:sp>
        <p:nvSpPr>
          <p:cNvPr id="2" name="Rectangle 1">
            <a:extLst>
              <a:ext uri="{FF2B5EF4-FFF2-40B4-BE49-F238E27FC236}">
                <a16:creationId xmlns:a16="http://schemas.microsoft.com/office/drawing/2014/main" id="{E9D5FA77-BCB3-B16B-49BE-E881E68018CE}"/>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2434715-814B-020B-4635-96BA584D64CA}"/>
              </a:ext>
            </a:extLst>
          </p:cNvPr>
          <p:cNvSpPr>
            <a:spLocks noGrp="1" noChangeArrowheads="1"/>
          </p:cNvSpPr>
          <p:nvPr>
            <p:ph type="title" idx="4294967295"/>
          </p:nvPr>
        </p:nvSpPr>
        <p:spPr>
          <a:xfrm>
            <a:off x="1485900" y="3429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21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Left Sibling</a:t>
            </a: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7107" name="Text Box 3">
            <a:extLst>
              <a:ext uri="{FF2B5EF4-FFF2-40B4-BE49-F238E27FC236}">
                <a16:creationId xmlns:a16="http://schemas.microsoft.com/office/drawing/2014/main" id="{3FB07FC3-0691-43C3-0EE4-071199B341CF}"/>
              </a:ext>
            </a:extLst>
          </p:cNvPr>
          <p:cNvSpPr txBox="1">
            <a:spLocks noChangeArrowheads="1"/>
          </p:cNvSpPr>
          <p:nvPr/>
        </p:nvSpPr>
        <p:spPr bwMode="auto">
          <a:xfrm>
            <a:off x="2514600" y="23622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 * 7 *</a:t>
            </a:r>
          </a:p>
        </p:txBody>
      </p:sp>
      <p:sp>
        <p:nvSpPr>
          <p:cNvPr id="47108" name="Text Box 4">
            <a:extLst>
              <a:ext uri="{FF2B5EF4-FFF2-40B4-BE49-F238E27FC236}">
                <a16:creationId xmlns:a16="http://schemas.microsoft.com/office/drawing/2014/main" id="{B3FF4C39-80E5-0362-8396-D5FE64F18279}"/>
              </a:ext>
            </a:extLst>
          </p:cNvPr>
          <p:cNvSpPr txBox="1">
            <a:spLocks noChangeArrowheads="1"/>
          </p:cNvSpPr>
          <p:nvPr/>
        </p:nvSpPr>
        <p:spPr bwMode="auto">
          <a:xfrm>
            <a:off x="6743700" y="3409950"/>
            <a:ext cx="85725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13 *</a:t>
            </a:r>
          </a:p>
        </p:txBody>
      </p:sp>
      <p:sp>
        <p:nvSpPr>
          <p:cNvPr id="47109" name="Text Box 5">
            <a:extLst>
              <a:ext uri="{FF2B5EF4-FFF2-40B4-BE49-F238E27FC236}">
                <a16:creationId xmlns:a16="http://schemas.microsoft.com/office/drawing/2014/main" id="{E59AF877-DA7F-2DD9-8C17-489B5B6629E6}"/>
              </a:ext>
            </a:extLst>
          </p:cNvPr>
          <p:cNvSpPr txBox="1">
            <a:spLocks noChangeArrowheads="1"/>
          </p:cNvSpPr>
          <p:nvPr/>
        </p:nvSpPr>
        <p:spPr bwMode="auto">
          <a:xfrm>
            <a:off x="5429250" y="2362200"/>
            <a:ext cx="120015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12 *</a:t>
            </a:r>
          </a:p>
        </p:txBody>
      </p:sp>
      <p:sp>
        <p:nvSpPr>
          <p:cNvPr id="47110" name="Text Box 6">
            <a:extLst>
              <a:ext uri="{FF2B5EF4-FFF2-40B4-BE49-F238E27FC236}">
                <a16:creationId xmlns:a16="http://schemas.microsoft.com/office/drawing/2014/main" id="{BBF4BC1A-F3C7-277F-9488-DBD8A6FEE3C6}"/>
              </a:ext>
            </a:extLst>
          </p:cNvPr>
          <p:cNvSpPr txBox="1">
            <a:spLocks noChangeArrowheads="1"/>
          </p:cNvSpPr>
          <p:nvPr/>
        </p:nvSpPr>
        <p:spPr bwMode="auto">
          <a:xfrm>
            <a:off x="4171950" y="15240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9 *</a:t>
            </a:r>
          </a:p>
        </p:txBody>
      </p:sp>
      <p:sp>
        <p:nvSpPr>
          <p:cNvPr id="47111" name="Text Box 7">
            <a:extLst>
              <a:ext uri="{FF2B5EF4-FFF2-40B4-BE49-F238E27FC236}">
                <a16:creationId xmlns:a16="http://schemas.microsoft.com/office/drawing/2014/main" id="{F03A2593-B4CF-774A-45B9-6A3C45090F88}"/>
              </a:ext>
            </a:extLst>
          </p:cNvPr>
          <p:cNvSpPr txBox="1">
            <a:spLocks noChangeArrowheads="1"/>
          </p:cNvSpPr>
          <p:nvPr/>
        </p:nvSpPr>
        <p:spPr bwMode="auto">
          <a:xfrm>
            <a:off x="1543050" y="340995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 *</a:t>
            </a:r>
          </a:p>
        </p:txBody>
      </p:sp>
      <p:sp>
        <p:nvSpPr>
          <p:cNvPr id="47112" name="Text Box 8">
            <a:extLst>
              <a:ext uri="{FF2B5EF4-FFF2-40B4-BE49-F238E27FC236}">
                <a16:creationId xmlns:a16="http://schemas.microsoft.com/office/drawing/2014/main" id="{6DBE8530-B657-9642-212D-D66750CD8D3D}"/>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4 * 5 *</a:t>
            </a:r>
          </a:p>
        </p:txBody>
      </p:sp>
      <p:sp>
        <p:nvSpPr>
          <p:cNvPr id="47113" name="Text Box 9">
            <a:extLst>
              <a:ext uri="{FF2B5EF4-FFF2-40B4-BE49-F238E27FC236}">
                <a16:creationId xmlns:a16="http://schemas.microsoft.com/office/drawing/2014/main" id="{0BEFC3A7-C7FF-2303-BE4D-D555054E3038}"/>
              </a:ext>
            </a:extLst>
          </p:cNvPr>
          <p:cNvSpPr txBox="1">
            <a:spLocks noChangeArrowheads="1"/>
          </p:cNvSpPr>
          <p:nvPr/>
        </p:nvSpPr>
        <p:spPr bwMode="auto">
          <a:xfrm>
            <a:off x="5200650" y="3409950"/>
            <a:ext cx="108585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10 *</a:t>
            </a:r>
          </a:p>
        </p:txBody>
      </p:sp>
      <p:sp>
        <p:nvSpPr>
          <p:cNvPr id="47114" name="Text Box 10">
            <a:extLst>
              <a:ext uri="{FF2B5EF4-FFF2-40B4-BE49-F238E27FC236}">
                <a16:creationId xmlns:a16="http://schemas.microsoft.com/office/drawing/2014/main" id="{98DAF1EC-4B1E-C55D-EECE-93A668B3A8CF}"/>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47115" name="Line 11">
            <a:extLst>
              <a:ext uri="{FF2B5EF4-FFF2-40B4-BE49-F238E27FC236}">
                <a16:creationId xmlns:a16="http://schemas.microsoft.com/office/drawing/2014/main" id="{760977E9-B193-0D13-2CC9-5278FB7EA645}"/>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16" name="Line 12">
            <a:extLst>
              <a:ext uri="{FF2B5EF4-FFF2-40B4-BE49-F238E27FC236}">
                <a16:creationId xmlns:a16="http://schemas.microsoft.com/office/drawing/2014/main" id="{BBA34288-388D-1338-9780-3EFD8D1A12E8}"/>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17" name="Line 13">
            <a:extLst>
              <a:ext uri="{FF2B5EF4-FFF2-40B4-BE49-F238E27FC236}">
                <a16:creationId xmlns:a16="http://schemas.microsoft.com/office/drawing/2014/main" id="{F302D4BC-EF85-AFA9-0EF3-7880EE50BB6B}"/>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18" name="Line 14">
            <a:extLst>
              <a:ext uri="{FF2B5EF4-FFF2-40B4-BE49-F238E27FC236}">
                <a16:creationId xmlns:a16="http://schemas.microsoft.com/office/drawing/2014/main" id="{3055E057-0A91-5788-AB57-FFD20BF53D6F}"/>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19" name="Line 15">
            <a:extLst>
              <a:ext uri="{FF2B5EF4-FFF2-40B4-BE49-F238E27FC236}">
                <a16:creationId xmlns:a16="http://schemas.microsoft.com/office/drawing/2014/main" id="{356B68F7-D957-43B1-AAE1-838E7FFE3205}"/>
              </a:ext>
            </a:extLst>
          </p:cNvPr>
          <p:cNvSpPr>
            <a:spLocks noChangeShapeType="1"/>
          </p:cNvSpPr>
          <p:nvPr/>
        </p:nvSpPr>
        <p:spPr bwMode="auto">
          <a:xfrm>
            <a:off x="3371850" y="249555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20" name="Line 17">
            <a:extLst>
              <a:ext uri="{FF2B5EF4-FFF2-40B4-BE49-F238E27FC236}">
                <a16:creationId xmlns:a16="http://schemas.microsoft.com/office/drawing/2014/main" id="{11020180-1AFA-FCA2-1CBB-90BD9150EBBD}"/>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21" name="Line 18">
            <a:extLst>
              <a:ext uri="{FF2B5EF4-FFF2-40B4-BE49-F238E27FC236}">
                <a16:creationId xmlns:a16="http://schemas.microsoft.com/office/drawing/2014/main" id="{94EFD0A0-C6D9-D8A9-51FD-453A618B19DD}"/>
              </a:ext>
            </a:extLst>
          </p:cNvPr>
          <p:cNvSpPr>
            <a:spLocks noChangeShapeType="1"/>
          </p:cNvSpPr>
          <p:nvPr/>
        </p:nvSpPr>
        <p:spPr bwMode="auto">
          <a:xfrm flipH="1">
            <a:off x="5657850" y="2514600"/>
            <a:ext cx="1714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7122" name="Text Box 19">
            <a:extLst>
              <a:ext uri="{FF2B5EF4-FFF2-40B4-BE49-F238E27FC236}">
                <a16:creationId xmlns:a16="http://schemas.microsoft.com/office/drawing/2014/main" id="{606CC37F-B8A0-1121-9D32-A8C10DABDC63}"/>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47123" name="Text Box 20">
            <a:extLst>
              <a:ext uri="{FF2B5EF4-FFF2-40B4-BE49-F238E27FC236}">
                <a16:creationId xmlns:a16="http://schemas.microsoft.com/office/drawing/2014/main" id="{A541CB0A-2F1F-31F7-10B4-A8D22F44D66B}"/>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47124" name="Text Box 21">
            <a:extLst>
              <a:ext uri="{FF2B5EF4-FFF2-40B4-BE49-F238E27FC236}">
                <a16:creationId xmlns:a16="http://schemas.microsoft.com/office/drawing/2014/main" id="{DCFCCABD-87CA-9012-5AD9-AEE2201C6027}"/>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47125" name="Text Box 22">
            <a:extLst>
              <a:ext uri="{FF2B5EF4-FFF2-40B4-BE49-F238E27FC236}">
                <a16:creationId xmlns:a16="http://schemas.microsoft.com/office/drawing/2014/main" id="{00A7B8B1-6924-95E3-CD51-291CFAB88E8D}"/>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47126" name="Text Box 23">
            <a:extLst>
              <a:ext uri="{FF2B5EF4-FFF2-40B4-BE49-F238E27FC236}">
                <a16:creationId xmlns:a16="http://schemas.microsoft.com/office/drawing/2014/main" id="{EC093992-C3CD-9F71-AE95-3D4CAD606959}"/>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47127" name="Text Box 24">
            <a:extLst>
              <a:ext uri="{FF2B5EF4-FFF2-40B4-BE49-F238E27FC236}">
                <a16:creationId xmlns:a16="http://schemas.microsoft.com/office/drawing/2014/main" id="{5366BF1C-966C-17D4-5A21-FF745C669086}"/>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47128" name="Text Box 25">
            <a:extLst>
              <a:ext uri="{FF2B5EF4-FFF2-40B4-BE49-F238E27FC236}">
                <a16:creationId xmlns:a16="http://schemas.microsoft.com/office/drawing/2014/main" id="{CB4E8930-43DB-70A2-1885-61134C13B617}"/>
              </a:ext>
            </a:extLst>
          </p:cNvPr>
          <p:cNvSpPr txBox="1">
            <a:spLocks noChangeArrowheads="1"/>
          </p:cNvSpPr>
          <p:nvPr/>
        </p:nvSpPr>
        <p:spPr bwMode="auto">
          <a:xfrm>
            <a:off x="52578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c</a:t>
            </a:r>
          </a:p>
        </p:txBody>
      </p:sp>
      <p:sp>
        <p:nvSpPr>
          <p:cNvPr id="47129" name="Text Box 26">
            <a:extLst>
              <a:ext uri="{FF2B5EF4-FFF2-40B4-BE49-F238E27FC236}">
                <a16:creationId xmlns:a16="http://schemas.microsoft.com/office/drawing/2014/main" id="{961B99CD-E32D-0BD1-620B-8F0808505429}"/>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47130" name="Text Box 27">
            <a:extLst>
              <a:ext uri="{FF2B5EF4-FFF2-40B4-BE49-F238E27FC236}">
                <a16:creationId xmlns:a16="http://schemas.microsoft.com/office/drawing/2014/main" id="{9C0116C1-E827-E556-4969-2877424AD039}"/>
              </a:ext>
            </a:extLst>
          </p:cNvPr>
          <p:cNvSpPr txBox="1">
            <a:spLocks noChangeArrowheads="1"/>
          </p:cNvSpPr>
          <p:nvPr/>
        </p:nvSpPr>
        <p:spPr bwMode="auto">
          <a:xfrm>
            <a:off x="1657350" y="4057650"/>
            <a:ext cx="55435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dirty="0">
                <a:latin typeface="Times New Roman" panose="02020603050405020304" pitchFamily="18" charset="0"/>
                <a:cs typeface="Times New Roman" panose="02020603050405020304" pitchFamily="18" charset="0"/>
              </a:rPr>
              <a:t>Deleting 21 causes node e to underflow, so elements are redistributed between nodes c, g, and e </a:t>
            </a:r>
          </a:p>
        </p:txBody>
      </p:sp>
      <p:sp>
        <p:nvSpPr>
          <p:cNvPr id="2" name="Rectangle 1">
            <a:extLst>
              <a:ext uri="{FF2B5EF4-FFF2-40B4-BE49-F238E27FC236}">
                <a16:creationId xmlns:a16="http://schemas.microsoft.com/office/drawing/2014/main" id="{08DBC90E-C7E0-1AD2-65BA-F38E5313A3AB}"/>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621E8EBE-7DBE-3832-F50F-759AF6AFE7D3}"/>
              </a:ext>
            </a:extLst>
          </p:cNvPr>
          <p:cNvSpPr>
            <a:spLocks noGrp="1" noChangeArrowheads="1"/>
          </p:cNvSpPr>
          <p:nvPr>
            <p:ph type="title" idx="4294967295"/>
          </p:nvPr>
        </p:nvSpPr>
        <p:spPr>
          <a:xfrm>
            <a:off x="1485900" y="3429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Right Sibling (delete 1)</a:t>
            </a: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8131" name="Text Box 3">
            <a:extLst>
              <a:ext uri="{FF2B5EF4-FFF2-40B4-BE49-F238E27FC236}">
                <a16:creationId xmlns:a16="http://schemas.microsoft.com/office/drawing/2014/main" id="{D8E386C8-B9A5-68D5-B82B-1BC7B58F9A10}"/>
              </a:ext>
            </a:extLst>
          </p:cNvPr>
          <p:cNvSpPr txBox="1">
            <a:spLocks noChangeArrowheads="1"/>
          </p:cNvSpPr>
          <p:nvPr/>
        </p:nvSpPr>
        <p:spPr bwMode="auto">
          <a:xfrm>
            <a:off x="2514600" y="23622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 * 7 *</a:t>
            </a:r>
          </a:p>
        </p:txBody>
      </p:sp>
      <p:sp>
        <p:nvSpPr>
          <p:cNvPr id="48132" name="Text Box 4">
            <a:extLst>
              <a:ext uri="{FF2B5EF4-FFF2-40B4-BE49-F238E27FC236}">
                <a16:creationId xmlns:a16="http://schemas.microsoft.com/office/drawing/2014/main" id="{0B2447D1-A1E8-ED04-D04A-35A00AD408A1}"/>
              </a:ext>
            </a:extLst>
          </p:cNvPr>
          <p:cNvSpPr txBox="1">
            <a:spLocks noChangeArrowheads="1"/>
          </p:cNvSpPr>
          <p:nvPr/>
        </p:nvSpPr>
        <p:spPr bwMode="auto">
          <a:xfrm>
            <a:off x="6743700" y="340995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13 *</a:t>
            </a:r>
          </a:p>
        </p:txBody>
      </p:sp>
      <p:sp>
        <p:nvSpPr>
          <p:cNvPr id="48133" name="Text Box 5">
            <a:extLst>
              <a:ext uri="{FF2B5EF4-FFF2-40B4-BE49-F238E27FC236}">
                <a16:creationId xmlns:a16="http://schemas.microsoft.com/office/drawing/2014/main" id="{8FA6C24B-0AB7-7796-F308-FCFCE424412D}"/>
              </a:ext>
            </a:extLst>
          </p:cNvPr>
          <p:cNvSpPr txBox="1">
            <a:spLocks noChangeArrowheads="1"/>
          </p:cNvSpPr>
          <p:nvPr/>
        </p:nvSpPr>
        <p:spPr bwMode="auto">
          <a:xfrm>
            <a:off x="5429250" y="2362200"/>
            <a:ext cx="12001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12 *</a:t>
            </a:r>
          </a:p>
        </p:txBody>
      </p:sp>
      <p:sp>
        <p:nvSpPr>
          <p:cNvPr id="48134" name="Text Box 6">
            <a:extLst>
              <a:ext uri="{FF2B5EF4-FFF2-40B4-BE49-F238E27FC236}">
                <a16:creationId xmlns:a16="http://schemas.microsoft.com/office/drawing/2014/main" id="{2A1944F3-C8B0-56E3-FA6C-2F987E9CD29D}"/>
              </a:ext>
            </a:extLst>
          </p:cNvPr>
          <p:cNvSpPr txBox="1">
            <a:spLocks noChangeArrowheads="1"/>
          </p:cNvSpPr>
          <p:nvPr/>
        </p:nvSpPr>
        <p:spPr bwMode="auto">
          <a:xfrm>
            <a:off x="4171950" y="15240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9 *</a:t>
            </a:r>
          </a:p>
        </p:txBody>
      </p:sp>
      <p:sp>
        <p:nvSpPr>
          <p:cNvPr id="48135" name="Text Box 7">
            <a:extLst>
              <a:ext uri="{FF2B5EF4-FFF2-40B4-BE49-F238E27FC236}">
                <a16:creationId xmlns:a16="http://schemas.microsoft.com/office/drawing/2014/main" id="{1CE74FA3-6E48-80FE-5F51-F9323F288E4C}"/>
              </a:ext>
            </a:extLst>
          </p:cNvPr>
          <p:cNvSpPr txBox="1">
            <a:spLocks noChangeArrowheads="1"/>
          </p:cNvSpPr>
          <p:nvPr/>
        </p:nvSpPr>
        <p:spPr bwMode="auto">
          <a:xfrm>
            <a:off x="1543050" y="340995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 *</a:t>
            </a:r>
          </a:p>
        </p:txBody>
      </p:sp>
      <p:sp>
        <p:nvSpPr>
          <p:cNvPr id="48136" name="Text Box 8">
            <a:extLst>
              <a:ext uri="{FF2B5EF4-FFF2-40B4-BE49-F238E27FC236}">
                <a16:creationId xmlns:a16="http://schemas.microsoft.com/office/drawing/2014/main" id="{FA2E0EDB-4CB1-C9BA-0D37-A2FAEDE55188}"/>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dirty="0">
                <a:latin typeface="Times New Roman" panose="02020603050405020304" pitchFamily="18" charset="0"/>
                <a:cs typeface="Times New Roman" panose="02020603050405020304" pitchFamily="18" charset="0"/>
              </a:rPr>
              <a:t>* 4 * 5 *</a:t>
            </a:r>
          </a:p>
        </p:txBody>
      </p:sp>
      <p:sp>
        <p:nvSpPr>
          <p:cNvPr id="48137" name="Text Box 9">
            <a:extLst>
              <a:ext uri="{FF2B5EF4-FFF2-40B4-BE49-F238E27FC236}">
                <a16:creationId xmlns:a16="http://schemas.microsoft.com/office/drawing/2014/main" id="{F8A9B89E-152F-22E9-6EB0-430CA2E73996}"/>
              </a:ext>
            </a:extLst>
          </p:cNvPr>
          <p:cNvSpPr txBox="1">
            <a:spLocks noChangeArrowheads="1"/>
          </p:cNvSpPr>
          <p:nvPr/>
        </p:nvSpPr>
        <p:spPr bwMode="auto">
          <a:xfrm>
            <a:off x="5200650" y="3409950"/>
            <a:ext cx="10858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10 *</a:t>
            </a:r>
          </a:p>
        </p:txBody>
      </p:sp>
      <p:sp>
        <p:nvSpPr>
          <p:cNvPr id="48138" name="Text Box 10">
            <a:extLst>
              <a:ext uri="{FF2B5EF4-FFF2-40B4-BE49-F238E27FC236}">
                <a16:creationId xmlns:a16="http://schemas.microsoft.com/office/drawing/2014/main" id="{6554DA0F-0B3D-4D77-5692-8BA5975958C5}"/>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48139" name="Line 11">
            <a:extLst>
              <a:ext uri="{FF2B5EF4-FFF2-40B4-BE49-F238E27FC236}">
                <a16:creationId xmlns:a16="http://schemas.microsoft.com/office/drawing/2014/main" id="{1D89F211-0286-1807-5708-EA0DBF579B2D}"/>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0" name="Line 12">
            <a:extLst>
              <a:ext uri="{FF2B5EF4-FFF2-40B4-BE49-F238E27FC236}">
                <a16:creationId xmlns:a16="http://schemas.microsoft.com/office/drawing/2014/main" id="{E80193CE-7DC5-A8C7-B95D-848A8FC761BA}"/>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1" name="Line 13">
            <a:extLst>
              <a:ext uri="{FF2B5EF4-FFF2-40B4-BE49-F238E27FC236}">
                <a16:creationId xmlns:a16="http://schemas.microsoft.com/office/drawing/2014/main" id="{58F676EC-F462-65B5-079A-8D4A809EEE71}"/>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2" name="Line 14">
            <a:extLst>
              <a:ext uri="{FF2B5EF4-FFF2-40B4-BE49-F238E27FC236}">
                <a16:creationId xmlns:a16="http://schemas.microsoft.com/office/drawing/2014/main" id="{93CF815A-9C02-D958-5338-6E2D52BE053A}"/>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3" name="Line 15">
            <a:extLst>
              <a:ext uri="{FF2B5EF4-FFF2-40B4-BE49-F238E27FC236}">
                <a16:creationId xmlns:a16="http://schemas.microsoft.com/office/drawing/2014/main" id="{CF4956AA-167F-D0B9-6B17-748C627BE0C6}"/>
              </a:ext>
            </a:extLst>
          </p:cNvPr>
          <p:cNvSpPr>
            <a:spLocks noChangeShapeType="1"/>
          </p:cNvSpPr>
          <p:nvPr/>
        </p:nvSpPr>
        <p:spPr bwMode="auto">
          <a:xfrm>
            <a:off x="3371850" y="249555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4" name="Line 17">
            <a:extLst>
              <a:ext uri="{FF2B5EF4-FFF2-40B4-BE49-F238E27FC236}">
                <a16:creationId xmlns:a16="http://schemas.microsoft.com/office/drawing/2014/main" id="{B73FD637-FD1F-1932-4082-FC40DD3F80CE}"/>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5" name="Line 18">
            <a:extLst>
              <a:ext uri="{FF2B5EF4-FFF2-40B4-BE49-F238E27FC236}">
                <a16:creationId xmlns:a16="http://schemas.microsoft.com/office/drawing/2014/main" id="{C6E06B9A-3C1A-284A-E0A4-D9DFE0A8D244}"/>
              </a:ext>
            </a:extLst>
          </p:cNvPr>
          <p:cNvSpPr>
            <a:spLocks noChangeShapeType="1"/>
          </p:cNvSpPr>
          <p:nvPr/>
        </p:nvSpPr>
        <p:spPr bwMode="auto">
          <a:xfrm flipH="1">
            <a:off x="5657850" y="2514600"/>
            <a:ext cx="1714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8146" name="Text Box 19">
            <a:extLst>
              <a:ext uri="{FF2B5EF4-FFF2-40B4-BE49-F238E27FC236}">
                <a16:creationId xmlns:a16="http://schemas.microsoft.com/office/drawing/2014/main" id="{7C6BF739-7A28-F965-6DE3-0CCD11D8DE6D}"/>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48147" name="Text Box 20">
            <a:extLst>
              <a:ext uri="{FF2B5EF4-FFF2-40B4-BE49-F238E27FC236}">
                <a16:creationId xmlns:a16="http://schemas.microsoft.com/office/drawing/2014/main" id="{ECCC1F1E-EAA9-611F-CACD-08049446F5A9}"/>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48148" name="Text Box 21">
            <a:extLst>
              <a:ext uri="{FF2B5EF4-FFF2-40B4-BE49-F238E27FC236}">
                <a16:creationId xmlns:a16="http://schemas.microsoft.com/office/drawing/2014/main" id="{161DAB73-4C24-FDE5-DE52-F069A3966312}"/>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48149" name="Text Box 22">
            <a:extLst>
              <a:ext uri="{FF2B5EF4-FFF2-40B4-BE49-F238E27FC236}">
                <a16:creationId xmlns:a16="http://schemas.microsoft.com/office/drawing/2014/main" id="{B4CD2A71-5B09-DF7F-E8F3-D023C9332E03}"/>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48150" name="Text Box 23">
            <a:extLst>
              <a:ext uri="{FF2B5EF4-FFF2-40B4-BE49-F238E27FC236}">
                <a16:creationId xmlns:a16="http://schemas.microsoft.com/office/drawing/2014/main" id="{93A357FA-9B5A-6D34-98A7-37D56D43B301}"/>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48151" name="Text Box 24">
            <a:extLst>
              <a:ext uri="{FF2B5EF4-FFF2-40B4-BE49-F238E27FC236}">
                <a16:creationId xmlns:a16="http://schemas.microsoft.com/office/drawing/2014/main" id="{E975DE56-7B42-1BF3-E7C2-50564859DCC0}"/>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48152" name="Text Box 25">
            <a:extLst>
              <a:ext uri="{FF2B5EF4-FFF2-40B4-BE49-F238E27FC236}">
                <a16:creationId xmlns:a16="http://schemas.microsoft.com/office/drawing/2014/main" id="{A973E569-AACA-EB13-770E-02E9048F9500}"/>
              </a:ext>
            </a:extLst>
          </p:cNvPr>
          <p:cNvSpPr txBox="1">
            <a:spLocks noChangeArrowheads="1"/>
          </p:cNvSpPr>
          <p:nvPr/>
        </p:nvSpPr>
        <p:spPr bwMode="auto">
          <a:xfrm>
            <a:off x="52578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c</a:t>
            </a:r>
          </a:p>
        </p:txBody>
      </p:sp>
      <p:sp>
        <p:nvSpPr>
          <p:cNvPr id="48153" name="Text Box 26">
            <a:extLst>
              <a:ext uri="{FF2B5EF4-FFF2-40B4-BE49-F238E27FC236}">
                <a16:creationId xmlns:a16="http://schemas.microsoft.com/office/drawing/2014/main" id="{CF31BDF9-3304-70D7-0FC4-CF602C2A2BA8}"/>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48154" name="Text Box 27">
            <a:extLst>
              <a:ext uri="{FF2B5EF4-FFF2-40B4-BE49-F238E27FC236}">
                <a16:creationId xmlns:a16="http://schemas.microsoft.com/office/drawing/2014/main" id="{F44A1DE3-6B14-E543-5D25-7C8EEF21133A}"/>
              </a:ext>
            </a:extLst>
          </p:cNvPr>
          <p:cNvSpPr txBox="1">
            <a:spLocks noChangeArrowheads="1"/>
          </p:cNvSpPr>
          <p:nvPr/>
        </p:nvSpPr>
        <p:spPr bwMode="auto">
          <a:xfrm>
            <a:off x="1657350" y="4057650"/>
            <a:ext cx="55435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Deleting 1 causes node b to underflow, so elements are redistributed between nodes b, f, and d </a:t>
            </a:r>
          </a:p>
        </p:txBody>
      </p:sp>
      <p:sp>
        <p:nvSpPr>
          <p:cNvPr id="2" name="Rectangle 1">
            <a:extLst>
              <a:ext uri="{FF2B5EF4-FFF2-40B4-BE49-F238E27FC236}">
                <a16:creationId xmlns:a16="http://schemas.microsoft.com/office/drawing/2014/main" id="{E8E71F23-DD8E-0DE8-B9ED-D196741E153F}"/>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9D966D5-21C7-E44B-857A-B92783AC9AA4}"/>
              </a:ext>
            </a:extLst>
          </p:cNvPr>
          <p:cNvSpPr>
            <a:spLocks noGrp="1" noChangeArrowheads="1"/>
          </p:cNvSpPr>
          <p:nvPr>
            <p:ph type="title" idx="4294967295"/>
          </p:nvPr>
        </p:nvSpPr>
        <p:spPr>
          <a:xfrm>
            <a:off x="1485900" y="3429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Right Sibling</a:t>
            </a: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9155" name="Text Box 3">
            <a:extLst>
              <a:ext uri="{FF2B5EF4-FFF2-40B4-BE49-F238E27FC236}">
                <a16:creationId xmlns:a16="http://schemas.microsoft.com/office/drawing/2014/main" id="{6962171E-BA1B-EEFF-B6A8-C1584D22DE59}"/>
              </a:ext>
            </a:extLst>
          </p:cNvPr>
          <p:cNvSpPr txBox="1">
            <a:spLocks noChangeArrowheads="1"/>
          </p:cNvSpPr>
          <p:nvPr/>
        </p:nvSpPr>
        <p:spPr bwMode="auto">
          <a:xfrm>
            <a:off x="2514600" y="2362200"/>
            <a:ext cx="102870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4 * 7 *</a:t>
            </a:r>
          </a:p>
        </p:txBody>
      </p:sp>
      <p:sp>
        <p:nvSpPr>
          <p:cNvPr id="49156" name="Text Box 4">
            <a:extLst>
              <a:ext uri="{FF2B5EF4-FFF2-40B4-BE49-F238E27FC236}">
                <a16:creationId xmlns:a16="http://schemas.microsoft.com/office/drawing/2014/main" id="{341CD01B-2DDF-3297-025D-884CB8553416}"/>
              </a:ext>
            </a:extLst>
          </p:cNvPr>
          <p:cNvSpPr txBox="1">
            <a:spLocks noChangeArrowheads="1"/>
          </p:cNvSpPr>
          <p:nvPr/>
        </p:nvSpPr>
        <p:spPr bwMode="auto">
          <a:xfrm>
            <a:off x="6743700" y="340995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13 *</a:t>
            </a:r>
          </a:p>
        </p:txBody>
      </p:sp>
      <p:sp>
        <p:nvSpPr>
          <p:cNvPr id="49157" name="Text Box 5">
            <a:extLst>
              <a:ext uri="{FF2B5EF4-FFF2-40B4-BE49-F238E27FC236}">
                <a16:creationId xmlns:a16="http://schemas.microsoft.com/office/drawing/2014/main" id="{D93995CB-F807-D140-65E7-48DEF59939D7}"/>
              </a:ext>
            </a:extLst>
          </p:cNvPr>
          <p:cNvSpPr txBox="1">
            <a:spLocks noChangeArrowheads="1"/>
          </p:cNvSpPr>
          <p:nvPr/>
        </p:nvSpPr>
        <p:spPr bwMode="auto">
          <a:xfrm>
            <a:off x="5429250" y="2362200"/>
            <a:ext cx="12001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12 *</a:t>
            </a:r>
          </a:p>
        </p:txBody>
      </p:sp>
      <p:sp>
        <p:nvSpPr>
          <p:cNvPr id="49158" name="Text Box 6">
            <a:extLst>
              <a:ext uri="{FF2B5EF4-FFF2-40B4-BE49-F238E27FC236}">
                <a16:creationId xmlns:a16="http://schemas.microsoft.com/office/drawing/2014/main" id="{201C4720-96E8-448F-3545-1FDB4DB45FA2}"/>
              </a:ext>
            </a:extLst>
          </p:cNvPr>
          <p:cNvSpPr txBox="1">
            <a:spLocks noChangeArrowheads="1"/>
          </p:cNvSpPr>
          <p:nvPr/>
        </p:nvSpPr>
        <p:spPr bwMode="auto">
          <a:xfrm>
            <a:off x="4171950" y="15240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9 *</a:t>
            </a:r>
          </a:p>
        </p:txBody>
      </p:sp>
      <p:sp>
        <p:nvSpPr>
          <p:cNvPr id="49159" name="Text Box 7">
            <a:extLst>
              <a:ext uri="{FF2B5EF4-FFF2-40B4-BE49-F238E27FC236}">
                <a16:creationId xmlns:a16="http://schemas.microsoft.com/office/drawing/2014/main" id="{FB7492E5-DB44-72C3-DF2A-0AB75B5E734F}"/>
              </a:ext>
            </a:extLst>
          </p:cNvPr>
          <p:cNvSpPr txBox="1">
            <a:spLocks noChangeArrowheads="1"/>
          </p:cNvSpPr>
          <p:nvPr/>
        </p:nvSpPr>
        <p:spPr bwMode="auto">
          <a:xfrm>
            <a:off x="1543050" y="3409950"/>
            <a:ext cx="102870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a:t>
            </a:r>
          </a:p>
        </p:txBody>
      </p:sp>
      <p:sp>
        <p:nvSpPr>
          <p:cNvPr id="49160" name="Text Box 8">
            <a:extLst>
              <a:ext uri="{FF2B5EF4-FFF2-40B4-BE49-F238E27FC236}">
                <a16:creationId xmlns:a16="http://schemas.microsoft.com/office/drawing/2014/main" id="{F96F7A4C-B506-4DE7-1EEC-6AFD64138688}"/>
              </a:ext>
            </a:extLst>
          </p:cNvPr>
          <p:cNvSpPr txBox="1">
            <a:spLocks noChangeArrowheads="1"/>
          </p:cNvSpPr>
          <p:nvPr/>
        </p:nvSpPr>
        <p:spPr bwMode="auto">
          <a:xfrm>
            <a:off x="2857500" y="3390900"/>
            <a:ext cx="102870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5 *</a:t>
            </a:r>
          </a:p>
        </p:txBody>
      </p:sp>
      <p:sp>
        <p:nvSpPr>
          <p:cNvPr id="49161" name="Text Box 9">
            <a:extLst>
              <a:ext uri="{FF2B5EF4-FFF2-40B4-BE49-F238E27FC236}">
                <a16:creationId xmlns:a16="http://schemas.microsoft.com/office/drawing/2014/main" id="{02E5BDA8-F9B6-B7A1-72BF-4D8F5E10B316}"/>
              </a:ext>
            </a:extLst>
          </p:cNvPr>
          <p:cNvSpPr txBox="1">
            <a:spLocks noChangeArrowheads="1"/>
          </p:cNvSpPr>
          <p:nvPr/>
        </p:nvSpPr>
        <p:spPr bwMode="auto">
          <a:xfrm>
            <a:off x="5200650" y="3409950"/>
            <a:ext cx="10858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10 *</a:t>
            </a:r>
          </a:p>
        </p:txBody>
      </p:sp>
      <p:sp>
        <p:nvSpPr>
          <p:cNvPr id="49162" name="Text Box 10">
            <a:extLst>
              <a:ext uri="{FF2B5EF4-FFF2-40B4-BE49-F238E27FC236}">
                <a16:creationId xmlns:a16="http://schemas.microsoft.com/office/drawing/2014/main" id="{3434F30B-1442-B6A6-85A8-4BFA2E194FE0}"/>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49163" name="Line 11">
            <a:extLst>
              <a:ext uri="{FF2B5EF4-FFF2-40B4-BE49-F238E27FC236}">
                <a16:creationId xmlns:a16="http://schemas.microsoft.com/office/drawing/2014/main" id="{5862C3A3-AF37-CA9C-08EF-ECE8D5E7C8D8}"/>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4" name="Line 12">
            <a:extLst>
              <a:ext uri="{FF2B5EF4-FFF2-40B4-BE49-F238E27FC236}">
                <a16:creationId xmlns:a16="http://schemas.microsoft.com/office/drawing/2014/main" id="{FA2E420D-B1AE-219B-4EDD-5BCD093C7E53}"/>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5" name="Line 13">
            <a:extLst>
              <a:ext uri="{FF2B5EF4-FFF2-40B4-BE49-F238E27FC236}">
                <a16:creationId xmlns:a16="http://schemas.microsoft.com/office/drawing/2014/main" id="{6F7056B4-FF3E-218C-4131-9817846ECCE0}"/>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6" name="Line 14">
            <a:extLst>
              <a:ext uri="{FF2B5EF4-FFF2-40B4-BE49-F238E27FC236}">
                <a16:creationId xmlns:a16="http://schemas.microsoft.com/office/drawing/2014/main" id="{873DDF1B-38AC-F41C-7C03-1BC65ED0214A}"/>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7" name="Line 15">
            <a:extLst>
              <a:ext uri="{FF2B5EF4-FFF2-40B4-BE49-F238E27FC236}">
                <a16:creationId xmlns:a16="http://schemas.microsoft.com/office/drawing/2014/main" id="{08F9FBCE-8187-806B-B836-3FABE4E384E0}"/>
              </a:ext>
            </a:extLst>
          </p:cNvPr>
          <p:cNvSpPr>
            <a:spLocks noChangeShapeType="1"/>
          </p:cNvSpPr>
          <p:nvPr/>
        </p:nvSpPr>
        <p:spPr bwMode="auto">
          <a:xfrm>
            <a:off x="3371850" y="2495550"/>
            <a:ext cx="11430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8" name="Line 17">
            <a:extLst>
              <a:ext uri="{FF2B5EF4-FFF2-40B4-BE49-F238E27FC236}">
                <a16:creationId xmlns:a16="http://schemas.microsoft.com/office/drawing/2014/main" id="{701A1937-7F0E-A7C1-DCF4-9A61688CE468}"/>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69" name="Line 18">
            <a:extLst>
              <a:ext uri="{FF2B5EF4-FFF2-40B4-BE49-F238E27FC236}">
                <a16:creationId xmlns:a16="http://schemas.microsoft.com/office/drawing/2014/main" id="{A0988104-A9AF-763B-11D5-B3A844FD8250}"/>
              </a:ext>
            </a:extLst>
          </p:cNvPr>
          <p:cNvSpPr>
            <a:spLocks noChangeShapeType="1"/>
          </p:cNvSpPr>
          <p:nvPr/>
        </p:nvSpPr>
        <p:spPr bwMode="auto">
          <a:xfrm flipH="1">
            <a:off x="5657850" y="2514600"/>
            <a:ext cx="1714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49170" name="Text Box 19">
            <a:extLst>
              <a:ext uri="{FF2B5EF4-FFF2-40B4-BE49-F238E27FC236}">
                <a16:creationId xmlns:a16="http://schemas.microsoft.com/office/drawing/2014/main" id="{771F1F30-5B3E-0A5A-D545-C33993550213}"/>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49171" name="Text Box 20">
            <a:extLst>
              <a:ext uri="{FF2B5EF4-FFF2-40B4-BE49-F238E27FC236}">
                <a16:creationId xmlns:a16="http://schemas.microsoft.com/office/drawing/2014/main" id="{C312F0DE-904D-FD4C-8A01-191EC45AD19F}"/>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49172" name="Text Box 21">
            <a:extLst>
              <a:ext uri="{FF2B5EF4-FFF2-40B4-BE49-F238E27FC236}">
                <a16:creationId xmlns:a16="http://schemas.microsoft.com/office/drawing/2014/main" id="{316B1D11-5920-DECD-297E-4A322F3E4D9A}"/>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49173" name="Text Box 22">
            <a:extLst>
              <a:ext uri="{FF2B5EF4-FFF2-40B4-BE49-F238E27FC236}">
                <a16:creationId xmlns:a16="http://schemas.microsoft.com/office/drawing/2014/main" id="{97B0A64C-6247-470D-7F91-1A16A06691A1}"/>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49174" name="Text Box 23">
            <a:extLst>
              <a:ext uri="{FF2B5EF4-FFF2-40B4-BE49-F238E27FC236}">
                <a16:creationId xmlns:a16="http://schemas.microsoft.com/office/drawing/2014/main" id="{9FDBFA7D-8595-8BBD-055F-596FFA9A67C2}"/>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49175" name="Text Box 24">
            <a:extLst>
              <a:ext uri="{FF2B5EF4-FFF2-40B4-BE49-F238E27FC236}">
                <a16:creationId xmlns:a16="http://schemas.microsoft.com/office/drawing/2014/main" id="{69F9DC99-86AB-BF23-1FB2-CE1F30CB4DBE}"/>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49176" name="Text Box 25">
            <a:extLst>
              <a:ext uri="{FF2B5EF4-FFF2-40B4-BE49-F238E27FC236}">
                <a16:creationId xmlns:a16="http://schemas.microsoft.com/office/drawing/2014/main" id="{404AEE1B-5DCE-546E-2784-1052E540DC8B}"/>
              </a:ext>
            </a:extLst>
          </p:cNvPr>
          <p:cNvSpPr txBox="1">
            <a:spLocks noChangeArrowheads="1"/>
          </p:cNvSpPr>
          <p:nvPr/>
        </p:nvSpPr>
        <p:spPr bwMode="auto">
          <a:xfrm>
            <a:off x="52578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c</a:t>
            </a:r>
          </a:p>
        </p:txBody>
      </p:sp>
      <p:sp>
        <p:nvSpPr>
          <p:cNvPr id="49177" name="Text Box 26">
            <a:extLst>
              <a:ext uri="{FF2B5EF4-FFF2-40B4-BE49-F238E27FC236}">
                <a16:creationId xmlns:a16="http://schemas.microsoft.com/office/drawing/2014/main" id="{B241A51F-371C-ED78-964E-9FA67387AD3B}"/>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49178" name="Text Box 27">
            <a:extLst>
              <a:ext uri="{FF2B5EF4-FFF2-40B4-BE49-F238E27FC236}">
                <a16:creationId xmlns:a16="http://schemas.microsoft.com/office/drawing/2014/main" id="{A5EE6568-D8D9-3EA4-753A-F0619BA45F0E}"/>
              </a:ext>
            </a:extLst>
          </p:cNvPr>
          <p:cNvSpPr txBox="1">
            <a:spLocks noChangeArrowheads="1"/>
          </p:cNvSpPr>
          <p:nvPr/>
        </p:nvSpPr>
        <p:spPr bwMode="auto">
          <a:xfrm>
            <a:off x="1657350" y="4057650"/>
            <a:ext cx="554355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dirty="0">
                <a:latin typeface="Times New Roman" panose="02020603050405020304" pitchFamily="18" charset="0"/>
                <a:cs typeface="Times New Roman" panose="02020603050405020304" pitchFamily="18" charset="0"/>
              </a:rPr>
              <a:t>Deleting 1 causes node b to underflow, so elements are redistributed between nodes b, f, and d </a:t>
            </a:r>
          </a:p>
        </p:txBody>
      </p:sp>
      <p:sp>
        <p:nvSpPr>
          <p:cNvPr id="2" name="Rectangle 1">
            <a:extLst>
              <a:ext uri="{FF2B5EF4-FFF2-40B4-BE49-F238E27FC236}">
                <a16:creationId xmlns:a16="http://schemas.microsoft.com/office/drawing/2014/main" id="{BF5315B1-95E0-DEB5-FD88-352DB7610576}"/>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A7EE8D0-0DF1-6A82-B6AA-6DB1FF2612B5}"/>
              </a:ext>
            </a:extLst>
          </p:cNvPr>
          <p:cNvSpPr>
            <a:spLocks noGrp="1" noChangeArrowheads="1"/>
          </p:cNvSpPr>
          <p:nvPr>
            <p:ph type="title" idx="4294967295"/>
          </p:nvPr>
        </p:nvSpPr>
        <p:spPr>
          <a:xfrm>
            <a:off x="1485900" y="3429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Right Sibling</a:t>
            </a: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0179" name="Text Box 3">
            <a:extLst>
              <a:ext uri="{FF2B5EF4-FFF2-40B4-BE49-F238E27FC236}">
                <a16:creationId xmlns:a16="http://schemas.microsoft.com/office/drawing/2014/main" id="{4F04ED43-6080-1E51-328C-0584C280C059}"/>
              </a:ext>
            </a:extLst>
          </p:cNvPr>
          <p:cNvSpPr txBox="1">
            <a:spLocks noChangeArrowheads="1"/>
          </p:cNvSpPr>
          <p:nvPr/>
        </p:nvSpPr>
        <p:spPr bwMode="auto">
          <a:xfrm>
            <a:off x="2514600" y="2362200"/>
            <a:ext cx="102870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4 * </a:t>
            </a:r>
          </a:p>
        </p:txBody>
      </p:sp>
      <p:sp>
        <p:nvSpPr>
          <p:cNvPr id="50180" name="Text Box 4">
            <a:extLst>
              <a:ext uri="{FF2B5EF4-FFF2-40B4-BE49-F238E27FC236}">
                <a16:creationId xmlns:a16="http://schemas.microsoft.com/office/drawing/2014/main" id="{1280485E-B1C0-8206-B4A2-871FA0005C1A}"/>
              </a:ext>
            </a:extLst>
          </p:cNvPr>
          <p:cNvSpPr txBox="1">
            <a:spLocks noChangeArrowheads="1"/>
          </p:cNvSpPr>
          <p:nvPr/>
        </p:nvSpPr>
        <p:spPr bwMode="auto">
          <a:xfrm>
            <a:off x="6743700" y="3409950"/>
            <a:ext cx="857250" cy="55399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12  * 13 *</a:t>
            </a:r>
          </a:p>
        </p:txBody>
      </p:sp>
      <p:sp>
        <p:nvSpPr>
          <p:cNvPr id="50181" name="Text Box 5">
            <a:extLst>
              <a:ext uri="{FF2B5EF4-FFF2-40B4-BE49-F238E27FC236}">
                <a16:creationId xmlns:a16="http://schemas.microsoft.com/office/drawing/2014/main" id="{1450DDE4-55C5-D437-DDFF-E324128311FE}"/>
              </a:ext>
            </a:extLst>
          </p:cNvPr>
          <p:cNvSpPr txBox="1">
            <a:spLocks noChangeArrowheads="1"/>
          </p:cNvSpPr>
          <p:nvPr/>
        </p:nvSpPr>
        <p:spPr bwMode="auto">
          <a:xfrm>
            <a:off x="5429250" y="2362200"/>
            <a:ext cx="120015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9*</a:t>
            </a:r>
          </a:p>
        </p:txBody>
      </p:sp>
      <p:sp>
        <p:nvSpPr>
          <p:cNvPr id="50182" name="Text Box 6">
            <a:extLst>
              <a:ext uri="{FF2B5EF4-FFF2-40B4-BE49-F238E27FC236}">
                <a16:creationId xmlns:a16="http://schemas.microsoft.com/office/drawing/2014/main" id="{D9E8B869-833F-C47D-FFB5-80C81E3B7A33}"/>
              </a:ext>
            </a:extLst>
          </p:cNvPr>
          <p:cNvSpPr txBox="1">
            <a:spLocks noChangeArrowheads="1"/>
          </p:cNvSpPr>
          <p:nvPr/>
        </p:nvSpPr>
        <p:spPr bwMode="auto">
          <a:xfrm>
            <a:off x="4171950" y="1524000"/>
            <a:ext cx="857250" cy="3231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7 *</a:t>
            </a:r>
          </a:p>
        </p:txBody>
      </p:sp>
      <p:sp>
        <p:nvSpPr>
          <p:cNvPr id="50183" name="Text Box 7">
            <a:extLst>
              <a:ext uri="{FF2B5EF4-FFF2-40B4-BE49-F238E27FC236}">
                <a16:creationId xmlns:a16="http://schemas.microsoft.com/office/drawing/2014/main" id="{E26EDF4C-B793-AB0C-1BF2-EEB416495C20}"/>
              </a:ext>
            </a:extLst>
          </p:cNvPr>
          <p:cNvSpPr txBox="1">
            <a:spLocks noChangeArrowheads="1"/>
          </p:cNvSpPr>
          <p:nvPr/>
        </p:nvSpPr>
        <p:spPr bwMode="auto">
          <a:xfrm>
            <a:off x="1543050" y="340995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3*</a:t>
            </a:r>
          </a:p>
        </p:txBody>
      </p:sp>
      <p:sp>
        <p:nvSpPr>
          <p:cNvPr id="50184" name="Text Box 8">
            <a:extLst>
              <a:ext uri="{FF2B5EF4-FFF2-40B4-BE49-F238E27FC236}">
                <a16:creationId xmlns:a16="http://schemas.microsoft.com/office/drawing/2014/main" id="{C5CD2C6C-AA64-DC5B-A182-0B719CFFD99E}"/>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5 *</a:t>
            </a:r>
          </a:p>
        </p:txBody>
      </p:sp>
      <p:sp>
        <p:nvSpPr>
          <p:cNvPr id="50185" name="Text Box 10">
            <a:extLst>
              <a:ext uri="{FF2B5EF4-FFF2-40B4-BE49-F238E27FC236}">
                <a16:creationId xmlns:a16="http://schemas.microsoft.com/office/drawing/2014/main" id="{3BE473FD-9389-3565-BC13-560F9C29384D}"/>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50186" name="Line 11">
            <a:extLst>
              <a:ext uri="{FF2B5EF4-FFF2-40B4-BE49-F238E27FC236}">
                <a16:creationId xmlns:a16="http://schemas.microsoft.com/office/drawing/2014/main" id="{A6AC788E-F471-5192-096B-CD61BB52BC83}"/>
              </a:ext>
            </a:extLst>
          </p:cNvPr>
          <p:cNvSpPr>
            <a:spLocks noChangeShapeType="1"/>
          </p:cNvSpPr>
          <p:nvPr/>
        </p:nvSpPr>
        <p:spPr bwMode="auto">
          <a:xfrm flipH="1">
            <a:off x="3028950" y="1695450"/>
            <a:ext cx="14287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87" name="Line 12">
            <a:extLst>
              <a:ext uri="{FF2B5EF4-FFF2-40B4-BE49-F238E27FC236}">
                <a16:creationId xmlns:a16="http://schemas.microsoft.com/office/drawing/2014/main" id="{430C2273-A478-E83C-8C01-E22E51F825AB}"/>
              </a:ext>
            </a:extLst>
          </p:cNvPr>
          <p:cNvSpPr>
            <a:spLocks noChangeShapeType="1"/>
          </p:cNvSpPr>
          <p:nvPr/>
        </p:nvSpPr>
        <p:spPr bwMode="auto">
          <a:xfrm>
            <a:off x="4800600" y="1695450"/>
            <a:ext cx="1200150" cy="685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88" name="Line 13">
            <a:extLst>
              <a:ext uri="{FF2B5EF4-FFF2-40B4-BE49-F238E27FC236}">
                <a16:creationId xmlns:a16="http://schemas.microsoft.com/office/drawing/2014/main" id="{77CA42CC-D4EC-D391-8BE2-E60078813A68}"/>
              </a:ext>
            </a:extLst>
          </p:cNvPr>
          <p:cNvSpPr>
            <a:spLocks noChangeShapeType="1"/>
          </p:cNvSpPr>
          <p:nvPr/>
        </p:nvSpPr>
        <p:spPr bwMode="auto">
          <a:xfrm flipH="1">
            <a:off x="2057400" y="2495550"/>
            <a:ext cx="6286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89" name="Line 14">
            <a:extLst>
              <a:ext uri="{FF2B5EF4-FFF2-40B4-BE49-F238E27FC236}">
                <a16:creationId xmlns:a16="http://schemas.microsoft.com/office/drawing/2014/main" id="{1919D553-6076-3B2E-AD71-E851B76A3FB6}"/>
              </a:ext>
            </a:extLst>
          </p:cNvPr>
          <p:cNvSpPr>
            <a:spLocks noChangeShapeType="1"/>
          </p:cNvSpPr>
          <p:nvPr/>
        </p:nvSpPr>
        <p:spPr bwMode="auto">
          <a:xfrm>
            <a:off x="3028950" y="2495550"/>
            <a:ext cx="34290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90" name="Line 15">
            <a:extLst>
              <a:ext uri="{FF2B5EF4-FFF2-40B4-BE49-F238E27FC236}">
                <a16:creationId xmlns:a16="http://schemas.microsoft.com/office/drawing/2014/main" id="{4A430519-A2A3-9CE8-6671-DD081C14E4B7}"/>
              </a:ext>
            </a:extLst>
          </p:cNvPr>
          <p:cNvSpPr>
            <a:spLocks noChangeShapeType="1"/>
          </p:cNvSpPr>
          <p:nvPr/>
        </p:nvSpPr>
        <p:spPr bwMode="auto">
          <a:xfrm flipH="1">
            <a:off x="4514850" y="2514600"/>
            <a:ext cx="1314450" cy="85725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91" name="Line 17">
            <a:extLst>
              <a:ext uri="{FF2B5EF4-FFF2-40B4-BE49-F238E27FC236}">
                <a16:creationId xmlns:a16="http://schemas.microsoft.com/office/drawing/2014/main" id="{8DDDF1DC-59A2-27E1-9363-310ACD87D65A}"/>
              </a:ext>
            </a:extLst>
          </p:cNvPr>
          <p:cNvSpPr>
            <a:spLocks noChangeShapeType="1"/>
          </p:cNvSpPr>
          <p:nvPr/>
        </p:nvSpPr>
        <p:spPr bwMode="auto">
          <a:xfrm>
            <a:off x="6286500" y="2495550"/>
            <a:ext cx="85725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0192" name="Text Box 19">
            <a:extLst>
              <a:ext uri="{FF2B5EF4-FFF2-40B4-BE49-F238E27FC236}">
                <a16:creationId xmlns:a16="http://schemas.microsoft.com/office/drawing/2014/main" id="{089458CE-030F-7BA0-1C06-8627020DF79A}"/>
              </a:ext>
            </a:extLst>
          </p:cNvPr>
          <p:cNvSpPr txBox="1">
            <a:spLocks noChangeArrowheads="1"/>
          </p:cNvSpPr>
          <p:nvPr/>
        </p:nvSpPr>
        <p:spPr bwMode="auto">
          <a:xfrm>
            <a:off x="5086350" y="148590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a</a:t>
            </a:r>
          </a:p>
        </p:txBody>
      </p:sp>
      <p:sp>
        <p:nvSpPr>
          <p:cNvPr id="50193" name="Text Box 20">
            <a:extLst>
              <a:ext uri="{FF2B5EF4-FFF2-40B4-BE49-F238E27FC236}">
                <a16:creationId xmlns:a16="http://schemas.microsoft.com/office/drawing/2014/main" id="{6418E565-B775-1F9D-07C9-AD3AEC971974}"/>
              </a:ext>
            </a:extLst>
          </p:cNvPr>
          <p:cNvSpPr txBox="1">
            <a:spLocks noChangeArrowheads="1"/>
          </p:cNvSpPr>
          <p:nvPr/>
        </p:nvSpPr>
        <p:spPr bwMode="auto">
          <a:xfrm>
            <a:off x="251460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f</a:t>
            </a:r>
          </a:p>
        </p:txBody>
      </p:sp>
      <p:sp>
        <p:nvSpPr>
          <p:cNvPr id="50194" name="Text Box 21">
            <a:extLst>
              <a:ext uri="{FF2B5EF4-FFF2-40B4-BE49-F238E27FC236}">
                <a16:creationId xmlns:a16="http://schemas.microsoft.com/office/drawing/2014/main" id="{F70586D1-2898-4E44-153D-A5F8162E9905}"/>
              </a:ext>
            </a:extLst>
          </p:cNvPr>
          <p:cNvSpPr txBox="1">
            <a:spLocks noChangeArrowheads="1"/>
          </p:cNvSpPr>
          <p:nvPr/>
        </p:nvSpPr>
        <p:spPr bwMode="auto">
          <a:xfrm>
            <a:off x="6229350" y="20002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g</a:t>
            </a:r>
          </a:p>
        </p:txBody>
      </p:sp>
      <p:sp>
        <p:nvSpPr>
          <p:cNvPr id="50195" name="Text Box 22">
            <a:extLst>
              <a:ext uri="{FF2B5EF4-FFF2-40B4-BE49-F238E27FC236}">
                <a16:creationId xmlns:a16="http://schemas.microsoft.com/office/drawing/2014/main" id="{BC8F60DC-499D-1CD6-F9B8-E91C1323FE57}"/>
              </a:ext>
            </a:extLst>
          </p:cNvPr>
          <p:cNvSpPr txBox="1">
            <a:spLocks noChangeArrowheads="1"/>
          </p:cNvSpPr>
          <p:nvPr/>
        </p:nvSpPr>
        <p:spPr bwMode="auto">
          <a:xfrm>
            <a:off x="154305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b</a:t>
            </a:r>
          </a:p>
        </p:txBody>
      </p:sp>
      <p:sp>
        <p:nvSpPr>
          <p:cNvPr id="50196" name="Text Box 23">
            <a:extLst>
              <a:ext uri="{FF2B5EF4-FFF2-40B4-BE49-F238E27FC236}">
                <a16:creationId xmlns:a16="http://schemas.microsoft.com/office/drawing/2014/main" id="{832F693B-62B7-D29A-9C99-C31F5936F9A0}"/>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50197" name="Text Box 24">
            <a:extLst>
              <a:ext uri="{FF2B5EF4-FFF2-40B4-BE49-F238E27FC236}">
                <a16:creationId xmlns:a16="http://schemas.microsoft.com/office/drawing/2014/main" id="{48D30445-6357-75DB-2C7C-8453D2636A15}"/>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50198" name="Text Box 26">
            <a:extLst>
              <a:ext uri="{FF2B5EF4-FFF2-40B4-BE49-F238E27FC236}">
                <a16:creationId xmlns:a16="http://schemas.microsoft.com/office/drawing/2014/main" id="{46DD35D0-6659-51BB-9780-E4B17847A4FB}"/>
              </a:ext>
            </a:extLst>
          </p:cNvPr>
          <p:cNvSpPr txBox="1">
            <a:spLocks noChangeArrowheads="1"/>
          </p:cNvSpPr>
          <p:nvPr/>
        </p:nvSpPr>
        <p:spPr bwMode="auto">
          <a:xfrm>
            <a:off x="72009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2" name="Rectangle 1">
            <a:extLst>
              <a:ext uri="{FF2B5EF4-FFF2-40B4-BE49-F238E27FC236}">
                <a16:creationId xmlns:a16="http://schemas.microsoft.com/office/drawing/2014/main" id="{60234CBB-888F-3F2B-CFF6-76D987B49EB9}"/>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DAEAFA3-D56B-339E-CD9F-9B10C0618759}"/>
              </a:ext>
            </a:extLst>
          </p:cNvPr>
          <p:cNvSpPr>
            <a:spLocks noGrp="1" noChangeArrowheads="1"/>
          </p:cNvSpPr>
          <p:nvPr>
            <p:ph type="title" idx="4294967295"/>
          </p:nvPr>
        </p:nvSpPr>
        <p:spPr>
          <a:xfrm>
            <a:off x="1485900" y="342900"/>
            <a:ext cx="5600700" cy="857250"/>
          </a:xfrm>
        </p:spPr>
        <p:txBody>
          <a:bodyPr>
            <a:normAutofit fontScale="90000"/>
          </a:bodyPr>
          <a:lstStyle/>
          <a:p>
            <a:pPr algn="ctr">
              <a:defRPr/>
            </a:pPr>
            <a:r>
              <a:rPr lang="en-US" dirty="0">
                <a:latin typeface="Times New Roman" panose="02020603050405020304" pitchFamily="18" charset="0"/>
                <a:cs typeface="Times New Roman" panose="02020603050405020304" pitchFamily="18" charset="0"/>
              </a:rPr>
              <a:t>Delete 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Case: </a:t>
            </a:r>
            <a:r>
              <a:rPr lang="en-US" altLang="en-US" dirty="0">
                <a:latin typeface="Times New Roman" panose="02020603050405020304" pitchFamily="18" charset="0"/>
                <a:cs typeface="Times New Roman" panose="02020603050405020304" pitchFamily="18" charset="0"/>
              </a:rPr>
              <a:t>Consider Right Sibling</a:t>
            </a:r>
            <a:br>
              <a:rPr lang="en-US" alt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1203" name="Text Box 4">
            <a:extLst>
              <a:ext uri="{FF2B5EF4-FFF2-40B4-BE49-F238E27FC236}">
                <a16:creationId xmlns:a16="http://schemas.microsoft.com/office/drawing/2014/main" id="{D1D19A55-FECB-9EBE-56B4-6F5080EDA75F}"/>
              </a:ext>
            </a:extLst>
          </p:cNvPr>
          <p:cNvSpPr txBox="1">
            <a:spLocks noChangeArrowheads="1"/>
          </p:cNvSpPr>
          <p:nvPr/>
        </p:nvSpPr>
        <p:spPr bwMode="auto">
          <a:xfrm>
            <a:off x="5486400" y="3412332"/>
            <a:ext cx="1171575"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12  * 13 *</a:t>
            </a:r>
          </a:p>
        </p:txBody>
      </p:sp>
      <p:sp>
        <p:nvSpPr>
          <p:cNvPr id="51204" name="Text Box 6">
            <a:extLst>
              <a:ext uri="{FF2B5EF4-FFF2-40B4-BE49-F238E27FC236}">
                <a16:creationId xmlns:a16="http://schemas.microsoft.com/office/drawing/2014/main" id="{3A4B0A1D-3217-B641-E2FD-4F03D8F6334B}"/>
              </a:ext>
            </a:extLst>
          </p:cNvPr>
          <p:cNvSpPr txBox="1">
            <a:spLocks noChangeArrowheads="1"/>
          </p:cNvSpPr>
          <p:nvPr/>
        </p:nvSpPr>
        <p:spPr bwMode="auto">
          <a:xfrm>
            <a:off x="3857625" y="1828800"/>
            <a:ext cx="857250" cy="55399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7 * 9 *</a:t>
            </a:r>
          </a:p>
        </p:txBody>
      </p:sp>
      <p:sp>
        <p:nvSpPr>
          <p:cNvPr id="51205" name="Text Box 8">
            <a:extLst>
              <a:ext uri="{FF2B5EF4-FFF2-40B4-BE49-F238E27FC236}">
                <a16:creationId xmlns:a16="http://schemas.microsoft.com/office/drawing/2014/main" id="{070D71AB-B730-FBCA-ADAF-D0B62ED3694E}"/>
              </a:ext>
            </a:extLst>
          </p:cNvPr>
          <p:cNvSpPr txBox="1">
            <a:spLocks noChangeArrowheads="1"/>
          </p:cNvSpPr>
          <p:nvPr/>
        </p:nvSpPr>
        <p:spPr bwMode="auto">
          <a:xfrm>
            <a:off x="2857500" y="3390900"/>
            <a:ext cx="102870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4 * 5 *</a:t>
            </a:r>
          </a:p>
        </p:txBody>
      </p:sp>
      <p:sp>
        <p:nvSpPr>
          <p:cNvPr id="51206" name="Text Box 10">
            <a:extLst>
              <a:ext uri="{FF2B5EF4-FFF2-40B4-BE49-F238E27FC236}">
                <a16:creationId xmlns:a16="http://schemas.microsoft.com/office/drawing/2014/main" id="{EAB8F659-FB84-8A66-8360-3AC79AE15E81}"/>
              </a:ext>
            </a:extLst>
          </p:cNvPr>
          <p:cNvSpPr txBox="1">
            <a:spLocks noChangeArrowheads="1"/>
          </p:cNvSpPr>
          <p:nvPr/>
        </p:nvSpPr>
        <p:spPr bwMode="auto">
          <a:xfrm>
            <a:off x="4114800" y="3390900"/>
            <a:ext cx="857250" cy="32316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 * 8 *</a:t>
            </a:r>
          </a:p>
        </p:txBody>
      </p:sp>
      <p:sp>
        <p:nvSpPr>
          <p:cNvPr id="51207" name="Line 14">
            <a:extLst>
              <a:ext uri="{FF2B5EF4-FFF2-40B4-BE49-F238E27FC236}">
                <a16:creationId xmlns:a16="http://schemas.microsoft.com/office/drawing/2014/main" id="{A67FD961-0461-2CDE-C17C-5FF2DC7F3EBF}"/>
              </a:ext>
            </a:extLst>
          </p:cNvPr>
          <p:cNvSpPr>
            <a:spLocks noChangeShapeType="1"/>
          </p:cNvSpPr>
          <p:nvPr/>
        </p:nvSpPr>
        <p:spPr bwMode="auto">
          <a:xfrm flipH="1">
            <a:off x="3371850" y="2000250"/>
            <a:ext cx="571500" cy="1409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1208" name="Line 15">
            <a:extLst>
              <a:ext uri="{FF2B5EF4-FFF2-40B4-BE49-F238E27FC236}">
                <a16:creationId xmlns:a16="http://schemas.microsoft.com/office/drawing/2014/main" id="{47F78866-F3D5-9F5F-C563-543DC35AD0F5}"/>
              </a:ext>
            </a:extLst>
          </p:cNvPr>
          <p:cNvSpPr>
            <a:spLocks noChangeShapeType="1"/>
          </p:cNvSpPr>
          <p:nvPr/>
        </p:nvSpPr>
        <p:spPr bwMode="auto">
          <a:xfrm>
            <a:off x="4286250" y="2128837"/>
            <a:ext cx="228600" cy="12430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1209" name="Line 17">
            <a:extLst>
              <a:ext uri="{FF2B5EF4-FFF2-40B4-BE49-F238E27FC236}">
                <a16:creationId xmlns:a16="http://schemas.microsoft.com/office/drawing/2014/main" id="{5FA75E3C-F562-8B12-43E8-136C8789AC03}"/>
              </a:ext>
            </a:extLst>
          </p:cNvPr>
          <p:cNvSpPr>
            <a:spLocks noChangeShapeType="1"/>
          </p:cNvSpPr>
          <p:nvPr/>
        </p:nvSpPr>
        <p:spPr bwMode="auto">
          <a:xfrm>
            <a:off x="4657725" y="1931194"/>
            <a:ext cx="1428750" cy="144065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en-IN" sz="1050">
              <a:latin typeface="Times New Roman" panose="02020603050405020304" pitchFamily="18" charset="0"/>
              <a:cs typeface="Times New Roman" panose="02020603050405020304" pitchFamily="18" charset="0"/>
            </a:endParaRPr>
          </a:p>
        </p:txBody>
      </p:sp>
      <p:sp>
        <p:nvSpPr>
          <p:cNvPr id="51210" name="Text Box 23">
            <a:extLst>
              <a:ext uri="{FF2B5EF4-FFF2-40B4-BE49-F238E27FC236}">
                <a16:creationId xmlns:a16="http://schemas.microsoft.com/office/drawing/2014/main" id="{ADE4016E-8B5D-79FA-8595-430A990BDA27}"/>
              </a:ext>
            </a:extLst>
          </p:cNvPr>
          <p:cNvSpPr txBox="1">
            <a:spLocks noChangeArrowheads="1"/>
          </p:cNvSpPr>
          <p:nvPr/>
        </p:nvSpPr>
        <p:spPr bwMode="auto">
          <a:xfrm>
            <a:off x="28575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d</a:t>
            </a:r>
          </a:p>
        </p:txBody>
      </p:sp>
      <p:sp>
        <p:nvSpPr>
          <p:cNvPr id="51211" name="Text Box 24">
            <a:extLst>
              <a:ext uri="{FF2B5EF4-FFF2-40B4-BE49-F238E27FC236}">
                <a16:creationId xmlns:a16="http://schemas.microsoft.com/office/drawing/2014/main" id="{BA208974-F13F-1560-61E7-1263DA0C335C}"/>
              </a:ext>
            </a:extLst>
          </p:cNvPr>
          <p:cNvSpPr txBox="1">
            <a:spLocks noChangeArrowheads="1"/>
          </p:cNvSpPr>
          <p:nvPr/>
        </p:nvSpPr>
        <p:spPr bwMode="auto">
          <a:xfrm>
            <a:off x="4572000" y="30289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h</a:t>
            </a:r>
          </a:p>
        </p:txBody>
      </p:sp>
      <p:sp>
        <p:nvSpPr>
          <p:cNvPr id="51212" name="Text Box 26">
            <a:extLst>
              <a:ext uri="{FF2B5EF4-FFF2-40B4-BE49-F238E27FC236}">
                <a16:creationId xmlns:a16="http://schemas.microsoft.com/office/drawing/2014/main" id="{1756BC9A-CCDA-AA7B-2BC8-0FEF730EA1C6}"/>
              </a:ext>
            </a:extLst>
          </p:cNvPr>
          <p:cNvSpPr txBox="1">
            <a:spLocks noChangeArrowheads="1"/>
          </p:cNvSpPr>
          <p:nvPr/>
        </p:nvSpPr>
        <p:spPr bwMode="auto">
          <a:xfrm>
            <a:off x="6486525" y="3067050"/>
            <a:ext cx="34290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spcBef>
                <a:spcPct val="50000"/>
              </a:spcBef>
            </a:pPr>
            <a:r>
              <a:rPr lang="en-US" altLang="en-US" sz="1500">
                <a:latin typeface="Times New Roman" panose="02020603050405020304" pitchFamily="18" charset="0"/>
                <a:cs typeface="Times New Roman" panose="02020603050405020304" pitchFamily="18" charset="0"/>
              </a:rPr>
              <a:t>e</a:t>
            </a:r>
          </a:p>
        </p:txBody>
      </p:sp>
      <p:sp>
        <p:nvSpPr>
          <p:cNvPr id="2" name="Rectangle 1">
            <a:extLst>
              <a:ext uri="{FF2B5EF4-FFF2-40B4-BE49-F238E27FC236}">
                <a16:creationId xmlns:a16="http://schemas.microsoft.com/office/drawing/2014/main" id="{741A9F39-D93D-47E7-B864-9B0C4FA751C0}"/>
              </a:ext>
            </a:extLst>
          </p:cNvPr>
          <p:cNvSpPr/>
          <p:nvPr/>
        </p:nvSpPr>
        <p:spPr>
          <a:xfrm>
            <a:off x="0" y="4893088"/>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A0A84-FF17-CE42-97A0-662AB821A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975D3-319E-E9BF-05F5-647204BE38B7}"/>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Operation on B Tree</a:t>
            </a:r>
          </a:p>
        </p:txBody>
      </p:sp>
      <p:pic>
        <p:nvPicPr>
          <p:cNvPr id="15" name="Picture 14">
            <a:extLst>
              <a:ext uri="{FF2B5EF4-FFF2-40B4-BE49-F238E27FC236}">
                <a16:creationId xmlns:a16="http://schemas.microsoft.com/office/drawing/2014/main" id="{390CF2E2-29D0-0D80-A649-DA4067B4C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5A38E84C-5CB2-5DF7-04A8-0EAFF7F6D67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70ECB8E-73A7-7C7F-8829-F5446FAA629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5761C56B-3930-8C97-3CFE-D0CAF98D3E7C}"/>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12B24DE1-A45E-0AF5-CB36-6DFFCD9E7FB7}"/>
              </a:ext>
            </a:extLst>
          </p:cNvPr>
          <p:cNvSpPr txBox="1"/>
          <p:nvPr/>
        </p:nvSpPr>
        <p:spPr>
          <a:xfrm>
            <a:off x="519976" y="963808"/>
            <a:ext cx="2720696" cy="3970318"/>
          </a:xfrm>
          <a:prstGeom prst="rect">
            <a:avLst/>
          </a:prstGeom>
          <a:noFill/>
        </p:spPr>
        <p:txBody>
          <a:bodyPr wrap="square">
            <a:spAutoFit/>
          </a:bodyPr>
          <a:lstStyle/>
          <a:p>
            <a:r>
              <a:rPr lang="en-IN" sz="1200" dirty="0">
                <a:latin typeface="Times New Roman" panose="02020603050405020304" pitchFamily="18" charset="0"/>
                <a:cs typeface="Times New Roman" panose="02020603050405020304" pitchFamily="18" charset="0"/>
              </a:rPr>
              <a:t>Operations on B-Tree</a:t>
            </a:r>
          </a:p>
          <a:p>
            <a:endParaRPr lang="en-IN"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Search</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Similar to BST but within a node</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Time Complexity: O(log n)</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Insertion</a:t>
            </a:r>
          </a:p>
          <a:p>
            <a:r>
              <a:rPr lang="en-US" sz="1200" dirty="0">
                <a:latin typeface="Times New Roman" panose="02020603050405020304" pitchFamily="18" charset="0"/>
                <a:cs typeface="Times New Roman" panose="02020603050405020304" pitchFamily="18" charset="0"/>
              </a:rPr>
              <a:t>Steps:</a:t>
            </a:r>
          </a:p>
          <a:p>
            <a:r>
              <a:rPr lang="en-US" sz="1200" dirty="0">
                <a:latin typeface="Times New Roman" panose="02020603050405020304" pitchFamily="18" charset="0"/>
                <a:cs typeface="Times New Roman" panose="02020603050405020304" pitchFamily="18" charset="0"/>
              </a:rPr>
              <a:t>Insert key in appropriate leaf node</a:t>
            </a:r>
          </a:p>
          <a:p>
            <a:r>
              <a:rPr lang="en-US" sz="1200" dirty="0">
                <a:latin typeface="Times New Roman" panose="02020603050405020304" pitchFamily="18" charset="0"/>
                <a:cs typeface="Times New Roman" panose="02020603050405020304" pitchFamily="18" charset="0"/>
              </a:rPr>
              <a:t>If node overflows (keys &gt; m−1):</a:t>
            </a:r>
          </a:p>
          <a:p>
            <a:pPr lvl="1"/>
            <a:r>
              <a:rPr lang="en-US" sz="1200" dirty="0">
                <a:latin typeface="Times New Roman" panose="02020603050405020304" pitchFamily="18" charset="0"/>
                <a:cs typeface="Times New Roman" panose="02020603050405020304" pitchFamily="18" charset="0"/>
              </a:rPr>
              <a:t>Split the node</a:t>
            </a:r>
          </a:p>
          <a:p>
            <a:pPr lvl="1"/>
            <a:r>
              <a:rPr lang="en-US" sz="1200" dirty="0">
                <a:latin typeface="Times New Roman" panose="02020603050405020304" pitchFamily="18" charset="0"/>
                <a:cs typeface="Times New Roman" panose="02020603050405020304" pitchFamily="18" charset="0"/>
              </a:rPr>
              <a:t>Move middle key to parent</a:t>
            </a:r>
          </a:p>
          <a:p>
            <a:r>
              <a:rPr lang="en-US" sz="1200" dirty="0">
                <a:latin typeface="Times New Roman" panose="02020603050405020304" pitchFamily="18" charset="0"/>
                <a:cs typeface="Times New Roman" panose="02020603050405020304" pitchFamily="18" charset="0"/>
              </a:rPr>
              <a:t>Repeat until balance is restored</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Deletion</a:t>
            </a:r>
          </a:p>
          <a:p>
            <a:r>
              <a:rPr lang="en-US" sz="1200" dirty="0">
                <a:latin typeface="Times New Roman" panose="02020603050405020304" pitchFamily="18" charset="0"/>
                <a:cs typeface="Times New Roman" panose="02020603050405020304" pitchFamily="18" charset="0"/>
              </a:rPr>
              <a:t>Steps:</a:t>
            </a:r>
          </a:p>
          <a:p>
            <a:r>
              <a:rPr lang="en-US" sz="1200" dirty="0">
                <a:latin typeface="Times New Roman" panose="02020603050405020304" pitchFamily="18" charset="0"/>
                <a:cs typeface="Times New Roman" panose="02020603050405020304" pitchFamily="18" charset="0"/>
              </a:rPr>
              <a:t>Remove key from leaf or internal node</a:t>
            </a:r>
          </a:p>
          <a:p>
            <a:r>
              <a:rPr lang="en-US" sz="1200" dirty="0">
                <a:latin typeface="Times New Roman" panose="02020603050405020304" pitchFamily="18" charset="0"/>
                <a:cs typeface="Times New Roman" panose="02020603050405020304" pitchFamily="18" charset="0"/>
              </a:rPr>
              <a:t>If node underflows:</a:t>
            </a:r>
          </a:p>
          <a:p>
            <a:pPr lvl="1"/>
            <a:r>
              <a:rPr lang="en-US" sz="1200" dirty="0">
                <a:latin typeface="Times New Roman" panose="02020603050405020304" pitchFamily="18" charset="0"/>
                <a:cs typeface="Times New Roman" panose="02020603050405020304" pitchFamily="18" charset="0"/>
              </a:rPr>
              <a:t>Borrow key from sibling OR</a:t>
            </a:r>
          </a:p>
          <a:p>
            <a:pPr lvl="1"/>
            <a:r>
              <a:rPr lang="en-US" sz="1200" dirty="0">
                <a:latin typeface="Times New Roman" panose="02020603050405020304" pitchFamily="18" charset="0"/>
                <a:cs typeface="Times New Roman" panose="02020603050405020304" pitchFamily="18" charset="0"/>
              </a:rPr>
              <a:t>Merge nodes</a:t>
            </a:r>
          </a:p>
          <a:p>
            <a:r>
              <a:rPr lang="en-US" sz="1200" dirty="0">
                <a:latin typeface="Times New Roman" panose="02020603050405020304" pitchFamily="18" charset="0"/>
                <a:cs typeface="Times New Roman" panose="02020603050405020304" pitchFamily="18" charset="0"/>
              </a:rPr>
              <a:t>Ensure all properties are maintained</a:t>
            </a:r>
          </a:p>
        </p:txBody>
      </p:sp>
      <p:sp>
        <p:nvSpPr>
          <p:cNvPr id="7" name="TextBox 6">
            <a:extLst>
              <a:ext uri="{FF2B5EF4-FFF2-40B4-BE49-F238E27FC236}">
                <a16:creationId xmlns:a16="http://schemas.microsoft.com/office/drawing/2014/main" id="{1C862D82-4670-C5E6-4DB7-AD0EA09391DB}"/>
              </a:ext>
            </a:extLst>
          </p:cNvPr>
          <p:cNvSpPr txBox="1"/>
          <p:nvPr/>
        </p:nvSpPr>
        <p:spPr>
          <a:xfrm>
            <a:off x="3865669" y="728004"/>
            <a:ext cx="2757809" cy="3970318"/>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Advantages of B-Tree</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Always balanced</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Efficient disk access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Faster searching for large datasets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Suitable for databases and file systems</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Disadvantages of B-Tree</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Complex insertion and deletion</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Not efficient for small data</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More memory required per node</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Applications of B-Tree</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Database indexing</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File systems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Operating systems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Large-scale storage systems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Disk-based searching</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31096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84C4B-90E0-14C1-E64F-E90F2DD652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63DFA-FD33-9871-89EF-BEBAE0C7A1E4}"/>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65A4DCB6-67D8-9A9E-34DB-173FF140D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2D96672A-00B2-181B-F230-A6FCF5E45E50}"/>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3783199-7D62-C0AE-33A2-1860E29C835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8A6F88B-80AD-3F32-5408-09925FB0BE41}"/>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2D553069-C07D-9ABE-A4EC-438467F8E433}"/>
              </a:ext>
            </a:extLst>
          </p:cNvPr>
          <p:cNvSpPr txBox="1"/>
          <p:nvPr/>
        </p:nvSpPr>
        <p:spPr>
          <a:xfrm>
            <a:off x="460375" y="819344"/>
            <a:ext cx="7371248" cy="3285323"/>
          </a:xfrm>
          <a:prstGeom prst="rect">
            <a:avLst/>
          </a:prstGeom>
          <a:noFill/>
        </p:spPr>
        <p:txBody>
          <a:bodyPr wrap="square">
            <a:spAutoFit/>
          </a:bodyPr>
          <a:lstStyle/>
          <a:p>
            <a:pPr>
              <a:lnSpc>
                <a:spcPct val="150000"/>
              </a:lnSpc>
            </a:pPr>
            <a:r>
              <a:rPr lang="en-IN" altLang="en-US" b="1" dirty="0">
                <a:latin typeface="Times New Roman" panose="02020603050405020304" pitchFamily="18" charset="0"/>
                <a:cs typeface="Times New Roman" panose="02020603050405020304" pitchFamily="18" charset="0"/>
              </a:rPr>
              <a:t>B+ tree is an extension of the B tree. </a:t>
            </a:r>
          </a:p>
          <a:p>
            <a:pPr marL="285750" indent="-285750" algn="just">
              <a:lnSpc>
                <a:spcPct val="150000"/>
              </a:lnSpc>
              <a:buFont typeface="Arial" panose="020B0604020202020204" pitchFamily="34" charset="0"/>
              <a:buChar char="•"/>
            </a:pPr>
            <a:r>
              <a:rPr lang="en-IN" altLang="en-US" dirty="0">
                <a:latin typeface="Times New Roman" panose="02020603050405020304" pitchFamily="18" charset="0"/>
                <a:cs typeface="Times New Roman" panose="02020603050405020304" pitchFamily="18" charset="0"/>
              </a:rPr>
              <a:t>The difference in B+ tree and B tree is that in B tree the keys and records can be stored as internal as well as leaf nodes whereas in B+ trees, the records are stored as leaf nodes and the keys are stored only in internal nodes.</a:t>
            </a:r>
          </a:p>
          <a:p>
            <a:pPr marL="285750" indent="-285750">
              <a:lnSpc>
                <a:spcPct val="150000"/>
              </a:lnSpc>
              <a:buFont typeface="Arial" panose="020B0604020202020204" pitchFamily="34" charset="0"/>
              <a:buChar char="•"/>
            </a:pPr>
            <a:r>
              <a:rPr lang="en-IN" altLang="en-US" dirty="0">
                <a:latin typeface="Times New Roman" panose="02020603050405020304" pitchFamily="18" charset="0"/>
                <a:cs typeface="Times New Roman" panose="02020603050405020304" pitchFamily="18" charset="0"/>
              </a:rPr>
              <a:t>The records are linked to each other in a linked list manner. </a:t>
            </a:r>
          </a:p>
          <a:p>
            <a:pPr marL="285750" indent="-285750">
              <a:lnSpc>
                <a:spcPct val="150000"/>
              </a:lnSpc>
              <a:buFont typeface="Arial" panose="020B0604020202020204" pitchFamily="34" charset="0"/>
              <a:buChar char="•"/>
            </a:pPr>
            <a:r>
              <a:rPr lang="en-IN" altLang="en-US" dirty="0">
                <a:latin typeface="Times New Roman" panose="02020603050405020304" pitchFamily="18" charset="0"/>
                <a:cs typeface="Times New Roman" panose="02020603050405020304" pitchFamily="18" charset="0"/>
              </a:rPr>
              <a:t>This arrangement makes the searches of B+ trees faster and efficient. </a:t>
            </a:r>
          </a:p>
          <a:p>
            <a:pPr marL="285750" indent="-285750">
              <a:lnSpc>
                <a:spcPct val="150000"/>
              </a:lnSpc>
              <a:buFont typeface="Arial" panose="020B0604020202020204" pitchFamily="34" charset="0"/>
              <a:buChar char="•"/>
            </a:pPr>
            <a:r>
              <a:rPr lang="en-IN" altLang="en-US" dirty="0">
                <a:latin typeface="Times New Roman" panose="02020603050405020304" pitchFamily="18" charset="0"/>
                <a:cs typeface="Times New Roman" panose="02020603050405020304" pitchFamily="18" charset="0"/>
              </a:rPr>
              <a:t>Internal nodes of the B+ tree are called index nodes.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B-Tree stores data in all nodes, whereas B+-Tree </a:t>
            </a:r>
          </a:p>
          <a:p>
            <a:pPr>
              <a:lnSpc>
                <a:spcPct val="150000"/>
              </a:lnSpc>
            </a:pPr>
            <a:r>
              <a:rPr lang="en-US" dirty="0">
                <a:latin typeface="Times New Roman" panose="02020603050405020304" pitchFamily="18" charset="0"/>
                <a:cs typeface="Times New Roman" panose="02020603050405020304" pitchFamily="18" charset="0"/>
              </a:rPr>
              <a:t>       stores data only in leaf nodes.</a:t>
            </a:r>
          </a:p>
          <a:p>
            <a:pPr marL="285750" indent="-285750">
              <a:lnSpc>
                <a:spcPct val="150000"/>
              </a:lnSpc>
              <a:buFont typeface="Arial" panose="020B0604020202020204" pitchFamily="34" charset="0"/>
              <a:buChar char="•"/>
            </a:pPr>
            <a:endParaRPr lang="en-IN" altLang="en-US" dirty="0">
              <a:latin typeface="Times New Roman" panose="02020603050405020304" pitchFamily="18" charset="0"/>
              <a:cs typeface="Times New Roman" panose="02020603050405020304" pitchFamily="18" charset="0"/>
            </a:endParaRPr>
          </a:p>
        </p:txBody>
      </p:sp>
      <p:pic>
        <p:nvPicPr>
          <p:cNvPr id="3074" name="Picture 2" descr="CSci 340: B+-trees">
            <a:extLst>
              <a:ext uri="{FF2B5EF4-FFF2-40B4-BE49-F238E27FC236}">
                <a16:creationId xmlns:a16="http://schemas.microsoft.com/office/drawing/2014/main" id="{698AC84A-4AA7-07F3-B90E-7558EDAFD9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2056" y="3185670"/>
            <a:ext cx="4254566" cy="1696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23080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853C6-7DA9-FE1E-402A-DB9EFA3B9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DAF7B-491D-AC3B-98B3-355366733FE6}"/>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A050DE28-B2C1-BB89-A731-3AAC1C925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239264F-44E8-C13A-D2D1-94368F3DAA6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C52F893-015B-B455-00B5-2F3665D21D5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379A427-2FAC-D900-3298-608BC5FB99B3}"/>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305ED89E-2DE0-59C6-4105-45ECD76338F2}"/>
              </a:ext>
            </a:extLst>
          </p:cNvPr>
          <p:cNvSpPr txBox="1"/>
          <p:nvPr/>
        </p:nvSpPr>
        <p:spPr>
          <a:xfrm>
            <a:off x="557878" y="819345"/>
            <a:ext cx="8159717" cy="3323987"/>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B+ Tree is a balanced multiway search tree used mainly in databases and file systems.</a:t>
            </a: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Key Idea (Very Important)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actual data (keys/records) are stored only in leaf nodes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Internal nodes store only keys for searching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Leaf nodes are linked together (like a linked list)</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Basic Properties of B+ Tree</a:t>
            </a:r>
          </a:p>
          <a:p>
            <a:r>
              <a:rPr lang="en-US" dirty="0">
                <a:latin typeface="Times New Roman" panose="02020603050405020304" pitchFamily="18" charset="0"/>
                <a:cs typeface="Times New Roman" panose="02020603050405020304" pitchFamily="18" charset="0"/>
              </a:rPr>
              <a:t>Assume order = 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Maximum children per internal node = 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Maximum keys per node = m − 1</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leaf nodes are at the same level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Leaf nodes are linked for sequential access</a:t>
            </a:r>
          </a:p>
          <a:p>
            <a:pPr>
              <a:buNone/>
            </a:pPr>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3423F1B-6BC1-CCC9-2957-074662300C35}"/>
              </a:ext>
            </a:extLst>
          </p:cNvPr>
          <p:cNvPicPr>
            <a:picLocks noChangeAspect="1"/>
          </p:cNvPicPr>
          <p:nvPr/>
        </p:nvPicPr>
        <p:blipFill>
          <a:blip r:embed="rId4"/>
          <a:stretch>
            <a:fillRect/>
          </a:stretch>
        </p:blipFill>
        <p:spPr>
          <a:xfrm>
            <a:off x="5836335" y="1223630"/>
            <a:ext cx="3095648" cy="2819421"/>
          </a:xfrm>
          <a:prstGeom prst="rect">
            <a:avLst/>
          </a:prstGeom>
        </p:spPr>
      </p:pic>
    </p:spTree>
    <p:extLst>
      <p:ext uri="{BB962C8B-B14F-4D97-AF65-F5344CB8AC3E}">
        <p14:creationId xmlns:p14="http://schemas.microsoft.com/office/powerpoint/2010/main" val="21361224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11FA-250D-2EED-EAFF-6E16C6D98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06174-6FC6-4940-8165-E9CB74FA5F89}"/>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B+ Tree</a:t>
            </a:r>
          </a:p>
        </p:txBody>
      </p:sp>
      <p:pic>
        <p:nvPicPr>
          <p:cNvPr id="15" name="Picture 14">
            <a:extLst>
              <a:ext uri="{FF2B5EF4-FFF2-40B4-BE49-F238E27FC236}">
                <a16:creationId xmlns:a16="http://schemas.microsoft.com/office/drawing/2014/main" id="{73F576CB-22E7-6862-D5EE-41ACDFD76F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8A9459C-9656-39C4-8066-DFDB06FBFC0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449F34F-C4F3-8C6F-876B-0DDB57153CA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A2A9921-7386-D117-73C8-B7B569AC3EBE}"/>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A4BE425B-4ACE-73E0-6490-FDA7E5657DB1}"/>
              </a:ext>
            </a:extLst>
          </p:cNvPr>
          <p:cNvSpPr txBox="1"/>
          <p:nvPr/>
        </p:nvSpPr>
        <p:spPr>
          <a:xfrm>
            <a:off x="71085" y="776356"/>
            <a:ext cx="2942172" cy="4154984"/>
          </a:xfrm>
          <a:prstGeom prst="rect">
            <a:avLst/>
          </a:prstGeom>
          <a:noFill/>
        </p:spPr>
        <p:txBody>
          <a:bodyPr wrap="square">
            <a:spAutoFit/>
          </a:bodyPr>
          <a:lstStyle/>
          <a:p>
            <a:pPr>
              <a:buNone/>
            </a:pPr>
            <a:r>
              <a:rPr lang="en-US" sz="1200" dirty="0">
                <a:latin typeface="Times New Roman" panose="02020603050405020304" pitchFamily="18" charset="0"/>
                <a:cs typeface="Times New Roman" panose="02020603050405020304" pitchFamily="18" charset="0"/>
              </a:rPr>
              <a:t>Steps for Constructing a B+ Tree</a:t>
            </a:r>
          </a:p>
          <a:p>
            <a:r>
              <a:rPr lang="en-US" sz="1200" b="1" dirty="0">
                <a:latin typeface="Times New Roman" panose="02020603050405020304" pitchFamily="18" charset="0"/>
                <a:cs typeface="Times New Roman" panose="02020603050405020304" pitchFamily="18" charset="0"/>
              </a:rPr>
              <a:t>Step 1: Decide the Order of the B+ Tree</a:t>
            </a:r>
          </a:p>
          <a:p>
            <a:r>
              <a:rPr lang="en-US" sz="1200" dirty="0">
                <a:latin typeface="Times New Roman" panose="02020603050405020304" pitchFamily="18" charset="0"/>
                <a:cs typeface="Times New Roman" panose="02020603050405020304" pitchFamily="18" charset="0"/>
              </a:rPr>
              <a:t>Let the order be m</a:t>
            </a:r>
          </a:p>
          <a:p>
            <a:r>
              <a:rPr lang="en-US" sz="1200" dirty="0">
                <a:latin typeface="Times New Roman" panose="02020603050405020304" pitchFamily="18" charset="0"/>
                <a:cs typeface="Times New Roman" panose="02020603050405020304" pitchFamily="18" charset="0"/>
              </a:rPr>
              <a:t>Maximum keys per node = m − 1</a:t>
            </a:r>
          </a:p>
          <a:p>
            <a:r>
              <a:rPr lang="en-US" sz="1200" dirty="0">
                <a:latin typeface="Times New Roman" panose="02020603050405020304" pitchFamily="18" charset="0"/>
                <a:cs typeface="Times New Roman" panose="02020603050405020304" pitchFamily="18" charset="0"/>
              </a:rPr>
              <a:t>Minimum keys per leaf node = ⌈(m − 1)/2⌉</a:t>
            </a:r>
          </a:p>
          <a:p>
            <a:r>
              <a:rPr lang="en-US" sz="1200" dirty="0">
                <a:latin typeface="Times New Roman" panose="02020603050405020304" pitchFamily="18" charset="0"/>
                <a:cs typeface="Times New Roman" panose="02020603050405020304" pitchFamily="18" charset="0"/>
              </a:rPr>
              <a:t>All leaf nodes must be at the same level</a:t>
            </a:r>
          </a:p>
          <a:p>
            <a:pPr>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2: Start with an Empty Tree</a:t>
            </a:r>
          </a:p>
          <a:p>
            <a:r>
              <a:rPr lang="en-US" sz="1200" dirty="0">
                <a:latin typeface="Times New Roman" panose="02020603050405020304" pitchFamily="18" charset="0"/>
                <a:cs typeface="Times New Roman" panose="02020603050405020304" pitchFamily="18" charset="0"/>
              </a:rPr>
              <a:t>Initially, the B+ Tree has only one node</a:t>
            </a:r>
          </a:p>
          <a:p>
            <a:r>
              <a:rPr lang="en-US" sz="1200" dirty="0">
                <a:latin typeface="Times New Roman" panose="02020603050405020304" pitchFamily="18" charset="0"/>
                <a:cs typeface="Times New Roman" panose="02020603050405020304" pitchFamily="18" charset="0"/>
              </a:rPr>
              <a:t>This node acts as both root and leaf</a:t>
            </a:r>
          </a:p>
          <a:p>
            <a:pPr>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3: Insert Keys One by One</a:t>
            </a:r>
          </a:p>
          <a:p>
            <a:r>
              <a:rPr lang="en-US" sz="1200" dirty="0">
                <a:latin typeface="Times New Roman" panose="02020603050405020304" pitchFamily="18" charset="0"/>
                <a:cs typeface="Times New Roman" panose="02020603050405020304" pitchFamily="18" charset="0"/>
              </a:rPr>
              <a:t>Insert keys in sorted order</a:t>
            </a:r>
          </a:p>
          <a:p>
            <a:r>
              <a:rPr lang="en-US" sz="1200" dirty="0">
                <a:latin typeface="Times New Roman" panose="02020603050405020304" pitchFamily="18" charset="0"/>
                <a:cs typeface="Times New Roman" panose="02020603050405020304" pitchFamily="18" charset="0"/>
              </a:rPr>
              <a:t>Always insert keys into leaf nodes only</a:t>
            </a:r>
          </a:p>
          <a:p>
            <a:pPr>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4: Check for Overflow in Leaf Node</a:t>
            </a:r>
          </a:p>
          <a:p>
            <a:r>
              <a:rPr lang="en-US" sz="1200" dirty="0">
                <a:latin typeface="Times New Roman" panose="02020603050405020304" pitchFamily="18" charset="0"/>
                <a:cs typeface="Times New Roman" panose="02020603050405020304" pitchFamily="18" charset="0"/>
              </a:rPr>
              <a:t>If the number of keys ≤ (m − 1) → No problem</a:t>
            </a:r>
          </a:p>
          <a:p>
            <a:r>
              <a:rPr lang="en-US" sz="1200" dirty="0">
                <a:latin typeface="Times New Roman" panose="02020603050405020304" pitchFamily="18" charset="0"/>
                <a:cs typeface="Times New Roman" panose="02020603050405020304" pitchFamily="18" charset="0"/>
              </a:rPr>
              <a:t>If keys &gt; (m − 1) → Overflow occurs</a:t>
            </a:r>
          </a:p>
          <a:p>
            <a:pPr>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3D8FFF-415E-9DE5-C5FE-201345D0E743}"/>
              </a:ext>
            </a:extLst>
          </p:cNvPr>
          <p:cNvSpPr txBox="1"/>
          <p:nvPr/>
        </p:nvSpPr>
        <p:spPr>
          <a:xfrm>
            <a:off x="3013257" y="801387"/>
            <a:ext cx="3656794" cy="4339650"/>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Step 5: Split the Leaf Node (If Overflow Occurs)</a:t>
            </a:r>
          </a:p>
          <a:p>
            <a:r>
              <a:rPr lang="en-US" sz="1200" dirty="0">
                <a:latin typeface="Times New Roman" panose="02020603050405020304" pitchFamily="18" charset="0"/>
                <a:cs typeface="Times New Roman" panose="02020603050405020304" pitchFamily="18" charset="0"/>
              </a:rPr>
              <a:t>Divide the keys into two leaf nodes</a:t>
            </a:r>
          </a:p>
          <a:p>
            <a:r>
              <a:rPr lang="en-US" sz="1200" dirty="0">
                <a:latin typeface="Times New Roman" panose="02020603050405020304" pitchFamily="18" charset="0"/>
                <a:cs typeface="Times New Roman" panose="02020603050405020304" pitchFamily="18" charset="0"/>
              </a:rPr>
              <a:t>Left node gets first ⌈(m)/2⌉ keys</a:t>
            </a:r>
          </a:p>
          <a:p>
            <a:r>
              <a:rPr lang="en-US" sz="1200" dirty="0">
                <a:latin typeface="Times New Roman" panose="02020603050405020304" pitchFamily="18" charset="0"/>
                <a:cs typeface="Times New Roman" panose="02020603050405020304" pitchFamily="18" charset="0"/>
              </a:rPr>
              <a:t>Right node gets remaining keys</a:t>
            </a:r>
          </a:p>
          <a:p>
            <a:r>
              <a:rPr lang="en-US" sz="1200" dirty="0">
                <a:latin typeface="Times New Roman" panose="02020603050405020304" pitchFamily="18" charset="0"/>
                <a:cs typeface="Times New Roman" panose="02020603050405020304" pitchFamily="18" charset="0"/>
              </a:rPr>
              <a:t>Copy the first key of the right node to the parent</a:t>
            </a:r>
          </a:p>
          <a:p>
            <a:r>
              <a:rPr lang="en-US" sz="1200" dirty="0">
                <a:latin typeface="Times New Roman" panose="02020603050405020304" pitchFamily="18" charset="0"/>
                <a:cs typeface="Times New Roman" panose="02020603050405020304" pitchFamily="18" charset="0"/>
              </a:rPr>
              <a:t>Maintain leaf node links</a:t>
            </a:r>
          </a:p>
          <a:p>
            <a:pPr>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6: Insert Key into Parent Node</a:t>
            </a:r>
          </a:p>
          <a:p>
            <a:r>
              <a:rPr lang="en-US" sz="1200" dirty="0">
                <a:latin typeface="Times New Roman" panose="02020603050405020304" pitchFamily="18" charset="0"/>
                <a:cs typeface="Times New Roman" panose="02020603050405020304" pitchFamily="18" charset="0"/>
              </a:rPr>
              <a:t>Insert the copied key into the parent node</a:t>
            </a:r>
          </a:p>
          <a:p>
            <a:r>
              <a:rPr lang="en-US" sz="1200" dirty="0">
                <a:latin typeface="Times New Roman" panose="02020603050405020304" pitchFamily="18" charset="0"/>
                <a:cs typeface="Times New Roman" panose="02020603050405020304" pitchFamily="18" charset="0"/>
              </a:rPr>
              <a:t>Parent node acts as an index</a:t>
            </a:r>
          </a:p>
          <a:p>
            <a:pPr>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7: Handle Parent Overflow</a:t>
            </a:r>
          </a:p>
          <a:p>
            <a:r>
              <a:rPr lang="en-US" sz="1200" dirty="0">
                <a:latin typeface="Times New Roman" panose="02020603050405020304" pitchFamily="18" charset="0"/>
                <a:cs typeface="Times New Roman" panose="02020603050405020304" pitchFamily="18" charset="0"/>
              </a:rPr>
              <a:t>If parent node overflows:</a:t>
            </a:r>
          </a:p>
          <a:p>
            <a:pPr lvl="1"/>
            <a:r>
              <a:rPr lang="en-US" sz="1200" dirty="0">
                <a:latin typeface="Times New Roman" panose="02020603050405020304" pitchFamily="18" charset="0"/>
                <a:cs typeface="Times New Roman" panose="02020603050405020304" pitchFamily="18" charset="0"/>
              </a:rPr>
              <a:t>Split the internal node</a:t>
            </a:r>
          </a:p>
          <a:p>
            <a:pPr lvl="1"/>
            <a:r>
              <a:rPr lang="en-US" sz="1200" dirty="0">
                <a:latin typeface="Times New Roman" panose="02020603050405020304" pitchFamily="18" charset="0"/>
                <a:cs typeface="Times New Roman" panose="02020603050405020304" pitchFamily="18" charset="0"/>
              </a:rPr>
              <a:t>Push the middle key upward</a:t>
            </a:r>
          </a:p>
          <a:p>
            <a:r>
              <a:rPr lang="en-US" sz="1200" dirty="0">
                <a:latin typeface="Times New Roman" panose="02020603050405020304" pitchFamily="18" charset="0"/>
                <a:cs typeface="Times New Roman" panose="02020603050405020304" pitchFamily="18" charset="0"/>
              </a:rPr>
              <a:t>Repeat this process recursively up to the root</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Step 8: Create New Root (If Required)</a:t>
            </a:r>
          </a:p>
          <a:p>
            <a:r>
              <a:rPr lang="en-US" sz="1200" dirty="0">
                <a:latin typeface="Times New Roman" panose="02020603050405020304" pitchFamily="18" charset="0"/>
                <a:cs typeface="Times New Roman" panose="02020603050405020304" pitchFamily="18" charset="0"/>
              </a:rPr>
              <a:t>If the root node overflows:</a:t>
            </a:r>
          </a:p>
          <a:p>
            <a:pPr lvl="1"/>
            <a:r>
              <a:rPr lang="en-US" sz="1200" dirty="0">
                <a:latin typeface="Times New Roman" panose="02020603050405020304" pitchFamily="18" charset="0"/>
                <a:cs typeface="Times New Roman" panose="02020603050405020304" pitchFamily="18" charset="0"/>
              </a:rPr>
              <a:t>Create a new root</a:t>
            </a:r>
          </a:p>
          <a:p>
            <a:pPr lvl="1"/>
            <a:r>
              <a:rPr lang="en-US" sz="1200" dirty="0">
                <a:latin typeface="Times New Roman" panose="02020603050405020304" pitchFamily="18" charset="0"/>
                <a:cs typeface="Times New Roman" panose="02020603050405020304" pitchFamily="18" charset="0"/>
              </a:rPr>
              <a:t>Increase tree height by 1</a:t>
            </a:r>
          </a:p>
          <a:p>
            <a:pPr lvl="1"/>
            <a:endParaRPr lang="en-US" sz="1200" dirty="0">
              <a:latin typeface="Times New Roman" panose="02020603050405020304" pitchFamily="18" charset="0"/>
              <a:cs typeface="Times New Roman" panose="02020603050405020304" pitchFamily="18" charset="0"/>
            </a:endParaRPr>
          </a:p>
          <a:p>
            <a:pPr>
              <a:buNone/>
            </a:pPr>
            <a:endParaRPr lang="en-US"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9BB1EDBA-C527-008F-1DC2-6EBCB284A087}"/>
              </a:ext>
            </a:extLst>
          </p:cNvPr>
          <p:cNvSpPr txBox="1"/>
          <p:nvPr/>
        </p:nvSpPr>
        <p:spPr>
          <a:xfrm>
            <a:off x="6168647" y="3869739"/>
            <a:ext cx="2975353" cy="1015663"/>
          </a:xfrm>
          <a:prstGeom prst="rect">
            <a:avLst/>
          </a:prstGeom>
          <a:noFill/>
        </p:spPr>
        <p:txBody>
          <a:bodyPr wrap="square">
            <a:spAutoFit/>
          </a:bodyPr>
          <a:lstStyle/>
          <a:p>
            <a:pPr>
              <a:buNone/>
            </a:pPr>
            <a:r>
              <a:rPr lang="en-US" sz="1200" b="1" dirty="0">
                <a:latin typeface="Times New Roman" panose="02020603050405020304" pitchFamily="18" charset="0"/>
                <a:cs typeface="Times New Roman" panose="02020603050405020304" pitchFamily="18" charset="0"/>
              </a:rPr>
              <a:t>Step 9: Maintain Leaf-Level Linking</a:t>
            </a:r>
          </a:p>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After every insertion or split:</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Ensure leaf nodes remain linked</a:t>
            </a:r>
          </a:p>
          <a:p>
            <a:pPr marL="742950" lvl="1"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Supports sequential and range queries</a:t>
            </a:r>
          </a:p>
        </p:txBody>
      </p:sp>
    </p:spTree>
    <p:extLst>
      <p:ext uri="{BB962C8B-B14F-4D97-AF65-F5344CB8AC3E}">
        <p14:creationId xmlns:p14="http://schemas.microsoft.com/office/powerpoint/2010/main" val="11360170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A0006-3B3A-4826-FDC0-7F46234C6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0E7B4-8933-7A08-63EB-D712803ED06A}"/>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Deletion in B+ Tree</a:t>
            </a:r>
          </a:p>
        </p:txBody>
      </p:sp>
      <p:pic>
        <p:nvPicPr>
          <p:cNvPr id="15" name="Picture 14">
            <a:extLst>
              <a:ext uri="{FF2B5EF4-FFF2-40B4-BE49-F238E27FC236}">
                <a16:creationId xmlns:a16="http://schemas.microsoft.com/office/drawing/2014/main" id="{4C2846CA-5F42-95B7-D7BB-CC950649FE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1DD9592-29BB-08F6-2677-3CC93ED747F7}"/>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7F03C6DD-72BE-86A3-68E4-88E6E8CDCD6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7DA57469-35F7-790F-17D6-FD7FF03352CC}"/>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927FB273-4CCE-142D-E4FF-140CF6D89870}"/>
              </a:ext>
            </a:extLst>
          </p:cNvPr>
          <p:cNvPicPr>
            <a:picLocks noChangeAspect="1"/>
          </p:cNvPicPr>
          <p:nvPr/>
        </p:nvPicPr>
        <p:blipFill>
          <a:blip r:embed="rId4"/>
          <a:stretch>
            <a:fillRect/>
          </a:stretch>
        </p:blipFill>
        <p:spPr>
          <a:xfrm>
            <a:off x="38734" y="696367"/>
            <a:ext cx="2936619" cy="4240795"/>
          </a:xfrm>
          <a:prstGeom prst="rect">
            <a:avLst/>
          </a:prstGeom>
        </p:spPr>
      </p:pic>
      <p:pic>
        <p:nvPicPr>
          <p:cNvPr id="8" name="Picture 7">
            <a:extLst>
              <a:ext uri="{FF2B5EF4-FFF2-40B4-BE49-F238E27FC236}">
                <a16:creationId xmlns:a16="http://schemas.microsoft.com/office/drawing/2014/main" id="{6D483322-CA8D-C06A-749C-35016FF58C1A}"/>
              </a:ext>
            </a:extLst>
          </p:cNvPr>
          <p:cNvPicPr>
            <a:picLocks noChangeAspect="1"/>
          </p:cNvPicPr>
          <p:nvPr/>
        </p:nvPicPr>
        <p:blipFill>
          <a:blip r:embed="rId5"/>
          <a:srcRect l="39890"/>
          <a:stretch>
            <a:fillRect/>
          </a:stretch>
        </p:blipFill>
        <p:spPr>
          <a:xfrm>
            <a:off x="2975352" y="696368"/>
            <a:ext cx="3093799" cy="4186088"/>
          </a:xfrm>
          <a:prstGeom prst="rect">
            <a:avLst/>
          </a:prstGeom>
        </p:spPr>
      </p:pic>
      <p:pic>
        <p:nvPicPr>
          <p:cNvPr id="12" name="Picture 11">
            <a:extLst>
              <a:ext uri="{FF2B5EF4-FFF2-40B4-BE49-F238E27FC236}">
                <a16:creationId xmlns:a16="http://schemas.microsoft.com/office/drawing/2014/main" id="{E16AE37C-25E0-2A05-7D06-F57263B2BE61}"/>
              </a:ext>
            </a:extLst>
          </p:cNvPr>
          <p:cNvPicPr>
            <a:picLocks noChangeAspect="1"/>
          </p:cNvPicPr>
          <p:nvPr/>
        </p:nvPicPr>
        <p:blipFill>
          <a:blip r:embed="rId6"/>
          <a:stretch>
            <a:fillRect/>
          </a:stretch>
        </p:blipFill>
        <p:spPr>
          <a:xfrm>
            <a:off x="6095233" y="696367"/>
            <a:ext cx="3010033" cy="4100642"/>
          </a:xfrm>
          <a:prstGeom prst="rect">
            <a:avLst/>
          </a:prstGeom>
        </p:spPr>
      </p:pic>
    </p:spTree>
    <p:extLst>
      <p:ext uri="{BB962C8B-B14F-4D97-AF65-F5344CB8AC3E}">
        <p14:creationId xmlns:p14="http://schemas.microsoft.com/office/powerpoint/2010/main" val="19272705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EBD84-1299-24EC-3A6D-FEAF38EEE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9914A-3D4C-6E26-FF28-E63D1EF02427}"/>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Deletion in B+ Tree</a:t>
            </a:r>
          </a:p>
        </p:txBody>
      </p:sp>
      <p:pic>
        <p:nvPicPr>
          <p:cNvPr id="15" name="Picture 14">
            <a:extLst>
              <a:ext uri="{FF2B5EF4-FFF2-40B4-BE49-F238E27FC236}">
                <a16:creationId xmlns:a16="http://schemas.microsoft.com/office/drawing/2014/main" id="{F3359E04-DE31-3840-98D9-F620B3B938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8FDDE72-022D-3C00-6D85-D5CEFE6C42DA}"/>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A2037775-11F2-C218-4575-EFEB51B21B5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B5DD560-C338-D7FC-2960-ACB3107B44CE}"/>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40F7715E-C5A4-5795-CB72-16873D0984DA}"/>
              </a:ext>
            </a:extLst>
          </p:cNvPr>
          <p:cNvPicPr>
            <a:picLocks noChangeAspect="1"/>
          </p:cNvPicPr>
          <p:nvPr/>
        </p:nvPicPr>
        <p:blipFill>
          <a:blip r:embed="rId4"/>
          <a:stretch>
            <a:fillRect/>
          </a:stretch>
        </p:blipFill>
        <p:spPr>
          <a:xfrm>
            <a:off x="715766" y="807031"/>
            <a:ext cx="2786080" cy="4066057"/>
          </a:xfrm>
          <a:prstGeom prst="rect">
            <a:avLst/>
          </a:prstGeom>
        </p:spPr>
      </p:pic>
      <p:pic>
        <p:nvPicPr>
          <p:cNvPr id="10" name="Picture 9">
            <a:extLst>
              <a:ext uri="{FF2B5EF4-FFF2-40B4-BE49-F238E27FC236}">
                <a16:creationId xmlns:a16="http://schemas.microsoft.com/office/drawing/2014/main" id="{621E1D87-C0E5-8299-5D64-FECB4DAB44AB}"/>
              </a:ext>
            </a:extLst>
          </p:cNvPr>
          <p:cNvPicPr>
            <a:picLocks noChangeAspect="1"/>
          </p:cNvPicPr>
          <p:nvPr/>
        </p:nvPicPr>
        <p:blipFill>
          <a:blip r:embed="rId5"/>
          <a:stretch>
            <a:fillRect/>
          </a:stretch>
        </p:blipFill>
        <p:spPr>
          <a:xfrm>
            <a:off x="3520443" y="819345"/>
            <a:ext cx="3514751" cy="1752405"/>
          </a:xfrm>
          <a:prstGeom prst="rect">
            <a:avLst/>
          </a:prstGeom>
        </p:spPr>
      </p:pic>
    </p:spTree>
    <p:extLst>
      <p:ext uri="{BB962C8B-B14F-4D97-AF65-F5344CB8AC3E}">
        <p14:creationId xmlns:p14="http://schemas.microsoft.com/office/powerpoint/2010/main" val="28250054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3F21-7275-5804-5578-9DFB4578F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E6DDA-3F90-DF9F-36D7-FA5E964A1FCB}"/>
              </a:ext>
            </a:extLst>
          </p:cNvPr>
          <p:cNvSpPr>
            <a:spLocks noGrp="1"/>
          </p:cNvSpPr>
          <p:nvPr>
            <p:ph type="title"/>
          </p:nvPr>
        </p:nvSpPr>
        <p:spPr>
          <a:xfrm>
            <a:off x="628650" y="0"/>
            <a:ext cx="7886700" cy="728004"/>
          </a:xfrm>
        </p:spPr>
        <p:txBody>
          <a:bodyPr>
            <a:noAutofit/>
          </a:bodyPr>
          <a:lstStyle/>
          <a:p>
            <a:pPr lvl="0" algn="ctr"/>
            <a:r>
              <a:rPr lang="en-IN" sz="2700" b="1" dirty="0">
                <a:latin typeface="Times New Roman" panose="02020603050405020304" pitchFamily="18" charset="0"/>
                <a:cs typeface="Times New Roman" pitchFamily="18" charset="0"/>
              </a:rPr>
              <a:t>Difference in B and B+ Tree</a:t>
            </a:r>
          </a:p>
        </p:txBody>
      </p:sp>
      <p:pic>
        <p:nvPicPr>
          <p:cNvPr id="15" name="Picture 14">
            <a:extLst>
              <a:ext uri="{FF2B5EF4-FFF2-40B4-BE49-F238E27FC236}">
                <a16:creationId xmlns:a16="http://schemas.microsoft.com/office/drawing/2014/main" id="{5FD15398-6B44-7396-9067-48EA4112B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67337104-858E-6D40-4135-2044D5E1CC4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840AAE5-C467-56B5-7B6D-6A422A3FE48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703BC5C-2ADE-D005-F4A5-59138C103DD7}"/>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11" name="Picture 10">
            <a:extLst>
              <a:ext uri="{FF2B5EF4-FFF2-40B4-BE49-F238E27FC236}">
                <a16:creationId xmlns:a16="http://schemas.microsoft.com/office/drawing/2014/main" id="{A9EDEA23-B9FC-BEC0-83E9-5F290886D2A9}"/>
              </a:ext>
            </a:extLst>
          </p:cNvPr>
          <p:cNvPicPr>
            <a:picLocks noChangeAspect="1"/>
          </p:cNvPicPr>
          <p:nvPr/>
        </p:nvPicPr>
        <p:blipFill>
          <a:blip r:embed="rId4"/>
          <a:stretch>
            <a:fillRect/>
          </a:stretch>
        </p:blipFill>
        <p:spPr>
          <a:xfrm>
            <a:off x="1219808" y="819345"/>
            <a:ext cx="6972324" cy="4097242"/>
          </a:xfrm>
          <a:prstGeom prst="rect">
            <a:avLst/>
          </a:prstGeom>
        </p:spPr>
      </p:pic>
    </p:spTree>
    <p:extLst>
      <p:ext uri="{BB962C8B-B14F-4D97-AF65-F5344CB8AC3E}">
        <p14:creationId xmlns:p14="http://schemas.microsoft.com/office/powerpoint/2010/main" val="20736672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0001-E42D-71AA-C37B-8C65E599BF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8ABDED-C968-AD6B-EA0B-B51C6EA556C6}"/>
              </a:ext>
            </a:extLst>
          </p:cNvPr>
          <p:cNvSpPr>
            <a:spLocks noGrp="1"/>
          </p:cNvSpPr>
          <p:nvPr>
            <p:ph type="title"/>
          </p:nvPr>
        </p:nvSpPr>
        <p:spPr>
          <a:xfrm>
            <a:off x="628650" y="0"/>
            <a:ext cx="7886700" cy="728004"/>
          </a:xfrm>
        </p:spPr>
        <p:txBody>
          <a:bodyPr>
            <a:noAutofit/>
          </a:bodyPr>
          <a:lstStyle/>
          <a:p>
            <a:pPr algn="ctr"/>
            <a:r>
              <a:rPr lang="en-IN" sz="2700" b="1" dirty="0">
                <a:latin typeface="Times New Roman" panose="02020603050405020304" pitchFamily="18" charset="0"/>
                <a:cs typeface="Times New Roman" pitchFamily="18" charset="0"/>
              </a:rPr>
              <a:t> Splay Tree</a:t>
            </a:r>
          </a:p>
        </p:txBody>
      </p:sp>
      <p:pic>
        <p:nvPicPr>
          <p:cNvPr id="15" name="Picture 14">
            <a:extLst>
              <a:ext uri="{FF2B5EF4-FFF2-40B4-BE49-F238E27FC236}">
                <a16:creationId xmlns:a16="http://schemas.microsoft.com/office/drawing/2014/main" id="{EC3E142F-32D6-1C12-D0C5-00D68C6FC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A88E80F9-29F8-0E77-AE09-5CA83E09FAA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CE18BDB-7346-81AF-354F-8AA39959F1E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CB7DD10E-89F1-E0B2-1A5E-EE0CD30A0E20}"/>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58402DBA-42CB-DD7C-27AB-008EFC2ED832}"/>
              </a:ext>
            </a:extLst>
          </p:cNvPr>
          <p:cNvSpPr txBox="1"/>
          <p:nvPr/>
        </p:nvSpPr>
        <p:spPr>
          <a:xfrm>
            <a:off x="578015" y="819346"/>
            <a:ext cx="8338569" cy="3970318"/>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A Splay Tree is a self-adjusting Binary Search Tree (BST) in which the most recently accessed node is moved to the root using rotations. This process is called splaying.</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Key Idea</a:t>
            </a:r>
          </a:p>
          <a:p>
            <a:r>
              <a:rPr lang="en-US" sz="1200" dirty="0">
                <a:latin typeface="Times New Roman" panose="02020603050405020304" pitchFamily="18" charset="0"/>
                <a:cs typeface="Times New Roman" panose="02020603050405020304" pitchFamily="18" charset="0"/>
              </a:rPr>
              <a:t>Frequently used elements stay near the root → faster future access.</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Features of Splay Tree</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No extra balance information (unlike AVL/Red-Black)</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Every search, insert, or delete operation performs splaying</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Recently accessed elements become faster to access</a:t>
            </a:r>
          </a:p>
          <a:p>
            <a:pPr marL="285750" indent="-2857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Average time complexity: O(log n)</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A Splay Tree is a special type of Binary Search Tree (BST) that moves the recently accessed element to the root.</a:t>
            </a:r>
          </a:p>
          <a:p>
            <a:r>
              <a:rPr lang="en-US" sz="1200" dirty="0">
                <a:latin typeface="Times New Roman" panose="02020603050405020304" pitchFamily="18" charset="0"/>
                <a:cs typeface="Times New Roman" panose="02020603050405020304" pitchFamily="18" charset="0"/>
              </a:rPr>
              <a:t>Every time you:</a:t>
            </a:r>
          </a:p>
          <a:p>
            <a:r>
              <a:rPr lang="en-US" sz="1200" dirty="0">
                <a:latin typeface="Times New Roman" panose="02020603050405020304" pitchFamily="18" charset="0"/>
                <a:cs typeface="Times New Roman" panose="02020603050405020304" pitchFamily="18" charset="0"/>
              </a:rPr>
              <a:t>Search</a:t>
            </a:r>
          </a:p>
          <a:p>
            <a:r>
              <a:rPr lang="en-US" sz="1200" dirty="0">
                <a:latin typeface="Times New Roman" panose="02020603050405020304" pitchFamily="18" charset="0"/>
                <a:cs typeface="Times New Roman" panose="02020603050405020304" pitchFamily="18" charset="0"/>
              </a:rPr>
              <a:t>Insert</a:t>
            </a:r>
          </a:p>
          <a:p>
            <a:r>
              <a:rPr lang="en-US" sz="1200" dirty="0">
                <a:latin typeface="Times New Roman" panose="02020603050405020304" pitchFamily="18" charset="0"/>
                <a:cs typeface="Times New Roman" panose="02020603050405020304" pitchFamily="18" charset="0"/>
              </a:rPr>
              <a:t>Delete</a:t>
            </a:r>
          </a:p>
          <a:p>
            <a:r>
              <a:rPr lang="en-US" sz="1200" dirty="0">
                <a:latin typeface="Times New Roman" panose="02020603050405020304" pitchFamily="18" charset="0"/>
                <a:cs typeface="Times New Roman" panose="02020603050405020304" pitchFamily="18" charset="0"/>
              </a:rPr>
              <a:t>The accessed node is brought to the root using rotations. This process is called Splaying.</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3061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1AE10-E9A2-3969-CBB1-44D1E483F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C953E-4B30-CB77-05C9-B9C27442500F}"/>
              </a:ext>
            </a:extLst>
          </p:cNvPr>
          <p:cNvSpPr>
            <a:spLocks noGrp="1"/>
          </p:cNvSpPr>
          <p:nvPr>
            <p:ph type="title"/>
          </p:nvPr>
        </p:nvSpPr>
        <p:spPr>
          <a:xfrm>
            <a:off x="628650" y="0"/>
            <a:ext cx="7886700" cy="728004"/>
          </a:xfrm>
        </p:spPr>
        <p:txBody>
          <a:bodyPr>
            <a:noAutofit/>
          </a:bodyPr>
          <a:lstStyle/>
          <a:p>
            <a:pPr algn="ctr"/>
            <a:r>
              <a:rPr lang="en-IN" sz="2700" b="1" dirty="0">
                <a:latin typeface="Times New Roman" panose="02020603050405020304" pitchFamily="18" charset="0"/>
                <a:cs typeface="Times New Roman" pitchFamily="18" charset="0"/>
              </a:rPr>
              <a:t> Splay Tree</a:t>
            </a:r>
          </a:p>
        </p:txBody>
      </p:sp>
      <p:pic>
        <p:nvPicPr>
          <p:cNvPr id="15" name="Picture 14">
            <a:extLst>
              <a:ext uri="{FF2B5EF4-FFF2-40B4-BE49-F238E27FC236}">
                <a16:creationId xmlns:a16="http://schemas.microsoft.com/office/drawing/2014/main" id="{125DED58-B834-9744-B342-0D09AFC089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5F824DDF-73F9-29BD-B3C4-D9AA7047CDA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2D5C313-5601-0881-07C8-4BCA85167CD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F68C1AAA-9484-CC1F-4DDB-29BD98DF62AC}"/>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0057FBDA-5BDA-0E2E-9AD1-0841AE2890CC}"/>
              </a:ext>
            </a:extLst>
          </p:cNvPr>
          <p:cNvSpPr txBox="1"/>
          <p:nvPr/>
        </p:nvSpPr>
        <p:spPr>
          <a:xfrm>
            <a:off x="578015" y="819346"/>
            <a:ext cx="8338569" cy="3785652"/>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Why Splay Tree?</a:t>
            </a:r>
          </a:p>
          <a:p>
            <a:r>
              <a:rPr lang="en-US" sz="1200" dirty="0">
                <a:latin typeface="Times New Roman" panose="02020603050405020304" pitchFamily="18" charset="0"/>
                <a:cs typeface="Times New Roman" panose="02020603050405020304" pitchFamily="18" charset="0"/>
              </a:rPr>
              <a:t>In real life, some data is used more frequently.</a:t>
            </a:r>
          </a:p>
          <a:p>
            <a:r>
              <a:rPr lang="en-US" sz="1200" dirty="0">
                <a:latin typeface="Times New Roman" panose="02020603050405020304" pitchFamily="18" charset="0"/>
                <a:cs typeface="Times New Roman" panose="02020603050405020304" pitchFamily="18" charset="0"/>
              </a:rPr>
              <a:t>Example:</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Recently opened files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Recently searched contacts</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Recently used cache items</a:t>
            </a:r>
          </a:p>
          <a:p>
            <a:r>
              <a:rPr lang="en-US" sz="1200" dirty="0">
                <a:latin typeface="Times New Roman" panose="02020603050405020304" pitchFamily="18" charset="0"/>
                <a:cs typeface="Times New Roman" panose="02020603050405020304" pitchFamily="18" charset="0"/>
              </a:rPr>
              <a:t>If frequently used items stay near the root → operations become faster.</a:t>
            </a:r>
          </a:p>
          <a:p>
            <a:r>
              <a:rPr lang="en-US" sz="1200" b="1" dirty="0">
                <a:latin typeface="Times New Roman" panose="02020603050405020304" pitchFamily="18" charset="0"/>
                <a:cs typeface="Times New Roman" panose="02020603050405020304" pitchFamily="18" charset="0"/>
              </a:rPr>
              <a:t>Key Idea:</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Recently used element becomes fastest to access.</a:t>
            </a:r>
          </a:p>
          <a:p>
            <a:endParaRPr lang="en-IN"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Properties of Splay Tree</a:t>
            </a:r>
          </a:p>
          <a:p>
            <a:r>
              <a:rPr lang="en-US" sz="1200" dirty="0">
                <a:latin typeface="Times New Roman" panose="02020603050405020304" pitchFamily="18" charset="0"/>
                <a:cs typeface="Times New Roman" panose="02020603050405020304" pitchFamily="18" charset="0"/>
              </a:rPr>
              <a:t>It is a Binary Search Tree</a:t>
            </a:r>
          </a:p>
          <a:p>
            <a:r>
              <a:rPr lang="en-US" sz="1200" dirty="0">
                <a:latin typeface="Times New Roman" panose="02020603050405020304" pitchFamily="18" charset="0"/>
                <a:cs typeface="Times New Roman" panose="02020603050405020304" pitchFamily="18" charset="0"/>
              </a:rPr>
              <a:t>No balance factor (simpler than AVL)</a:t>
            </a:r>
          </a:p>
          <a:p>
            <a:r>
              <a:rPr lang="en-US" sz="1200" dirty="0">
                <a:latin typeface="Times New Roman" panose="02020603050405020304" pitchFamily="18" charset="0"/>
                <a:cs typeface="Times New Roman" panose="02020603050405020304" pitchFamily="18" charset="0"/>
              </a:rPr>
              <a:t>After every operation → node is moved to root</a:t>
            </a:r>
          </a:p>
          <a:p>
            <a:r>
              <a:rPr lang="en-US" sz="1200" dirty="0">
                <a:latin typeface="Times New Roman" panose="02020603050405020304" pitchFamily="18" charset="0"/>
                <a:cs typeface="Times New Roman" panose="02020603050405020304" pitchFamily="18" charset="0"/>
              </a:rPr>
              <a:t>Average time complexity: O(log n)</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What is Splaying?</a:t>
            </a:r>
          </a:p>
          <a:p>
            <a:r>
              <a:rPr lang="en-US" sz="1200" dirty="0">
                <a:latin typeface="Times New Roman" panose="02020603050405020304" pitchFamily="18" charset="0"/>
                <a:cs typeface="Times New Roman" panose="02020603050405020304" pitchFamily="18" charset="0"/>
              </a:rPr>
              <a:t>Splaying = Moving a node to the root using rotations</a:t>
            </a:r>
          </a:p>
          <a:p>
            <a:r>
              <a:rPr lang="en-US" sz="1200" dirty="0">
                <a:latin typeface="Times New Roman" panose="02020603050405020304" pitchFamily="18" charset="0"/>
                <a:cs typeface="Times New Roman" panose="02020603050405020304" pitchFamily="18" charset="0"/>
              </a:rPr>
              <a:t>There are 3 cases.</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3840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C9FB-4975-6520-016F-007B2AA8F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398BC-169D-BB3C-A3A1-97CC75481C72}"/>
              </a:ext>
            </a:extLst>
          </p:cNvPr>
          <p:cNvSpPr>
            <a:spLocks noGrp="1"/>
          </p:cNvSpPr>
          <p:nvPr>
            <p:ph type="title"/>
          </p:nvPr>
        </p:nvSpPr>
        <p:spPr>
          <a:xfrm>
            <a:off x="628650" y="0"/>
            <a:ext cx="7886700" cy="728004"/>
          </a:xfrm>
        </p:spPr>
        <p:txBody>
          <a:bodyPr>
            <a:noAutofit/>
          </a:bodyPr>
          <a:lstStyle/>
          <a:p>
            <a:pPr algn="ctr"/>
            <a:r>
              <a:rPr lang="en-IN" sz="2700" b="1" dirty="0">
                <a:latin typeface="Times New Roman" panose="02020603050405020304" pitchFamily="18" charset="0"/>
                <a:cs typeface="Times New Roman" pitchFamily="18" charset="0"/>
              </a:rPr>
              <a:t> Splay Tree</a:t>
            </a:r>
          </a:p>
        </p:txBody>
      </p:sp>
      <p:pic>
        <p:nvPicPr>
          <p:cNvPr id="15" name="Picture 14">
            <a:extLst>
              <a:ext uri="{FF2B5EF4-FFF2-40B4-BE49-F238E27FC236}">
                <a16:creationId xmlns:a16="http://schemas.microsoft.com/office/drawing/2014/main" id="{B9B9C887-B34B-D8D0-F1CD-D726492BA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1F885FD8-7F88-4D57-FB28-BFA74F5D98EF}"/>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F16DC93-BE8A-57B0-D966-F2CE2575988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7683A3B3-0790-0264-CA5B-18519A9DB77D}"/>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4F8A719C-9A75-DC53-6C4E-BA1E4D8880B5}"/>
              </a:ext>
            </a:extLst>
          </p:cNvPr>
          <p:cNvPicPr>
            <a:picLocks noChangeAspect="1"/>
          </p:cNvPicPr>
          <p:nvPr/>
        </p:nvPicPr>
        <p:blipFill>
          <a:blip r:embed="rId4"/>
          <a:stretch>
            <a:fillRect/>
          </a:stretch>
        </p:blipFill>
        <p:spPr>
          <a:xfrm>
            <a:off x="67323" y="773222"/>
            <a:ext cx="3069853" cy="4099866"/>
          </a:xfrm>
          <a:prstGeom prst="rect">
            <a:avLst/>
          </a:prstGeom>
        </p:spPr>
      </p:pic>
      <p:pic>
        <p:nvPicPr>
          <p:cNvPr id="8" name="Picture 7">
            <a:extLst>
              <a:ext uri="{FF2B5EF4-FFF2-40B4-BE49-F238E27FC236}">
                <a16:creationId xmlns:a16="http://schemas.microsoft.com/office/drawing/2014/main" id="{A67005B8-5555-27B1-DBCB-ED68786EFA82}"/>
              </a:ext>
            </a:extLst>
          </p:cNvPr>
          <p:cNvPicPr>
            <a:picLocks noChangeAspect="1"/>
          </p:cNvPicPr>
          <p:nvPr/>
        </p:nvPicPr>
        <p:blipFill>
          <a:blip r:embed="rId5"/>
          <a:srcRect l="26929"/>
          <a:stretch>
            <a:fillRect/>
          </a:stretch>
        </p:blipFill>
        <p:spPr>
          <a:xfrm>
            <a:off x="3137175" y="773222"/>
            <a:ext cx="3069853" cy="4023788"/>
          </a:xfrm>
          <a:prstGeom prst="rect">
            <a:avLst/>
          </a:prstGeom>
        </p:spPr>
      </p:pic>
      <p:pic>
        <p:nvPicPr>
          <p:cNvPr id="11" name="Picture 10">
            <a:extLst>
              <a:ext uri="{FF2B5EF4-FFF2-40B4-BE49-F238E27FC236}">
                <a16:creationId xmlns:a16="http://schemas.microsoft.com/office/drawing/2014/main" id="{6CE847DB-4EC0-7F5B-8078-DD4F6D7C7BB2}"/>
              </a:ext>
            </a:extLst>
          </p:cNvPr>
          <p:cNvPicPr>
            <a:picLocks noChangeAspect="1"/>
          </p:cNvPicPr>
          <p:nvPr/>
        </p:nvPicPr>
        <p:blipFill>
          <a:blip r:embed="rId6"/>
          <a:stretch>
            <a:fillRect/>
          </a:stretch>
        </p:blipFill>
        <p:spPr>
          <a:xfrm>
            <a:off x="6207028" y="773222"/>
            <a:ext cx="2869649" cy="4017222"/>
          </a:xfrm>
          <a:prstGeom prst="rect">
            <a:avLst/>
          </a:prstGeom>
        </p:spPr>
      </p:pic>
    </p:spTree>
    <p:extLst>
      <p:ext uri="{BB962C8B-B14F-4D97-AF65-F5344CB8AC3E}">
        <p14:creationId xmlns:p14="http://schemas.microsoft.com/office/powerpoint/2010/main" val="34534860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A1478-DE3E-3CC6-89E7-D013A91BD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19F4F-34A3-886A-81AA-00F6EC4130B6}"/>
              </a:ext>
            </a:extLst>
          </p:cNvPr>
          <p:cNvSpPr>
            <a:spLocks noGrp="1"/>
          </p:cNvSpPr>
          <p:nvPr>
            <p:ph type="title"/>
          </p:nvPr>
        </p:nvSpPr>
        <p:spPr>
          <a:xfrm>
            <a:off x="628650" y="0"/>
            <a:ext cx="7886700" cy="728004"/>
          </a:xfrm>
        </p:spPr>
        <p:txBody>
          <a:bodyPr>
            <a:noAutofit/>
          </a:bodyPr>
          <a:lstStyle/>
          <a:p>
            <a:pPr algn="ctr"/>
            <a:r>
              <a:rPr lang="en-IN" sz="2700" b="1" dirty="0">
                <a:latin typeface="Times New Roman" panose="02020603050405020304" pitchFamily="18" charset="0"/>
                <a:cs typeface="Times New Roman" pitchFamily="18" charset="0"/>
              </a:rPr>
              <a:t> Splay Tree</a:t>
            </a:r>
          </a:p>
        </p:txBody>
      </p:sp>
      <p:pic>
        <p:nvPicPr>
          <p:cNvPr id="15" name="Picture 14">
            <a:extLst>
              <a:ext uri="{FF2B5EF4-FFF2-40B4-BE49-F238E27FC236}">
                <a16:creationId xmlns:a16="http://schemas.microsoft.com/office/drawing/2014/main" id="{6C49DF7A-A222-946E-567D-CE6E697483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FD6E45AC-4C9C-2ECF-A5C9-16AE7B9D667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0DCF4DD7-D410-D25E-A990-791E141EDD8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9A83F9FD-63A4-15B0-1B69-0127B423EE74}"/>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2F7FE17D-B9DD-F47A-F1DD-7C0C7BD90976}"/>
              </a:ext>
            </a:extLst>
          </p:cNvPr>
          <p:cNvPicPr>
            <a:picLocks noChangeAspect="1"/>
          </p:cNvPicPr>
          <p:nvPr/>
        </p:nvPicPr>
        <p:blipFill>
          <a:blip r:embed="rId4"/>
          <a:stretch>
            <a:fillRect/>
          </a:stretch>
        </p:blipFill>
        <p:spPr>
          <a:xfrm>
            <a:off x="146116" y="819345"/>
            <a:ext cx="2729743" cy="4014213"/>
          </a:xfrm>
          <a:prstGeom prst="rect">
            <a:avLst/>
          </a:prstGeom>
        </p:spPr>
      </p:pic>
      <p:pic>
        <p:nvPicPr>
          <p:cNvPr id="10" name="Picture 9">
            <a:extLst>
              <a:ext uri="{FF2B5EF4-FFF2-40B4-BE49-F238E27FC236}">
                <a16:creationId xmlns:a16="http://schemas.microsoft.com/office/drawing/2014/main" id="{6805E0A3-88C7-3035-4798-98D00DA0596C}"/>
              </a:ext>
            </a:extLst>
          </p:cNvPr>
          <p:cNvPicPr>
            <a:picLocks noChangeAspect="1"/>
          </p:cNvPicPr>
          <p:nvPr/>
        </p:nvPicPr>
        <p:blipFill>
          <a:blip r:embed="rId5"/>
          <a:stretch>
            <a:fillRect/>
          </a:stretch>
        </p:blipFill>
        <p:spPr>
          <a:xfrm>
            <a:off x="2875860" y="804082"/>
            <a:ext cx="3216982" cy="4014213"/>
          </a:xfrm>
          <a:prstGeom prst="rect">
            <a:avLst/>
          </a:prstGeom>
        </p:spPr>
      </p:pic>
      <p:pic>
        <p:nvPicPr>
          <p:cNvPr id="13" name="Picture 12">
            <a:extLst>
              <a:ext uri="{FF2B5EF4-FFF2-40B4-BE49-F238E27FC236}">
                <a16:creationId xmlns:a16="http://schemas.microsoft.com/office/drawing/2014/main" id="{662CDEE0-4466-2680-652F-BD5E00EFA6E9}"/>
              </a:ext>
            </a:extLst>
          </p:cNvPr>
          <p:cNvPicPr>
            <a:picLocks noChangeAspect="1"/>
          </p:cNvPicPr>
          <p:nvPr/>
        </p:nvPicPr>
        <p:blipFill>
          <a:blip r:embed="rId6"/>
          <a:stretch>
            <a:fillRect/>
          </a:stretch>
        </p:blipFill>
        <p:spPr>
          <a:xfrm>
            <a:off x="6092842" y="819345"/>
            <a:ext cx="2970615" cy="3998950"/>
          </a:xfrm>
          <a:prstGeom prst="rect">
            <a:avLst/>
          </a:prstGeom>
        </p:spPr>
      </p:pic>
    </p:spTree>
    <p:extLst>
      <p:ext uri="{BB962C8B-B14F-4D97-AF65-F5344CB8AC3E}">
        <p14:creationId xmlns:p14="http://schemas.microsoft.com/office/powerpoint/2010/main" val="30784552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32DA6-F966-41DC-80A3-8D51CA046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4C250-3B1A-87BE-0D8F-08E239536756}"/>
              </a:ext>
            </a:extLst>
          </p:cNvPr>
          <p:cNvSpPr>
            <a:spLocks noGrp="1"/>
          </p:cNvSpPr>
          <p:nvPr>
            <p:ph type="title"/>
          </p:nvPr>
        </p:nvSpPr>
        <p:spPr>
          <a:xfrm>
            <a:off x="1336066" y="0"/>
            <a:ext cx="6315519" cy="728004"/>
          </a:xfrm>
        </p:spPr>
        <p:txBody>
          <a:bodyPr>
            <a:noAutofit/>
          </a:bodyPr>
          <a:lstStyle/>
          <a:p>
            <a:pPr algn="ctr"/>
            <a:r>
              <a:rPr lang="en-IN" dirty="0">
                <a:latin typeface="Times New Roman" panose="02020603050405020304" pitchFamily="18" charset="0"/>
                <a:cs typeface="Times New Roman" panose="02020603050405020304" pitchFamily="18" charset="0"/>
              </a:rPr>
              <a:t> Van Emde Boas Tree </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7B3001BD-7DFF-7BAD-6CEF-928B15748F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126B20F-73E8-159A-EAA2-084A52AC36A1}"/>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C509F64-025F-9166-BCB7-E6BFC81DEA9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218461B-282B-8D1B-5F97-8FCF0BF522EC}"/>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18" name="Picture 17">
            <a:extLst>
              <a:ext uri="{FF2B5EF4-FFF2-40B4-BE49-F238E27FC236}">
                <a16:creationId xmlns:a16="http://schemas.microsoft.com/office/drawing/2014/main" id="{964500F7-DE57-A3DD-33F0-FEB89084AD4E}"/>
              </a:ext>
            </a:extLst>
          </p:cNvPr>
          <p:cNvPicPr>
            <a:picLocks noChangeAspect="1"/>
          </p:cNvPicPr>
          <p:nvPr/>
        </p:nvPicPr>
        <p:blipFill>
          <a:blip r:embed="rId4"/>
          <a:stretch>
            <a:fillRect/>
          </a:stretch>
        </p:blipFill>
        <p:spPr>
          <a:xfrm>
            <a:off x="795338" y="728004"/>
            <a:ext cx="7473439" cy="3938234"/>
          </a:xfrm>
          <a:prstGeom prst="rect">
            <a:avLst/>
          </a:prstGeom>
        </p:spPr>
      </p:pic>
    </p:spTree>
    <p:extLst>
      <p:ext uri="{BB962C8B-B14F-4D97-AF65-F5344CB8AC3E}">
        <p14:creationId xmlns:p14="http://schemas.microsoft.com/office/powerpoint/2010/main" val="31133773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E515-E1D6-22B2-5E99-5684A30C2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9D13E-020F-74D2-60AF-F376D8669563}"/>
              </a:ext>
            </a:extLst>
          </p:cNvPr>
          <p:cNvSpPr>
            <a:spLocks noGrp="1"/>
          </p:cNvSpPr>
          <p:nvPr>
            <p:ph type="title"/>
          </p:nvPr>
        </p:nvSpPr>
        <p:spPr>
          <a:xfrm>
            <a:off x="1336066" y="0"/>
            <a:ext cx="6315519" cy="728004"/>
          </a:xfrm>
        </p:spPr>
        <p:txBody>
          <a:bodyPr>
            <a:noAutofit/>
          </a:bodyPr>
          <a:lstStyle/>
          <a:p>
            <a:pPr algn="ctr"/>
            <a:r>
              <a:rPr lang="en-IN" dirty="0">
                <a:latin typeface="Times New Roman" panose="02020603050405020304" pitchFamily="18" charset="0"/>
                <a:cs typeface="Times New Roman" panose="02020603050405020304" pitchFamily="18" charset="0"/>
              </a:rPr>
              <a:t> Van Emde Boas Tree </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2BF48880-CACA-AC00-9B95-9FFCA3E2C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1989546A-7232-AC78-1C63-70C9C5A2CE15}"/>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2200B3A-D3A1-FA5C-03B0-2BC30B68824F}"/>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8FBCAB26-940F-FD61-5A61-90A4DD56811D}"/>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12" name="Picture 11">
            <a:extLst>
              <a:ext uri="{FF2B5EF4-FFF2-40B4-BE49-F238E27FC236}">
                <a16:creationId xmlns:a16="http://schemas.microsoft.com/office/drawing/2014/main" id="{4A9D1E8E-BB24-E384-392D-4DEB5B8DB7FE}"/>
              </a:ext>
            </a:extLst>
          </p:cNvPr>
          <p:cNvPicPr>
            <a:picLocks noChangeAspect="1"/>
          </p:cNvPicPr>
          <p:nvPr/>
        </p:nvPicPr>
        <p:blipFill>
          <a:blip r:embed="rId4"/>
          <a:stretch>
            <a:fillRect/>
          </a:stretch>
        </p:blipFill>
        <p:spPr>
          <a:xfrm>
            <a:off x="651461" y="643866"/>
            <a:ext cx="3289321" cy="4037037"/>
          </a:xfrm>
          <a:prstGeom prst="rect">
            <a:avLst/>
          </a:prstGeom>
        </p:spPr>
      </p:pic>
      <p:pic>
        <p:nvPicPr>
          <p:cNvPr id="16" name="Picture 15">
            <a:extLst>
              <a:ext uri="{FF2B5EF4-FFF2-40B4-BE49-F238E27FC236}">
                <a16:creationId xmlns:a16="http://schemas.microsoft.com/office/drawing/2014/main" id="{576AD496-6512-1193-69BC-4BCE25163168}"/>
              </a:ext>
            </a:extLst>
          </p:cNvPr>
          <p:cNvPicPr>
            <a:picLocks noChangeAspect="1"/>
          </p:cNvPicPr>
          <p:nvPr/>
        </p:nvPicPr>
        <p:blipFill>
          <a:blip r:embed="rId5"/>
          <a:stretch>
            <a:fillRect/>
          </a:stretch>
        </p:blipFill>
        <p:spPr>
          <a:xfrm>
            <a:off x="4688088" y="685281"/>
            <a:ext cx="3648102" cy="4229447"/>
          </a:xfrm>
          <a:prstGeom prst="rect">
            <a:avLst/>
          </a:prstGeom>
        </p:spPr>
      </p:pic>
    </p:spTree>
    <p:extLst>
      <p:ext uri="{BB962C8B-B14F-4D97-AF65-F5344CB8AC3E}">
        <p14:creationId xmlns:p14="http://schemas.microsoft.com/office/powerpoint/2010/main" val="23414442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B68C-1968-B479-6866-8743C4000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8F238-54F6-0CFC-0F9D-BDC22D4D4843}"/>
              </a:ext>
            </a:extLst>
          </p:cNvPr>
          <p:cNvSpPr>
            <a:spLocks noGrp="1"/>
          </p:cNvSpPr>
          <p:nvPr>
            <p:ph type="title"/>
          </p:nvPr>
        </p:nvSpPr>
        <p:spPr>
          <a:xfrm>
            <a:off x="1336066" y="0"/>
            <a:ext cx="6315519" cy="728004"/>
          </a:xfrm>
        </p:spPr>
        <p:txBody>
          <a:bodyPr>
            <a:noAutofit/>
          </a:bodyPr>
          <a:lstStyle/>
          <a:p>
            <a:pPr algn="ctr"/>
            <a:r>
              <a:rPr lang="en-IN" dirty="0">
                <a:latin typeface="Times New Roman" panose="02020603050405020304" pitchFamily="18" charset="0"/>
                <a:cs typeface="Times New Roman" panose="02020603050405020304" pitchFamily="18" charset="0"/>
              </a:rPr>
              <a:t> Van Emde Boas Tree </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D1777C3E-8CF0-4CB7-24F2-085EEA0341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0334D8D-BFFF-0E04-C3DB-026C8D539364}"/>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68180E74-C2D4-F54C-6A5A-CE6401F6927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A7A8D6D6-1723-0E06-D9C9-1755CCB0BC8D}"/>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7272B107-5F36-F32B-34F8-E16FDF537F81}"/>
              </a:ext>
            </a:extLst>
          </p:cNvPr>
          <p:cNvPicPr>
            <a:picLocks noChangeAspect="1"/>
          </p:cNvPicPr>
          <p:nvPr/>
        </p:nvPicPr>
        <p:blipFill>
          <a:blip r:embed="rId4"/>
          <a:srcRect l="102475" t="-1750" r="-65594" b="1750"/>
          <a:stretch>
            <a:fillRect/>
          </a:stretch>
        </p:blipFill>
        <p:spPr>
          <a:xfrm>
            <a:off x="3781101" y="-258097"/>
            <a:ext cx="3031750" cy="5143500"/>
          </a:xfrm>
          <a:prstGeom prst="rect">
            <a:avLst/>
          </a:prstGeom>
        </p:spPr>
      </p:pic>
      <p:pic>
        <p:nvPicPr>
          <p:cNvPr id="7" name="Picture 6">
            <a:extLst>
              <a:ext uri="{FF2B5EF4-FFF2-40B4-BE49-F238E27FC236}">
                <a16:creationId xmlns:a16="http://schemas.microsoft.com/office/drawing/2014/main" id="{556062A0-2DC5-8E8E-1BA7-449D9F1E95F8}"/>
              </a:ext>
            </a:extLst>
          </p:cNvPr>
          <p:cNvPicPr>
            <a:picLocks noChangeAspect="1"/>
          </p:cNvPicPr>
          <p:nvPr/>
        </p:nvPicPr>
        <p:blipFill>
          <a:blip r:embed="rId4"/>
          <a:srcRect l="38755"/>
          <a:stretch>
            <a:fillRect/>
          </a:stretch>
        </p:blipFill>
        <p:spPr>
          <a:xfrm>
            <a:off x="1736299" y="819345"/>
            <a:ext cx="4089603" cy="3895216"/>
          </a:xfrm>
          <a:prstGeom prst="rect">
            <a:avLst/>
          </a:prstGeom>
        </p:spPr>
      </p:pic>
    </p:spTree>
    <p:extLst>
      <p:ext uri="{BB962C8B-B14F-4D97-AF65-F5344CB8AC3E}">
        <p14:creationId xmlns:p14="http://schemas.microsoft.com/office/powerpoint/2010/main" val="38568007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67992-5F0F-66A7-43A2-C8AF60C42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0D131-62C3-E7CD-213D-B33717828195}"/>
              </a:ext>
            </a:extLst>
          </p:cNvPr>
          <p:cNvSpPr>
            <a:spLocks noGrp="1"/>
          </p:cNvSpPr>
          <p:nvPr>
            <p:ph type="title"/>
          </p:nvPr>
        </p:nvSpPr>
        <p:spPr>
          <a:xfrm>
            <a:off x="1336066" y="0"/>
            <a:ext cx="6315519" cy="728004"/>
          </a:xfrm>
        </p:spPr>
        <p:txBody>
          <a:bodyPr>
            <a:noAutofit/>
          </a:bodyPr>
          <a:lstStyle/>
          <a:p>
            <a:pPr algn="ctr"/>
            <a:r>
              <a:rPr lang="en-IN" dirty="0">
                <a:latin typeface="Times New Roman" panose="02020603050405020304" pitchFamily="18" charset="0"/>
                <a:cs typeface="Times New Roman" panose="02020603050405020304" pitchFamily="18" charset="0"/>
              </a:rPr>
              <a:t> Van Emde Boas Tree </a:t>
            </a: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E99E45F5-74DA-285C-9CE7-1C2CDA79E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DCF4478-168B-00E3-A176-1EE9771F618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99</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49C6371A-83CB-E8A5-E573-24D0232BC8C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B07ACF13-4E85-820B-00EE-B422D04889E0}"/>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369BE7F2-25C7-C5F6-589C-EB06A06C3B66}"/>
              </a:ext>
            </a:extLst>
          </p:cNvPr>
          <p:cNvPicPr>
            <a:picLocks noChangeAspect="1"/>
          </p:cNvPicPr>
          <p:nvPr/>
        </p:nvPicPr>
        <p:blipFill>
          <a:blip r:embed="rId4"/>
          <a:stretch>
            <a:fillRect/>
          </a:stretch>
        </p:blipFill>
        <p:spPr>
          <a:xfrm>
            <a:off x="362311" y="550446"/>
            <a:ext cx="3657416" cy="4292233"/>
          </a:xfrm>
          <a:prstGeom prst="rect">
            <a:avLst/>
          </a:prstGeom>
        </p:spPr>
      </p:pic>
      <p:pic>
        <p:nvPicPr>
          <p:cNvPr id="10" name="Picture 9">
            <a:extLst>
              <a:ext uri="{FF2B5EF4-FFF2-40B4-BE49-F238E27FC236}">
                <a16:creationId xmlns:a16="http://schemas.microsoft.com/office/drawing/2014/main" id="{8F6DC801-E4F3-44AF-F494-F7541E1E81F2}"/>
              </a:ext>
            </a:extLst>
          </p:cNvPr>
          <p:cNvPicPr>
            <a:picLocks noChangeAspect="1"/>
          </p:cNvPicPr>
          <p:nvPr/>
        </p:nvPicPr>
        <p:blipFill>
          <a:blip r:embed="rId5"/>
          <a:stretch>
            <a:fillRect/>
          </a:stretch>
        </p:blipFill>
        <p:spPr>
          <a:xfrm>
            <a:off x="5216196" y="587274"/>
            <a:ext cx="3657417" cy="4292233"/>
          </a:xfrm>
          <a:prstGeom prst="rect">
            <a:avLst/>
          </a:prstGeom>
        </p:spPr>
      </p:pic>
    </p:spTree>
    <p:extLst>
      <p:ext uri="{BB962C8B-B14F-4D97-AF65-F5344CB8AC3E}">
        <p14:creationId xmlns:p14="http://schemas.microsoft.com/office/powerpoint/2010/main" val="40554814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47C49-8F87-D6FA-939A-99A94A848F06}"/>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5429A2C1-80CC-CCBC-5105-CA16B06D95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844C926-89D9-038C-5AD2-257561F73C5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63C6A1C-7C71-0A30-25E2-2D37455DAA0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C72C2AB4-429D-2989-9E9D-1F16EA50002B}"/>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323342CE-13C4-AE8E-73CC-9AAD30D77D2B}"/>
              </a:ext>
            </a:extLst>
          </p:cNvPr>
          <p:cNvPicPr>
            <a:picLocks noChangeAspect="1"/>
          </p:cNvPicPr>
          <p:nvPr/>
        </p:nvPicPr>
        <p:blipFill>
          <a:blip r:embed="rId4"/>
          <a:stretch>
            <a:fillRect/>
          </a:stretch>
        </p:blipFill>
        <p:spPr>
          <a:xfrm>
            <a:off x="45113" y="0"/>
            <a:ext cx="2858679" cy="4758201"/>
          </a:xfrm>
          <a:prstGeom prst="rect">
            <a:avLst/>
          </a:prstGeom>
        </p:spPr>
      </p:pic>
      <p:pic>
        <p:nvPicPr>
          <p:cNvPr id="13" name="Picture 12">
            <a:extLst>
              <a:ext uri="{FF2B5EF4-FFF2-40B4-BE49-F238E27FC236}">
                <a16:creationId xmlns:a16="http://schemas.microsoft.com/office/drawing/2014/main" id="{3A88CBF6-2DEA-0DC2-E0B2-3FD9BBFFA653}"/>
              </a:ext>
            </a:extLst>
          </p:cNvPr>
          <p:cNvPicPr>
            <a:picLocks noChangeAspect="1"/>
          </p:cNvPicPr>
          <p:nvPr/>
        </p:nvPicPr>
        <p:blipFill>
          <a:blip r:embed="rId5"/>
          <a:stretch>
            <a:fillRect/>
          </a:stretch>
        </p:blipFill>
        <p:spPr>
          <a:xfrm>
            <a:off x="3000691" y="0"/>
            <a:ext cx="3031750" cy="3771928"/>
          </a:xfrm>
          <a:prstGeom prst="rect">
            <a:avLst/>
          </a:prstGeom>
        </p:spPr>
      </p:pic>
      <p:pic>
        <p:nvPicPr>
          <p:cNvPr id="16" name="Picture 15">
            <a:extLst>
              <a:ext uri="{FF2B5EF4-FFF2-40B4-BE49-F238E27FC236}">
                <a16:creationId xmlns:a16="http://schemas.microsoft.com/office/drawing/2014/main" id="{0A5E392E-1002-547B-1AB8-56D4A86ED591}"/>
              </a:ext>
            </a:extLst>
          </p:cNvPr>
          <p:cNvPicPr>
            <a:picLocks noChangeAspect="1"/>
          </p:cNvPicPr>
          <p:nvPr/>
        </p:nvPicPr>
        <p:blipFill>
          <a:blip r:embed="rId6"/>
          <a:stretch>
            <a:fillRect/>
          </a:stretch>
        </p:blipFill>
        <p:spPr>
          <a:xfrm>
            <a:off x="6129339" y="7937"/>
            <a:ext cx="2969548" cy="4659313"/>
          </a:xfrm>
          <a:prstGeom prst="rect">
            <a:avLst/>
          </a:prstGeom>
        </p:spPr>
      </p:pic>
    </p:spTree>
    <p:extLst>
      <p:ext uri="{BB962C8B-B14F-4D97-AF65-F5344CB8AC3E}">
        <p14:creationId xmlns:p14="http://schemas.microsoft.com/office/powerpoint/2010/main" val="8858273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2AE54-208F-CB81-4870-2F79897DD409}"/>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4E35C80B-5A3E-779B-9EA0-0F10662A2F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D285E26-8B3E-9CDA-2364-AF49CCC5D749}"/>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101</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8D726BC5-D911-E41B-01E9-FAEE38AA288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658B5953-119F-5A4A-8520-D1CA7C59ADA1}"/>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46FE3D25-F031-6272-4FD6-0E0AED311141}"/>
              </a:ext>
            </a:extLst>
          </p:cNvPr>
          <p:cNvPicPr>
            <a:picLocks noChangeAspect="1"/>
          </p:cNvPicPr>
          <p:nvPr/>
        </p:nvPicPr>
        <p:blipFill>
          <a:blip r:embed="rId4"/>
          <a:stretch>
            <a:fillRect/>
          </a:stretch>
        </p:blipFill>
        <p:spPr>
          <a:xfrm>
            <a:off x="83865" y="57150"/>
            <a:ext cx="2577295" cy="4825305"/>
          </a:xfrm>
          <a:prstGeom prst="rect">
            <a:avLst/>
          </a:prstGeom>
        </p:spPr>
      </p:pic>
      <p:pic>
        <p:nvPicPr>
          <p:cNvPr id="10" name="Picture 9">
            <a:extLst>
              <a:ext uri="{FF2B5EF4-FFF2-40B4-BE49-F238E27FC236}">
                <a16:creationId xmlns:a16="http://schemas.microsoft.com/office/drawing/2014/main" id="{B8177B16-2653-73C5-5E5F-D8216476304B}"/>
              </a:ext>
            </a:extLst>
          </p:cNvPr>
          <p:cNvPicPr>
            <a:picLocks noChangeAspect="1"/>
          </p:cNvPicPr>
          <p:nvPr/>
        </p:nvPicPr>
        <p:blipFill>
          <a:blip r:embed="rId5"/>
          <a:stretch>
            <a:fillRect/>
          </a:stretch>
        </p:blipFill>
        <p:spPr>
          <a:xfrm>
            <a:off x="2661160" y="90473"/>
            <a:ext cx="3600476" cy="4686315"/>
          </a:xfrm>
          <a:prstGeom prst="rect">
            <a:avLst/>
          </a:prstGeom>
        </p:spPr>
      </p:pic>
    </p:spTree>
    <p:extLst>
      <p:ext uri="{BB962C8B-B14F-4D97-AF65-F5344CB8AC3E}">
        <p14:creationId xmlns:p14="http://schemas.microsoft.com/office/powerpoint/2010/main" val="39414446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B6433-00D9-EDD4-D01F-56A854EAD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FE073-6CAC-87A8-2349-E931BC0891E4}"/>
              </a:ext>
            </a:extLst>
          </p:cNvPr>
          <p:cNvSpPr>
            <a:spLocks noGrp="1"/>
          </p:cNvSpPr>
          <p:nvPr>
            <p:ph type="title"/>
          </p:nvPr>
        </p:nvSpPr>
        <p:spPr>
          <a:xfrm>
            <a:off x="1336066" y="0"/>
            <a:ext cx="6315519" cy="728004"/>
          </a:xfrm>
        </p:spPr>
        <p:txBody>
          <a:bodyPr>
            <a:noAutofit/>
          </a:bodyPr>
          <a:lstStyle/>
          <a:p>
            <a:pPr algn="ctr"/>
            <a:r>
              <a:rPr lang="en-IN" sz="2700" b="1" dirty="0">
                <a:latin typeface="Times New Roman" panose="02020603050405020304" pitchFamily="18" charset="0"/>
                <a:cs typeface="Times New Roman" pitchFamily="18" charset="0"/>
              </a:rPr>
              <a:t>Fusion Tree</a:t>
            </a:r>
          </a:p>
        </p:txBody>
      </p:sp>
      <p:pic>
        <p:nvPicPr>
          <p:cNvPr id="15" name="Picture 14">
            <a:extLst>
              <a:ext uri="{FF2B5EF4-FFF2-40B4-BE49-F238E27FC236}">
                <a16:creationId xmlns:a16="http://schemas.microsoft.com/office/drawing/2014/main" id="{5F7CF7D7-12E3-928D-BF55-D05B724B56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CA93664-FEC7-E39E-5CFF-054FAD664FCF}"/>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102</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F032F23-60A1-72AA-5489-29B7F13D319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9E1573B7-2896-EECF-3AFF-7AD0DCB624A3}"/>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D926F1-6B1C-1306-4FF6-B5763A3E218D}"/>
                  </a:ext>
                </a:extLst>
              </p:cNvPr>
              <p:cNvSpPr txBox="1"/>
              <p:nvPr/>
            </p:nvSpPr>
            <p:spPr>
              <a:xfrm>
                <a:off x="460374" y="872467"/>
                <a:ext cx="8493125" cy="397031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Fusion Tree</a:t>
                </a:r>
                <a:r>
                  <a:rPr lang="en-US" dirty="0">
                    <a:latin typeface="Times New Roman" panose="02020603050405020304" pitchFamily="18" charset="0"/>
                    <a:cs typeface="Times New Roman" panose="02020603050405020304" pitchFamily="18" charset="0"/>
                  </a:rPr>
                  <a:t> is an advanced data structure used for </a:t>
                </a:r>
                <a:r>
                  <a:rPr lang="en-US" b="1" dirty="0">
                    <a:latin typeface="Times New Roman" panose="02020603050405020304" pitchFamily="18" charset="0"/>
                    <a:cs typeface="Times New Roman" panose="02020603050405020304" pitchFamily="18" charset="0"/>
                  </a:rPr>
                  <a:t>very fast searching and sorting of integers</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It was introduced to improve the performance of search operations beyond the normal limits of Binary Search Trees and B-Trees.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Basic Idea</a:t>
                </a:r>
              </a:p>
              <a:p>
                <a:r>
                  <a:rPr lang="en-IN" dirty="0">
                    <a:latin typeface="Times New Roman" panose="02020603050405020304" pitchFamily="18" charset="0"/>
                    <a:cs typeface="Times New Roman" panose="02020603050405020304" pitchFamily="18" charset="0"/>
                  </a:rPr>
                  <a:t>Normally:</a:t>
                </a:r>
              </a:p>
              <a:p>
                <a:r>
                  <a:rPr lang="en-IN" dirty="0">
                    <a:latin typeface="Times New Roman" panose="02020603050405020304" pitchFamily="18" charset="0"/>
                    <a:cs typeface="Times New Roman" panose="02020603050405020304" pitchFamily="18" charset="0"/>
                  </a:rPr>
                  <a:t>Binary Search Tree → </a:t>
                </a:r>
                <a:r>
                  <a:rPr lang="en-IN" b="1" dirty="0">
                    <a:latin typeface="Times New Roman" panose="02020603050405020304" pitchFamily="18" charset="0"/>
                    <a:cs typeface="Times New Roman" panose="02020603050405020304" pitchFamily="18" charset="0"/>
                  </a:rPr>
                  <a:t>O(log 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B-Tree → </a:t>
                </a:r>
                <a:r>
                  <a:rPr lang="en-IN" b="1" dirty="0">
                    <a:latin typeface="Times New Roman" panose="02020603050405020304" pitchFamily="18" charset="0"/>
                    <a:cs typeface="Times New Roman" panose="02020603050405020304" pitchFamily="18" charset="0"/>
                  </a:rPr>
                  <a:t>O(log 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But </a:t>
                </a:r>
                <a:r>
                  <a:rPr lang="en-IN" b="1" dirty="0">
                    <a:latin typeface="Times New Roman" panose="02020603050405020304" pitchFamily="18" charset="0"/>
                    <a:cs typeface="Times New Roman" panose="02020603050405020304" pitchFamily="18" charset="0"/>
                  </a:rPr>
                  <a:t>Fusion Tree</a:t>
                </a:r>
                <a:r>
                  <a:rPr lang="en-IN" dirty="0">
                    <a:latin typeface="Times New Roman" panose="02020603050405020304" pitchFamily="18" charset="0"/>
                    <a:cs typeface="Times New Roman" panose="02020603050405020304" pitchFamily="18" charset="0"/>
                  </a:rPr>
                  <a:t> performs search in:</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𝑂</m:t>
                      </m:r>
                      <m:d>
                        <m:dPr>
                          <m:ctrlPr>
                            <a:rPr lang="ar-AE" i="1">
                              <a:latin typeface="Cambria Math" panose="02040503050406030204" pitchFamily="18" charset="0"/>
                            </a:rPr>
                          </m:ctrlPr>
                        </m:dPr>
                        <m:e>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r>
                                <a:rPr lang="ar-AE" i="1">
                                  <a:latin typeface="Cambria Math" panose="02040503050406030204" pitchFamily="18" charset="0"/>
                                </a:rPr>
                                <m:t>𝑛</m:t>
                              </m:r>
                            </m:e>
                          </m:func>
                          <m:r>
                            <a:rPr lang="ar-AE">
                              <a:latin typeface="Cambria Math" panose="02040503050406030204" pitchFamily="18" charset="0"/>
                            </a:rPr>
                            <m:t>/</m:t>
                          </m:r>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r>
                                <a:rPr lang="ar-AE" i="1">
                                  <a:latin typeface="Cambria Math" panose="02040503050406030204" pitchFamily="18" charset="0"/>
                                </a:rPr>
                                <m:t>𝑤</m:t>
                              </m:r>
                            </m:e>
                          </m:func>
                        </m:e>
                      </m:d>
                    </m:oMath>
                  </m:oMathPara>
                </a14:m>
                <a:endParaRPr lang="ar-AE"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Where:</a:t>
                </a:r>
              </a:p>
              <a:p>
                <a:r>
                  <a:rPr lang="en-IN" b="1" dirty="0">
                    <a:latin typeface="Times New Roman" panose="02020603050405020304" pitchFamily="18" charset="0"/>
                    <a:cs typeface="Times New Roman" panose="02020603050405020304" pitchFamily="18" charset="0"/>
                  </a:rPr>
                  <a:t>w</a:t>
                </a:r>
                <a:r>
                  <a:rPr lang="en-IN" dirty="0">
                    <a:latin typeface="Times New Roman" panose="02020603050405020304" pitchFamily="18" charset="0"/>
                    <a:cs typeface="Times New Roman" panose="02020603050405020304" pitchFamily="18" charset="0"/>
                  </a:rPr>
                  <a:t> = word size of the machine (number of bits, e.g., 32 or 64)</a:t>
                </a:r>
              </a:p>
              <a:p>
                <a:r>
                  <a:rPr lang="en-IN" dirty="0">
                    <a:latin typeface="Times New Roman" panose="02020603050405020304" pitchFamily="18" charset="0"/>
                    <a:cs typeface="Times New Roman" panose="02020603050405020304" pitchFamily="18" charset="0"/>
                  </a:rPr>
                  <a:t>👉 This makes searching </a:t>
                </a:r>
                <a:r>
                  <a:rPr lang="en-IN" b="1" dirty="0">
                    <a:latin typeface="Times New Roman" panose="02020603050405020304" pitchFamily="18" charset="0"/>
                    <a:cs typeface="Times New Roman" panose="02020603050405020304" pitchFamily="18" charset="0"/>
                  </a:rPr>
                  <a:t>faster than O(log n)</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A0D926F1-6B1C-1306-4FF6-B5763A3E218D}"/>
                  </a:ext>
                </a:extLst>
              </p:cNvPr>
              <p:cNvSpPr txBox="1">
                <a:spLocks noRot="1" noChangeAspect="1" noMove="1" noResize="1" noEditPoints="1" noAdjustHandles="1" noChangeArrowheads="1" noChangeShapeType="1" noTextEdit="1"/>
              </p:cNvSpPr>
              <p:nvPr/>
            </p:nvSpPr>
            <p:spPr>
              <a:xfrm>
                <a:off x="460374" y="872467"/>
                <a:ext cx="8493125" cy="3970318"/>
              </a:xfrm>
              <a:prstGeom prst="rect">
                <a:avLst/>
              </a:prstGeom>
              <a:blipFill>
                <a:blip r:embed="rId4"/>
                <a:stretch>
                  <a:fillRect l="-215" t="-307"/>
                </a:stretch>
              </a:blipFill>
            </p:spPr>
            <p:txBody>
              <a:bodyPr/>
              <a:lstStyle/>
              <a:p>
                <a:r>
                  <a:rPr lang="en-IN">
                    <a:noFill/>
                  </a:rPr>
                  <a:t> </a:t>
                </a:r>
              </a:p>
            </p:txBody>
          </p:sp>
        </mc:Fallback>
      </mc:AlternateContent>
    </p:spTree>
    <p:extLst>
      <p:ext uri="{BB962C8B-B14F-4D97-AF65-F5344CB8AC3E}">
        <p14:creationId xmlns:p14="http://schemas.microsoft.com/office/powerpoint/2010/main" val="39702935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F20CB-B5CD-7506-783A-C588D6781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052AB-732C-CFB5-63E1-37FBB2D66CA1}"/>
              </a:ext>
            </a:extLst>
          </p:cNvPr>
          <p:cNvSpPr>
            <a:spLocks noGrp="1"/>
          </p:cNvSpPr>
          <p:nvPr>
            <p:ph type="title"/>
          </p:nvPr>
        </p:nvSpPr>
        <p:spPr>
          <a:xfrm>
            <a:off x="1336066" y="0"/>
            <a:ext cx="6315519" cy="728004"/>
          </a:xfrm>
        </p:spPr>
        <p:txBody>
          <a:bodyPr>
            <a:noAutofit/>
          </a:bodyPr>
          <a:lstStyle/>
          <a:p>
            <a:pPr algn="ctr"/>
            <a:r>
              <a:rPr lang="en-IN" sz="2700" b="1" dirty="0">
                <a:latin typeface="Times New Roman" panose="02020603050405020304" pitchFamily="18" charset="0"/>
                <a:cs typeface="Times New Roman" pitchFamily="18" charset="0"/>
              </a:rPr>
              <a:t>Fusion Tree</a:t>
            </a:r>
          </a:p>
        </p:txBody>
      </p:sp>
      <p:pic>
        <p:nvPicPr>
          <p:cNvPr id="15" name="Picture 14">
            <a:extLst>
              <a:ext uri="{FF2B5EF4-FFF2-40B4-BE49-F238E27FC236}">
                <a16:creationId xmlns:a16="http://schemas.microsoft.com/office/drawing/2014/main" id="{EB051232-19BD-B6D1-D4EE-FDF1651C8B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7237337-9F04-0EED-F1C2-752D0C627FD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31012049-D343-B523-49F0-BC6DD0D6CA6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21104C4A-D052-5FCC-45B2-C6138034F8EF}"/>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B84188D7-A7AD-8F3C-2F12-F2AC03B3AD3A}"/>
              </a:ext>
            </a:extLst>
          </p:cNvPr>
          <p:cNvSpPr txBox="1"/>
          <p:nvPr/>
        </p:nvSpPr>
        <p:spPr>
          <a:xfrm>
            <a:off x="460374" y="872467"/>
            <a:ext cx="8493125" cy="307777"/>
          </a:xfrm>
          <a:prstGeom prst="rect">
            <a:avLst/>
          </a:prstGeom>
          <a:noFill/>
        </p:spPr>
        <p:txBody>
          <a:bodyPr wrap="square">
            <a:spAutoFit/>
          </a:bodyPr>
          <a:lstStyle/>
          <a:p>
            <a:pPr>
              <a:buNone/>
            </a:pPr>
            <a:endParaRPr lang="en-US"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F3EC4C1-64FA-312C-1E65-7D2FD11C27DD}"/>
              </a:ext>
            </a:extLst>
          </p:cNvPr>
          <p:cNvSpPr txBox="1"/>
          <p:nvPr/>
        </p:nvSpPr>
        <p:spPr>
          <a:xfrm>
            <a:off x="509588" y="857206"/>
            <a:ext cx="6366271" cy="24622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Key Features of Fusion 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Multiway search tree (similar to B-Tree)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machine word operations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Performs multiple comparisons at once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Search</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Insert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Delete</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Predecessor</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Successor</a:t>
            </a:r>
          </a:p>
          <a:p>
            <a:pPr marL="457200" lvl="1"/>
            <a:r>
              <a:rPr lang="en-US" b="1" dirty="0">
                <a:latin typeface="Times New Roman" panose="02020603050405020304" pitchFamily="18" charset="0"/>
                <a:cs typeface="Times New Roman" panose="02020603050405020304" pitchFamily="18" charset="0"/>
              </a:rPr>
              <a:t>                                     Time Complexity </a:t>
            </a:r>
          </a:p>
        </p:txBody>
      </p:sp>
      <p:graphicFrame>
        <p:nvGraphicFramePr>
          <p:cNvPr id="7" name="Table 6">
            <a:extLst>
              <a:ext uri="{FF2B5EF4-FFF2-40B4-BE49-F238E27FC236}">
                <a16:creationId xmlns:a16="http://schemas.microsoft.com/office/drawing/2014/main" id="{6BF42702-D413-36C7-1C24-377D2C745612}"/>
              </a:ext>
            </a:extLst>
          </p:cNvPr>
          <p:cNvGraphicFramePr>
            <a:graphicFrameLocks noGrp="1"/>
          </p:cNvGraphicFramePr>
          <p:nvPr>
            <p:extLst>
              <p:ext uri="{D42A27DB-BD31-4B8C-83A1-F6EECF244321}">
                <p14:modId xmlns:p14="http://schemas.microsoft.com/office/powerpoint/2010/main" val="3808936045"/>
              </p:ext>
            </p:extLst>
          </p:nvPr>
        </p:nvGraphicFramePr>
        <p:xfrm>
          <a:off x="1257299" y="3456240"/>
          <a:ext cx="4557714" cy="1219200"/>
        </p:xfrm>
        <a:graphic>
          <a:graphicData uri="http://schemas.openxmlformats.org/drawingml/2006/table">
            <a:tbl>
              <a:tblPr>
                <a:tableStyleId>{3C2FFA5D-87B4-456A-9821-1D502468CF0F}</a:tableStyleId>
              </a:tblPr>
              <a:tblGrid>
                <a:gridCol w="2278857">
                  <a:extLst>
                    <a:ext uri="{9D8B030D-6E8A-4147-A177-3AD203B41FA5}">
                      <a16:colId xmlns:a16="http://schemas.microsoft.com/office/drawing/2014/main" val="686491724"/>
                    </a:ext>
                  </a:extLst>
                </a:gridCol>
                <a:gridCol w="2278857">
                  <a:extLst>
                    <a:ext uri="{9D8B030D-6E8A-4147-A177-3AD203B41FA5}">
                      <a16:colId xmlns:a16="http://schemas.microsoft.com/office/drawing/2014/main" val="3748738090"/>
                    </a:ext>
                  </a:extLst>
                </a:gridCol>
              </a:tblGrid>
              <a:tr h="0">
                <a:tc>
                  <a:txBody>
                    <a:bodyPr/>
                    <a:lstStyle/>
                    <a:p>
                      <a:pPr>
                        <a:buNone/>
                      </a:pPr>
                      <a:r>
                        <a:rPr lang="en-IN">
                          <a:latin typeface="Times New Roman" panose="02020603050405020304" pitchFamily="18" charset="0"/>
                          <a:cs typeface="Times New Roman" panose="02020603050405020304" pitchFamily="18" charset="0"/>
                        </a:rPr>
                        <a:t>Operation</a:t>
                      </a:r>
                    </a:p>
                  </a:txBody>
                  <a:tcPr anchor="ctr"/>
                </a:tc>
                <a:tc>
                  <a:txBody>
                    <a:bodyPr/>
                    <a:lstStyle/>
                    <a:p>
                      <a:pPr>
                        <a:buNone/>
                      </a:pPr>
                      <a:r>
                        <a:rPr lang="en-IN">
                          <a:latin typeface="Times New Roman" panose="02020603050405020304" pitchFamily="18" charset="0"/>
                          <a:cs typeface="Times New Roman" panose="02020603050405020304" pitchFamily="18" charset="0"/>
                        </a:rPr>
                        <a:t>Time</a:t>
                      </a:r>
                    </a:p>
                  </a:txBody>
                  <a:tcPr anchor="ctr"/>
                </a:tc>
                <a:extLst>
                  <a:ext uri="{0D108BD9-81ED-4DB2-BD59-A6C34878D82A}">
                    <a16:rowId xmlns:a16="http://schemas.microsoft.com/office/drawing/2014/main" val="2510617919"/>
                  </a:ext>
                </a:extLst>
              </a:tr>
              <a:tr h="0">
                <a:tc>
                  <a:txBody>
                    <a:bodyPr/>
                    <a:lstStyle/>
                    <a:p>
                      <a:pPr>
                        <a:buNone/>
                      </a:pPr>
                      <a:r>
                        <a:rPr lang="en-IN">
                          <a:latin typeface="Times New Roman" panose="02020603050405020304" pitchFamily="18" charset="0"/>
                          <a:cs typeface="Times New Roman" panose="02020603050405020304" pitchFamily="18" charset="0"/>
                        </a:rPr>
                        <a:t>Search</a:t>
                      </a:r>
                    </a:p>
                  </a:txBody>
                  <a:tcPr anchor="ctr"/>
                </a:tc>
                <a:tc>
                  <a:txBody>
                    <a:bodyPr/>
                    <a:lstStyle/>
                    <a:p>
                      <a:pPr>
                        <a:buNone/>
                      </a:pPr>
                      <a:r>
                        <a:rPr lang="pl-PL" dirty="0">
                          <a:latin typeface="Times New Roman" panose="02020603050405020304" pitchFamily="18" charset="0"/>
                          <a:cs typeface="Times New Roman" panose="02020603050405020304" pitchFamily="18" charset="0"/>
                        </a:rPr>
                        <a:t>O(log n / log w)</a:t>
                      </a:r>
                    </a:p>
                  </a:txBody>
                  <a:tcPr anchor="ctr"/>
                </a:tc>
                <a:extLst>
                  <a:ext uri="{0D108BD9-81ED-4DB2-BD59-A6C34878D82A}">
                    <a16:rowId xmlns:a16="http://schemas.microsoft.com/office/drawing/2014/main" val="1579046310"/>
                  </a:ext>
                </a:extLst>
              </a:tr>
              <a:tr h="0">
                <a:tc>
                  <a:txBody>
                    <a:bodyPr/>
                    <a:lstStyle/>
                    <a:p>
                      <a:pPr>
                        <a:buNone/>
                      </a:pPr>
                      <a:r>
                        <a:rPr lang="en-IN">
                          <a:latin typeface="Times New Roman" panose="02020603050405020304" pitchFamily="18" charset="0"/>
                          <a:cs typeface="Times New Roman" panose="02020603050405020304" pitchFamily="18" charset="0"/>
                        </a:rPr>
                        <a:t>Insert</a:t>
                      </a:r>
                    </a:p>
                  </a:txBody>
                  <a:tcPr anchor="ctr"/>
                </a:tc>
                <a:tc>
                  <a:txBody>
                    <a:bodyPr/>
                    <a:lstStyle/>
                    <a:p>
                      <a:pPr>
                        <a:buNone/>
                      </a:pPr>
                      <a:r>
                        <a:rPr lang="pl-PL">
                          <a:latin typeface="Times New Roman" panose="02020603050405020304" pitchFamily="18" charset="0"/>
                          <a:cs typeface="Times New Roman" panose="02020603050405020304" pitchFamily="18" charset="0"/>
                        </a:rPr>
                        <a:t>O(log n / log w)</a:t>
                      </a:r>
                    </a:p>
                  </a:txBody>
                  <a:tcPr anchor="ctr"/>
                </a:tc>
                <a:extLst>
                  <a:ext uri="{0D108BD9-81ED-4DB2-BD59-A6C34878D82A}">
                    <a16:rowId xmlns:a16="http://schemas.microsoft.com/office/drawing/2014/main" val="3963777543"/>
                  </a:ext>
                </a:extLst>
              </a:tr>
              <a:tr h="0">
                <a:tc>
                  <a:txBody>
                    <a:bodyPr/>
                    <a:lstStyle/>
                    <a:p>
                      <a:pPr>
                        <a:buNone/>
                      </a:pPr>
                      <a:r>
                        <a:rPr lang="en-IN">
                          <a:latin typeface="Times New Roman" panose="02020603050405020304" pitchFamily="18" charset="0"/>
                          <a:cs typeface="Times New Roman" panose="02020603050405020304" pitchFamily="18" charset="0"/>
                        </a:rPr>
                        <a:t>Delete</a:t>
                      </a:r>
                    </a:p>
                  </a:txBody>
                  <a:tcPr anchor="ctr"/>
                </a:tc>
                <a:tc>
                  <a:txBody>
                    <a:bodyPr/>
                    <a:lstStyle/>
                    <a:p>
                      <a:pPr>
                        <a:buNone/>
                      </a:pPr>
                      <a:r>
                        <a:rPr lang="pl-PL" dirty="0">
                          <a:latin typeface="Times New Roman" panose="02020603050405020304" pitchFamily="18" charset="0"/>
                          <a:cs typeface="Times New Roman" panose="02020603050405020304" pitchFamily="18" charset="0"/>
                        </a:rPr>
                        <a:t>O(log n / log w)</a:t>
                      </a:r>
                    </a:p>
                  </a:txBody>
                  <a:tcPr anchor="ctr"/>
                </a:tc>
                <a:extLst>
                  <a:ext uri="{0D108BD9-81ED-4DB2-BD59-A6C34878D82A}">
                    <a16:rowId xmlns:a16="http://schemas.microsoft.com/office/drawing/2014/main" val="1726475266"/>
                  </a:ext>
                </a:extLst>
              </a:tr>
            </a:tbl>
          </a:graphicData>
        </a:graphic>
      </p:graphicFrame>
    </p:spTree>
    <p:extLst>
      <p:ext uri="{BB962C8B-B14F-4D97-AF65-F5344CB8AC3E}">
        <p14:creationId xmlns:p14="http://schemas.microsoft.com/office/powerpoint/2010/main" val="9297384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78DC1-D89A-E0EE-1345-4C2E7FB8A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6059C-7DE3-8D45-378A-7C757D77AD95}"/>
              </a:ext>
            </a:extLst>
          </p:cNvPr>
          <p:cNvSpPr>
            <a:spLocks noGrp="1"/>
          </p:cNvSpPr>
          <p:nvPr>
            <p:ph type="title"/>
          </p:nvPr>
        </p:nvSpPr>
        <p:spPr>
          <a:xfrm>
            <a:off x="1336066" y="0"/>
            <a:ext cx="6315519" cy="728004"/>
          </a:xfrm>
        </p:spPr>
        <p:txBody>
          <a:bodyPr>
            <a:noAutofit/>
          </a:bodyPr>
          <a:lstStyle/>
          <a:p>
            <a:pPr algn="ctr"/>
            <a:r>
              <a:rPr lang="en-IN" sz="2700" b="1" dirty="0">
                <a:latin typeface="Times New Roman" panose="02020603050405020304" pitchFamily="18" charset="0"/>
                <a:cs typeface="Times New Roman" pitchFamily="18" charset="0"/>
              </a:rPr>
              <a:t>Fusion Tree</a:t>
            </a:r>
          </a:p>
        </p:txBody>
      </p:sp>
      <p:pic>
        <p:nvPicPr>
          <p:cNvPr id="15" name="Picture 14">
            <a:extLst>
              <a:ext uri="{FF2B5EF4-FFF2-40B4-BE49-F238E27FC236}">
                <a16:creationId xmlns:a16="http://schemas.microsoft.com/office/drawing/2014/main" id="{7BC612CC-8CD6-ED42-E2CA-AC6D260DC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5BE43ECF-0A4D-FD8B-7323-101318DE49E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6D7C085-256F-0A57-686B-1BC40C86A6D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759E1CCF-FF3C-F388-6B96-FE18306877CB}"/>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FD6856F7-9957-F91B-7494-C24BC4F137C3}"/>
              </a:ext>
            </a:extLst>
          </p:cNvPr>
          <p:cNvSpPr txBox="1"/>
          <p:nvPr/>
        </p:nvSpPr>
        <p:spPr>
          <a:xfrm>
            <a:off x="460374" y="872467"/>
            <a:ext cx="8493125" cy="267765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Uses of Fusion Tree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Fast Searching in Large Databases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High-Performance Computing</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Network Routing Systems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Computational Geometry</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Limitations (Important)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Very complex implementation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advanced bit operations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Not practical for small datasets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Mostly theoretical or specialized use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66387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D538A-91B8-08C0-EFFA-67EB25AA9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B86F4-58FA-1F1A-BB2E-276658CD2BF0}"/>
              </a:ext>
            </a:extLst>
          </p:cNvPr>
          <p:cNvSpPr>
            <a:spLocks noGrp="1"/>
          </p:cNvSpPr>
          <p:nvPr>
            <p:ph type="title"/>
          </p:nvPr>
        </p:nvSpPr>
        <p:spPr>
          <a:xfrm>
            <a:off x="1336066" y="0"/>
            <a:ext cx="6315519" cy="728004"/>
          </a:xfrm>
        </p:spPr>
        <p:txBody>
          <a:bodyPr>
            <a:noAutofit/>
          </a:bodyPr>
          <a:lstStyle/>
          <a:p>
            <a:pPr algn="ct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Dynamic Finger Search Trees</a:t>
            </a:r>
            <a:br>
              <a:rPr lang="en-IN" sz="2800" b="1" dirty="0">
                <a:latin typeface="Times New Roman" panose="02020603050405020304" pitchFamily="18" charset="0"/>
                <a:cs typeface="Times New Roman" panose="02020603050405020304"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29B561ED-3CA3-53A9-E4A8-FB2C4353A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F1D43C80-D0B8-5011-8E9E-FE7C2E2A012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F52FA347-D555-07F3-BE56-9FF3CA42346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D6B17426-A866-A8D3-C083-A6AF41BCD01B}"/>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FE38DB-1F54-67E5-4EEE-2871903459FC}"/>
                  </a:ext>
                </a:extLst>
              </p:cNvPr>
              <p:cNvSpPr txBox="1"/>
              <p:nvPr/>
            </p:nvSpPr>
            <p:spPr>
              <a:xfrm>
                <a:off x="423862" y="872467"/>
                <a:ext cx="6967537" cy="3970318"/>
              </a:xfrm>
              <a:prstGeom prst="rect">
                <a:avLst/>
              </a:prstGeom>
              <a:noFill/>
            </p:spPr>
            <p:txBody>
              <a:bodyPr wrap="square">
                <a:spAutoFit/>
              </a:bodyPr>
              <a:lstStyle/>
              <a:p>
                <a:pPr>
                  <a:buNone/>
                </a:pPr>
                <a:r>
                  <a:rPr lang="en-IN" sz="1200" dirty="0">
                    <a:latin typeface="Times New Roman" panose="02020603050405020304" pitchFamily="18" charset="0"/>
                    <a:cs typeface="Times New Roman" panose="02020603050405020304" pitchFamily="18" charset="0"/>
                  </a:rPr>
                  <a:t>Normally, in search trees like:</a:t>
                </a:r>
              </a:p>
              <a:p>
                <a:pPr>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Binary Search Tree</a:t>
                </a:r>
              </a:p>
              <a:p>
                <a:pPr>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AVL Tree</a:t>
                </a:r>
              </a:p>
              <a:p>
                <a:pPr>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Red-Black Tree</a:t>
                </a:r>
              </a:p>
              <a:p>
                <a:pPr>
                  <a:buNone/>
                </a:pPr>
                <a:r>
                  <a:rPr lang="en-IN" sz="1200" dirty="0">
                    <a:latin typeface="Times New Roman" panose="02020603050405020304" pitchFamily="18" charset="0"/>
                    <a:cs typeface="Times New Roman" panose="02020603050405020304" pitchFamily="18" charset="0"/>
                  </a:rPr>
                  <a:t>The search time is:</a:t>
                </a:r>
              </a:p>
              <a:p>
                <a:pPr>
                  <a:buNone/>
                </a:pPr>
                <a14:m>
                  <m:oMathPara xmlns:m="http://schemas.openxmlformats.org/officeDocument/2006/math">
                    <m:oMathParaPr>
                      <m:jc m:val="centerGroup"/>
                    </m:oMathParaPr>
                    <m:oMath xmlns:m="http://schemas.openxmlformats.org/officeDocument/2006/math">
                      <m:r>
                        <a:rPr lang="en-IN" sz="1200" b="1" i="1">
                          <a:latin typeface="Cambria Math" panose="02040503050406030204" pitchFamily="18" charset="0"/>
                        </a:rPr>
                        <m:t>𝑶</m:t>
                      </m:r>
                      <m:d>
                        <m:dPr>
                          <m:ctrlPr>
                            <a:rPr lang="ar-AE" sz="1200" b="1" i="1">
                              <a:latin typeface="Cambria Math" panose="02040503050406030204" pitchFamily="18" charset="0"/>
                            </a:rPr>
                          </m:ctrlPr>
                        </m:dPr>
                        <m:e>
                          <m:func>
                            <m:funcPr>
                              <m:ctrlPr>
                                <a:rPr lang="ar-AE" sz="1200" b="1" i="1">
                                  <a:latin typeface="Cambria Math" panose="02040503050406030204" pitchFamily="18" charset="0"/>
                                </a:rPr>
                              </m:ctrlPr>
                            </m:funcPr>
                            <m:fName>
                              <m:r>
                                <a:rPr lang="en-IN" sz="1200" b="1" i="0">
                                  <a:latin typeface="Cambria Math" panose="02040503050406030204" pitchFamily="18" charset="0"/>
                                </a:rPr>
                                <m:t>𝐥𝐨𝐠</m:t>
                              </m:r>
                            </m:fName>
                            <m:e>
                              <m:r>
                                <a:rPr lang="ar-AE" sz="1200" b="1" i="1">
                                  <a:latin typeface="Cambria Math" panose="02040503050406030204" pitchFamily="18" charset="0"/>
                                </a:rPr>
                                <m:t>𝒏</m:t>
                              </m:r>
                            </m:e>
                          </m:func>
                        </m:e>
                      </m:d>
                    </m:oMath>
                  </m:oMathPara>
                </a14:m>
                <a:endParaRPr lang="ar-AE" sz="1200" b="1" dirty="0">
                  <a:latin typeface="Times New Roman" panose="02020603050405020304" pitchFamily="18" charset="0"/>
                  <a:cs typeface="Times New Roman" panose="02020603050405020304" pitchFamily="18" charset="0"/>
                </a:endParaRPr>
              </a:p>
              <a:p>
                <a:pPr>
                  <a:buNone/>
                </a:pPr>
                <a:r>
                  <a:rPr lang="en-IN" sz="1200" dirty="0">
                    <a:latin typeface="Times New Roman" panose="02020603050405020304" pitchFamily="18" charset="0"/>
                    <a:cs typeface="Times New Roman" panose="02020603050405020304" pitchFamily="18" charset="0"/>
                  </a:rPr>
                  <a:t>This time is </a:t>
                </a:r>
                <a:r>
                  <a:rPr lang="en-IN" sz="1200" b="1" dirty="0">
                    <a:latin typeface="Times New Roman" panose="02020603050405020304" pitchFamily="18" charset="0"/>
                    <a:cs typeface="Times New Roman" panose="02020603050405020304" pitchFamily="18" charset="0"/>
                  </a:rPr>
                  <a:t>same</a:t>
                </a:r>
                <a:r>
                  <a:rPr lang="en-IN" sz="1200" dirty="0">
                    <a:latin typeface="Times New Roman" panose="02020603050405020304" pitchFamily="18" charset="0"/>
                    <a:cs typeface="Times New Roman" panose="02020603050405020304" pitchFamily="18" charset="0"/>
                  </a:rPr>
                  <a:t>, no matter where the element is located.</a:t>
                </a:r>
              </a:p>
              <a:p>
                <a:pPr>
                  <a:buNone/>
                </a:pPr>
                <a:r>
                  <a:rPr lang="en-IN" sz="1200" dirty="0">
                    <a:latin typeface="Times New Roman" panose="02020603050405020304" pitchFamily="18" charset="0"/>
                    <a:cs typeface="Times New Roman" panose="02020603050405020304" pitchFamily="18" charset="0"/>
                  </a:rPr>
                  <a:t>But in many real-life situations:</a:t>
                </a:r>
              </a:p>
              <a:p>
                <a:pPr>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We search </a:t>
                </a:r>
                <a:r>
                  <a:rPr lang="en-IN" sz="1200" b="1" dirty="0">
                    <a:latin typeface="Times New Roman" panose="02020603050405020304" pitchFamily="18" charset="0"/>
                    <a:cs typeface="Times New Roman" panose="02020603050405020304" pitchFamily="18" charset="0"/>
                  </a:rPr>
                  <a:t>nearby elements repeatedly</a:t>
                </a:r>
                <a:endParaRPr lang="en-IN"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Example:</a:t>
                </a:r>
              </a:p>
              <a:p>
                <a:pPr marL="742950" lvl="1"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Searching consecutive numbers</a:t>
                </a:r>
              </a:p>
              <a:p>
                <a:pPr marL="742950" lvl="1" indent="-2857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Moving forward/backward in sorted data</a:t>
                </a:r>
              </a:p>
              <a:p>
                <a:pPr>
                  <a:buNone/>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Dynamic Finger Search Trees</a:t>
                </a:r>
                <a:r>
                  <a:rPr lang="en-IN" sz="1200" dirty="0">
                    <a:latin typeface="Times New Roman" panose="02020603050405020304" pitchFamily="18" charset="0"/>
                    <a:cs typeface="Times New Roman" panose="02020603050405020304" pitchFamily="18" charset="0"/>
                  </a:rPr>
                  <a:t> are designed to make such searches faster.</a:t>
                </a:r>
              </a:p>
              <a:p>
                <a:pPr>
                  <a:buNone/>
                </a:pPr>
                <a:endParaRPr lang="en-IN"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What is a Dynamic Finger?</a:t>
                </a:r>
              </a:p>
              <a:p>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finger</a:t>
                </a:r>
                <a:r>
                  <a:rPr lang="en-US" sz="1200" dirty="0">
                    <a:latin typeface="Times New Roman" panose="02020603050405020304" pitchFamily="18" charset="0"/>
                    <a:cs typeface="Times New Roman" panose="02020603050405020304" pitchFamily="18" charset="0"/>
                  </a:rPr>
                  <a:t> means:</a:t>
                </a:r>
              </a:p>
              <a:p>
                <a:r>
                  <a:rPr lang="en-US" sz="1200" dirty="0">
                    <a:latin typeface="Times New Roman" panose="02020603050405020304" pitchFamily="18" charset="0"/>
                    <a:cs typeface="Times New Roman" panose="02020603050405020304" pitchFamily="18" charset="0"/>
                  </a:rPr>
                  <a:t>A pointer/reference to a recently accessed node.</a:t>
                </a:r>
              </a:p>
              <a:p>
                <a:r>
                  <a:rPr lang="en-US" sz="1200" dirty="0">
                    <a:latin typeface="Times New Roman" panose="02020603050405020304" pitchFamily="18" charset="0"/>
                    <a:cs typeface="Times New Roman" panose="02020603050405020304" pitchFamily="18" charset="0"/>
                  </a:rPr>
                  <a:t>Instead of always searching from the root, we search:</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From the last accessed position</a:t>
                </a:r>
              </a:p>
              <a:p>
                <a:pPr marL="171450" indent="-17145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If the new element is close → search is faster</a:t>
                </a:r>
              </a:p>
              <a:p>
                <a:pPr>
                  <a:buNone/>
                </a:pPr>
                <a:endParaRPr lang="en-IN" sz="1200" dirty="0">
                  <a:latin typeface="Times New Roman" panose="02020603050405020304" pitchFamily="18"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15FE38DB-1F54-67E5-4EEE-2871903459FC}"/>
                  </a:ext>
                </a:extLst>
              </p:cNvPr>
              <p:cNvSpPr txBox="1">
                <a:spLocks noRot="1" noChangeAspect="1" noMove="1" noResize="1" noEditPoints="1" noAdjustHandles="1" noChangeArrowheads="1" noChangeShapeType="1" noTextEdit="1"/>
              </p:cNvSpPr>
              <p:nvPr/>
            </p:nvSpPr>
            <p:spPr>
              <a:xfrm>
                <a:off x="423862" y="872467"/>
                <a:ext cx="6967537" cy="3970318"/>
              </a:xfrm>
              <a:prstGeom prst="rect">
                <a:avLst/>
              </a:prstGeom>
              <a:blipFill>
                <a:blip r:embed="rId4"/>
                <a:stretch>
                  <a:fillRect l="-88"/>
                </a:stretch>
              </a:blipFill>
            </p:spPr>
            <p:txBody>
              <a:bodyPr/>
              <a:lstStyle/>
              <a:p>
                <a:r>
                  <a:rPr lang="en-IN">
                    <a:noFill/>
                  </a:rPr>
                  <a:t> </a:t>
                </a:r>
              </a:p>
            </p:txBody>
          </p:sp>
        </mc:Fallback>
      </mc:AlternateContent>
    </p:spTree>
    <p:extLst>
      <p:ext uri="{BB962C8B-B14F-4D97-AF65-F5344CB8AC3E}">
        <p14:creationId xmlns:p14="http://schemas.microsoft.com/office/powerpoint/2010/main" val="189553366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2D32A-7F50-EDC5-FB67-30514CF62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8EF00-9BF7-2B68-6F05-75B686AED386}"/>
              </a:ext>
            </a:extLst>
          </p:cNvPr>
          <p:cNvSpPr>
            <a:spLocks noGrp="1"/>
          </p:cNvSpPr>
          <p:nvPr>
            <p:ph type="title"/>
          </p:nvPr>
        </p:nvSpPr>
        <p:spPr>
          <a:xfrm>
            <a:off x="1336066" y="0"/>
            <a:ext cx="6315519" cy="728004"/>
          </a:xfrm>
        </p:spPr>
        <p:txBody>
          <a:bodyPr>
            <a:noAutofit/>
          </a:bodyPr>
          <a:lstStyle/>
          <a:p>
            <a:pPr algn="ct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Dynamic Finger Search Trees</a:t>
            </a:r>
            <a:br>
              <a:rPr lang="en-IN" sz="2400" b="1" dirty="0">
                <a:latin typeface="Times New Roman" panose="02020603050405020304" pitchFamily="18" charset="0"/>
                <a:cs typeface="Times New Roman" panose="02020603050405020304" pitchFamily="18" charset="0"/>
              </a:rPr>
            </a:br>
            <a:endParaRPr lang="en-IN" sz="27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6878EF26-E928-16FC-7463-317258ECF9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A4D2ADE0-E21A-C8DA-34A2-5C7958F418C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92878085-9DE3-73EF-82D5-446C9443EFD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a:extLst>
              <a:ext uri="{FF2B5EF4-FFF2-40B4-BE49-F238E27FC236}">
                <a16:creationId xmlns:a16="http://schemas.microsoft.com/office/drawing/2014/main" id="{44DAB620-3E57-36AB-125A-D646D11A4589}"/>
              </a:ext>
            </a:extLst>
          </p:cNvPr>
          <p:cNvSpPr/>
          <p:nvPr/>
        </p:nvSpPr>
        <p:spPr>
          <a:xfrm>
            <a:off x="0" y="4888350"/>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Dattatray G. Takale, Department of  Computer engineering, VIIT, Pune-48</a:t>
            </a:r>
            <a:endParaRPr lang="en-IN" b="1" dirty="0">
              <a:solidFill>
                <a:schemeClr val="tx1"/>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708CE6A-327C-EE52-7B95-FE4CC4519234}"/>
                  </a:ext>
                </a:extLst>
              </p:cNvPr>
              <p:cNvSpPr txBox="1"/>
              <p:nvPr/>
            </p:nvSpPr>
            <p:spPr>
              <a:xfrm>
                <a:off x="460374" y="872467"/>
                <a:ext cx="8493125" cy="418576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Dynamic Finger Search Tree</a:t>
                </a:r>
                <a:r>
                  <a:rPr lang="en-US" dirty="0">
                    <a:latin typeface="Times New Roman" panose="02020603050405020304" pitchFamily="18" charset="0"/>
                    <a:cs typeface="Times New Roman" panose="02020603050405020304" pitchFamily="18" charset="0"/>
                  </a:rPr>
                  <a:t> is a search tree where the search time depends on the </a:t>
                </a:r>
                <a:r>
                  <a:rPr lang="en-US" b="1" dirty="0">
                    <a:latin typeface="Times New Roman" panose="02020603050405020304" pitchFamily="18" charset="0"/>
                    <a:cs typeface="Times New Roman" panose="02020603050405020304" pitchFamily="18" charset="0"/>
                  </a:rPr>
                  <a:t>distance between the current element and the previously accessed element</a:t>
                </a:r>
                <a:r>
                  <a:rPr lang="en-US" dirty="0">
                    <a:latin typeface="Times New Roman" panose="02020603050405020304" pitchFamily="18" charset="0"/>
                    <a:cs typeface="Times New Roman" panose="02020603050405020304" pitchFamily="18" charset="0"/>
                  </a:rPr>
                  <a:t>, not the total size of the tree.</a:t>
                </a:r>
              </a:p>
              <a:p>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Time Complexity</a:t>
                </a:r>
              </a:p>
              <a:p>
                <a:r>
                  <a:rPr lang="en-IN" dirty="0">
                    <a:latin typeface="Times New Roman" panose="02020603050405020304" pitchFamily="18" charset="0"/>
                    <a:cs typeface="Times New Roman" panose="02020603050405020304" pitchFamily="18" charset="0"/>
                  </a:rPr>
                  <a:t>Search time:</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𝑂</m:t>
                      </m:r>
                      <m:d>
                        <m:dPr>
                          <m:ctrlPr>
                            <a:rPr lang="ar-AE" i="1">
                              <a:latin typeface="Cambria Math" panose="02040503050406030204" pitchFamily="18" charset="0"/>
                            </a:rPr>
                          </m:ctrlPr>
                        </m:dPr>
                        <m:e>
                          <m:func>
                            <m:funcPr>
                              <m:ctrlPr>
                                <a:rPr lang="ar-AE" i="1">
                                  <a:latin typeface="Cambria Math" panose="02040503050406030204" pitchFamily="18" charset="0"/>
                                </a:rPr>
                              </m:ctrlPr>
                            </m:funcPr>
                            <m:fName>
                              <m:r>
                                <m:rPr>
                                  <m:sty m:val="p"/>
                                </m:rPr>
                                <a:rPr lang="en-IN">
                                  <a:latin typeface="Cambria Math" panose="02040503050406030204" pitchFamily="18" charset="0"/>
                                </a:rPr>
                                <m:t>log</m:t>
                              </m:r>
                            </m:fName>
                            <m:e>
                              <m:r>
                                <a:rPr lang="ar-AE" i="1">
                                  <a:latin typeface="Cambria Math" panose="02040503050406030204" pitchFamily="18" charset="0"/>
                                </a:rPr>
                                <m:t>𝑑</m:t>
                              </m:r>
                            </m:e>
                          </m:func>
                        </m:e>
                      </m:d>
                    </m:oMath>
                  </m:oMathPara>
                </a14:m>
                <a:endParaRPr lang="ar-AE"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Where:</a:t>
                </a:r>
              </a:p>
              <a:p>
                <a:r>
                  <a:rPr lang="en-IN" b="1" dirty="0">
                    <a:latin typeface="Times New Roman" panose="02020603050405020304" pitchFamily="18" charset="0"/>
                    <a:cs typeface="Times New Roman" panose="02020603050405020304" pitchFamily="18" charset="0"/>
                  </a:rPr>
                  <a:t>d = distance</a:t>
                </a:r>
                <a:r>
                  <a:rPr lang="en-IN" dirty="0">
                    <a:latin typeface="Times New Roman" panose="02020603050405020304" pitchFamily="18" charset="0"/>
                    <a:cs typeface="Times New Roman" panose="02020603050405020304" pitchFamily="18" charset="0"/>
                  </a:rPr>
                  <a:t> between the current key and the previous key in sorted order</a:t>
                </a:r>
              </a:p>
              <a:p>
                <a:r>
                  <a:rPr lang="en-IN" b="1" dirty="0">
                    <a:latin typeface="Times New Roman" panose="02020603050405020304" pitchFamily="18" charset="0"/>
                    <a:cs typeface="Times New Roman" panose="02020603050405020304" pitchFamily="18" charset="0"/>
                  </a:rPr>
                  <a:t>Meaning:</a:t>
                </a:r>
              </a:p>
              <a:p>
                <a:r>
                  <a:rPr lang="en-IN" dirty="0">
                    <a:latin typeface="Times New Roman" panose="02020603050405020304" pitchFamily="18" charset="0"/>
                    <a:cs typeface="Times New Roman" panose="02020603050405020304" pitchFamily="18" charset="0"/>
                  </a:rPr>
                  <a:t>If element is </a:t>
                </a:r>
                <a:r>
                  <a:rPr lang="en-IN" b="1" dirty="0">
                    <a:latin typeface="Times New Roman" panose="02020603050405020304" pitchFamily="18" charset="0"/>
                    <a:cs typeface="Times New Roman" panose="02020603050405020304" pitchFamily="18" charset="0"/>
                  </a:rPr>
                  <a:t>close</a:t>
                </a:r>
                <a:r>
                  <a:rPr lang="en-IN" dirty="0">
                    <a:latin typeface="Times New Roman" panose="02020603050405020304" pitchFamily="18" charset="0"/>
                    <a:cs typeface="Times New Roman" panose="02020603050405020304" pitchFamily="18" charset="0"/>
                  </a:rPr>
                  <a:t> → very fast</a:t>
                </a:r>
              </a:p>
              <a:p>
                <a:r>
                  <a:rPr lang="en-IN" dirty="0">
                    <a:latin typeface="Times New Roman" panose="02020603050405020304" pitchFamily="18" charset="0"/>
                    <a:cs typeface="Times New Roman" panose="02020603050405020304" pitchFamily="18" charset="0"/>
                  </a:rPr>
                  <a:t>If element is far → normal O(log 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Faster for </a:t>
                </a:r>
                <a:r>
                  <a:rPr lang="en-US" b="1" dirty="0">
                    <a:latin typeface="Times New Roman" panose="02020603050405020304" pitchFamily="18" charset="0"/>
                    <a:cs typeface="Times New Roman" panose="02020603050405020304" pitchFamily="18" charset="0"/>
                  </a:rPr>
                  <a:t>local searches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Good for </a:t>
                </a:r>
                <a:r>
                  <a:rPr lang="en-US" b="1" dirty="0">
                    <a:latin typeface="Times New Roman" panose="02020603050405020304" pitchFamily="18" charset="0"/>
                    <a:cs typeface="Times New Roman" panose="02020603050405020304" pitchFamily="18" charset="0"/>
                  </a:rPr>
                  <a:t>sequential access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Adaptive to access pattern</a:t>
                </a:r>
              </a:p>
              <a:p>
                <a:r>
                  <a:rPr lang="en-US" dirty="0">
                    <a:latin typeface="Times New Roman" panose="02020603050405020304" pitchFamily="18" charset="0"/>
                    <a:cs typeface="Times New Roman" panose="02020603050405020304" pitchFamily="18" charset="0"/>
                  </a:rPr>
                  <a:t>Improves performance in practice</a:t>
                </a:r>
              </a:p>
              <a:p>
                <a:endParaRPr lang="en-US"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0708CE6A-327C-EE52-7B95-FE4CC4519234}"/>
                  </a:ext>
                </a:extLst>
              </p:cNvPr>
              <p:cNvSpPr txBox="1">
                <a:spLocks noRot="1" noChangeAspect="1" noMove="1" noResize="1" noEditPoints="1" noAdjustHandles="1" noChangeArrowheads="1" noChangeShapeType="1" noTextEdit="1"/>
              </p:cNvSpPr>
              <p:nvPr/>
            </p:nvSpPr>
            <p:spPr>
              <a:xfrm>
                <a:off x="460374" y="872467"/>
                <a:ext cx="8493125" cy="4185761"/>
              </a:xfrm>
              <a:prstGeom prst="rect">
                <a:avLst/>
              </a:prstGeom>
              <a:blipFill>
                <a:blip r:embed="rId4"/>
                <a:stretch>
                  <a:fillRect l="-215" t="-291"/>
                </a:stretch>
              </a:blipFill>
            </p:spPr>
            <p:txBody>
              <a:bodyPr/>
              <a:lstStyle/>
              <a:p>
                <a:r>
                  <a:rPr lang="en-IN">
                    <a:noFill/>
                  </a:rPr>
                  <a:t> </a:t>
                </a:r>
              </a:p>
            </p:txBody>
          </p:sp>
        </mc:Fallback>
      </mc:AlternateContent>
    </p:spTree>
    <p:extLst>
      <p:ext uri="{BB962C8B-B14F-4D97-AF65-F5344CB8AC3E}">
        <p14:creationId xmlns:p14="http://schemas.microsoft.com/office/powerpoint/2010/main" val="3563698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82565</TotalTime>
  <Words>10177</Words>
  <Application>Microsoft Office PowerPoint</Application>
  <PresentationFormat>On-screen Show (16:9)</PresentationFormat>
  <Paragraphs>1812</Paragraphs>
  <Slides>106</Slides>
  <Notes>86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106</vt:i4>
      </vt:variant>
    </vt:vector>
  </HeadingPairs>
  <TitlesOfParts>
    <vt:vector size="117" baseType="lpstr">
      <vt:lpstr>Arial</vt:lpstr>
      <vt:lpstr>Calibri</vt:lpstr>
      <vt:lpstr>Calibri Light</vt:lpstr>
      <vt:lpstr>Cambria Math</vt:lpstr>
      <vt:lpstr>euclid_circular_a</vt:lpstr>
      <vt:lpstr>montserrat</vt:lpstr>
      <vt:lpstr>Nunito</vt:lpstr>
      <vt:lpstr>Open Sans</vt:lpstr>
      <vt:lpstr>Times New Roman</vt:lpstr>
      <vt:lpstr>Wingdings</vt:lpstr>
      <vt:lpstr>Office Theme</vt:lpstr>
      <vt:lpstr>      Advanced Trees and Applications   Data Structures-II </vt:lpstr>
      <vt:lpstr>Unit -1  :Contents</vt:lpstr>
      <vt:lpstr>Linear and Non- Linear Data Structure </vt:lpstr>
      <vt:lpstr>PowerPoint Presentation</vt:lpstr>
      <vt:lpstr>PowerPoint Presentation</vt:lpstr>
      <vt:lpstr>Tree</vt:lpstr>
      <vt:lpstr>Tree</vt:lpstr>
      <vt:lpstr>Tree</vt:lpstr>
      <vt:lpstr>Binary Tree</vt:lpstr>
      <vt:lpstr> Traversal in Tree: inorder, preorder and postorder </vt:lpstr>
      <vt:lpstr> Traversal in Tree: inorder, preorder and postorder </vt:lpstr>
      <vt:lpstr> Traversal in Tree: inorder, preorder and postorder </vt:lpstr>
      <vt:lpstr> Traversal in Tree: inorder, preorder and postorder </vt:lpstr>
      <vt:lpstr> Traversal in Tree: inorder, preorder and postorder </vt:lpstr>
      <vt:lpstr>Threaded Binary Tree</vt:lpstr>
      <vt:lpstr>Threaded Binary Tree</vt:lpstr>
      <vt:lpstr>Threaded Binary Tree</vt:lpstr>
      <vt:lpstr>Types Threaded Binary Tree</vt:lpstr>
      <vt:lpstr>Types Threaded Binary Tree</vt:lpstr>
      <vt:lpstr>Step of Converting Binary Tree to Threaded Binary Tree</vt:lpstr>
      <vt:lpstr>Threaded Binary Tree</vt:lpstr>
      <vt:lpstr>Threaded Binary Tree</vt:lpstr>
      <vt:lpstr>Why Threaded Binary Tree is Needed?</vt:lpstr>
      <vt:lpstr>Threaded Binary Tree</vt:lpstr>
      <vt:lpstr> AVL Tree </vt:lpstr>
      <vt:lpstr> AVL Tree </vt:lpstr>
      <vt:lpstr> AVL Tree </vt:lpstr>
      <vt:lpstr> AVL Tree </vt:lpstr>
      <vt:lpstr> AVL Tree </vt:lpstr>
      <vt:lpstr> Step-by-Step Construction of the AVL Tree for the given Sequence  21, 26, 30, 9, 4, 14, 28, 18,15,10, 2, 3, 7 </vt:lpstr>
      <vt:lpstr> AVL Tree </vt:lpstr>
      <vt:lpstr> AVL Tree </vt:lpstr>
      <vt:lpstr> AVL Tree </vt:lpstr>
      <vt:lpstr> AVL Tree </vt:lpstr>
      <vt:lpstr>AVL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Red Black Tree</vt:lpstr>
      <vt:lpstr>Heap Tree: Min Heap, Max Heap, Heap Sort  </vt:lpstr>
      <vt:lpstr>Heap Tree: Min Heap, Max Heap Introduction Heap</vt:lpstr>
      <vt:lpstr>Huffman Coding/Tree</vt:lpstr>
      <vt:lpstr>Huffman Coding/Tree</vt:lpstr>
      <vt:lpstr>Step for Solving Huffman Coding/Tree</vt:lpstr>
      <vt:lpstr>Step for Solving Huffman Coding/Tree</vt:lpstr>
      <vt:lpstr>Huffman Tree</vt:lpstr>
      <vt:lpstr>B Tree</vt:lpstr>
      <vt:lpstr>B Tree</vt:lpstr>
      <vt:lpstr>B Tree</vt:lpstr>
      <vt:lpstr>B Tree</vt:lpstr>
      <vt:lpstr>Constructing a B-tree</vt:lpstr>
      <vt:lpstr>Constructing a B-tree (contd.)</vt:lpstr>
      <vt:lpstr>Constructing a B-tree (contd.)</vt:lpstr>
      <vt:lpstr>Constructing a B-tree (contd.)</vt:lpstr>
      <vt:lpstr>Constructing a B-tree (contd.)</vt:lpstr>
      <vt:lpstr>Properties of B-Trees</vt:lpstr>
      <vt:lpstr>Constructing a B-tree (contd.)</vt:lpstr>
      <vt:lpstr>Constructing a B-tree (contd.)</vt:lpstr>
      <vt:lpstr>Constructing a B-tree (contd.)</vt:lpstr>
      <vt:lpstr>B Tree</vt:lpstr>
      <vt:lpstr>Delete 2 Case 1: Deletion from a Leaf Node (Simple Case) Node has more than min. number of keys </vt:lpstr>
      <vt:lpstr>PowerPoint Presentation</vt:lpstr>
      <vt:lpstr>PowerPoint Presentation</vt:lpstr>
      <vt:lpstr>Delete 21 Case: Consider Left Sibling   (Delete 21)  </vt:lpstr>
      <vt:lpstr>Delete 21 Case: Consider Left Sibling </vt:lpstr>
      <vt:lpstr>Delete 1 Case: Consider Right Sibling (delete 1) </vt:lpstr>
      <vt:lpstr>Delete 1 Case: Consider Right Sibling </vt:lpstr>
      <vt:lpstr>Delete 1 Case: Consider Right Sibling </vt:lpstr>
      <vt:lpstr>Delete 3 Case: Consider Right Sibling </vt:lpstr>
      <vt:lpstr>Operation on B Tree</vt:lpstr>
      <vt:lpstr>B+ Tree</vt:lpstr>
      <vt:lpstr>B+ Tree</vt:lpstr>
      <vt:lpstr>B+ Tree</vt:lpstr>
      <vt:lpstr>Deletion in B+ Tree</vt:lpstr>
      <vt:lpstr>Deletion in B+ Tree</vt:lpstr>
      <vt:lpstr>Difference in B and B+ Tree</vt:lpstr>
      <vt:lpstr> Splay Tree</vt:lpstr>
      <vt:lpstr> Splay Tree</vt:lpstr>
      <vt:lpstr> Splay Tree</vt:lpstr>
      <vt:lpstr> Splay Tree</vt:lpstr>
      <vt:lpstr> Van Emde Boas Tree </vt:lpstr>
      <vt:lpstr> Van Emde Boas Tree </vt:lpstr>
      <vt:lpstr> Van Emde Boas Tree </vt:lpstr>
      <vt:lpstr> Van Emde Boas Tree </vt:lpstr>
      <vt:lpstr>PowerPoint Presentation</vt:lpstr>
      <vt:lpstr>PowerPoint Presentation</vt:lpstr>
      <vt:lpstr>Fusion Tree</vt:lpstr>
      <vt:lpstr>Fusion Tree</vt:lpstr>
      <vt:lpstr>Fusion Tree</vt:lpstr>
      <vt:lpstr> Dynamic Finger Search Trees </vt:lpstr>
      <vt:lpstr> Dynamic Finger Search Trees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Standard Practices for Engineers</dc:title>
  <dc:creator>Viit Viit</dc:creator>
  <cp:lastModifiedBy>Dattatray Takale</cp:lastModifiedBy>
  <cp:revision>605</cp:revision>
  <dcterms:created xsi:type="dcterms:W3CDTF">2020-04-02T16:05:06Z</dcterms:created>
  <dcterms:modified xsi:type="dcterms:W3CDTF">2026-02-24T08:37:31Z</dcterms:modified>
</cp:coreProperties>
</file>