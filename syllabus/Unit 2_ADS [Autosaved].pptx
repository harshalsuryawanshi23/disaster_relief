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7" r:id="rId1"/>
  </p:sldMasterIdLst>
  <p:notesMasterIdLst>
    <p:notesMasterId r:id="rId65"/>
  </p:notesMasterIdLst>
  <p:sldIdLst>
    <p:sldId id="275" r:id="rId2"/>
    <p:sldId id="257" r:id="rId3"/>
    <p:sldId id="347" r:id="rId4"/>
    <p:sldId id="647" r:id="rId5"/>
    <p:sldId id="384" r:id="rId6"/>
    <p:sldId id="541" r:id="rId7"/>
    <p:sldId id="542" r:id="rId8"/>
    <p:sldId id="543" r:id="rId9"/>
    <p:sldId id="562" r:id="rId10"/>
    <p:sldId id="563" r:id="rId11"/>
    <p:sldId id="564" r:id="rId12"/>
    <p:sldId id="565" r:id="rId13"/>
    <p:sldId id="566" r:id="rId14"/>
    <p:sldId id="567" r:id="rId15"/>
    <p:sldId id="648" r:id="rId16"/>
    <p:sldId id="650" r:id="rId17"/>
    <p:sldId id="649" r:id="rId18"/>
    <p:sldId id="593" r:id="rId19"/>
    <p:sldId id="614" r:id="rId20"/>
    <p:sldId id="651" r:id="rId21"/>
    <p:sldId id="652" r:id="rId22"/>
    <p:sldId id="654" r:id="rId23"/>
    <p:sldId id="655" r:id="rId24"/>
    <p:sldId id="256" r:id="rId25"/>
    <p:sldId id="260" r:id="rId26"/>
    <p:sldId id="261" r:id="rId27"/>
    <p:sldId id="262" r:id="rId28"/>
    <p:sldId id="263" r:id="rId29"/>
    <p:sldId id="264" r:id="rId30"/>
    <p:sldId id="265" r:id="rId31"/>
    <p:sldId id="266" r:id="rId32"/>
    <p:sldId id="267" r:id="rId33"/>
    <p:sldId id="268" r:id="rId34"/>
    <p:sldId id="269" r:id="rId35"/>
    <p:sldId id="270" r:id="rId36"/>
    <p:sldId id="271" r:id="rId37"/>
    <p:sldId id="659" r:id="rId38"/>
    <p:sldId id="272" r:id="rId39"/>
    <p:sldId id="273" r:id="rId40"/>
    <p:sldId id="274" r:id="rId41"/>
    <p:sldId id="658" r:id="rId42"/>
    <p:sldId id="276" r:id="rId43"/>
    <p:sldId id="277" r:id="rId44"/>
    <p:sldId id="278" r:id="rId45"/>
    <p:sldId id="279" r:id="rId46"/>
    <p:sldId id="280" r:id="rId47"/>
    <p:sldId id="281" r:id="rId48"/>
    <p:sldId id="282" r:id="rId49"/>
    <p:sldId id="283" r:id="rId50"/>
    <p:sldId id="284" r:id="rId51"/>
    <p:sldId id="285" r:id="rId52"/>
    <p:sldId id="286" r:id="rId53"/>
    <p:sldId id="660" r:id="rId54"/>
    <p:sldId id="661" r:id="rId55"/>
    <p:sldId id="662" r:id="rId56"/>
    <p:sldId id="663" r:id="rId57"/>
    <p:sldId id="664" r:id="rId58"/>
    <p:sldId id="665" r:id="rId59"/>
    <p:sldId id="668" r:id="rId60"/>
    <p:sldId id="666" r:id="rId61"/>
    <p:sldId id="667" r:id="rId62"/>
    <p:sldId id="669" r:id="rId63"/>
    <p:sldId id="670" r:id="rId64"/>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it Viit" initials="VV" lastIdx="2" clrIdx="0">
    <p:extLst>
      <p:ext uri="{19B8F6BF-5375-455C-9EA6-DF929625EA0E}">
        <p15:presenceInfo xmlns:p15="http://schemas.microsoft.com/office/powerpoint/2012/main" userId="Viit Vii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AEFF"/>
    <a:srgbClr val="25A2FF"/>
    <a:srgbClr val="189CDE"/>
    <a:srgbClr val="0996FF"/>
    <a:srgbClr val="0192FF"/>
    <a:srgbClr val="0594FF"/>
    <a:srgbClr val="008FFA"/>
    <a:srgbClr val="008A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106" d="100"/>
          <a:sy n="106" d="100"/>
        </p:scale>
        <p:origin x="525" y="5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981B592-AEF7-4F19-89CE-62E2656F1C5E}" type="datetimeFigureOut">
              <a:rPr lang="en-IN" smtClean="0"/>
              <a:pPr/>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559C-9A1D-465C-BD22-C64000BBBB10}" type="slidenum">
              <a:rPr lang="en-IN" smtClean="0"/>
              <a:pPr/>
              <a:t>‹#›</a:t>
            </a:fld>
            <a:endParaRPr lang="en-IN"/>
          </a:p>
        </p:txBody>
      </p:sp>
    </p:spTree>
    <p:extLst>
      <p:ext uri="{BB962C8B-B14F-4D97-AF65-F5344CB8AC3E}">
        <p14:creationId xmlns:p14="http://schemas.microsoft.com/office/powerpoint/2010/main" val="311978485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2</a:t>
            </a:fld>
            <a:endParaRPr lang="en-IN" dirty="0"/>
          </a:p>
        </p:txBody>
      </p:sp>
    </p:spTree>
    <p:extLst>
      <p:ext uri="{BB962C8B-B14F-4D97-AF65-F5344CB8AC3E}">
        <p14:creationId xmlns:p14="http://schemas.microsoft.com/office/powerpoint/2010/main" val="1202755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1018-08A3-035A-F96F-0FD749FD0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94E598-3BDA-9FF6-704E-F80213076D7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2B29DCD-8D67-123E-ED7A-FFE40F5F0F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140853-E642-656A-EBE8-B6500C591B40}"/>
              </a:ext>
            </a:extLst>
          </p:cNvPr>
          <p:cNvSpPr>
            <a:spLocks noGrp="1"/>
          </p:cNvSpPr>
          <p:nvPr>
            <p:ph type="sldNum" sz="quarter" idx="5"/>
          </p:nvPr>
        </p:nvSpPr>
        <p:spPr/>
        <p:txBody>
          <a:bodyPr/>
          <a:lstStyle/>
          <a:p>
            <a:fld id="{4BD5559C-9A1D-465C-BD22-C64000BBBB10}" type="slidenum">
              <a:rPr lang="en-IN" smtClean="0"/>
              <a:pPr/>
              <a:t>4</a:t>
            </a:fld>
            <a:endParaRPr lang="en-IN" dirty="0"/>
          </a:p>
        </p:txBody>
      </p:sp>
    </p:spTree>
    <p:extLst>
      <p:ext uri="{BB962C8B-B14F-4D97-AF65-F5344CB8AC3E}">
        <p14:creationId xmlns:p14="http://schemas.microsoft.com/office/powerpoint/2010/main" val="1341763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8: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36" name="Google Shape;436;p1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Tree>
    <p:extLst>
      <p:ext uri="{BB962C8B-B14F-4D97-AF65-F5344CB8AC3E}">
        <p14:creationId xmlns:p14="http://schemas.microsoft.com/office/powerpoint/2010/main" val="278046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6</a:t>
            </a:fld>
            <a:endParaRPr lang="en-IN"/>
          </a:p>
        </p:txBody>
      </p:sp>
    </p:spTree>
    <p:extLst>
      <p:ext uri="{BB962C8B-B14F-4D97-AF65-F5344CB8AC3E}">
        <p14:creationId xmlns:p14="http://schemas.microsoft.com/office/powerpoint/2010/main" val="3618939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7</a:t>
            </a:fld>
            <a:endParaRPr lang="en-IN"/>
          </a:p>
        </p:txBody>
      </p:sp>
    </p:spTree>
    <p:extLst>
      <p:ext uri="{BB962C8B-B14F-4D97-AF65-F5344CB8AC3E}">
        <p14:creationId xmlns:p14="http://schemas.microsoft.com/office/powerpoint/2010/main" val="3357996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8</a:t>
            </a:fld>
            <a:endParaRPr lang="en-IN"/>
          </a:p>
        </p:txBody>
      </p:sp>
    </p:spTree>
    <p:extLst>
      <p:ext uri="{BB962C8B-B14F-4D97-AF65-F5344CB8AC3E}">
        <p14:creationId xmlns:p14="http://schemas.microsoft.com/office/powerpoint/2010/main" val="2485819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7EABA-B8E2-BC00-2E63-139F3E5C4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26151-1A92-CF69-1C41-AC19B7436D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65A5535-5069-9AD0-A1E5-439F422248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4C941C-FE3D-9831-AC20-AB16F425B143}"/>
              </a:ext>
            </a:extLst>
          </p:cNvPr>
          <p:cNvSpPr>
            <a:spLocks noGrp="1"/>
          </p:cNvSpPr>
          <p:nvPr>
            <p:ph type="sldNum" sz="quarter" idx="5"/>
          </p:nvPr>
        </p:nvSpPr>
        <p:spPr/>
        <p:txBody>
          <a:bodyPr/>
          <a:lstStyle/>
          <a:p>
            <a:fld id="{4BD5559C-9A1D-465C-BD22-C64000BBBB10}" type="slidenum">
              <a:rPr lang="en-IN" smtClean="0"/>
              <a:t>9</a:t>
            </a:fld>
            <a:endParaRPr lang="en-IN"/>
          </a:p>
        </p:txBody>
      </p:sp>
    </p:spTree>
    <p:extLst>
      <p:ext uri="{BB962C8B-B14F-4D97-AF65-F5344CB8AC3E}">
        <p14:creationId xmlns:p14="http://schemas.microsoft.com/office/powerpoint/2010/main" val="1968302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26C70-EF1B-8CBD-96A7-A8C2ACF64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BEDC0-FB05-1942-2FAB-92C75724632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232F64-2D81-BEF9-6196-FA17F7387A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AE0C267-E1A4-6EB3-DAC9-6A8284A7A245}"/>
              </a:ext>
            </a:extLst>
          </p:cNvPr>
          <p:cNvSpPr>
            <a:spLocks noGrp="1"/>
          </p:cNvSpPr>
          <p:nvPr>
            <p:ph type="sldNum" sz="quarter" idx="5"/>
          </p:nvPr>
        </p:nvSpPr>
        <p:spPr/>
        <p:txBody>
          <a:bodyPr/>
          <a:lstStyle/>
          <a:p>
            <a:fld id="{4BD5559C-9A1D-465C-BD22-C64000BBBB10}" type="slidenum">
              <a:rPr lang="en-IN" smtClean="0"/>
              <a:t>10</a:t>
            </a:fld>
            <a:endParaRPr lang="en-IN"/>
          </a:p>
        </p:txBody>
      </p:sp>
    </p:spTree>
    <p:extLst>
      <p:ext uri="{BB962C8B-B14F-4D97-AF65-F5344CB8AC3E}">
        <p14:creationId xmlns:p14="http://schemas.microsoft.com/office/powerpoint/2010/main" val="2861418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58E3-A5D2-5D37-94ED-ABECA803E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D69D8-13A4-E219-9191-0F70FBB29A0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AB44B7-C8C9-30D6-4D5D-277A145FF8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7995A6-AFF7-790E-0767-664969CE5F02}"/>
              </a:ext>
            </a:extLst>
          </p:cNvPr>
          <p:cNvSpPr>
            <a:spLocks noGrp="1"/>
          </p:cNvSpPr>
          <p:nvPr>
            <p:ph type="sldNum" sz="quarter" idx="5"/>
          </p:nvPr>
        </p:nvSpPr>
        <p:spPr/>
        <p:txBody>
          <a:bodyPr/>
          <a:lstStyle/>
          <a:p>
            <a:fld id="{4BD5559C-9A1D-465C-BD22-C64000BBBB10}" type="slidenum">
              <a:rPr lang="en-IN" smtClean="0"/>
              <a:t>11</a:t>
            </a:fld>
            <a:endParaRPr lang="en-IN"/>
          </a:p>
        </p:txBody>
      </p:sp>
    </p:spTree>
    <p:extLst>
      <p:ext uri="{BB962C8B-B14F-4D97-AF65-F5344CB8AC3E}">
        <p14:creationId xmlns:p14="http://schemas.microsoft.com/office/powerpoint/2010/main" val="691294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127C6-DF97-A1FF-F05E-F096D11E1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B6C18-C414-AB6E-2F6D-D107E5C705C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CDF7D60-6106-37E5-331E-70C1973241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0A407E-C51B-DB3C-2216-5737DB654022}"/>
              </a:ext>
            </a:extLst>
          </p:cNvPr>
          <p:cNvSpPr>
            <a:spLocks noGrp="1"/>
          </p:cNvSpPr>
          <p:nvPr>
            <p:ph type="sldNum" sz="quarter" idx="5"/>
          </p:nvPr>
        </p:nvSpPr>
        <p:spPr/>
        <p:txBody>
          <a:bodyPr/>
          <a:lstStyle/>
          <a:p>
            <a:fld id="{4BD5559C-9A1D-465C-BD22-C64000BBBB10}" type="slidenum">
              <a:rPr lang="en-IN" smtClean="0"/>
              <a:t>12</a:t>
            </a:fld>
            <a:endParaRPr lang="en-IN"/>
          </a:p>
        </p:txBody>
      </p:sp>
    </p:spTree>
    <p:extLst>
      <p:ext uri="{BB962C8B-B14F-4D97-AF65-F5344CB8AC3E}">
        <p14:creationId xmlns:p14="http://schemas.microsoft.com/office/powerpoint/2010/main" val="1671516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B6250-ED79-95AE-58EC-B9C3D1436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194B3-0861-7E16-839B-3B1D9B4C83D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34AD482-EBDE-2EDA-6519-D71FA5484D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7EEC0F-4BD9-2776-C700-7935FA27320A}"/>
              </a:ext>
            </a:extLst>
          </p:cNvPr>
          <p:cNvSpPr>
            <a:spLocks noGrp="1"/>
          </p:cNvSpPr>
          <p:nvPr>
            <p:ph type="sldNum" sz="quarter" idx="5"/>
          </p:nvPr>
        </p:nvSpPr>
        <p:spPr/>
        <p:txBody>
          <a:bodyPr/>
          <a:lstStyle/>
          <a:p>
            <a:fld id="{4BD5559C-9A1D-465C-BD22-C64000BBBB10}" type="slidenum">
              <a:rPr lang="en-IN" smtClean="0"/>
              <a:t>13</a:t>
            </a:fld>
            <a:endParaRPr lang="en-IN"/>
          </a:p>
        </p:txBody>
      </p:sp>
    </p:spTree>
    <p:extLst>
      <p:ext uri="{BB962C8B-B14F-4D97-AF65-F5344CB8AC3E}">
        <p14:creationId xmlns:p14="http://schemas.microsoft.com/office/powerpoint/2010/main" val="1898480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1DC0-FFBA-FAD5-E527-07F8C3C30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5E234-FDDD-AED8-C7D2-54A1155822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6F53693-B449-AE41-8962-A8BA9F7E88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BB346A-02B1-C0D3-8F49-A5E11E2CD6C6}"/>
              </a:ext>
            </a:extLst>
          </p:cNvPr>
          <p:cNvSpPr>
            <a:spLocks noGrp="1"/>
          </p:cNvSpPr>
          <p:nvPr>
            <p:ph type="sldNum" sz="quarter" idx="5"/>
          </p:nvPr>
        </p:nvSpPr>
        <p:spPr/>
        <p:txBody>
          <a:bodyPr/>
          <a:lstStyle/>
          <a:p>
            <a:fld id="{4BD5559C-9A1D-465C-BD22-C64000BBBB10}" type="slidenum">
              <a:rPr lang="en-IN" smtClean="0"/>
              <a:t>14</a:t>
            </a:fld>
            <a:endParaRPr lang="en-IN"/>
          </a:p>
        </p:txBody>
      </p:sp>
    </p:spTree>
    <p:extLst>
      <p:ext uri="{BB962C8B-B14F-4D97-AF65-F5344CB8AC3E}">
        <p14:creationId xmlns:p14="http://schemas.microsoft.com/office/powerpoint/2010/main" val="2411536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C6448-BBBC-8B2A-FAFE-A46CC3A6E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7663A-FC7F-2FA6-42AD-30BC3B86880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441C404-B029-FB1E-C768-CA272DFF6C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2B7110-4B45-4B87-A836-86DFC86899BE}"/>
              </a:ext>
            </a:extLst>
          </p:cNvPr>
          <p:cNvSpPr>
            <a:spLocks noGrp="1"/>
          </p:cNvSpPr>
          <p:nvPr>
            <p:ph type="sldNum" sz="quarter" idx="5"/>
          </p:nvPr>
        </p:nvSpPr>
        <p:spPr/>
        <p:txBody>
          <a:bodyPr/>
          <a:lstStyle/>
          <a:p>
            <a:fld id="{4BD5559C-9A1D-465C-BD22-C64000BBBB10}" type="slidenum">
              <a:rPr lang="en-IN" smtClean="0"/>
              <a:t>15</a:t>
            </a:fld>
            <a:endParaRPr lang="en-IN"/>
          </a:p>
        </p:txBody>
      </p:sp>
    </p:spTree>
    <p:extLst>
      <p:ext uri="{BB962C8B-B14F-4D97-AF65-F5344CB8AC3E}">
        <p14:creationId xmlns:p14="http://schemas.microsoft.com/office/powerpoint/2010/main" val="4261951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815B-51CB-18D9-CEF2-DD82D53DE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3357C-4220-6976-F3E2-76A6E9267FE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94272A8-841E-CDCD-C7DA-9B5467A40F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63A691-6272-8FBB-1E50-5D697B0D4E59}"/>
              </a:ext>
            </a:extLst>
          </p:cNvPr>
          <p:cNvSpPr>
            <a:spLocks noGrp="1"/>
          </p:cNvSpPr>
          <p:nvPr>
            <p:ph type="sldNum" sz="quarter" idx="5"/>
          </p:nvPr>
        </p:nvSpPr>
        <p:spPr/>
        <p:txBody>
          <a:bodyPr/>
          <a:lstStyle/>
          <a:p>
            <a:fld id="{4BD5559C-9A1D-465C-BD22-C64000BBBB10}" type="slidenum">
              <a:rPr lang="en-IN" smtClean="0"/>
              <a:t>16</a:t>
            </a:fld>
            <a:endParaRPr lang="en-IN"/>
          </a:p>
        </p:txBody>
      </p:sp>
    </p:spTree>
    <p:extLst>
      <p:ext uri="{BB962C8B-B14F-4D97-AF65-F5344CB8AC3E}">
        <p14:creationId xmlns:p14="http://schemas.microsoft.com/office/powerpoint/2010/main" val="3192133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8D0F-821D-44DE-095F-4B5E93889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4AB88-73E8-0236-DD67-162E661E20B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2A6F4F3-EAAD-9F2D-6364-C3B2BC5412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ED8CCCD-2988-EB24-9BF2-A59921C43713}"/>
              </a:ext>
            </a:extLst>
          </p:cNvPr>
          <p:cNvSpPr>
            <a:spLocks noGrp="1"/>
          </p:cNvSpPr>
          <p:nvPr>
            <p:ph type="sldNum" sz="quarter" idx="5"/>
          </p:nvPr>
        </p:nvSpPr>
        <p:spPr/>
        <p:txBody>
          <a:bodyPr/>
          <a:lstStyle/>
          <a:p>
            <a:fld id="{4BD5559C-9A1D-465C-BD22-C64000BBBB10}" type="slidenum">
              <a:rPr lang="en-IN" smtClean="0"/>
              <a:t>17</a:t>
            </a:fld>
            <a:endParaRPr lang="en-IN"/>
          </a:p>
        </p:txBody>
      </p:sp>
    </p:spTree>
    <p:extLst>
      <p:ext uri="{BB962C8B-B14F-4D97-AF65-F5344CB8AC3E}">
        <p14:creationId xmlns:p14="http://schemas.microsoft.com/office/powerpoint/2010/main" val="865818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7B64-C833-938B-50A8-9F9B5E676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CDDBD-68AF-C70D-FE4A-6CBE3D73BD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503BC33-05F6-C1EB-87FE-ADCC945A11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E64E39-01C5-F452-C262-42B3ACF8D8DE}"/>
              </a:ext>
            </a:extLst>
          </p:cNvPr>
          <p:cNvSpPr>
            <a:spLocks noGrp="1"/>
          </p:cNvSpPr>
          <p:nvPr>
            <p:ph type="sldNum" sz="quarter" idx="5"/>
          </p:nvPr>
        </p:nvSpPr>
        <p:spPr/>
        <p:txBody>
          <a:bodyPr/>
          <a:lstStyle/>
          <a:p>
            <a:fld id="{4BD5559C-9A1D-465C-BD22-C64000BBBB10}" type="slidenum">
              <a:rPr lang="en-IN" smtClean="0"/>
              <a:t>18</a:t>
            </a:fld>
            <a:endParaRPr lang="en-IN"/>
          </a:p>
        </p:txBody>
      </p:sp>
    </p:spTree>
    <p:extLst>
      <p:ext uri="{BB962C8B-B14F-4D97-AF65-F5344CB8AC3E}">
        <p14:creationId xmlns:p14="http://schemas.microsoft.com/office/powerpoint/2010/main" val="3430653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0DF-096F-0E68-2832-BB2D8157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1B408-33FD-9273-063A-B8AE13BDDA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F0B586D-B7CA-D67B-ED69-60E38AB9A2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F40C7C-4091-B22F-8F00-7A530A764277}"/>
              </a:ext>
            </a:extLst>
          </p:cNvPr>
          <p:cNvSpPr>
            <a:spLocks noGrp="1"/>
          </p:cNvSpPr>
          <p:nvPr>
            <p:ph type="sldNum" sz="quarter" idx="5"/>
          </p:nvPr>
        </p:nvSpPr>
        <p:spPr/>
        <p:txBody>
          <a:bodyPr/>
          <a:lstStyle/>
          <a:p>
            <a:fld id="{4BD5559C-9A1D-465C-BD22-C64000BBBB10}" type="slidenum">
              <a:rPr lang="en-IN" smtClean="0"/>
              <a:t>19</a:t>
            </a:fld>
            <a:endParaRPr lang="en-IN"/>
          </a:p>
        </p:txBody>
      </p:sp>
    </p:spTree>
    <p:extLst>
      <p:ext uri="{BB962C8B-B14F-4D97-AF65-F5344CB8AC3E}">
        <p14:creationId xmlns:p14="http://schemas.microsoft.com/office/powerpoint/2010/main" val="2688796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9838-D486-E1D4-3CDE-1172F0582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2225F-2EF4-50CB-187F-FF90A895653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380B592-969B-9794-58A5-CEF302B6A9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6DAA7D-DCE7-E959-2223-054CBDA09832}"/>
              </a:ext>
            </a:extLst>
          </p:cNvPr>
          <p:cNvSpPr>
            <a:spLocks noGrp="1"/>
          </p:cNvSpPr>
          <p:nvPr>
            <p:ph type="sldNum" sz="quarter" idx="5"/>
          </p:nvPr>
        </p:nvSpPr>
        <p:spPr/>
        <p:txBody>
          <a:bodyPr/>
          <a:lstStyle/>
          <a:p>
            <a:fld id="{4BD5559C-9A1D-465C-BD22-C64000BBBB10}" type="slidenum">
              <a:rPr lang="en-IN" smtClean="0"/>
              <a:t>20</a:t>
            </a:fld>
            <a:endParaRPr lang="en-IN"/>
          </a:p>
        </p:txBody>
      </p:sp>
    </p:spTree>
    <p:extLst>
      <p:ext uri="{BB962C8B-B14F-4D97-AF65-F5344CB8AC3E}">
        <p14:creationId xmlns:p14="http://schemas.microsoft.com/office/powerpoint/2010/main" val="1491492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CD90-D1B7-76C6-49EB-8900107C7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55364-A3FB-1A98-4F2B-BB20485DC9E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F322CBF-F5DB-5F22-7CDB-1357FB2E03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4158EE-0B2D-E99C-ECB3-8CB9BAB904C9}"/>
              </a:ext>
            </a:extLst>
          </p:cNvPr>
          <p:cNvSpPr>
            <a:spLocks noGrp="1"/>
          </p:cNvSpPr>
          <p:nvPr>
            <p:ph type="sldNum" sz="quarter" idx="5"/>
          </p:nvPr>
        </p:nvSpPr>
        <p:spPr/>
        <p:txBody>
          <a:bodyPr/>
          <a:lstStyle/>
          <a:p>
            <a:fld id="{4BD5559C-9A1D-465C-BD22-C64000BBBB10}" type="slidenum">
              <a:rPr lang="en-IN" smtClean="0"/>
              <a:t>21</a:t>
            </a:fld>
            <a:endParaRPr lang="en-IN"/>
          </a:p>
        </p:txBody>
      </p:sp>
    </p:spTree>
    <p:extLst>
      <p:ext uri="{BB962C8B-B14F-4D97-AF65-F5344CB8AC3E}">
        <p14:creationId xmlns:p14="http://schemas.microsoft.com/office/powerpoint/2010/main" val="4280973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3227-CEE1-DB60-CEC3-EBAA4242A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A69BD-BCEB-AA44-E8C8-FF350B93F71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E76C2E7-C5C0-2E7C-363F-5B40F2DE89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BF223A-9243-534F-5F11-1AB1D403390B}"/>
              </a:ext>
            </a:extLst>
          </p:cNvPr>
          <p:cNvSpPr>
            <a:spLocks noGrp="1"/>
          </p:cNvSpPr>
          <p:nvPr>
            <p:ph type="sldNum" sz="quarter" idx="5"/>
          </p:nvPr>
        </p:nvSpPr>
        <p:spPr/>
        <p:txBody>
          <a:bodyPr/>
          <a:lstStyle/>
          <a:p>
            <a:fld id="{4BD5559C-9A1D-465C-BD22-C64000BBBB10}" type="slidenum">
              <a:rPr lang="en-IN" smtClean="0"/>
              <a:t>22</a:t>
            </a:fld>
            <a:endParaRPr lang="en-IN"/>
          </a:p>
        </p:txBody>
      </p:sp>
    </p:spTree>
    <p:extLst>
      <p:ext uri="{BB962C8B-B14F-4D97-AF65-F5344CB8AC3E}">
        <p14:creationId xmlns:p14="http://schemas.microsoft.com/office/powerpoint/2010/main" val="3298859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A6CD-90D1-8FD0-87A9-1E2ED8F00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45DBC-8064-3057-9D53-1D1F5679B87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A22BFBF-3EBE-3DAF-783B-10EA9F5540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130261-8E4F-F306-3D83-78E053114050}"/>
              </a:ext>
            </a:extLst>
          </p:cNvPr>
          <p:cNvSpPr>
            <a:spLocks noGrp="1"/>
          </p:cNvSpPr>
          <p:nvPr>
            <p:ph type="sldNum" sz="quarter" idx="5"/>
          </p:nvPr>
        </p:nvSpPr>
        <p:spPr/>
        <p:txBody>
          <a:bodyPr/>
          <a:lstStyle/>
          <a:p>
            <a:fld id="{4BD5559C-9A1D-465C-BD22-C64000BBBB10}" type="slidenum">
              <a:rPr lang="en-IN" smtClean="0"/>
              <a:t>23</a:t>
            </a:fld>
            <a:endParaRPr lang="en-IN"/>
          </a:p>
        </p:txBody>
      </p:sp>
    </p:spTree>
    <p:extLst>
      <p:ext uri="{BB962C8B-B14F-4D97-AF65-F5344CB8AC3E}">
        <p14:creationId xmlns:p14="http://schemas.microsoft.com/office/powerpoint/2010/main" val="5057825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96351BB7-4118-ADDE-23D7-9B7B099CF2A5}"/>
              </a:ext>
            </a:extLst>
          </p:cNvPr>
          <p:cNvSpPr>
            <a:spLocks noGrp="1" noRot="1" noChangeAspect="1" noChangeArrowheads="1" noTextEdit="1"/>
          </p:cNvSpPr>
          <p:nvPr>
            <p:ph type="sldImg"/>
          </p:nvPr>
        </p:nvSpPr>
        <p:spPr>
          <a:ln/>
        </p:spPr>
      </p:sp>
      <p:sp>
        <p:nvSpPr>
          <p:cNvPr id="4099" name="Notes Placeholder 2">
            <a:extLst>
              <a:ext uri="{FF2B5EF4-FFF2-40B4-BE49-F238E27FC236}">
                <a16:creationId xmlns:a16="http://schemas.microsoft.com/office/drawing/2014/main" id="{56B4BC04-CF38-1DE0-9F5F-F81813865C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Meld used in Edmonds directed minimum spanning tree algorithm, for e.g. We have super nodes. One priority queue for each supernode; has incoming edges. Extract edges until you get one that is not a self loop in the current supernode graph. Combine PQs when two supernodes are combined into one.</a:t>
            </a:r>
          </a:p>
          <a:p>
            <a:endParaRPr lang="en-US" altLang="en-US"/>
          </a:p>
          <a:p>
            <a:r>
              <a:rPr lang="en-US" altLang="en-US"/>
              <a:t>Leftist tree also supports arbitrary remove and satisfies the restrictions specified in a previous lecture for leaf correspondence.</a:t>
            </a:r>
          </a:p>
        </p:txBody>
      </p:sp>
      <p:sp>
        <p:nvSpPr>
          <p:cNvPr id="4100" name="Slide Number Placeholder 3">
            <a:extLst>
              <a:ext uri="{FF2B5EF4-FFF2-40B4-BE49-F238E27FC236}">
                <a16:creationId xmlns:a16="http://schemas.microsoft.com/office/drawing/2014/main" id="{767D14E2-A5E7-BE65-699D-C1BE2415FF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0551A14-CF45-44DE-8180-2FDE4FF165E3}" type="slidenum">
              <a:rPr lang="en-US" altLang="en-US" sz="1000" smtClean="0">
                <a:solidFill>
                  <a:schemeClr val="tx1"/>
                </a:solidFill>
              </a:rPr>
              <a:pPr/>
              <a:t>24</a:t>
            </a:fld>
            <a:endParaRPr lang="en-US" altLang="en-US" sz="1000">
              <a:solidFill>
                <a:schemeClr val="tx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9EE0B829-D4C0-F560-635F-1419A9DCDA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A8CECF3-5A36-4922-BBDC-EC3BDDEDD455}" type="slidenum">
              <a:rPr lang="en-US" altLang="en-US" sz="1000" smtClean="0">
                <a:solidFill>
                  <a:schemeClr val="tx1"/>
                </a:solidFill>
              </a:rPr>
              <a:pPr/>
              <a:t>26</a:t>
            </a:fld>
            <a:endParaRPr lang="en-US" altLang="en-US" sz="1000">
              <a:solidFill>
                <a:schemeClr val="tx1"/>
              </a:solidFill>
            </a:endParaRPr>
          </a:p>
        </p:txBody>
      </p:sp>
      <p:sp>
        <p:nvSpPr>
          <p:cNvPr id="12291" name="Rectangle 2">
            <a:extLst>
              <a:ext uri="{FF2B5EF4-FFF2-40B4-BE49-F238E27FC236}">
                <a16:creationId xmlns:a16="http://schemas.microsoft.com/office/drawing/2014/main" id="{AD2C23DE-6EE1-4E35-D351-2B4F99AA086E}"/>
              </a:ext>
            </a:extLst>
          </p:cNvPr>
          <p:cNvSpPr>
            <a:spLocks noGrp="1" noRot="1" noChangeAspect="1" noChangeArrowheads="1" noTextEdit="1"/>
          </p:cNvSpPr>
          <p:nvPr>
            <p:ph type="sldImg"/>
          </p:nvPr>
        </p:nvSpPr>
        <p:spPr>
          <a:xfrm>
            <a:off x="1187450" y="703263"/>
            <a:ext cx="4621213" cy="3465512"/>
          </a:xfrm>
          <a:ln cap="flat"/>
        </p:spPr>
      </p:sp>
      <p:sp>
        <p:nvSpPr>
          <p:cNvPr id="12292" name="Rectangle 3">
            <a:extLst>
              <a:ext uri="{FF2B5EF4-FFF2-40B4-BE49-F238E27FC236}">
                <a16:creationId xmlns:a16="http://schemas.microsoft.com/office/drawing/2014/main" id="{1A8F8D56-D792-1BC5-C718-71B168E555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A3D4BC9-88FE-C2B4-671D-9391461DF4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699B9952-E599-457E-8EDD-01DBCCEE0565}" type="slidenum">
              <a:rPr lang="en-US" altLang="en-US" sz="1000" smtClean="0">
                <a:solidFill>
                  <a:schemeClr val="tx1"/>
                </a:solidFill>
              </a:rPr>
              <a:pPr/>
              <a:t>27</a:t>
            </a:fld>
            <a:endParaRPr lang="en-US" altLang="en-US" sz="1000">
              <a:solidFill>
                <a:schemeClr val="tx1"/>
              </a:solidFill>
            </a:endParaRPr>
          </a:p>
        </p:txBody>
      </p:sp>
      <p:sp>
        <p:nvSpPr>
          <p:cNvPr id="14339" name="Rectangle 2">
            <a:extLst>
              <a:ext uri="{FF2B5EF4-FFF2-40B4-BE49-F238E27FC236}">
                <a16:creationId xmlns:a16="http://schemas.microsoft.com/office/drawing/2014/main" id="{90ACFB90-4933-4AB3-A89C-33A2FB5766DE}"/>
              </a:ext>
            </a:extLst>
          </p:cNvPr>
          <p:cNvSpPr>
            <a:spLocks noGrp="1" noRot="1" noChangeAspect="1" noChangeArrowheads="1" noTextEdit="1"/>
          </p:cNvSpPr>
          <p:nvPr>
            <p:ph type="sldImg"/>
          </p:nvPr>
        </p:nvSpPr>
        <p:spPr>
          <a:xfrm>
            <a:off x="1187450" y="703263"/>
            <a:ext cx="4621213" cy="3465512"/>
          </a:xfrm>
          <a:ln cap="flat"/>
        </p:spPr>
      </p:sp>
      <p:sp>
        <p:nvSpPr>
          <p:cNvPr id="14340" name="Rectangle 3">
            <a:extLst>
              <a:ext uri="{FF2B5EF4-FFF2-40B4-BE49-F238E27FC236}">
                <a16:creationId xmlns:a16="http://schemas.microsoft.com/office/drawing/2014/main" id="{8AAA6BB9-56D4-3209-51CD-8A0D2C7519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D874F5E-6D07-7880-078B-CE8819148F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17A4E799-F86F-4243-A44C-D1764FB46F77}" type="slidenum">
              <a:rPr lang="en-US" altLang="en-US" sz="1000" smtClean="0">
                <a:solidFill>
                  <a:schemeClr val="tx1"/>
                </a:solidFill>
              </a:rPr>
              <a:pPr/>
              <a:t>28</a:t>
            </a:fld>
            <a:endParaRPr lang="en-US" altLang="en-US" sz="1000">
              <a:solidFill>
                <a:schemeClr val="tx1"/>
              </a:solidFill>
            </a:endParaRPr>
          </a:p>
        </p:txBody>
      </p:sp>
      <p:sp>
        <p:nvSpPr>
          <p:cNvPr id="16387" name="Rectangle 2">
            <a:extLst>
              <a:ext uri="{FF2B5EF4-FFF2-40B4-BE49-F238E27FC236}">
                <a16:creationId xmlns:a16="http://schemas.microsoft.com/office/drawing/2014/main" id="{DB043F8B-EFBD-1ACB-4DD5-EEDC2CB689B1}"/>
              </a:ext>
            </a:extLst>
          </p:cNvPr>
          <p:cNvSpPr>
            <a:spLocks noGrp="1" noRot="1" noChangeAspect="1" noChangeArrowheads="1" noTextEdit="1"/>
          </p:cNvSpPr>
          <p:nvPr>
            <p:ph type="sldImg"/>
          </p:nvPr>
        </p:nvSpPr>
        <p:spPr>
          <a:xfrm>
            <a:off x="1187450" y="703263"/>
            <a:ext cx="4621213" cy="3465512"/>
          </a:xfrm>
          <a:solidFill>
            <a:srgbClr val="FFFFFF"/>
          </a:solidFill>
          <a:ln/>
        </p:spPr>
      </p:sp>
      <p:sp>
        <p:nvSpPr>
          <p:cNvPr id="16388" name="Rectangle 3">
            <a:extLst>
              <a:ext uri="{FF2B5EF4-FFF2-40B4-BE49-F238E27FC236}">
                <a16:creationId xmlns:a16="http://schemas.microsoft.com/office/drawing/2014/main" id="{165F0B90-C7D8-F037-3D45-8E5B65BF7BD3}"/>
              </a:ext>
            </a:extLst>
          </p:cNvPr>
          <p:cNvSpPr>
            <a:spLocks noGrp="1" noChangeArrowheads="1"/>
          </p:cNvSpPr>
          <p:nvPr>
            <p:ph type="body" idx="1"/>
          </p:nvPr>
        </p:nvSpPr>
        <p:spPr>
          <a:solidFill>
            <a:srgbClr val="FFFFFF"/>
          </a:solidFill>
          <a:ln>
            <a:solidFill>
              <a:srgbClr val="000000"/>
            </a:solidFill>
          </a:ln>
        </p:spPr>
        <p:txBody>
          <a:bodyPr/>
          <a:lstStyle/>
          <a:p>
            <a:r>
              <a:rPr lang="en-US" altLang="en-US"/>
              <a:t>s() values may be computed easily using a postorder traversal.</a:t>
            </a:r>
          </a:p>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4B727246-375A-7186-1934-EA317263B824}"/>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0150263B-EA4E-39A5-36EE-2230E50D3A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By contrast, in a weight-biased leftist tree, w(leftChild(x)) &gt;= w(rightChild(x)), w is the weight (#of nodes) in the subtree.</a:t>
            </a:r>
          </a:p>
        </p:txBody>
      </p:sp>
      <p:sp>
        <p:nvSpPr>
          <p:cNvPr id="18436" name="Slide Number Placeholder 3">
            <a:extLst>
              <a:ext uri="{FF2B5EF4-FFF2-40B4-BE49-F238E27FC236}">
                <a16:creationId xmlns:a16="http://schemas.microsoft.com/office/drawing/2014/main" id="{62816B56-0718-F5B6-6414-F580537E8C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CE60FECC-D4CF-4A50-BD64-97091E94A975}" type="slidenum">
              <a:rPr lang="en-US" altLang="en-US" sz="1000" smtClean="0">
                <a:solidFill>
                  <a:schemeClr val="tx1"/>
                </a:solidFill>
              </a:rPr>
              <a:pPr/>
              <a:t>29</a:t>
            </a:fld>
            <a:endParaRPr lang="en-US" altLang="en-US" sz="1000">
              <a:solidFill>
                <a:schemeClr val="tx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254D6FB6-A3B0-7F9E-25CE-914479BF2B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753FE61C-0E11-4EAA-A040-892121CC9383}" type="slidenum">
              <a:rPr lang="en-US" altLang="en-US" sz="1000" smtClean="0">
                <a:solidFill>
                  <a:schemeClr val="tx1"/>
                </a:solidFill>
              </a:rPr>
              <a:pPr/>
              <a:t>30</a:t>
            </a:fld>
            <a:endParaRPr lang="en-US" altLang="en-US" sz="1000">
              <a:solidFill>
                <a:schemeClr val="tx1"/>
              </a:solidFill>
            </a:endParaRPr>
          </a:p>
        </p:txBody>
      </p:sp>
      <p:sp>
        <p:nvSpPr>
          <p:cNvPr id="20483" name="Rectangle 2">
            <a:extLst>
              <a:ext uri="{FF2B5EF4-FFF2-40B4-BE49-F238E27FC236}">
                <a16:creationId xmlns:a16="http://schemas.microsoft.com/office/drawing/2014/main" id="{F1DFB5E6-59A5-6C46-7298-5DB4BBDCB71C}"/>
              </a:ext>
            </a:extLst>
          </p:cNvPr>
          <p:cNvSpPr>
            <a:spLocks noGrp="1" noRot="1" noChangeAspect="1" noChangeArrowheads="1" noTextEdit="1"/>
          </p:cNvSpPr>
          <p:nvPr>
            <p:ph type="sldImg"/>
          </p:nvPr>
        </p:nvSpPr>
        <p:spPr>
          <a:xfrm>
            <a:off x="1187450" y="703263"/>
            <a:ext cx="4621213" cy="3465512"/>
          </a:xfrm>
          <a:ln cap="flat"/>
        </p:spPr>
      </p:sp>
      <p:sp>
        <p:nvSpPr>
          <p:cNvPr id="20484" name="Rectangle 3">
            <a:extLst>
              <a:ext uri="{FF2B5EF4-FFF2-40B4-BE49-F238E27FC236}">
                <a16:creationId xmlns:a16="http://schemas.microsoft.com/office/drawing/2014/main" id="{E47FA0D2-6C57-7F27-B099-A29A6D3086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r>
              <a:rPr lang="en-US" altLang="en-US"/>
              <a:t>Note that the s value decreases by 1 every time you move to a right child of a node. However, when you move to a left child, the s value may increase, though not in above example!</a:t>
            </a:r>
          </a:p>
          <a:p>
            <a:r>
              <a:rPr lang="en-US" altLang="en-US"/>
              <a:t>Every subtree also is a leftist tree. </a:t>
            </a:r>
          </a:p>
          <a:p>
            <a:endParaRPr lang="en-US" altLang="en-US"/>
          </a:p>
          <a:p>
            <a:r>
              <a:rPr lang="en-US" altLang="en-US"/>
              <a:t>Note also that every binary tree may be converted into a leftist tree by swapping left and right children whenever the leftist tree property is violated (use a postorder traversal, for example).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E962B8C5-F1DB-8CC0-BDD4-C62FDBC9DA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86E097BD-D58A-463E-BAF7-8F956CD830CF}" type="slidenum">
              <a:rPr lang="en-US" altLang="en-US" sz="1000" smtClean="0">
                <a:solidFill>
                  <a:schemeClr val="tx1"/>
                </a:solidFill>
              </a:rPr>
              <a:pPr/>
              <a:t>32</a:t>
            </a:fld>
            <a:endParaRPr lang="en-US" altLang="en-US" sz="1000">
              <a:solidFill>
                <a:schemeClr val="tx1"/>
              </a:solidFill>
            </a:endParaRPr>
          </a:p>
        </p:txBody>
      </p:sp>
      <p:sp>
        <p:nvSpPr>
          <p:cNvPr id="23555" name="Rectangle 2">
            <a:extLst>
              <a:ext uri="{FF2B5EF4-FFF2-40B4-BE49-F238E27FC236}">
                <a16:creationId xmlns:a16="http://schemas.microsoft.com/office/drawing/2014/main" id="{6477835B-F98F-79C4-815E-31C6927198F2}"/>
              </a:ext>
            </a:extLst>
          </p:cNvPr>
          <p:cNvSpPr>
            <a:spLocks noGrp="1" noRot="1" noChangeAspect="1" noChangeArrowheads="1" noTextEdit="1"/>
          </p:cNvSpPr>
          <p:nvPr>
            <p:ph type="sldImg"/>
          </p:nvPr>
        </p:nvSpPr>
        <p:spPr>
          <a:xfrm>
            <a:off x="1187450" y="703263"/>
            <a:ext cx="4621213" cy="3465512"/>
          </a:xfrm>
          <a:ln cap="flat"/>
        </p:spPr>
      </p:sp>
      <p:sp>
        <p:nvSpPr>
          <p:cNvPr id="23556" name="Rectangle 3">
            <a:extLst>
              <a:ext uri="{FF2B5EF4-FFF2-40B4-BE49-F238E27FC236}">
                <a16:creationId xmlns:a16="http://schemas.microsoft.com/office/drawing/2014/main" id="{E1EB02A4-EBCF-F76D-E144-D0E6FE32B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3638A56D-CEC0-B908-76ED-6ADC32A962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87EA873D-119A-4010-B79C-5F42897370B1}" type="slidenum">
              <a:rPr lang="en-US" altLang="en-US" sz="1000" smtClean="0">
                <a:solidFill>
                  <a:schemeClr val="tx1"/>
                </a:solidFill>
              </a:rPr>
              <a:pPr/>
              <a:t>34</a:t>
            </a:fld>
            <a:endParaRPr lang="en-US" altLang="en-US" sz="1000">
              <a:solidFill>
                <a:schemeClr val="tx1"/>
              </a:solidFill>
            </a:endParaRPr>
          </a:p>
        </p:txBody>
      </p:sp>
      <p:sp>
        <p:nvSpPr>
          <p:cNvPr id="26627" name="Rectangle 2">
            <a:extLst>
              <a:ext uri="{FF2B5EF4-FFF2-40B4-BE49-F238E27FC236}">
                <a16:creationId xmlns:a16="http://schemas.microsoft.com/office/drawing/2014/main" id="{B34024EC-010C-823F-C539-5A0E15CD4B3F}"/>
              </a:ext>
            </a:extLst>
          </p:cNvPr>
          <p:cNvSpPr>
            <a:spLocks noGrp="1" noRot="1" noChangeAspect="1" noChangeArrowheads="1" noTextEdit="1"/>
          </p:cNvSpPr>
          <p:nvPr>
            <p:ph type="sldImg"/>
          </p:nvPr>
        </p:nvSpPr>
        <p:spPr>
          <a:xfrm>
            <a:off x="1187450" y="703263"/>
            <a:ext cx="4621213" cy="3465512"/>
          </a:xfrm>
          <a:ln cap="flat"/>
        </p:spPr>
      </p:sp>
      <p:sp>
        <p:nvSpPr>
          <p:cNvPr id="26628" name="Rectangle 3">
            <a:extLst>
              <a:ext uri="{FF2B5EF4-FFF2-40B4-BE49-F238E27FC236}">
                <a16:creationId xmlns:a16="http://schemas.microsoft.com/office/drawing/2014/main" id="{606C4789-1442-9160-0665-40CCA07B16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r>
              <a:rPr lang="en-US" altLang="en-US"/>
              <a:t>Max nodes as a function of s(root)? No limit.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D0A1830-A32A-5140-98CF-7CCFF001D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AA769DA8-0AAE-4554-A60C-E422C69BDD6C}" type="slidenum">
              <a:rPr lang="en-US" altLang="en-US" sz="1000" smtClean="0">
                <a:solidFill>
                  <a:schemeClr val="tx1"/>
                </a:solidFill>
              </a:rPr>
              <a:pPr/>
              <a:t>36</a:t>
            </a:fld>
            <a:endParaRPr lang="en-US" altLang="en-US" sz="1000">
              <a:solidFill>
                <a:schemeClr val="tx1"/>
              </a:solidFill>
            </a:endParaRPr>
          </a:p>
        </p:txBody>
      </p:sp>
      <p:sp>
        <p:nvSpPr>
          <p:cNvPr id="29699" name="Rectangle 2">
            <a:extLst>
              <a:ext uri="{FF2B5EF4-FFF2-40B4-BE49-F238E27FC236}">
                <a16:creationId xmlns:a16="http://schemas.microsoft.com/office/drawing/2014/main" id="{CD33691F-39B1-7F07-C6B4-D2CC605D935A}"/>
              </a:ext>
            </a:extLst>
          </p:cNvPr>
          <p:cNvSpPr>
            <a:spLocks noGrp="1" noRot="1" noChangeAspect="1" noChangeArrowheads="1" noTextEdit="1"/>
          </p:cNvSpPr>
          <p:nvPr>
            <p:ph type="sldImg"/>
          </p:nvPr>
        </p:nvSpPr>
        <p:spPr>
          <a:xfrm>
            <a:off x="1187450" y="703263"/>
            <a:ext cx="4621213" cy="3465512"/>
          </a:xfrm>
          <a:ln cap="flat"/>
        </p:spPr>
      </p:sp>
      <p:sp>
        <p:nvSpPr>
          <p:cNvPr id="29700" name="Rectangle 3">
            <a:extLst>
              <a:ext uri="{FF2B5EF4-FFF2-40B4-BE49-F238E27FC236}">
                <a16:creationId xmlns:a16="http://schemas.microsoft.com/office/drawing/2014/main" id="{A2F9CBD9-B33C-9FC3-87D6-E04E3402EF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r>
              <a:rPr lang="en-US" altLang="en-US"/>
              <a:t>Min (max) tree</a:t>
            </a:r>
            <a:r>
              <a:rPr lang="en-US" altLang="en-US">
                <a:sym typeface="Wingdings" panose="05000000000000000000" pitchFamily="2" charset="2"/>
              </a:rPr>
              <a:t>root of every subtree has min (max) value in the subtree</a:t>
            </a:r>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141FD-8B8D-FB5C-2FEF-B7D75A4F6799}"/>
            </a:ext>
          </a:extLst>
        </p:cNvPr>
        <p:cNvGrpSpPr/>
        <p:nvPr/>
      </p:nvGrpSpPr>
      <p:grpSpPr>
        <a:xfrm>
          <a:off x="0" y="0"/>
          <a:ext cx="0" cy="0"/>
          <a:chOff x="0" y="0"/>
          <a:chExt cx="0" cy="0"/>
        </a:xfrm>
      </p:grpSpPr>
      <p:sp>
        <p:nvSpPr>
          <p:cNvPr id="29698" name="Rectangle 7">
            <a:extLst>
              <a:ext uri="{FF2B5EF4-FFF2-40B4-BE49-F238E27FC236}">
                <a16:creationId xmlns:a16="http://schemas.microsoft.com/office/drawing/2014/main" id="{549C419B-10E5-1D4E-A77B-17D4594541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AA769DA8-0AAE-4554-A60C-E422C69BDD6C}" type="slidenum">
              <a:rPr lang="en-US" altLang="en-US" sz="1000" smtClean="0">
                <a:solidFill>
                  <a:schemeClr val="tx1"/>
                </a:solidFill>
              </a:rPr>
              <a:pPr/>
              <a:t>37</a:t>
            </a:fld>
            <a:endParaRPr lang="en-US" altLang="en-US" sz="1000">
              <a:solidFill>
                <a:schemeClr val="tx1"/>
              </a:solidFill>
            </a:endParaRPr>
          </a:p>
        </p:txBody>
      </p:sp>
      <p:sp>
        <p:nvSpPr>
          <p:cNvPr id="29699" name="Rectangle 2">
            <a:extLst>
              <a:ext uri="{FF2B5EF4-FFF2-40B4-BE49-F238E27FC236}">
                <a16:creationId xmlns:a16="http://schemas.microsoft.com/office/drawing/2014/main" id="{0024B747-A993-0D2B-EE51-CEE0AFA2D599}"/>
              </a:ext>
            </a:extLst>
          </p:cNvPr>
          <p:cNvSpPr>
            <a:spLocks noGrp="1" noRot="1" noChangeAspect="1" noChangeArrowheads="1" noTextEdit="1"/>
          </p:cNvSpPr>
          <p:nvPr>
            <p:ph type="sldImg"/>
          </p:nvPr>
        </p:nvSpPr>
        <p:spPr>
          <a:xfrm>
            <a:off x="419100" y="703263"/>
            <a:ext cx="6157913" cy="3465512"/>
          </a:xfrm>
          <a:ln cap="flat"/>
        </p:spPr>
      </p:sp>
      <p:sp>
        <p:nvSpPr>
          <p:cNvPr id="29700" name="Rectangle 3">
            <a:extLst>
              <a:ext uri="{FF2B5EF4-FFF2-40B4-BE49-F238E27FC236}">
                <a16:creationId xmlns:a16="http://schemas.microsoft.com/office/drawing/2014/main" id="{E260CE28-AEC6-6F0B-6049-97E095154C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r>
              <a:rPr lang="en-US" altLang="en-US"/>
              <a:t>Min (max) tree</a:t>
            </a:r>
            <a:r>
              <a:rPr lang="en-US" altLang="en-US">
                <a:sym typeface="Wingdings" panose="05000000000000000000" pitchFamily="2" charset="2"/>
              </a:rPr>
              <a:t>root of every subtree has min (max) value in the subtree</a:t>
            </a:r>
            <a:endParaRPr lang="en-US" altLang="en-US"/>
          </a:p>
        </p:txBody>
      </p:sp>
    </p:spTree>
    <p:extLst>
      <p:ext uri="{BB962C8B-B14F-4D97-AF65-F5344CB8AC3E}">
        <p14:creationId xmlns:p14="http://schemas.microsoft.com/office/powerpoint/2010/main" val="188794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395456D-FD9F-93E7-B2BA-16FD44920F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F521A27D-5758-4879-8FEE-8D7A93FE8861}" type="slidenum">
              <a:rPr lang="en-US" altLang="en-US" sz="1000" smtClean="0">
                <a:solidFill>
                  <a:schemeClr val="tx1"/>
                </a:solidFill>
              </a:rPr>
              <a:pPr/>
              <a:t>38</a:t>
            </a:fld>
            <a:endParaRPr lang="en-US" altLang="en-US" sz="1000">
              <a:solidFill>
                <a:schemeClr val="tx1"/>
              </a:solidFill>
            </a:endParaRPr>
          </a:p>
        </p:txBody>
      </p:sp>
      <p:sp>
        <p:nvSpPr>
          <p:cNvPr id="31747" name="Rectangle 2">
            <a:extLst>
              <a:ext uri="{FF2B5EF4-FFF2-40B4-BE49-F238E27FC236}">
                <a16:creationId xmlns:a16="http://schemas.microsoft.com/office/drawing/2014/main" id="{C37A3D95-948A-F997-717E-BA0FEC3F801E}"/>
              </a:ext>
            </a:extLst>
          </p:cNvPr>
          <p:cNvSpPr>
            <a:spLocks noGrp="1" noRot="1" noChangeAspect="1" noChangeArrowheads="1" noTextEdit="1"/>
          </p:cNvSpPr>
          <p:nvPr>
            <p:ph type="sldImg"/>
          </p:nvPr>
        </p:nvSpPr>
        <p:spPr>
          <a:xfrm>
            <a:off x="1187450" y="703263"/>
            <a:ext cx="4621213" cy="3465512"/>
          </a:xfrm>
          <a:ln cap="flat"/>
        </p:spPr>
      </p:sp>
      <p:sp>
        <p:nvSpPr>
          <p:cNvPr id="31748" name="Rectangle 3">
            <a:extLst>
              <a:ext uri="{FF2B5EF4-FFF2-40B4-BE49-F238E27FC236}">
                <a16:creationId xmlns:a16="http://schemas.microsoft.com/office/drawing/2014/main" id="{7CA25C46-23DE-3813-BA9C-399B472D74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9F23387-A3D1-CD65-1ECD-16437F8BB9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54764463-1EBD-4E40-8655-632130FFC54C}" type="slidenum">
              <a:rPr lang="en-US" altLang="en-US" sz="1000" smtClean="0">
                <a:solidFill>
                  <a:schemeClr val="tx1"/>
                </a:solidFill>
              </a:rPr>
              <a:pPr/>
              <a:t>39</a:t>
            </a:fld>
            <a:endParaRPr lang="en-US" altLang="en-US" sz="1000">
              <a:solidFill>
                <a:schemeClr val="tx1"/>
              </a:solidFill>
            </a:endParaRPr>
          </a:p>
        </p:txBody>
      </p:sp>
      <p:sp>
        <p:nvSpPr>
          <p:cNvPr id="33795" name="Rectangle 2">
            <a:extLst>
              <a:ext uri="{FF2B5EF4-FFF2-40B4-BE49-F238E27FC236}">
                <a16:creationId xmlns:a16="http://schemas.microsoft.com/office/drawing/2014/main" id="{80AC9A29-AE28-302E-0983-DA21468029BC}"/>
              </a:ext>
            </a:extLst>
          </p:cNvPr>
          <p:cNvSpPr>
            <a:spLocks noGrp="1" noRot="1" noChangeAspect="1" noChangeArrowheads="1" noTextEdit="1"/>
          </p:cNvSpPr>
          <p:nvPr>
            <p:ph type="sldImg"/>
          </p:nvPr>
        </p:nvSpPr>
        <p:spPr>
          <a:xfrm>
            <a:off x="1187450" y="703263"/>
            <a:ext cx="4621213" cy="3465512"/>
          </a:xfrm>
          <a:ln cap="flat"/>
        </p:spPr>
      </p:sp>
      <p:sp>
        <p:nvSpPr>
          <p:cNvPr id="33796" name="Rectangle 3">
            <a:extLst>
              <a:ext uri="{FF2B5EF4-FFF2-40B4-BE49-F238E27FC236}">
                <a16:creationId xmlns:a16="http://schemas.microsoft.com/office/drawing/2014/main" id="{886E4AFE-69CB-84E1-7FFA-E620D44F61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DAAA800-818C-71B2-F888-ADC190D1B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9DD295A6-0BCC-44D3-BE60-EA1AC2EE643E}" type="slidenum">
              <a:rPr lang="en-US" altLang="en-US" sz="1000" smtClean="0">
                <a:solidFill>
                  <a:schemeClr val="tx1"/>
                </a:solidFill>
              </a:rPr>
              <a:pPr/>
              <a:t>41</a:t>
            </a:fld>
            <a:endParaRPr lang="en-US" altLang="en-US" sz="1000">
              <a:solidFill>
                <a:schemeClr val="tx1"/>
              </a:solidFill>
            </a:endParaRPr>
          </a:p>
        </p:txBody>
      </p:sp>
      <p:sp>
        <p:nvSpPr>
          <p:cNvPr id="36867" name="Rectangle 1026">
            <a:extLst>
              <a:ext uri="{FF2B5EF4-FFF2-40B4-BE49-F238E27FC236}">
                <a16:creationId xmlns:a16="http://schemas.microsoft.com/office/drawing/2014/main" id="{C46BA218-7A1A-A892-87BB-2DC12C3BCAB4}"/>
              </a:ext>
            </a:extLst>
          </p:cNvPr>
          <p:cNvSpPr>
            <a:spLocks noGrp="1" noRot="1" noChangeAspect="1" noChangeArrowheads="1" noTextEdit="1"/>
          </p:cNvSpPr>
          <p:nvPr>
            <p:ph type="sldImg"/>
          </p:nvPr>
        </p:nvSpPr>
        <p:spPr>
          <a:xfrm>
            <a:off x="1187450" y="703263"/>
            <a:ext cx="4621213" cy="3465512"/>
          </a:xfrm>
          <a:ln cap="flat"/>
        </p:spPr>
      </p:sp>
      <p:sp>
        <p:nvSpPr>
          <p:cNvPr id="36868" name="Rectangle 1027">
            <a:extLst>
              <a:ext uri="{FF2B5EF4-FFF2-40B4-BE49-F238E27FC236}">
                <a16:creationId xmlns:a16="http://schemas.microsoft.com/office/drawing/2014/main" id="{568ADC76-1320-4151-A4F4-215682C43A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5D2A5BB-DDFD-1079-3CFA-53EAE4B31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A08D8B4D-DB24-4D8E-85FE-E2E785F181D1}" type="slidenum">
              <a:rPr lang="en-US" altLang="en-US" sz="1000" smtClean="0">
                <a:solidFill>
                  <a:schemeClr val="tx1"/>
                </a:solidFill>
              </a:rPr>
              <a:pPr/>
              <a:t>42</a:t>
            </a:fld>
            <a:endParaRPr lang="en-US" altLang="en-US" sz="1000">
              <a:solidFill>
                <a:schemeClr val="tx1"/>
              </a:solidFill>
            </a:endParaRPr>
          </a:p>
        </p:txBody>
      </p:sp>
      <p:sp>
        <p:nvSpPr>
          <p:cNvPr id="38915" name="Rectangle 2">
            <a:extLst>
              <a:ext uri="{FF2B5EF4-FFF2-40B4-BE49-F238E27FC236}">
                <a16:creationId xmlns:a16="http://schemas.microsoft.com/office/drawing/2014/main" id="{0FBBDFED-4F0A-6464-087D-5F137626F9FE}"/>
              </a:ext>
            </a:extLst>
          </p:cNvPr>
          <p:cNvSpPr>
            <a:spLocks noGrp="1" noRot="1" noChangeAspect="1" noChangeArrowheads="1" noTextEdit="1"/>
          </p:cNvSpPr>
          <p:nvPr>
            <p:ph type="sldImg"/>
          </p:nvPr>
        </p:nvSpPr>
        <p:spPr>
          <a:xfrm>
            <a:off x="1187450" y="703263"/>
            <a:ext cx="4621213" cy="3465512"/>
          </a:xfrm>
          <a:ln cap="flat"/>
        </p:spPr>
      </p:sp>
      <p:sp>
        <p:nvSpPr>
          <p:cNvPr id="38916" name="Rectangle 3">
            <a:extLst>
              <a:ext uri="{FF2B5EF4-FFF2-40B4-BE49-F238E27FC236}">
                <a16:creationId xmlns:a16="http://schemas.microsoft.com/office/drawing/2014/main" id="{73A83D28-5B85-1C03-DDC5-5C65D92979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AFAEAC8-EFA0-2D3C-2764-07DF7EB0D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755E0A7A-6E59-44D0-B700-652732E6B35E}" type="slidenum">
              <a:rPr lang="en-US" altLang="en-US" sz="1000" smtClean="0">
                <a:solidFill>
                  <a:schemeClr val="tx1"/>
                </a:solidFill>
              </a:rPr>
              <a:pPr/>
              <a:t>43</a:t>
            </a:fld>
            <a:endParaRPr lang="en-US" altLang="en-US" sz="1000">
              <a:solidFill>
                <a:schemeClr val="tx1"/>
              </a:solidFill>
            </a:endParaRPr>
          </a:p>
        </p:txBody>
      </p:sp>
      <p:sp>
        <p:nvSpPr>
          <p:cNvPr id="40963" name="Rectangle 2">
            <a:extLst>
              <a:ext uri="{FF2B5EF4-FFF2-40B4-BE49-F238E27FC236}">
                <a16:creationId xmlns:a16="http://schemas.microsoft.com/office/drawing/2014/main" id="{55E15FF7-3532-D842-BDB6-18A0348138EB}"/>
              </a:ext>
            </a:extLst>
          </p:cNvPr>
          <p:cNvSpPr>
            <a:spLocks noGrp="1" noRot="1" noChangeAspect="1" noChangeArrowheads="1" noTextEdit="1"/>
          </p:cNvSpPr>
          <p:nvPr>
            <p:ph type="sldImg"/>
          </p:nvPr>
        </p:nvSpPr>
        <p:spPr>
          <a:xfrm>
            <a:off x="419100" y="703263"/>
            <a:ext cx="6157913" cy="3465512"/>
          </a:xfrm>
          <a:ln cap="flat"/>
        </p:spPr>
      </p:sp>
      <p:sp>
        <p:nvSpPr>
          <p:cNvPr id="40964" name="Rectangle 3">
            <a:extLst>
              <a:ext uri="{FF2B5EF4-FFF2-40B4-BE49-F238E27FC236}">
                <a16:creationId xmlns:a16="http://schemas.microsoft.com/office/drawing/2014/main" id="{3173039E-CC87-70FC-13E6-973975784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5498757-AFB0-1BF2-0BD9-07D24643DB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835F03CF-5DA3-458E-A8F0-A86C26F433F9}" type="slidenum">
              <a:rPr lang="en-US" altLang="en-US" sz="1000" smtClean="0">
                <a:solidFill>
                  <a:schemeClr val="tx1"/>
                </a:solidFill>
              </a:rPr>
              <a:pPr/>
              <a:t>44</a:t>
            </a:fld>
            <a:endParaRPr lang="en-US" altLang="en-US" sz="1000">
              <a:solidFill>
                <a:schemeClr val="tx1"/>
              </a:solidFill>
            </a:endParaRPr>
          </a:p>
        </p:txBody>
      </p:sp>
      <p:sp>
        <p:nvSpPr>
          <p:cNvPr id="43011" name="Rectangle 2">
            <a:extLst>
              <a:ext uri="{FF2B5EF4-FFF2-40B4-BE49-F238E27FC236}">
                <a16:creationId xmlns:a16="http://schemas.microsoft.com/office/drawing/2014/main" id="{F9211BFA-460C-3ECA-ECED-D188FA8D7ABA}"/>
              </a:ext>
            </a:extLst>
          </p:cNvPr>
          <p:cNvSpPr>
            <a:spLocks noGrp="1" noRot="1" noChangeAspect="1" noChangeArrowheads="1" noTextEdit="1"/>
          </p:cNvSpPr>
          <p:nvPr>
            <p:ph type="sldImg"/>
          </p:nvPr>
        </p:nvSpPr>
        <p:spPr>
          <a:xfrm>
            <a:off x="419100" y="703263"/>
            <a:ext cx="6157913" cy="3465512"/>
          </a:xfrm>
          <a:ln cap="flat"/>
        </p:spPr>
      </p:sp>
      <p:sp>
        <p:nvSpPr>
          <p:cNvPr id="43012" name="Rectangle 3">
            <a:extLst>
              <a:ext uri="{FF2B5EF4-FFF2-40B4-BE49-F238E27FC236}">
                <a16:creationId xmlns:a16="http://schemas.microsoft.com/office/drawing/2014/main" id="{16CD249F-9ED1-083F-4547-CC8B79C293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F4E8DB9-8028-811E-D368-91434487D3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6D280EEA-7CD0-4DE6-98C1-74072AC1DD4C}" type="slidenum">
              <a:rPr lang="en-US" altLang="en-US" sz="1000" smtClean="0">
                <a:solidFill>
                  <a:schemeClr val="tx1"/>
                </a:solidFill>
              </a:rPr>
              <a:pPr/>
              <a:t>45</a:t>
            </a:fld>
            <a:endParaRPr lang="en-US" altLang="en-US" sz="1000">
              <a:solidFill>
                <a:schemeClr val="tx1"/>
              </a:solidFill>
            </a:endParaRPr>
          </a:p>
        </p:txBody>
      </p:sp>
      <p:sp>
        <p:nvSpPr>
          <p:cNvPr id="45059" name="Rectangle 2">
            <a:extLst>
              <a:ext uri="{FF2B5EF4-FFF2-40B4-BE49-F238E27FC236}">
                <a16:creationId xmlns:a16="http://schemas.microsoft.com/office/drawing/2014/main" id="{CD6CEB48-3034-C757-EDDE-5E3E337466B6}"/>
              </a:ext>
            </a:extLst>
          </p:cNvPr>
          <p:cNvSpPr>
            <a:spLocks noGrp="1" noRot="1" noChangeAspect="1" noChangeArrowheads="1" noTextEdit="1"/>
          </p:cNvSpPr>
          <p:nvPr>
            <p:ph type="sldImg"/>
          </p:nvPr>
        </p:nvSpPr>
        <p:spPr>
          <a:xfrm>
            <a:off x="419100" y="703263"/>
            <a:ext cx="6157913" cy="3465512"/>
          </a:xfrm>
          <a:ln cap="flat"/>
        </p:spPr>
      </p:sp>
      <p:sp>
        <p:nvSpPr>
          <p:cNvPr id="45060" name="Rectangle 3">
            <a:extLst>
              <a:ext uri="{FF2B5EF4-FFF2-40B4-BE49-F238E27FC236}">
                <a16:creationId xmlns:a16="http://schemas.microsoft.com/office/drawing/2014/main" id="{28D3C93B-2918-B42F-2B77-930DDAD58C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19D5C59B-9389-EC95-B665-AC982DF00B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FCC1EEC1-1769-44C1-9875-3FB8DF9B9023}" type="slidenum">
              <a:rPr lang="en-US" altLang="en-US" sz="1000" smtClean="0">
                <a:solidFill>
                  <a:schemeClr val="tx1"/>
                </a:solidFill>
              </a:rPr>
              <a:pPr/>
              <a:t>46</a:t>
            </a:fld>
            <a:endParaRPr lang="en-US" altLang="en-US" sz="1000">
              <a:solidFill>
                <a:schemeClr val="tx1"/>
              </a:solidFill>
            </a:endParaRPr>
          </a:p>
        </p:txBody>
      </p:sp>
      <p:sp>
        <p:nvSpPr>
          <p:cNvPr id="47107" name="Rectangle 2">
            <a:extLst>
              <a:ext uri="{FF2B5EF4-FFF2-40B4-BE49-F238E27FC236}">
                <a16:creationId xmlns:a16="http://schemas.microsoft.com/office/drawing/2014/main" id="{A9C73B90-AAFE-D05F-0C99-189FCD9F39F3}"/>
              </a:ext>
            </a:extLst>
          </p:cNvPr>
          <p:cNvSpPr>
            <a:spLocks noGrp="1" noRot="1" noChangeAspect="1" noChangeArrowheads="1" noTextEdit="1"/>
          </p:cNvSpPr>
          <p:nvPr>
            <p:ph type="sldImg"/>
          </p:nvPr>
        </p:nvSpPr>
        <p:spPr>
          <a:xfrm>
            <a:off x="1187450" y="703263"/>
            <a:ext cx="4621213" cy="3465512"/>
          </a:xfrm>
          <a:ln cap="flat"/>
        </p:spPr>
      </p:sp>
      <p:sp>
        <p:nvSpPr>
          <p:cNvPr id="47108" name="Rectangle 3">
            <a:extLst>
              <a:ext uri="{FF2B5EF4-FFF2-40B4-BE49-F238E27FC236}">
                <a16:creationId xmlns:a16="http://schemas.microsoft.com/office/drawing/2014/main" id="{4E523A1E-A409-F7BA-5C2F-13348540C7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23DA556-D21D-7EDF-6BEC-2F993B5D61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9606F499-649F-4BEF-B394-6C9E03DBD9CD}" type="slidenum">
              <a:rPr lang="en-US" altLang="en-US" sz="1000" smtClean="0">
                <a:solidFill>
                  <a:schemeClr val="tx1"/>
                </a:solidFill>
              </a:rPr>
              <a:pPr/>
              <a:t>47</a:t>
            </a:fld>
            <a:endParaRPr lang="en-US" altLang="en-US" sz="1000">
              <a:solidFill>
                <a:schemeClr val="tx1"/>
              </a:solidFill>
            </a:endParaRPr>
          </a:p>
        </p:txBody>
      </p:sp>
      <p:sp>
        <p:nvSpPr>
          <p:cNvPr id="49155" name="Rectangle 2">
            <a:extLst>
              <a:ext uri="{FF2B5EF4-FFF2-40B4-BE49-F238E27FC236}">
                <a16:creationId xmlns:a16="http://schemas.microsoft.com/office/drawing/2014/main" id="{D33F5AAF-9DF0-8A3E-6C2A-3F26F94C9295}"/>
              </a:ext>
            </a:extLst>
          </p:cNvPr>
          <p:cNvSpPr>
            <a:spLocks noGrp="1" noRot="1" noChangeAspect="1" noChangeArrowheads="1" noTextEdit="1"/>
          </p:cNvSpPr>
          <p:nvPr>
            <p:ph type="sldImg"/>
          </p:nvPr>
        </p:nvSpPr>
        <p:spPr>
          <a:xfrm>
            <a:off x="1187450" y="703263"/>
            <a:ext cx="4621213" cy="3465512"/>
          </a:xfrm>
          <a:ln cap="flat"/>
        </p:spPr>
      </p:sp>
      <p:sp>
        <p:nvSpPr>
          <p:cNvPr id="49156" name="Rectangle 3">
            <a:extLst>
              <a:ext uri="{FF2B5EF4-FFF2-40B4-BE49-F238E27FC236}">
                <a16:creationId xmlns:a16="http://schemas.microsoft.com/office/drawing/2014/main" id="{DC39F5D8-05DB-7D24-35BC-D92BED9123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20BC8248-FF0E-4209-F3F1-E1529329D7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D70F3753-7C26-4F8D-8EFE-01E2A86A6294}" type="slidenum">
              <a:rPr lang="en-US" altLang="en-US" sz="1000" smtClean="0">
                <a:solidFill>
                  <a:schemeClr val="tx1"/>
                </a:solidFill>
              </a:rPr>
              <a:pPr/>
              <a:t>48</a:t>
            </a:fld>
            <a:endParaRPr lang="en-US" altLang="en-US" sz="1000">
              <a:solidFill>
                <a:schemeClr val="tx1"/>
              </a:solidFill>
            </a:endParaRPr>
          </a:p>
        </p:txBody>
      </p:sp>
      <p:sp>
        <p:nvSpPr>
          <p:cNvPr id="51203" name="Rectangle 2">
            <a:extLst>
              <a:ext uri="{FF2B5EF4-FFF2-40B4-BE49-F238E27FC236}">
                <a16:creationId xmlns:a16="http://schemas.microsoft.com/office/drawing/2014/main" id="{38C98F82-B082-BFFD-C1C8-7248C8685C81}"/>
              </a:ext>
            </a:extLst>
          </p:cNvPr>
          <p:cNvSpPr>
            <a:spLocks noGrp="1" noRot="1" noChangeAspect="1" noChangeArrowheads="1" noTextEdit="1"/>
          </p:cNvSpPr>
          <p:nvPr>
            <p:ph type="sldImg"/>
          </p:nvPr>
        </p:nvSpPr>
        <p:spPr>
          <a:xfrm>
            <a:off x="1187450" y="703263"/>
            <a:ext cx="4621213" cy="3465512"/>
          </a:xfrm>
          <a:ln cap="flat"/>
        </p:spPr>
      </p:sp>
      <p:sp>
        <p:nvSpPr>
          <p:cNvPr id="51204" name="Rectangle 3">
            <a:extLst>
              <a:ext uri="{FF2B5EF4-FFF2-40B4-BE49-F238E27FC236}">
                <a16:creationId xmlns:a16="http://schemas.microsoft.com/office/drawing/2014/main" id="{30EB9F37-5EF5-2C38-14ED-E63650915A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892A6DB-F9E1-6358-5A8F-3C8DB8AEB6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8C092600-E9E4-4CFC-A6AB-EB9B660A1EFA}" type="slidenum">
              <a:rPr lang="en-US" altLang="en-US" sz="1000" smtClean="0">
                <a:solidFill>
                  <a:schemeClr val="tx1"/>
                </a:solidFill>
              </a:rPr>
              <a:pPr/>
              <a:t>49</a:t>
            </a:fld>
            <a:endParaRPr lang="en-US" altLang="en-US" sz="1000">
              <a:solidFill>
                <a:schemeClr val="tx1"/>
              </a:solidFill>
            </a:endParaRPr>
          </a:p>
        </p:txBody>
      </p:sp>
      <p:sp>
        <p:nvSpPr>
          <p:cNvPr id="53251" name="Rectangle 2">
            <a:extLst>
              <a:ext uri="{FF2B5EF4-FFF2-40B4-BE49-F238E27FC236}">
                <a16:creationId xmlns:a16="http://schemas.microsoft.com/office/drawing/2014/main" id="{15CB28D7-8946-2204-45E0-3ABC153447EC}"/>
              </a:ext>
            </a:extLst>
          </p:cNvPr>
          <p:cNvSpPr>
            <a:spLocks noGrp="1" noRot="1" noChangeAspect="1" noChangeArrowheads="1" noTextEdit="1"/>
          </p:cNvSpPr>
          <p:nvPr>
            <p:ph type="sldImg"/>
          </p:nvPr>
        </p:nvSpPr>
        <p:spPr>
          <a:xfrm>
            <a:off x="1187450" y="703263"/>
            <a:ext cx="4621213" cy="3465512"/>
          </a:xfrm>
          <a:ln cap="flat"/>
        </p:spPr>
      </p:sp>
      <p:sp>
        <p:nvSpPr>
          <p:cNvPr id="53252" name="Rectangle 3">
            <a:extLst>
              <a:ext uri="{FF2B5EF4-FFF2-40B4-BE49-F238E27FC236}">
                <a16:creationId xmlns:a16="http://schemas.microsoft.com/office/drawing/2014/main" id="{FCE79AAF-56DB-5730-1931-92D03E1FB7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5B9C2E5-276A-D56C-96E1-087EAC703A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E8FCD5AB-1C5A-4AFC-A96A-4701353244B2}" type="slidenum">
              <a:rPr lang="en-US" altLang="en-US" sz="1000" smtClean="0">
                <a:solidFill>
                  <a:schemeClr val="tx1"/>
                </a:solidFill>
              </a:rPr>
              <a:pPr/>
              <a:t>50</a:t>
            </a:fld>
            <a:endParaRPr lang="en-US" altLang="en-US" sz="1000">
              <a:solidFill>
                <a:schemeClr val="tx1"/>
              </a:solidFill>
            </a:endParaRPr>
          </a:p>
        </p:txBody>
      </p:sp>
      <p:sp>
        <p:nvSpPr>
          <p:cNvPr id="55299" name="Rectangle 2">
            <a:extLst>
              <a:ext uri="{FF2B5EF4-FFF2-40B4-BE49-F238E27FC236}">
                <a16:creationId xmlns:a16="http://schemas.microsoft.com/office/drawing/2014/main" id="{49A57A79-E2A6-1F87-8AFF-4885BA74A0C5}"/>
              </a:ext>
            </a:extLst>
          </p:cNvPr>
          <p:cNvSpPr>
            <a:spLocks noGrp="1" noRot="1" noChangeAspect="1" noChangeArrowheads="1" noTextEdit="1"/>
          </p:cNvSpPr>
          <p:nvPr>
            <p:ph type="sldImg"/>
          </p:nvPr>
        </p:nvSpPr>
        <p:spPr>
          <a:xfrm>
            <a:off x="1187450" y="703263"/>
            <a:ext cx="4621213" cy="3465512"/>
          </a:xfrm>
          <a:ln cap="flat"/>
        </p:spPr>
      </p:sp>
      <p:sp>
        <p:nvSpPr>
          <p:cNvPr id="55300" name="Rectangle 3">
            <a:extLst>
              <a:ext uri="{FF2B5EF4-FFF2-40B4-BE49-F238E27FC236}">
                <a16:creationId xmlns:a16="http://schemas.microsoft.com/office/drawing/2014/main" id="{82C36E6B-C124-9DA4-B691-5F23EF5248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8AB36FE-71C9-4B55-D884-ACE27962F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7C0E0B8A-52D8-4A01-8374-A50738A93EC9}" type="slidenum">
              <a:rPr lang="en-US" altLang="en-US" sz="1000" smtClean="0">
                <a:solidFill>
                  <a:schemeClr val="tx1"/>
                </a:solidFill>
              </a:rPr>
              <a:pPr/>
              <a:t>51</a:t>
            </a:fld>
            <a:endParaRPr lang="en-US" altLang="en-US" sz="1000">
              <a:solidFill>
                <a:schemeClr val="tx1"/>
              </a:solidFill>
            </a:endParaRPr>
          </a:p>
        </p:txBody>
      </p:sp>
      <p:sp>
        <p:nvSpPr>
          <p:cNvPr id="57347" name="Rectangle 2">
            <a:extLst>
              <a:ext uri="{FF2B5EF4-FFF2-40B4-BE49-F238E27FC236}">
                <a16:creationId xmlns:a16="http://schemas.microsoft.com/office/drawing/2014/main" id="{F8A5918D-2012-23F0-65C4-87104D863B64}"/>
              </a:ext>
            </a:extLst>
          </p:cNvPr>
          <p:cNvSpPr>
            <a:spLocks noGrp="1" noRot="1" noChangeAspect="1" noChangeArrowheads="1" noTextEdit="1"/>
          </p:cNvSpPr>
          <p:nvPr>
            <p:ph type="sldImg"/>
          </p:nvPr>
        </p:nvSpPr>
        <p:spPr>
          <a:xfrm>
            <a:off x="1187450" y="703263"/>
            <a:ext cx="4621213" cy="3465512"/>
          </a:xfrm>
          <a:ln cap="flat"/>
        </p:spPr>
      </p:sp>
      <p:sp>
        <p:nvSpPr>
          <p:cNvPr id="57348" name="Rectangle 3">
            <a:extLst>
              <a:ext uri="{FF2B5EF4-FFF2-40B4-BE49-F238E27FC236}">
                <a16:creationId xmlns:a16="http://schemas.microsoft.com/office/drawing/2014/main" id="{443709CC-2276-B3E5-5D55-19D0C1589B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94" tIns="46798" rIns="93594" bIns="46798"/>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5FB0FE77-2361-A83C-DEA1-53597F1CC8E9}"/>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5C52B29C-21D3-6058-FCB9-7D05E86D2A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057B63E1-61AD-6C28-85F4-90776C781B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52</a:t>
            </a:fld>
            <a:endParaRPr lang="en-US" altLang="en-US" sz="1000">
              <a:solidFill>
                <a:schemeClr val="tx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04D1-15C8-0053-B070-35B3F64BC1B7}"/>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74D2BD54-EB0D-3AA9-8840-C9B3FD67E78A}"/>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D9DF2673-2AAE-EB8E-73FF-83ED26300B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42E4FB34-8E6C-6CC4-98D1-ABB4DDC5A0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53</a:t>
            </a:fld>
            <a:endParaRPr lang="en-US" altLang="en-US" sz="1000">
              <a:solidFill>
                <a:schemeClr val="tx1"/>
              </a:solidFill>
            </a:endParaRPr>
          </a:p>
        </p:txBody>
      </p:sp>
    </p:spTree>
    <p:extLst>
      <p:ext uri="{BB962C8B-B14F-4D97-AF65-F5344CB8AC3E}">
        <p14:creationId xmlns:p14="http://schemas.microsoft.com/office/powerpoint/2010/main" val="18752391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6BC8-84D8-1A3B-8BAD-9397BF5B642E}"/>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CA800357-BFAC-4186-A8E3-19AC246C9817}"/>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32F89093-D4B8-B8C9-E84C-7AA656A8EE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88E1E3E3-DC10-822F-722A-552A7E5B69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54</a:t>
            </a:fld>
            <a:endParaRPr lang="en-US" altLang="en-US" sz="1000">
              <a:solidFill>
                <a:schemeClr val="tx1"/>
              </a:solidFill>
            </a:endParaRPr>
          </a:p>
        </p:txBody>
      </p:sp>
    </p:spTree>
    <p:extLst>
      <p:ext uri="{BB962C8B-B14F-4D97-AF65-F5344CB8AC3E}">
        <p14:creationId xmlns:p14="http://schemas.microsoft.com/office/powerpoint/2010/main" val="13589779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2FD8F-5AC5-1C6A-8F36-35287EDB65A0}"/>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860D8E59-441D-2CFE-0825-12C7A369F335}"/>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1AC589A0-67EC-37DB-7369-8DF1A8EDE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89EA348A-2D2D-2C6B-99AF-BCCECFABF2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55</a:t>
            </a:fld>
            <a:endParaRPr lang="en-US" altLang="en-US" sz="1000">
              <a:solidFill>
                <a:schemeClr val="tx1"/>
              </a:solidFill>
            </a:endParaRPr>
          </a:p>
        </p:txBody>
      </p:sp>
    </p:spTree>
    <p:extLst>
      <p:ext uri="{BB962C8B-B14F-4D97-AF65-F5344CB8AC3E}">
        <p14:creationId xmlns:p14="http://schemas.microsoft.com/office/powerpoint/2010/main" val="29171481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8958-8D6C-90B9-9B09-21AF66DD1014}"/>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4DAA918-8CED-1B16-9608-54463096664C}"/>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C9116AC8-B39A-D7AE-2205-2E9BB66C37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ACA60B1A-460F-B73C-9392-3273397D09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56</a:t>
            </a:fld>
            <a:endParaRPr lang="en-US" altLang="en-US" sz="1000">
              <a:solidFill>
                <a:schemeClr val="tx1"/>
              </a:solidFill>
            </a:endParaRPr>
          </a:p>
        </p:txBody>
      </p:sp>
    </p:spTree>
    <p:extLst>
      <p:ext uri="{BB962C8B-B14F-4D97-AF65-F5344CB8AC3E}">
        <p14:creationId xmlns:p14="http://schemas.microsoft.com/office/powerpoint/2010/main" val="684062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D24F9-AACB-A4D8-60BE-38A89FC36DFC}"/>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0C5B3D7-0E32-0832-1642-6481E8C508D4}"/>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CE068673-8A2F-0217-BBA1-E668252E0A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DA2F0AC7-7AFD-B830-B964-C82A669B2E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57</a:t>
            </a:fld>
            <a:endParaRPr lang="en-US" altLang="en-US" sz="1000">
              <a:solidFill>
                <a:schemeClr val="tx1"/>
              </a:solidFill>
            </a:endParaRPr>
          </a:p>
        </p:txBody>
      </p:sp>
    </p:spTree>
    <p:extLst>
      <p:ext uri="{BB962C8B-B14F-4D97-AF65-F5344CB8AC3E}">
        <p14:creationId xmlns:p14="http://schemas.microsoft.com/office/powerpoint/2010/main" val="3590170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87851-1BEE-80F7-7AC4-67001ACD8AAF}"/>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A40211C2-F65A-28A8-ADA7-EFC6D9352C46}"/>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5680B8AE-E10F-EAE3-2F56-B465DAD520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2143ABA9-2EE1-A66B-0E44-26DAD35672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58</a:t>
            </a:fld>
            <a:endParaRPr lang="en-US" altLang="en-US" sz="1000">
              <a:solidFill>
                <a:schemeClr val="tx1"/>
              </a:solidFill>
            </a:endParaRPr>
          </a:p>
        </p:txBody>
      </p:sp>
    </p:spTree>
    <p:extLst>
      <p:ext uri="{BB962C8B-B14F-4D97-AF65-F5344CB8AC3E}">
        <p14:creationId xmlns:p14="http://schemas.microsoft.com/office/powerpoint/2010/main" val="34528801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F42AC-0D58-2AE1-705D-421B73191C29}"/>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8299B69-18CF-453E-84CD-78AF737783D1}"/>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2CFAC61D-E890-D492-DFFF-D973EEFC5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FE3E0E45-1086-BEB9-353A-1E0D042E3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59</a:t>
            </a:fld>
            <a:endParaRPr lang="en-US" altLang="en-US" sz="1000">
              <a:solidFill>
                <a:schemeClr val="tx1"/>
              </a:solidFill>
            </a:endParaRPr>
          </a:p>
        </p:txBody>
      </p:sp>
    </p:spTree>
    <p:extLst>
      <p:ext uri="{BB962C8B-B14F-4D97-AF65-F5344CB8AC3E}">
        <p14:creationId xmlns:p14="http://schemas.microsoft.com/office/powerpoint/2010/main" val="10772835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AE12-0329-BD15-F7ED-91F65E05AAA7}"/>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921A421-1E9F-9CE5-CC1E-23FB8DAF3AB9}"/>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02CD4471-23D3-6839-42EA-835D96EBA0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1D66E230-35E1-F2B7-FEFE-CF80485FFD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60</a:t>
            </a:fld>
            <a:endParaRPr lang="en-US" altLang="en-US" sz="1000">
              <a:solidFill>
                <a:schemeClr val="tx1"/>
              </a:solidFill>
            </a:endParaRPr>
          </a:p>
        </p:txBody>
      </p:sp>
    </p:spTree>
    <p:extLst>
      <p:ext uri="{BB962C8B-B14F-4D97-AF65-F5344CB8AC3E}">
        <p14:creationId xmlns:p14="http://schemas.microsoft.com/office/powerpoint/2010/main" val="20632403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A6CE-8564-C61A-F090-2F9DC07665E7}"/>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25E5B8C2-8E2C-C973-3864-9091DA2291E5}"/>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CD608B43-2290-1531-4FC2-8760AE1FF7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0E265899-588E-ADE9-81F9-B3307FE326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61</a:t>
            </a:fld>
            <a:endParaRPr lang="en-US" altLang="en-US" sz="1000">
              <a:solidFill>
                <a:schemeClr val="tx1"/>
              </a:solidFill>
            </a:endParaRPr>
          </a:p>
        </p:txBody>
      </p:sp>
    </p:spTree>
    <p:extLst>
      <p:ext uri="{BB962C8B-B14F-4D97-AF65-F5344CB8AC3E}">
        <p14:creationId xmlns:p14="http://schemas.microsoft.com/office/powerpoint/2010/main" val="36085461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8C3E6-B555-0092-1009-1A8FFB4EA4CB}"/>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37BA8D83-9E65-8EB8-014C-E3E781504758}"/>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7F638472-BA05-C813-0B92-AFEE27F955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5FDACB58-3187-3E97-F981-DF94096CD3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62</a:t>
            </a:fld>
            <a:endParaRPr lang="en-US" altLang="en-US" sz="1000">
              <a:solidFill>
                <a:schemeClr val="tx1"/>
              </a:solidFill>
            </a:endParaRPr>
          </a:p>
        </p:txBody>
      </p:sp>
    </p:spTree>
    <p:extLst>
      <p:ext uri="{BB962C8B-B14F-4D97-AF65-F5344CB8AC3E}">
        <p14:creationId xmlns:p14="http://schemas.microsoft.com/office/powerpoint/2010/main" val="18234767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DF07-7E7B-D3C3-C855-FF0CA658A68E}"/>
            </a:ext>
          </a:extLst>
        </p:cNvPr>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DA3857B1-70CE-4D6E-C425-802BFC5E59B0}"/>
              </a:ext>
            </a:extLst>
          </p:cNvPr>
          <p:cNvSpPr>
            <a:spLocks noGrp="1" noRot="1" noChangeAspect="1" noChangeArrowheads="1" noTextEdit="1"/>
          </p:cNvSpPr>
          <p:nvPr>
            <p:ph type="sldImg"/>
          </p:nvPr>
        </p:nvSpPr>
        <p:spPr>
          <a:ln/>
        </p:spPr>
      </p:sp>
      <p:sp>
        <p:nvSpPr>
          <p:cNvPr id="59395" name="Notes Placeholder 2">
            <a:extLst>
              <a:ext uri="{FF2B5EF4-FFF2-40B4-BE49-F238E27FC236}">
                <a16:creationId xmlns:a16="http://schemas.microsoft.com/office/drawing/2014/main" id="{A767F839-20C5-CB24-977C-F9ECCD9BEB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Alternatively, initialize a min heap and convert to min leftist tree.</a:t>
            </a:r>
          </a:p>
        </p:txBody>
      </p:sp>
      <p:sp>
        <p:nvSpPr>
          <p:cNvPr id="59396" name="Slide Number Placeholder 3">
            <a:extLst>
              <a:ext uri="{FF2B5EF4-FFF2-40B4-BE49-F238E27FC236}">
                <a16:creationId xmlns:a16="http://schemas.microsoft.com/office/drawing/2014/main" id="{8B12B5AD-0FFA-73B1-6F45-2486DFA27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rgbClr val="FFFF00"/>
                </a:solidFill>
                <a:latin typeface="Times New Roman" panose="02020603050405020304" pitchFamily="18" charset="0"/>
              </a:defRPr>
            </a:lvl1pPr>
            <a:lvl2pPr marL="742950" indent="-285750">
              <a:defRPr sz="3200">
                <a:solidFill>
                  <a:srgbClr val="FFFF00"/>
                </a:solidFill>
                <a:latin typeface="Times New Roman" panose="02020603050405020304" pitchFamily="18" charset="0"/>
              </a:defRPr>
            </a:lvl2pPr>
            <a:lvl3pPr marL="1143000" indent="-228600">
              <a:defRPr sz="3200">
                <a:solidFill>
                  <a:srgbClr val="FFFF00"/>
                </a:solidFill>
                <a:latin typeface="Times New Roman" panose="02020603050405020304" pitchFamily="18" charset="0"/>
              </a:defRPr>
            </a:lvl3pPr>
            <a:lvl4pPr marL="1600200" indent="-228600">
              <a:defRPr sz="3200">
                <a:solidFill>
                  <a:srgbClr val="FFFF00"/>
                </a:solidFill>
                <a:latin typeface="Times New Roman" panose="02020603050405020304" pitchFamily="18" charset="0"/>
              </a:defRPr>
            </a:lvl4pPr>
            <a:lvl5pPr marL="2057400" indent="-228600">
              <a:defRPr sz="3200">
                <a:solidFill>
                  <a:srgbClr val="FFFF00"/>
                </a:solidFill>
                <a:latin typeface="Times New Roman" panose="02020603050405020304" pitchFamily="18" charset="0"/>
              </a:defRPr>
            </a:lvl5pPr>
            <a:lvl6pPr marL="2514600" indent="-228600" eaLnBrk="0" fontAlgn="base" hangingPunct="0">
              <a:spcBef>
                <a:spcPct val="0"/>
              </a:spcBef>
              <a:spcAft>
                <a:spcPct val="0"/>
              </a:spcAft>
              <a:defRPr sz="3200">
                <a:solidFill>
                  <a:srgbClr val="FFFF00"/>
                </a:solidFill>
                <a:latin typeface="Times New Roman" panose="02020603050405020304" pitchFamily="18" charset="0"/>
              </a:defRPr>
            </a:lvl6pPr>
            <a:lvl7pPr marL="2971800" indent="-228600" eaLnBrk="0" fontAlgn="base" hangingPunct="0">
              <a:spcBef>
                <a:spcPct val="0"/>
              </a:spcBef>
              <a:spcAft>
                <a:spcPct val="0"/>
              </a:spcAft>
              <a:defRPr sz="3200">
                <a:solidFill>
                  <a:srgbClr val="FFFF00"/>
                </a:solidFill>
                <a:latin typeface="Times New Roman" panose="02020603050405020304" pitchFamily="18" charset="0"/>
              </a:defRPr>
            </a:lvl7pPr>
            <a:lvl8pPr marL="3429000" indent="-228600" eaLnBrk="0" fontAlgn="base" hangingPunct="0">
              <a:spcBef>
                <a:spcPct val="0"/>
              </a:spcBef>
              <a:spcAft>
                <a:spcPct val="0"/>
              </a:spcAft>
              <a:defRPr sz="3200">
                <a:solidFill>
                  <a:srgbClr val="FFFF00"/>
                </a:solidFill>
                <a:latin typeface="Times New Roman" panose="02020603050405020304" pitchFamily="18" charset="0"/>
              </a:defRPr>
            </a:lvl8pPr>
            <a:lvl9pPr marL="3886200" indent="-228600" eaLnBrk="0" fontAlgn="base" hangingPunct="0">
              <a:spcBef>
                <a:spcPct val="0"/>
              </a:spcBef>
              <a:spcAft>
                <a:spcPct val="0"/>
              </a:spcAft>
              <a:defRPr sz="3200">
                <a:solidFill>
                  <a:srgbClr val="FFFF00"/>
                </a:solidFill>
                <a:latin typeface="Times New Roman" panose="02020603050405020304" pitchFamily="18" charset="0"/>
              </a:defRPr>
            </a:lvl9pPr>
          </a:lstStyle>
          <a:p>
            <a:fld id="{22289D8E-31C3-4C8D-A7B9-A8B8429E75D5}" type="slidenum">
              <a:rPr lang="en-US" altLang="en-US" sz="1000" smtClean="0">
                <a:solidFill>
                  <a:schemeClr val="tx1"/>
                </a:solidFill>
              </a:rPr>
              <a:pPr/>
              <a:t>63</a:t>
            </a:fld>
            <a:endParaRPr lang="en-US" altLang="en-US" sz="1000">
              <a:solidFill>
                <a:schemeClr val="tx1"/>
              </a:solidFill>
            </a:endParaRPr>
          </a:p>
        </p:txBody>
      </p:sp>
    </p:spTree>
    <p:extLst>
      <p:ext uri="{BB962C8B-B14F-4D97-AF65-F5344CB8AC3E}">
        <p14:creationId xmlns:p14="http://schemas.microsoft.com/office/powerpoint/2010/main" val="223764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E9C4-19AC-4D01-81DA-E140B97A9BA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44BCA5E5-3A78-455F-A1D5-145EA917384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BA8103-6802-402E-8A9C-2FB10C13AF4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AEAE19A-DC0A-4D53-A4FB-E883E9391AD9}"/>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17209EA-FF5B-4648-B17D-3689B5157532}"/>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27367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BEFC-853B-4E71-90C0-35BD8D1F83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D4BB9-BDA4-4C04-BA11-57AE021A7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11086A-60FA-47B2-80EA-B781B0D07FF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C0DE884-2704-4762-B1F7-A390B52525A3}"/>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4A9461B4-73E9-4628-92E8-74939F9E75BC}"/>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752263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589E-9D4B-44E6-BF11-C075A062967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2C8F49-9067-4135-A992-6FB9ECEA2A9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D58BF-DC88-48A8-8054-8760C54DAE4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410900E-11FD-4ACA-8E87-4EC87F1A191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D8AF7084-87E6-4F73-9995-37B9D5DA77B1}"/>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995462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2823-44FC-4F0E-988B-2ACF3A6CE4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CB5ADA-214B-4BFF-9D95-4AACAA67834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A0DDFE-CE85-4487-A2F7-D43D9AD99D2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FE3102-E054-4C70-8672-73C06D74E67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AADA228-140D-4F9B-A2FE-74BFB213CF2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728C3789-8D8D-4D5C-A015-00F074C7876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93226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AFB0-2CA1-458E-8D17-13C9D16023B7}"/>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598FFF-DC4E-46B0-93F5-FAB67A7D4A5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5204111-7E13-4A52-A9E1-956A87C87ED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A34A28-7BD2-4B06-ABF5-89A47C15645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6BDF0-5B29-4A2F-8CC0-14E57446D9A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41CA3A-A01B-4B5C-A4F8-C14D8EC45F2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8FCAA6B-C991-48DE-B578-AE2A9961C3C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9" name="Slide Number Placeholder 8">
            <a:extLst>
              <a:ext uri="{FF2B5EF4-FFF2-40B4-BE49-F238E27FC236}">
                <a16:creationId xmlns:a16="http://schemas.microsoft.com/office/drawing/2014/main" id="{D005B9A6-E7CF-4D3D-9193-F5CCF0408725}"/>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722196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DAF43-78DB-4D57-9B2D-80B50CE225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681968-C016-4D62-894F-92EC20981B84}"/>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3BC0E1-975B-4302-8CF3-C520CED7189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a:extLst>
              <a:ext uri="{FF2B5EF4-FFF2-40B4-BE49-F238E27FC236}">
                <a16:creationId xmlns:a16="http://schemas.microsoft.com/office/drawing/2014/main" id="{C92DAC7F-9355-4792-84EA-A4C808E3F218}"/>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1535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6E9C9-69F5-4D64-AFCA-189935E7A94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3FB54D1-AD89-4CA0-8134-5D2BAF3393B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4" name="Slide Number Placeholder 3">
            <a:extLst>
              <a:ext uri="{FF2B5EF4-FFF2-40B4-BE49-F238E27FC236}">
                <a16:creationId xmlns:a16="http://schemas.microsoft.com/office/drawing/2014/main" id="{413B8272-E3A3-4683-B86E-79218886BA30}"/>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40539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ADB3-F3C8-4862-AF7F-04DDE9A441E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9489C0-5D66-43A0-995C-51CDB2B895D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9A2F6-A867-42FE-8C9C-0CD7E6653E7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B1724A67-3315-4540-9790-4166A5A8257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5DC2BE8-6B25-4D6D-A216-0288779C1086}"/>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8F23A18-5A76-4536-926B-E6B38286EE49}"/>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8725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3C2C-789D-4AF3-A6E0-0AE714409AD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A586BE-F0E8-46DC-B95E-EBCA679965B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35E20C7-39DD-4D17-B93E-E92481C7AFB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EB26E00D-6FB3-4F93-91B6-3385B363A08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4432EE8-F875-4115-8DB6-6E4C5A4D21E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4D366B0-CAEE-4D99-8704-EBC2029AC63D}"/>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03552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BA33-3BCA-4D04-8B42-26F6BB1720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3B614-80E5-43E5-ACC0-10C094878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10C068-F4B8-4482-BCC2-F12B8405BE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756C726-B8F7-46D8-A302-A3C69CBCE48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BB672F82-7742-49B4-9D22-A703AE78350A}"/>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2519751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94F4A-84CD-42EC-A311-E7DDDE5B9138}"/>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6F8A3-D97A-477F-8A9F-5D2D8FC9CD9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C056D-23ED-4173-85A0-B789F940CF4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C1BBEB-F29D-4181-968D-AF3F415CEC4F}"/>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FA03474-7DC7-49B8-A4C4-B10099ED319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85764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A35254-BA2C-4834-85C4-C01A1408BB62}"/>
              </a:ext>
            </a:extLst>
          </p:cNvPr>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1206B-E85F-4151-9F6F-B42BD4F2A14C}"/>
              </a:ext>
            </a:extLst>
          </p:cNvPr>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575DC-D9A3-4246-8E04-359C1E241650}"/>
              </a:ext>
            </a:extLst>
          </p:cNvPr>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A17412CA-D198-4AFA-9ADD-37508EAD6F93}"/>
              </a:ext>
            </a:extLst>
          </p:cNvPr>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5F525125-6F41-48E5-B98E-9C500B8810AA}"/>
              </a:ext>
            </a:extLst>
          </p:cNvPr>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3FCAF691-C30B-4477-A4FB-AFF7F164B000}" type="slidenum">
              <a:rPr lang="en-IN" smtClean="0"/>
              <a:pPr/>
              <a:t>‹#›</a:t>
            </a:fld>
            <a:endParaRPr lang="en-IN"/>
          </a:p>
        </p:txBody>
      </p:sp>
    </p:spTree>
    <p:extLst>
      <p:ext uri="{BB962C8B-B14F-4D97-AF65-F5344CB8AC3E}">
        <p14:creationId xmlns:p14="http://schemas.microsoft.com/office/powerpoint/2010/main" val="318238489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s://www.geeksforgeeks.org/dsa/introduction-and-array-implementation-of-queu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hyperlink" Target="https://www.wscubetech.com/resources/dsa/algorith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wscubetech.com/resources/dsa/priority-queue-data-structure" TargetMode="External"/><Relationship Id="rId5" Type="http://schemas.openxmlformats.org/officeDocument/2006/relationships/hyperlink" Target="https://www.wscubetech.com/resources/dsa" TargetMode="External"/><Relationship Id="rId4" Type="http://schemas.openxmlformats.org/officeDocument/2006/relationships/hyperlink" Target="https://www.wscubetech.com/resources/dsa/binary-tre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www.geeksforgeeks.org/dsa/heap-data-structure/" TargetMode="External"/><Relationship Id="rId4" Type="http://schemas.openxmlformats.org/officeDocument/2006/relationships/hyperlink" Target="https://www.geeksforgeeks.org/dsa/fibonacci-heap-set-1-introduction/"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22FD-CCA9-4406-9618-24339941CFF9}"/>
              </a:ext>
            </a:extLst>
          </p:cNvPr>
          <p:cNvSpPr>
            <a:spLocks noGrp="1"/>
          </p:cNvSpPr>
          <p:nvPr>
            <p:ph type="ctrTitle"/>
          </p:nvPr>
        </p:nvSpPr>
        <p:spPr>
          <a:xfrm>
            <a:off x="823305" y="317048"/>
            <a:ext cx="7516836" cy="902154"/>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Priority Queues and Heaps </a:t>
            </a:r>
            <a:br>
              <a:rPr lang="en-IN" sz="2700" dirty="0">
                <a:latin typeface="Times New Roman" panose="02020603050405020304" pitchFamily="18" charset="0"/>
                <a:cs typeface="Times New Roman" pitchFamily="18" charset="0"/>
              </a:rPr>
            </a:br>
            <a:br>
              <a:rPr lang="en-IN" sz="1400" dirty="0">
                <a:latin typeface="Times New Roman" panose="02020603050405020304" pitchFamily="18" charset="0"/>
                <a:cs typeface="Times New Roman" pitchFamily="18" charset="0"/>
              </a:rPr>
            </a:br>
            <a:r>
              <a:rPr lang="en-IN" sz="3600" b="1" dirty="0">
                <a:latin typeface="Times New Roman" panose="02020603050405020304" pitchFamily="18" charset="0"/>
                <a:cs typeface="Times New Roman" panose="02020603050405020304" pitchFamily="18" charset="0"/>
              </a:rPr>
              <a:t>Data Structures-II </a:t>
            </a:r>
            <a:endParaRPr lang="en-IN" sz="1800" b="1" dirty="0">
              <a:latin typeface="Times New Roman" panose="02020603050405020304" pitchFamily="18" charset="0"/>
              <a:cs typeface="Times New Roman" pitchFamily="18" charset="0"/>
            </a:endParaRPr>
          </a:p>
        </p:txBody>
      </p:sp>
      <p:sp>
        <p:nvSpPr>
          <p:cNvPr id="3" name="Subtitle 2">
            <a:extLst>
              <a:ext uri="{FF2B5EF4-FFF2-40B4-BE49-F238E27FC236}">
                <a16:creationId xmlns:a16="http://schemas.microsoft.com/office/drawing/2014/main" id="{82E6DDC4-FD95-4802-92CF-9A0A66152708}"/>
              </a:ext>
            </a:extLst>
          </p:cNvPr>
          <p:cNvSpPr>
            <a:spLocks noGrp="1"/>
          </p:cNvSpPr>
          <p:nvPr>
            <p:ph type="subTitle" idx="1"/>
          </p:nvPr>
        </p:nvSpPr>
        <p:spPr>
          <a:xfrm>
            <a:off x="974616" y="1448162"/>
            <a:ext cx="7214214" cy="984702"/>
          </a:xfrm>
        </p:spPr>
        <p:txBody>
          <a:bodyPr>
            <a:noAutofit/>
          </a:bodyPr>
          <a:lstStyle/>
          <a:p>
            <a:pPr>
              <a:lnSpc>
                <a:spcPct val="100000"/>
              </a:lnSpc>
              <a:spcBef>
                <a:spcPts val="0"/>
              </a:spcBef>
            </a:pPr>
            <a:r>
              <a:rPr lang="en-IN" dirty="0">
                <a:latin typeface="Times New Roman" pitchFamily="18" charset="0"/>
                <a:cs typeface="Times New Roman" pitchFamily="18" charset="0"/>
              </a:rPr>
              <a:t>Dr. Dattatray G. Takale</a:t>
            </a:r>
          </a:p>
          <a:p>
            <a:pPr>
              <a:lnSpc>
                <a:spcPct val="100000"/>
              </a:lnSpc>
              <a:spcBef>
                <a:spcPts val="0"/>
              </a:spcBef>
            </a:pPr>
            <a:r>
              <a:rPr lang="en-IN" dirty="0">
                <a:latin typeface="Times New Roman" pitchFamily="18" charset="0"/>
                <a:cs typeface="Times New Roman" pitchFamily="18" charset="0"/>
              </a:rPr>
              <a:t>Dattatray.takale@viit.ac.in</a:t>
            </a:r>
          </a:p>
          <a:p>
            <a:pPr>
              <a:lnSpc>
                <a:spcPct val="100000"/>
              </a:lnSpc>
              <a:spcBef>
                <a:spcPts val="0"/>
              </a:spcBef>
            </a:pPr>
            <a:r>
              <a:rPr lang="en-IN" sz="2000" b="1" dirty="0">
                <a:latin typeface="Times New Roman" pitchFamily="18" charset="0"/>
                <a:cs typeface="Times New Roman" pitchFamily="18" charset="0"/>
              </a:rPr>
              <a:t>Department of Data Science </a:t>
            </a:r>
          </a:p>
        </p:txBody>
      </p:sp>
      <p:sp>
        <p:nvSpPr>
          <p:cNvPr id="5" name="Subtitle 2">
            <a:extLst>
              <a:ext uri="{FF2B5EF4-FFF2-40B4-BE49-F238E27FC236}">
                <a16:creationId xmlns:a16="http://schemas.microsoft.com/office/drawing/2014/main" id="{82E6DDC4-FD95-4802-92CF-9A0A66152708}"/>
              </a:ext>
            </a:extLst>
          </p:cNvPr>
          <p:cNvSpPr txBox="1">
            <a:spLocks/>
          </p:cNvSpPr>
          <p:nvPr/>
        </p:nvSpPr>
        <p:spPr>
          <a:xfrm>
            <a:off x="249210" y="4021068"/>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sz="2000" b="1" dirty="0">
                <a:solidFill>
                  <a:schemeClr val="bg1"/>
                </a:solidFill>
                <a:latin typeface="Times New Roman" pitchFamily="18" charset="0"/>
                <a:cs typeface="Times New Roman" pitchFamily="18" charset="0"/>
              </a:rPr>
              <a:t>BRACT’S, Vishwakarma Institute of Information Technology, Pune-48</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605" y="2521468"/>
            <a:ext cx="1326236" cy="1499600"/>
          </a:xfrm>
          <a:prstGeom prst="rect">
            <a:avLst/>
          </a:prstGeom>
        </p:spPr>
      </p:pic>
      <p:sp>
        <p:nvSpPr>
          <p:cNvPr id="6" name="Rectangle 5"/>
          <p:cNvSpPr/>
          <p:nvPr/>
        </p:nvSpPr>
        <p:spPr>
          <a:xfrm>
            <a:off x="407052" y="4427922"/>
            <a:ext cx="8349342" cy="523220"/>
          </a:xfrm>
          <a:prstGeom prst="rect">
            <a:avLst/>
          </a:prstGeom>
        </p:spPr>
        <p:txBody>
          <a:bodyPr wrap="square">
            <a:spAutoFit/>
          </a:bodyPr>
          <a:lstStyle/>
          <a:p>
            <a:pPr algn="ctr"/>
            <a:r>
              <a:rPr lang="en-IN" b="1" dirty="0">
                <a:solidFill>
                  <a:schemeClr val="tx1">
                    <a:lumMod val="50000"/>
                    <a:lumOff val="50000"/>
                  </a:schemeClr>
                </a:solidFill>
                <a:latin typeface="Times New Roman" pitchFamily="18" charset="0"/>
                <a:cs typeface="Times New Roman" pitchFamily="18" charset="0"/>
              </a:rPr>
              <a:t>(An Autonomous Institute affiliated to Savitribai Phule Pune University)</a:t>
            </a:r>
          </a:p>
          <a:p>
            <a:pPr algn="ctr"/>
            <a:r>
              <a:rPr lang="en-IN" b="1" dirty="0">
                <a:solidFill>
                  <a:schemeClr val="tx1">
                    <a:lumMod val="50000"/>
                    <a:lumOff val="50000"/>
                  </a:schemeClr>
                </a:solidFill>
                <a:latin typeface="Times New Roman" pitchFamily="18" charset="0"/>
                <a:cs typeface="Times New Roman" pitchFamily="18" charset="0"/>
              </a:rPr>
              <a:t>(NBA and NAAC accredited, ISO 9001:2015 certified) </a:t>
            </a:r>
          </a:p>
        </p:txBody>
      </p:sp>
    </p:spTree>
    <p:extLst>
      <p:ext uri="{BB962C8B-B14F-4D97-AF65-F5344CB8AC3E}">
        <p14:creationId xmlns:p14="http://schemas.microsoft.com/office/powerpoint/2010/main" val="2675140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IN" sz="2700" b="1" dirty="0">
                <a:latin typeface="Times New Roman" panose="02020603050405020304" pitchFamily="18" charset="0"/>
                <a:cs typeface="Times New Roman" panose="02020603050405020304" pitchFamily="18" charset="0"/>
              </a:rPr>
              <a:t>Unit -2  :Contents</a:t>
            </a:r>
            <a:endParaRPr lang="en-IN" sz="27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503402" y="493335"/>
            <a:ext cx="8499507" cy="4111830"/>
          </a:xfrm>
        </p:spPr>
        <p:txBody>
          <a:bodyPr anchor="t">
            <a:normAutofit/>
          </a:bodyPr>
          <a:lstStyle/>
          <a:p>
            <a:pPr marL="0" indent="0" algn="just">
              <a:lnSpc>
                <a:spcPct val="115000"/>
              </a:lnSpc>
              <a:buNone/>
            </a:pPr>
            <a:endParaRPr lang="en-US" dirty="0">
              <a:latin typeface="Times New Roman" panose="02020603050405020304" pitchFamily="18" charset="0"/>
              <a:cs typeface="Times New Roman" panose="02020603050405020304" pitchFamily="18" charset="0"/>
            </a:endParaRPr>
          </a:p>
          <a:p>
            <a:pPr marL="0" indent="0" algn="ctr">
              <a:lnSpc>
                <a:spcPct val="115000"/>
              </a:lnSpc>
              <a:buNone/>
            </a:pPr>
            <a:r>
              <a:rPr lang="en-IN" b="1" dirty="0">
                <a:latin typeface="Times New Roman" panose="02020603050405020304" pitchFamily="18" charset="0"/>
                <a:cs typeface="Times New Roman" panose="02020603050405020304" pitchFamily="18" charset="0"/>
              </a:rPr>
              <a:t>Priority Queues and Heaps </a:t>
            </a:r>
          </a:p>
          <a:p>
            <a:pPr marL="0" indent="0">
              <a:lnSpc>
                <a:spcPct val="115000"/>
              </a:lnSpc>
              <a:buNone/>
            </a:pPr>
            <a:r>
              <a:rPr lang="en-IN" dirty="0">
                <a:latin typeface="Times New Roman" panose="02020603050405020304" pitchFamily="18" charset="0"/>
                <a:cs typeface="Times New Roman" panose="02020603050405020304" pitchFamily="18" charset="0"/>
              </a:rPr>
              <a:t>Double Ended Priority queues, Leftist Trees, Binomial Heaps, Fibonacci Heaps, skew heaps, pairing heaps </a:t>
            </a:r>
            <a:endParaRPr lang="en-US" b="1"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091" y="-91341"/>
            <a:ext cx="724623" cy="819345"/>
          </a:xfrm>
          <a:prstGeom prst="rect">
            <a:avLst/>
          </a:prstGeom>
        </p:spPr>
      </p:pic>
      <p:sp>
        <p:nvSpPr>
          <p:cNvPr id="12" name="Rectangle 11"/>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3875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IN" sz="2700" b="1" dirty="0">
                <a:latin typeface="Times New Roman" pitchFamily="18" charset="0"/>
                <a:cs typeface="Times New Roman" pitchFamily="18" charset="0"/>
              </a:rPr>
              <a:t>Objectives of this session </a:t>
            </a:r>
          </a:p>
        </p:txBody>
      </p:sp>
      <p:sp>
        <p:nvSpPr>
          <p:cNvPr id="3" name="Content Placeholder 2">
            <a:extLst>
              <a:ext uri="{FF2B5EF4-FFF2-40B4-BE49-F238E27FC236}">
                <a16:creationId xmlns:a16="http://schemas.microsoft.com/office/drawing/2014/main" id="{8B0F5765-9B78-4DB7-A1DF-B1193D1F3BB0}"/>
              </a:ext>
            </a:extLst>
          </p:cNvPr>
          <p:cNvSpPr>
            <a:spLocks noGrp="1"/>
          </p:cNvSpPr>
          <p:nvPr>
            <p:ph idx="1"/>
          </p:nvPr>
        </p:nvSpPr>
        <p:spPr>
          <a:xfrm>
            <a:off x="512591" y="857203"/>
            <a:ext cx="7886700" cy="3805952"/>
          </a:xfrm>
        </p:spPr>
        <p:txBody>
          <a:bodyPr>
            <a:normAutofit/>
          </a:bodyPr>
          <a:lstStyle/>
          <a:p>
            <a:pPr marL="0" indent="0">
              <a:buNone/>
            </a:pPr>
            <a:endParaRPr lang="en-IN" dirty="0">
              <a:latin typeface="Times New Roman" pitchFamily="18" charset="0"/>
              <a:cs typeface="Times New Roman" pitchFamily="18" charset="0"/>
            </a:endParaRPr>
          </a:p>
          <a:p>
            <a:pPr marL="342900" indent="-342900">
              <a:buFont typeface="+mj-lt"/>
              <a:buAutoNum type="arabicPeriod"/>
            </a:pPr>
            <a:r>
              <a:rPr lang="en-US" sz="1800" dirty="0">
                <a:effectLst/>
                <a:latin typeface="Times New Roman" panose="02020603050405020304" pitchFamily="18" charset="0"/>
                <a:ea typeface="Times New Roman" panose="02020603050405020304" pitchFamily="18" charset="0"/>
              </a:rPr>
              <a:t>To identify the appropriate data structure and algorithm design method for a specified application.</a:t>
            </a:r>
            <a:endParaRPr lang="en-IN"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a:p>
            <a:pPr marL="457200" indent="-457200">
              <a:buFont typeface="+mj-lt"/>
              <a:buAutoNum type="arabicPeriod"/>
            </a:pPr>
            <a:endParaRPr lang="en-IN" dirty="0">
              <a:latin typeface="Times New Roman" pitchFamily="18" charset="0"/>
              <a:cs typeface="Times New Roman" pitchFamily="18" charset="0"/>
            </a:endParaRPr>
          </a:p>
          <a:p>
            <a:pPr marL="457200" indent="-457200">
              <a:buFont typeface="+mj-lt"/>
              <a:buAutoNum type="arabicPeriod"/>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457200" indent="-457200">
              <a:buFont typeface="+mj-lt"/>
              <a:buAutoNum type="arabicPeriod"/>
            </a:pPr>
            <a:r>
              <a:rPr lang="en-US" sz="1800" dirty="0">
                <a:latin typeface="Times New Roman" panose="02020603050405020304" pitchFamily="18" charset="0"/>
              </a:rPr>
              <a:t>Illustrate concept, operations of Queues as a Linear Data Structure and applying them to solve various problems.</a:t>
            </a:r>
            <a:r>
              <a:rPr lang="en-US" dirty="0">
                <a:latin typeface="Times New Roman" pitchFamily="18" charset="0"/>
                <a:cs typeface="Times New Roman" pitchFamily="18" charset="0"/>
              </a:rPr>
              <a:t>	</a:t>
            </a:r>
          </a:p>
          <a:p>
            <a:pPr marL="0" indent="0">
              <a:buNone/>
            </a:pPr>
            <a:endParaRPr lang="en-IN" dirty="0">
              <a:latin typeface="Times New Roman" pitchFamily="18" charset="0"/>
              <a:cs typeface="Times New Roman" pitchFamily="18" charset="0"/>
            </a:endParaRPr>
          </a:p>
        </p:txBody>
      </p:sp>
      <p:sp>
        <p:nvSpPr>
          <p:cNvPr id="6" name="Title 1">
            <a:extLst>
              <a:ext uri="{FF2B5EF4-FFF2-40B4-BE49-F238E27FC236}">
                <a16:creationId xmlns:a16="http://schemas.microsoft.com/office/drawing/2014/main" id="{2A2698FE-B32B-4C98-BD2A-9188D45ABAB3}"/>
              </a:ext>
            </a:extLst>
          </p:cNvPr>
          <p:cNvSpPr txBox="1">
            <a:spLocks/>
          </p:cNvSpPr>
          <p:nvPr/>
        </p:nvSpPr>
        <p:spPr>
          <a:xfrm>
            <a:off x="565588" y="2468847"/>
            <a:ext cx="7886700" cy="735413"/>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700" b="1" dirty="0">
                <a:latin typeface="Times New Roman" pitchFamily="18" charset="0"/>
                <a:cs typeface="Times New Roman" pitchFamily="18" charset="0"/>
              </a:rPr>
              <a:t>Learning Outcomes</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6AEAA506-742C-C1F0-C320-B3114CA0B0F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6832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71000-AC54-1F80-17E3-B87149988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59764-0C81-8AC0-496E-726851474C9B}"/>
              </a:ext>
            </a:extLst>
          </p:cNvPr>
          <p:cNvSpPr>
            <a:spLocks noGrp="1"/>
          </p:cNvSpPr>
          <p:nvPr>
            <p:ph type="title"/>
          </p:nvPr>
        </p:nvSpPr>
        <p:spPr>
          <a:xfrm>
            <a:off x="628650" y="0"/>
            <a:ext cx="7886700" cy="728004"/>
          </a:xfrm>
        </p:spPr>
        <p:txBody>
          <a:bodyPr>
            <a:normAutofit/>
          </a:bodyPr>
          <a:lstStyle/>
          <a:p>
            <a:pPr algn="ctr"/>
            <a:r>
              <a:rPr lang="en-IN" sz="2700" b="1" dirty="0">
                <a:latin typeface="Times New Roman" panose="02020603050405020304" pitchFamily="18" charset="0"/>
                <a:cs typeface="Times New Roman" panose="02020603050405020304" pitchFamily="18" charset="0"/>
              </a:rPr>
              <a:t>Unit -2  :Contents</a:t>
            </a:r>
            <a:endParaRPr lang="en-IN" sz="27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697CD5-1A00-7600-F873-BA7A9752571C}"/>
              </a:ext>
            </a:extLst>
          </p:cNvPr>
          <p:cNvSpPr>
            <a:spLocks noGrp="1"/>
          </p:cNvSpPr>
          <p:nvPr>
            <p:ph idx="1"/>
          </p:nvPr>
        </p:nvSpPr>
        <p:spPr>
          <a:xfrm>
            <a:off x="503402" y="493335"/>
            <a:ext cx="8499507" cy="4111830"/>
          </a:xfrm>
        </p:spPr>
        <p:txBody>
          <a:bodyPr anchor="t">
            <a:normAutofit/>
          </a:bodyPr>
          <a:lstStyle/>
          <a:p>
            <a:pPr marL="0" indent="0" algn="just">
              <a:lnSpc>
                <a:spcPct val="115000"/>
              </a:lnSpc>
              <a:buNone/>
            </a:pPr>
            <a:endParaRPr lang="en-US" dirty="0">
              <a:latin typeface="Times New Roman" panose="02020603050405020304" pitchFamily="18" charset="0"/>
              <a:cs typeface="Times New Roman" panose="02020603050405020304" pitchFamily="18" charset="0"/>
            </a:endParaRPr>
          </a:p>
          <a:p>
            <a:pPr marL="0" indent="0" algn="ctr">
              <a:lnSpc>
                <a:spcPct val="115000"/>
              </a:lnSpc>
              <a:buNone/>
            </a:pPr>
            <a:r>
              <a:rPr lang="en-IN" b="1" dirty="0">
                <a:latin typeface="Times New Roman" panose="02020603050405020304" pitchFamily="18" charset="0"/>
                <a:cs typeface="Times New Roman" panose="02020603050405020304" pitchFamily="18" charset="0"/>
              </a:rPr>
              <a:t>Priority Queues and Heaps </a:t>
            </a:r>
          </a:p>
          <a:p>
            <a:pPr marL="0" indent="0">
              <a:lnSpc>
                <a:spcPct val="115000"/>
              </a:lnSpc>
              <a:buNone/>
            </a:pPr>
            <a:r>
              <a:rPr lang="en-IN" dirty="0">
                <a:latin typeface="Times New Roman" panose="02020603050405020304" pitchFamily="18" charset="0"/>
                <a:cs typeface="Times New Roman" panose="02020603050405020304" pitchFamily="18" charset="0"/>
              </a:rPr>
              <a:t>Double Ended Priority queues, Leftist Trees, Binomial Heaps, Fibonacci Heaps, skew heaps, pairing heaps </a:t>
            </a:r>
            <a:endParaRPr lang="en-US"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5B50121-0E9A-F1F1-FEEA-FC128DEBC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091" y="-91341"/>
            <a:ext cx="724623" cy="819345"/>
          </a:xfrm>
          <a:prstGeom prst="rect">
            <a:avLst/>
          </a:prstGeom>
        </p:spPr>
      </p:pic>
      <p:sp>
        <p:nvSpPr>
          <p:cNvPr id="12" name="Rectangle 11">
            <a:extLst>
              <a:ext uri="{FF2B5EF4-FFF2-40B4-BE49-F238E27FC236}">
                <a16:creationId xmlns:a16="http://schemas.microsoft.com/office/drawing/2014/main" id="{DEE03A88-DA4C-B017-AA59-28F4FFD9250F}"/>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9601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8"/>
          <p:cNvSpPr/>
          <p:nvPr/>
        </p:nvSpPr>
        <p:spPr>
          <a:xfrm>
            <a:off x="457199" y="208980"/>
            <a:ext cx="8354291" cy="3905820"/>
          </a:xfrm>
          <a:prstGeom prst="rect">
            <a:avLst/>
          </a:prstGeom>
          <a:noFill/>
          <a:ln>
            <a:noFill/>
          </a:ln>
        </p:spPr>
        <p:txBody>
          <a:bodyPr spcFirstLastPara="1" wrap="square" lIns="67500" tIns="33750" rIns="67500" bIns="33750" anchor="t" anchorCtr="0">
            <a:noAutofit/>
          </a:bodyPr>
          <a:lstStyle/>
          <a:p>
            <a:pPr algn="just">
              <a:buClr>
                <a:schemeClr val="dk1"/>
              </a:buClr>
              <a:buSzPts val="1400"/>
            </a:pPr>
            <a:endParaRPr sz="105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F032D702-F80C-E7EC-C41C-38BAEB59DBC2}"/>
              </a:ext>
            </a:extLst>
          </p:cNvPr>
          <p:cNvSpPr txBox="1"/>
          <p:nvPr/>
        </p:nvSpPr>
        <p:spPr>
          <a:xfrm>
            <a:off x="457199" y="677334"/>
            <a:ext cx="8494890" cy="4832092"/>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 queue is a linear data structure that follows a particular order in which operations are performed. The order is </a:t>
            </a:r>
            <a:r>
              <a:rPr lang="en-US" b="1" dirty="0">
                <a:latin typeface="Times New Roman" panose="02020603050405020304" pitchFamily="18" charset="0"/>
                <a:cs typeface="Times New Roman" panose="02020603050405020304" pitchFamily="18" charset="0"/>
              </a:rPr>
              <a:t>First-In-First-Out (FIFO)</a:t>
            </a:r>
            <a:r>
              <a:rPr lang="en-US" dirty="0">
                <a:latin typeface="Times New Roman" panose="02020603050405020304" pitchFamily="18" charset="0"/>
                <a:cs typeface="Times New Roman" panose="02020603050405020304" pitchFamily="18" charset="0"/>
              </a:rPr>
              <a:t>. This means that the first element added to the queue will be the first one to be removed, just like a real-world queue or line, such as waiting in line at a grocery store.</a:t>
            </a:r>
          </a:p>
          <a:p>
            <a:pPr algn="just"/>
            <a:endParaRPr lang="en-US"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The queue data structure follows the FIFO (First In First Out) principle where elements that are added first will be removed first.</a:t>
            </a:r>
          </a:p>
          <a:p>
            <a:br>
              <a:rPr lang="en-US" dirty="0"/>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7A6EFC3-55F0-1F95-2F96-385C7C77DCF3}"/>
              </a:ext>
            </a:extLst>
          </p:cNvPr>
          <p:cNvPicPr>
            <a:picLocks noChangeAspect="1"/>
          </p:cNvPicPr>
          <p:nvPr/>
        </p:nvPicPr>
        <p:blipFill>
          <a:blip r:embed="rId3"/>
          <a:stretch>
            <a:fillRect/>
          </a:stretch>
        </p:blipFill>
        <p:spPr>
          <a:xfrm>
            <a:off x="1332265" y="2384633"/>
            <a:ext cx="6479470" cy="2198521"/>
          </a:xfrm>
          <a:prstGeom prst="rect">
            <a:avLst/>
          </a:prstGeom>
        </p:spPr>
      </p:pic>
      <p:sp>
        <p:nvSpPr>
          <p:cNvPr id="3" name="Rectangle 2">
            <a:extLst>
              <a:ext uri="{FF2B5EF4-FFF2-40B4-BE49-F238E27FC236}">
                <a16:creationId xmlns:a16="http://schemas.microsoft.com/office/drawing/2014/main" id="{F3183BF7-9FAA-DC0B-4116-84AD9804FFE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2" name="Title 1">
            <a:extLst>
              <a:ext uri="{FF2B5EF4-FFF2-40B4-BE49-F238E27FC236}">
                <a16:creationId xmlns:a16="http://schemas.microsoft.com/office/drawing/2014/main" id="{BC6A7C14-F1F5-4750-4ABD-1F3E3A47130B}"/>
              </a:ext>
            </a:extLst>
          </p:cNvPr>
          <p:cNvSpPr txBox="1">
            <a:spLocks/>
          </p:cNvSpPr>
          <p:nvPr/>
        </p:nvSpPr>
        <p:spPr>
          <a:xfrm>
            <a:off x="1075486" y="0"/>
            <a:ext cx="7439864" cy="728004"/>
          </a:xfrm>
          <a:prstGeom prst="rect">
            <a:avLst/>
          </a:prstGeom>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700" b="1" dirty="0">
                <a:latin typeface="Times New Roman" pitchFamily="18" charset="0"/>
                <a:cs typeface="Times New Roman" pitchFamily="18" charset="0"/>
              </a:rPr>
              <a:t>Queue </a:t>
            </a:r>
            <a:endParaRPr lang="en-IN" sz="2700" b="1"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612D7CC0-9CCC-35DA-B406-53C26A5AD5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Tree>
    <p:extLst>
      <p:ext uri="{BB962C8B-B14F-4D97-AF65-F5344CB8AC3E}">
        <p14:creationId xmlns:p14="http://schemas.microsoft.com/office/powerpoint/2010/main" val="4131135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Operation on Queue </a:t>
            </a:r>
            <a:endParaRPr lang="en-IN" sz="2700" b="1"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416454" y="1189411"/>
            <a:ext cx="8532476" cy="3539430"/>
          </a:xfrm>
          <a:prstGeom prst="rect">
            <a:avLst/>
          </a:prstGeom>
          <a:noFill/>
        </p:spPr>
        <p:txBody>
          <a:bodyPr wrap="square">
            <a:spAutoFit/>
          </a:bodyPr>
          <a:lstStyle/>
          <a:p>
            <a:pPr algn="just" fontAlgn="base"/>
            <a:r>
              <a:rPr lang="en-US" b="1" dirty="0">
                <a:latin typeface="Times New Roman" panose="02020603050405020304" pitchFamily="18" charset="0"/>
                <a:cs typeface="Times New Roman" panose="02020603050405020304" pitchFamily="18" charset="0"/>
              </a:rPr>
              <a:t>Basic Operations of Queue Data Structure</a:t>
            </a: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Enqueue (Insert): </a:t>
            </a:r>
            <a:r>
              <a:rPr lang="en-US" dirty="0">
                <a:latin typeface="Times New Roman" panose="02020603050405020304" pitchFamily="18" charset="0"/>
                <a:cs typeface="Times New Roman" panose="02020603050405020304" pitchFamily="18" charset="0"/>
              </a:rPr>
              <a:t>Adds an element to the rear of the queue.</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Dequeue (Delete): </a:t>
            </a:r>
            <a:r>
              <a:rPr lang="en-US" dirty="0">
                <a:latin typeface="Times New Roman" panose="02020603050405020304" pitchFamily="18" charset="0"/>
                <a:cs typeface="Times New Roman" panose="02020603050405020304" pitchFamily="18" charset="0"/>
              </a:rPr>
              <a:t>Removes and returns the element from the front of the queue.</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Peek: </a:t>
            </a:r>
            <a:r>
              <a:rPr lang="en-US" dirty="0">
                <a:latin typeface="Times New Roman" panose="02020603050405020304" pitchFamily="18" charset="0"/>
                <a:cs typeface="Times New Roman" panose="02020603050405020304" pitchFamily="18" charset="0"/>
              </a:rPr>
              <a:t>Returns the element at the front of the queue without removing it.</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Empty: </a:t>
            </a:r>
            <a:r>
              <a:rPr lang="en-US" dirty="0">
                <a:latin typeface="Times New Roman" panose="02020603050405020304" pitchFamily="18" charset="0"/>
                <a:cs typeface="Times New Roman" panose="02020603050405020304" pitchFamily="18" charset="0"/>
              </a:rPr>
              <a:t>Checks if the queue is empty.</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Full: </a:t>
            </a:r>
            <a:r>
              <a:rPr lang="en-US" dirty="0">
                <a:latin typeface="Times New Roman" panose="02020603050405020304" pitchFamily="18" charset="0"/>
                <a:cs typeface="Times New Roman" panose="02020603050405020304" pitchFamily="18" charset="0"/>
              </a:rPr>
              <a:t>Checks if the queue is full.</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a:t>
            </a:r>
            <a:r>
              <a:rPr lang="en-US" dirty="0"/>
              <a:t>: </a:t>
            </a:r>
            <a:r>
              <a:rPr lang="en-US" dirty="0">
                <a:latin typeface="Times New Roman" panose="02020603050405020304" pitchFamily="18" charset="0"/>
                <a:cs typeface="Times New Roman" panose="02020603050405020304" pitchFamily="18" charset="0"/>
              </a:rPr>
              <a:t>This operation allows you to look at the element at the front of the queue without removing it</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Rear</a:t>
            </a:r>
            <a:r>
              <a:rPr lang="en-US" dirty="0"/>
              <a:t>: </a:t>
            </a:r>
            <a:r>
              <a:rPr lang="en-US" dirty="0">
                <a:latin typeface="Times New Roman" panose="02020603050405020304" pitchFamily="18" charset="0"/>
                <a:cs typeface="Times New Roman" panose="02020603050405020304" pitchFamily="18" charset="0"/>
              </a:rPr>
              <a:t>This operation allows you to look at the element at the end of the queue, the last one to be added.</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EF5BEA8-2E0F-94E2-A246-4EC0EDADC50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6190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Application on Queue </a:t>
            </a:r>
            <a:endParaRPr lang="en-IN" sz="2700" b="1"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7</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238991" y="1055149"/>
            <a:ext cx="8532476" cy="2246769"/>
          </a:xfrm>
          <a:prstGeom prst="rect">
            <a:avLst/>
          </a:prstGeom>
          <a:noFill/>
        </p:spPr>
        <p:txBody>
          <a:bodyPr wrap="square">
            <a:spAutoFit/>
          </a:bodyPr>
          <a:lstStyle/>
          <a:p>
            <a:pPr algn="l" fontAlgn="base"/>
            <a:r>
              <a:rPr lang="en-US" sz="1600" dirty="0">
                <a:latin typeface="Times New Roman" panose="02020603050405020304" pitchFamily="18" charset="0"/>
                <a:cs typeface="Times New Roman" panose="02020603050405020304" pitchFamily="18" charset="0"/>
              </a:rPr>
              <a:t>Applications of Queue</a:t>
            </a:r>
          </a:p>
          <a:p>
            <a:pPr marL="342900" indent="-342900" algn="l" fontAlgn="base">
              <a:buFont typeface="+mj-lt"/>
              <a:buAutoNum type="arabicPeriod"/>
            </a:pPr>
            <a:r>
              <a:rPr lang="en-US" sz="1600" dirty="0">
                <a:latin typeface="Times New Roman" panose="02020603050405020304" pitchFamily="18" charset="0"/>
                <a:cs typeface="Times New Roman" panose="02020603050405020304" pitchFamily="18" charset="0"/>
              </a:rPr>
              <a:t>Task scheduling in operating systems</a:t>
            </a:r>
          </a:p>
          <a:p>
            <a:pPr marL="342900" indent="-342900" algn="l" fontAlgn="base">
              <a:buFont typeface="+mj-lt"/>
              <a:buAutoNum type="arabicPeriod"/>
            </a:pPr>
            <a:r>
              <a:rPr lang="en-US" sz="1600" dirty="0">
                <a:latin typeface="Times New Roman" panose="02020603050405020304" pitchFamily="18" charset="0"/>
                <a:cs typeface="Times New Roman" panose="02020603050405020304" pitchFamily="18" charset="0"/>
              </a:rPr>
              <a:t>Data transfer in network communication</a:t>
            </a:r>
          </a:p>
          <a:p>
            <a:pPr marL="342900" indent="-342900" algn="l" fontAlgn="base">
              <a:buFont typeface="+mj-lt"/>
              <a:buAutoNum type="arabicPeriod"/>
            </a:pPr>
            <a:r>
              <a:rPr lang="en-US" sz="1600" dirty="0">
                <a:latin typeface="Times New Roman" panose="02020603050405020304" pitchFamily="18" charset="0"/>
                <a:cs typeface="Times New Roman" panose="02020603050405020304" pitchFamily="18" charset="0"/>
              </a:rPr>
              <a:t>Simulation of real-world systems (e.g., waiting lines)</a:t>
            </a:r>
          </a:p>
          <a:p>
            <a:pPr marL="342900" indent="-342900" algn="l" fontAlgn="base">
              <a:buFont typeface="+mj-lt"/>
              <a:buAutoNum type="arabicPeriod"/>
            </a:pPr>
            <a:r>
              <a:rPr lang="en-US" sz="1600" dirty="0">
                <a:latin typeface="Times New Roman" panose="02020603050405020304" pitchFamily="18" charset="0"/>
                <a:cs typeface="Times New Roman" panose="02020603050405020304" pitchFamily="18" charset="0"/>
              </a:rPr>
              <a:t>Priority queues for event processing queues for event processing</a:t>
            </a:r>
          </a:p>
          <a:p>
            <a:pPr algn="just"/>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algn="just"/>
            <a:endParaRPr lang="en-US" b="1" dirty="0">
              <a:solidFill>
                <a:srgbClr val="273239"/>
              </a:solidFill>
              <a:highlight>
                <a:srgbClr val="FFFFFF"/>
              </a:highlight>
              <a:latin typeface="Nunito" pitchFamily="2" charset="0"/>
              <a:cs typeface="Times New Roman" panose="02020603050405020304" pitchFamily="18" charset="0"/>
            </a:endParaRPr>
          </a:p>
          <a:p>
            <a:pPr algn="just"/>
            <a:endParaRPr lang="en-US" b="1" dirty="0">
              <a:solidFill>
                <a:srgbClr val="273239"/>
              </a:solidFill>
              <a:highlight>
                <a:srgbClr val="FFFFFF"/>
              </a:highlight>
              <a:latin typeface="Nunito" pitchFamily="2" charset="0"/>
              <a:cs typeface="Times New Roman" panose="02020603050405020304" pitchFamily="18" charset="0"/>
            </a:endParaRPr>
          </a:p>
        </p:txBody>
      </p:sp>
      <p:sp>
        <p:nvSpPr>
          <p:cNvPr id="5" name="Rectangle 4">
            <a:extLst>
              <a:ext uri="{FF2B5EF4-FFF2-40B4-BE49-F238E27FC236}">
                <a16:creationId xmlns:a16="http://schemas.microsoft.com/office/drawing/2014/main" id="{BFAFF535-2222-01C5-07D1-6EB3C039E65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5248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Types of Queue </a:t>
            </a:r>
            <a:endParaRPr lang="en-IN" sz="2700" b="1"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238991" y="1055149"/>
            <a:ext cx="8532476" cy="2677656"/>
          </a:xfrm>
          <a:prstGeom prst="rect">
            <a:avLst/>
          </a:prstGeom>
          <a:noFill/>
        </p:spPr>
        <p:txBody>
          <a:bodyPr wrap="square">
            <a:spAutoFit/>
          </a:bodyPr>
          <a:lstStyle/>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Simple Queue (Linear Queue)</a:t>
            </a:r>
            <a:r>
              <a:rPr lang="en-US" dirty="0">
                <a:latin typeface="Times New Roman" panose="02020603050405020304" pitchFamily="18" charset="0"/>
                <a:cs typeface="Times New Roman" panose="02020603050405020304" pitchFamily="18" charset="0"/>
              </a:rPr>
              <a:t>: This is the basic form of a queue, where elements are enqueued at the rear and dequeued from the front.</a:t>
            </a:r>
          </a:p>
          <a:p>
            <a:pPr algn="just"/>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Circular Queue</a:t>
            </a:r>
            <a:r>
              <a:rPr lang="en-US" dirty="0">
                <a:latin typeface="Times New Roman" panose="02020603050405020304" pitchFamily="18" charset="0"/>
                <a:cs typeface="Times New Roman" panose="02020603050405020304" pitchFamily="18" charset="0"/>
              </a:rPr>
              <a:t>: In this type of queue, the last position is connected back to the first position, forming a circle. This is useful when we want to make efficient use of space.</a:t>
            </a: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Priority Queue</a:t>
            </a:r>
            <a:r>
              <a:rPr lang="en-US" dirty="0">
                <a:latin typeface="Times New Roman" panose="02020603050405020304" pitchFamily="18" charset="0"/>
                <a:cs typeface="Times New Roman" panose="02020603050405020304" pitchFamily="18" charset="0"/>
              </a:rPr>
              <a:t>: Here, each element has a priority, and elements with higher priority are dequeued before those with lower priority, regardless of their position in the queue.</a:t>
            </a: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Deque (Double-Ended Queue)</a:t>
            </a:r>
            <a:r>
              <a:rPr lang="en-US" dirty="0">
                <a:latin typeface="Times New Roman" panose="02020603050405020304" pitchFamily="18" charset="0"/>
                <a:cs typeface="Times New Roman" panose="02020603050405020304" pitchFamily="18" charset="0"/>
              </a:rPr>
              <a:t>: A deque allows elements to be added or removed from both the front and the rear.</a:t>
            </a:r>
            <a:endParaRPr lang="en-US" b="1" dirty="0">
              <a:solidFill>
                <a:srgbClr val="273239"/>
              </a:solidFill>
              <a:highlight>
                <a:srgbClr val="FFFFFF"/>
              </a:highligh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F7D39F5-4B62-2D04-B25D-D5B3A037504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00391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9C7DD-6429-46ED-E069-D93E789FA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30DCD-0862-5CE6-492D-935E7C8BE33F}"/>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Priority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FE6F7BA6-6311-119F-688B-DBC277ADCA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591434DB-D5BB-BDC9-DE09-8A4428E894A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B5A9E597-8ED8-FE21-105E-230B5A4B723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1F700EF2-79C5-EAC3-32AF-992EDEA354EC}"/>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B4348F59-542F-7457-1737-F7507C9F150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7F261BB3-E906-4D1B-7EA0-399547903974}"/>
              </a:ext>
            </a:extLst>
          </p:cNvPr>
          <p:cNvSpPr txBox="1"/>
          <p:nvPr/>
        </p:nvSpPr>
        <p:spPr>
          <a:xfrm>
            <a:off x="583562" y="689246"/>
            <a:ext cx="8019664" cy="4063292"/>
          </a:xfrm>
          <a:prstGeom prst="rect">
            <a:avLst/>
          </a:prstGeom>
          <a:noFill/>
        </p:spPr>
        <p:txBody>
          <a:bodyPr wrap="square">
            <a:spAutoFit/>
          </a:bodyPr>
          <a:lstStyle/>
          <a:p>
            <a:pPr algn="just">
              <a:lnSpc>
                <a:spcPts val="2250"/>
              </a:lnSpc>
              <a:spcAft>
                <a:spcPts val="1200"/>
              </a:spcAft>
              <a:buNone/>
            </a:pPr>
            <a:r>
              <a:rPr lang="en-US" sz="1200" dirty="0">
                <a:latin typeface="Sitka Small" pitchFamily="2" charset="0"/>
              </a:rPr>
              <a:t>A Priority Queue is a type of queue (like a waiting line), but instead of serving people in the order they came (FIFO – First In, First Out), it serves people based on priority.</a:t>
            </a:r>
          </a:p>
          <a:p>
            <a:pPr algn="just">
              <a:lnSpc>
                <a:spcPts val="2250"/>
              </a:lnSpc>
              <a:spcAft>
                <a:spcPts val="1200"/>
              </a:spcAft>
              <a:buNone/>
            </a:pPr>
            <a:r>
              <a:rPr lang="en-US" sz="1200" i="0" dirty="0">
                <a:effectLst/>
                <a:latin typeface="Sitka Small" pitchFamily="2" charset="0"/>
              </a:rPr>
              <a:t>A priority queue is a special type of queue in which each element is associated with a priority value. And, elements are served on the basis of their priority. That is, higher priority elements are served first.</a:t>
            </a:r>
          </a:p>
          <a:p>
            <a:pPr algn="just">
              <a:lnSpc>
                <a:spcPts val="2250"/>
              </a:lnSpc>
              <a:spcAft>
                <a:spcPts val="1200"/>
              </a:spcAft>
              <a:buNone/>
            </a:pPr>
            <a:r>
              <a:rPr lang="en-US" sz="1200" i="0" dirty="0">
                <a:effectLst/>
                <a:latin typeface="Sitka Small" pitchFamily="2" charset="0"/>
              </a:rPr>
              <a:t>However, if elements with the same priority occur, they are served according to their order in the queue.</a:t>
            </a:r>
          </a:p>
          <a:p>
            <a:pPr algn="just">
              <a:lnSpc>
                <a:spcPts val="2250"/>
              </a:lnSpc>
              <a:spcAft>
                <a:spcPts val="1200"/>
              </a:spcAft>
              <a:buNone/>
            </a:pPr>
            <a:r>
              <a:rPr lang="en-IN" sz="1200" b="1" dirty="0">
                <a:latin typeface="Sitka Small" pitchFamily="2" charset="0"/>
              </a:rPr>
              <a:t>Assigning Priority Value</a:t>
            </a:r>
          </a:p>
          <a:p>
            <a:pPr marL="342900" indent="-342900" algn="just">
              <a:buFont typeface="+mj-lt"/>
              <a:buAutoNum type="arabicPeriod"/>
            </a:pPr>
            <a:r>
              <a:rPr lang="en-US" sz="1200" dirty="0">
                <a:latin typeface="Sitka Small" pitchFamily="2" charset="0"/>
              </a:rPr>
              <a:t>Generally, the value of the element itself is considered for assigning the priority. For example, The element with the highest value is considered the highest priority element. However, in other cases, we can assume the element with the lowest value as the highest priority element.</a:t>
            </a:r>
          </a:p>
          <a:p>
            <a:pPr marL="342900" indent="-342900" algn="just">
              <a:buFont typeface="+mj-lt"/>
              <a:buAutoNum type="arabicPeriod"/>
            </a:pPr>
            <a:r>
              <a:rPr lang="en-US" sz="1200" dirty="0">
                <a:latin typeface="Sitka Small" pitchFamily="2" charset="0"/>
              </a:rPr>
              <a:t>We can also set priorities according to our needs.</a:t>
            </a:r>
          </a:p>
          <a:p>
            <a:pPr algn="just">
              <a:lnSpc>
                <a:spcPts val="2250"/>
              </a:lnSpc>
              <a:spcAft>
                <a:spcPts val="1200"/>
              </a:spcAft>
              <a:buNone/>
            </a:pPr>
            <a:endParaRPr lang="en-US" sz="1200" i="0" dirty="0">
              <a:effectLst/>
              <a:latin typeface="Sitka Small" pitchFamily="2" charset="0"/>
            </a:endParaRPr>
          </a:p>
        </p:txBody>
      </p:sp>
    </p:spTree>
    <p:extLst>
      <p:ext uri="{BB962C8B-B14F-4D97-AF65-F5344CB8AC3E}">
        <p14:creationId xmlns:p14="http://schemas.microsoft.com/office/powerpoint/2010/main" val="4223272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4A4A1-9585-7D61-931F-E41203549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43073-B620-6C21-21B8-340A3072CBB0}"/>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Priority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67B30DED-DC3D-D39F-6C96-3B99B1210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A1CACB3-5F4E-C15C-5C61-36B698E2E24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302A32D-95C8-DF5A-7862-85B35DF1F2F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5C1F4D65-ED07-4745-41F8-FB5D40962AC8}"/>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FFC28276-BBDA-750F-A7A5-D373F0BE191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pic>
        <p:nvPicPr>
          <p:cNvPr id="1026" name="Picture 2" descr="the element with highest priority is removed from the priority queue">
            <a:extLst>
              <a:ext uri="{FF2B5EF4-FFF2-40B4-BE49-F238E27FC236}">
                <a16:creationId xmlns:a16="http://schemas.microsoft.com/office/drawing/2014/main" id="{3E3FC5A1-A835-2405-988E-451438F73D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430" y="2075843"/>
            <a:ext cx="3277445" cy="29077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FD0F3BF-0F7F-FD3B-182B-CDCE475C0EEF}"/>
              </a:ext>
            </a:extLst>
          </p:cNvPr>
          <p:cNvSpPr txBox="1"/>
          <p:nvPr/>
        </p:nvSpPr>
        <p:spPr>
          <a:xfrm>
            <a:off x="307975" y="861389"/>
            <a:ext cx="8670606" cy="5000280"/>
          </a:xfrm>
          <a:prstGeom prst="rect">
            <a:avLst/>
          </a:prstGeom>
          <a:noFill/>
        </p:spPr>
        <p:txBody>
          <a:bodyPr wrap="square">
            <a:spAutoFit/>
          </a:bodyPr>
          <a:lstStyle/>
          <a:p>
            <a:pPr algn="l">
              <a:lnSpc>
                <a:spcPts val="2700"/>
              </a:lnSpc>
              <a:spcAft>
                <a:spcPts val="900"/>
              </a:spcAft>
              <a:buNone/>
            </a:pPr>
            <a:r>
              <a:rPr lang="en-US" b="1" i="0" dirty="0">
                <a:solidFill>
                  <a:srgbClr val="25265E"/>
                </a:solidFill>
                <a:effectLst/>
                <a:latin typeface="Sitka Small" pitchFamily="2" charset="0"/>
              </a:rPr>
              <a:t>Difference between Priority Queue and Normal Queue</a:t>
            </a:r>
          </a:p>
          <a:p>
            <a:pPr algn="l">
              <a:lnSpc>
                <a:spcPts val="2250"/>
              </a:lnSpc>
              <a:spcAft>
                <a:spcPts val="1200"/>
              </a:spcAft>
              <a:buNone/>
            </a:pPr>
            <a:r>
              <a:rPr lang="en-US" i="0" dirty="0">
                <a:effectLst/>
                <a:latin typeface="Sitka Small" pitchFamily="2" charset="0"/>
              </a:rPr>
              <a:t>In a queue, the first-in-first-out rule is implemented whereas, in a priority queue, the values are removed on the basis of priority. The element with the highest priority is removed first.</a:t>
            </a:r>
          </a:p>
          <a:p>
            <a:pPr algn="l">
              <a:lnSpc>
                <a:spcPts val="2250"/>
              </a:lnSpc>
              <a:spcAft>
                <a:spcPts val="1200"/>
              </a:spcAft>
              <a:buNone/>
            </a:pPr>
            <a:endParaRPr lang="en-US" dirty="0">
              <a:latin typeface="Sitka Small" pitchFamily="2" charset="0"/>
            </a:endParaRPr>
          </a:p>
          <a:p>
            <a:pPr>
              <a:lnSpc>
                <a:spcPct val="150000"/>
              </a:lnSpc>
              <a:spcAft>
                <a:spcPts val="1200"/>
              </a:spcAft>
            </a:pPr>
            <a:r>
              <a:rPr lang="en-IN" b="1" dirty="0">
                <a:latin typeface="Sitka Small" pitchFamily="2" charset="0"/>
              </a:rPr>
              <a:t>Priority Queue Applications</a:t>
            </a:r>
          </a:p>
          <a:p>
            <a:pPr>
              <a:lnSpc>
                <a:spcPct val="150000"/>
              </a:lnSpc>
            </a:pPr>
            <a:r>
              <a:rPr lang="en-US" dirty="0">
                <a:latin typeface="Sitka Small" pitchFamily="2" charset="0"/>
              </a:rPr>
              <a:t>Some of the applications of a priority queue are:</a:t>
            </a:r>
          </a:p>
          <a:p>
            <a:pPr marL="342900" indent="-342900">
              <a:lnSpc>
                <a:spcPct val="150000"/>
              </a:lnSpc>
              <a:buFont typeface="+mj-lt"/>
              <a:buAutoNum type="arabicPeriod"/>
            </a:pPr>
            <a:r>
              <a:rPr lang="en-US" dirty="0">
                <a:latin typeface="Sitka Small" pitchFamily="2" charset="0"/>
              </a:rPr>
              <a:t>Dijkstra's algorithm</a:t>
            </a:r>
          </a:p>
          <a:p>
            <a:pPr marL="342900" indent="-342900">
              <a:lnSpc>
                <a:spcPct val="150000"/>
              </a:lnSpc>
              <a:buFont typeface="+mj-lt"/>
              <a:buAutoNum type="arabicPeriod"/>
            </a:pPr>
            <a:r>
              <a:rPr lang="en-US" dirty="0">
                <a:latin typeface="Sitka Small" pitchFamily="2" charset="0"/>
              </a:rPr>
              <a:t>for implementing stack</a:t>
            </a:r>
          </a:p>
          <a:p>
            <a:pPr marL="342900" indent="-342900">
              <a:lnSpc>
                <a:spcPct val="150000"/>
              </a:lnSpc>
              <a:buFont typeface="+mj-lt"/>
              <a:buAutoNum type="arabicPeriod"/>
            </a:pPr>
            <a:r>
              <a:rPr lang="en-US" dirty="0">
                <a:latin typeface="Sitka Small" pitchFamily="2" charset="0"/>
              </a:rPr>
              <a:t>for load balancing and interrupt handling in an operating system</a:t>
            </a:r>
          </a:p>
          <a:p>
            <a:pPr marL="342900" indent="-342900">
              <a:lnSpc>
                <a:spcPct val="150000"/>
              </a:lnSpc>
              <a:buFont typeface="+mj-lt"/>
              <a:buAutoNum type="arabicPeriod"/>
            </a:pPr>
            <a:r>
              <a:rPr lang="en-US" dirty="0">
                <a:latin typeface="Sitka Small" pitchFamily="2" charset="0"/>
              </a:rPr>
              <a:t>for data compression in Huffman code</a:t>
            </a:r>
          </a:p>
          <a:p>
            <a:pPr algn="l">
              <a:lnSpc>
                <a:spcPts val="2250"/>
              </a:lnSpc>
              <a:spcAft>
                <a:spcPts val="1200"/>
              </a:spcAft>
              <a:buNone/>
            </a:pPr>
            <a:endParaRPr lang="en-US" dirty="0">
              <a:latin typeface="Sitka Small" pitchFamily="2" charset="0"/>
            </a:endParaRPr>
          </a:p>
          <a:p>
            <a:pPr algn="l">
              <a:lnSpc>
                <a:spcPts val="2250"/>
              </a:lnSpc>
              <a:spcAft>
                <a:spcPts val="1200"/>
              </a:spcAft>
              <a:buNone/>
            </a:pPr>
            <a:endParaRPr lang="en-US" i="0" dirty="0">
              <a:effectLst/>
              <a:latin typeface="Sitka Small" pitchFamily="2" charset="0"/>
            </a:endParaRPr>
          </a:p>
          <a:p>
            <a:pPr algn="l">
              <a:lnSpc>
                <a:spcPts val="2250"/>
              </a:lnSpc>
              <a:spcAft>
                <a:spcPts val="1200"/>
              </a:spcAft>
              <a:buNone/>
            </a:pPr>
            <a:endParaRPr lang="en-US" i="0" dirty="0">
              <a:effectLst/>
              <a:latin typeface="Sitka Small" pitchFamily="2" charset="0"/>
            </a:endParaRPr>
          </a:p>
        </p:txBody>
      </p:sp>
    </p:spTree>
    <p:extLst>
      <p:ext uri="{BB962C8B-B14F-4D97-AF65-F5344CB8AC3E}">
        <p14:creationId xmlns:p14="http://schemas.microsoft.com/office/powerpoint/2010/main" val="1885969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C6C2-55BB-0ADA-11A7-553D70F41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ECC32-389C-3FAF-1FBA-7C86CF041869}"/>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Priority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7C55D75A-5210-5D94-74F6-1DB48614AF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05E9AD-C021-323C-9E7C-C678AA2FDF2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6316CCB-FE8F-D86E-255E-7C62BE63859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3D21DA53-D92A-D7FF-0BD8-1B0EF289E16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D64F1284-FFEB-0731-EA9C-9319922E13F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4C12BAAF-B3DA-E22F-A08E-5875BB0283EB}"/>
              </a:ext>
            </a:extLst>
          </p:cNvPr>
          <p:cNvPicPr>
            <a:picLocks noChangeAspect="1"/>
          </p:cNvPicPr>
          <p:nvPr/>
        </p:nvPicPr>
        <p:blipFill>
          <a:blip r:embed="rId4"/>
          <a:stretch>
            <a:fillRect/>
          </a:stretch>
        </p:blipFill>
        <p:spPr>
          <a:xfrm>
            <a:off x="32165" y="667727"/>
            <a:ext cx="3029618" cy="4209394"/>
          </a:xfrm>
          <a:prstGeom prst="rect">
            <a:avLst/>
          </a:prstGeom>
        </p:spPr>
      </p:pic>
      <p:pic>
        <p:nvPicPr>
          <p:cNvPr id="10" name="Picture 9">
            <a:extLst>
              <a:ext uri="{FF2B5EF4-FFF2-40B4-BE49-F238E27FC236}">
                <a16:creationId xmlns:a16="http://schemas.microsoft.com/office/drawing/2014/main" id="{B4CB38A4-8E02-3BB6-B19B-97AFD1EAD85C}"/>
              </a:ext>
            </a:extLst>
          </p:cNvPr>
          <p:cNvPicPr>
            <a:picLocks noChangeAspect="1"/>
          </p:cNvPicPr>
          <p:nvPr/>
        </p:nvPicPr>
        <p:blipFill>
          <a:blip r:embed="rId5"/>
          <a:stretch>
            <a:fillRect/>
          </a:stretch>
        </p:blipFill>
        <p:spPr>
          <a:xfrm>
            <a:off x="3129186" y="667727"/>
            <a:ext cx="3694352" cy="4209395"/>
          </a:xfrm>
          <a:prstGeom prst="rect">
            <a:avLst/>
          </a:prstGeom>
        </p:spPr>
      </p:pic>
      <p:pic>
        <p:nvPicPr>
          <p:cNvPr id="12" name="Picture 11">
            <a:extLst>
              <a:ext uri="{FF2B5EF4-FFF2-40B4-BE49-F238E27FC236}">
                <a16:creationId xmlns:a16="http://schemas.microsoft.com/office/drawing/2014/main" id="{0F462CDD-A217-C431-24DD-3EB73BAE1498}"/>
              </a:ext>
            </a:extLst>
          </p:cNvPr>
          <p:cNvPicPr>
            <a:picLocks noChangeAspect="1"/>
          </p:cNvPicPr>
          <p:nvPr/>
        </p:nvPicPr>
        <p:blipFill>
          <a:blip r:embed="rId6"/>
          <a:stretch>
            <a:fillRect/>
          </a:stretch>
        </p:blipFill>
        <p:spPr>
          <a:xfrm>
            <a:off x="6823538" y="667727"/>
            <a:ext cx="2148874" cy="3896431"/>
          </a:xfrm>
          <a:prstGeom prst="rect">
            <a:avLst/>
          </a:prstGeom>
        </p:spPr>
      </p:pic>
    </p:spTree>
    <p:extLst>
      <p:ext uri="{BB962C8B-B14F-4D97-AF65-F5344CB8AC3E}">
        <p14:creationId xmlns:p14="http://schemas.microsoft.com/office/powerpoint/2010/main" val="2751708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4430-1829-7907-E26F-D6994A9EE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5CDF1-9CA4-D29E-D8EB-BD3F16B50BC2}"/>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Double ended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A11726CF-ADEA-0F08-C0B9-79B202F10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8F69C60-C56C-B24D-BE9A-C5A06B7BFC4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E8976A8-4D55-5227-F819-1A6EEF5A665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E685A2F0-F521-10E2-CE53-A0654A6F707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D8A78F61-2CB9-74AD-D644-2233F8CB9086}"/>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F2A7D80E-28D5-2D7C-3143-6C0CB79A56C9}"/>
              </a:ext>
            </a:extLst>
          </p:cNvPr>
          <p:cNvSpPr txBox="1"/>
          <p:nvPr/>
        </p:nvSpPr>
        <p:spPr>
          <a:xfrm>
            <a:off x="583562" y="689246"/>
            <a:ext cx="8019664" cy="1292662"/>
          </a:xfrm>
          <a:prstGeom prst="rect">
            <a:avLst/>
          </a:prstGeom>
          <a:noFill/>
        </p:spPr>
        <p:txBody>
          <a:bodyPr wrap="square">
            <a:spAutoFit/>
          </a:bodyPr>
          <a:lstStyle/>
          <a:p>
            <a:pPr algn="just" fontAlgn="base"/>
            <a:r>
              <a:rPr lang="en-US" dirty="0">
                <a:latin typeface="Sitka Small" pitchFamily="2" charset="0"/>
              </a:rPr>
              <a:t>Deque or Double Ended Queue is a generalized version of </a:t>
            </a:r>
            <a:r>
              <a:rPr lang="en-US" dirty="0">
                <a:latin typeface="Sitka Small" pitchFamily="2" charset="0"/>
                <a:hlinkClick r:id="rId4">
                  <a:extLst>
                    <a:ext uri="{A12FA001-AC4F-418D-AE19-62706E023703}">
                      <ahyp:hlinkClr xmlns:ahyp="http://schemas.microsoft.com/office/drawing/2018/hyperlinkcolor" val="tx"/>
                    </a:ext>
                  </a:extLst>
                </a:hlinkClick>
              </a:rPr>
              <a:t>Queue data structure </a:t>
            </a:r>
            <a:r>
              <a:rPr lang="en-US" dirty="0">
                <a:latin typeface="Sitka Small" pitchFamily="2" charset="0"/>
              </a:rPr>
              <a:t>that allows insert and delete at both ends. Below is an example program of deque in different languages.</a:t>
            </a:r>
          </a:p>
          <a:p>
            <a:pPr algn="just"/>
            <a:endParaRPr lang="en-US" sz="1200" dirty="0">
              <a:latin typeface="Sitka Small" pitchFamily="2" charset="0"/>
            </a:endParaRPr>
          </a:p>
          <a:p>
            <a:pPr algn="just"/>
            <a:br>
              <a:rPr lang="en-US" sz="1200" dirty="0">
                <a:latin typeface="Sitka Small" pitchFamily="2" charset="0"/>
              </a:rPr>
            </a:br>
            <a:endParaRPr lang="en-US" sz="1200" i="0" dirty="0">
              <a:effectLst/>
              <a:latin typeface="Sitka Small" pitchFamily="2" charset="0"/>
            </a:endParaRPr>
          </a:p>
        </p:txBody>
      </p:sp>
      <p:sp>
        <p:nvSpPr>
          <p:cNvPr id="6" name="AutoShape 2" descr="Deque">
            <a:extLst>
              <a:ext uri="{FF2B5EF4-FFF2-40B4-BE49-F238E27FC236}">
                <a16:creationId xmlns:a16="http://schemas.microsoft.com/office/drawing/2014/main" id="{0D3FDB8C-53BA-7CDC-B7FC-25F4C57392A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84E1648D-5BB8-9248-9844-DC9556E3E5F8}"/>
              </a:ext>
            </a:extLst>
          </p:cNvPr>
          <p:cNvPicPr>
            <a:picLocks noChangeAspect="1"/>
          </p:cNvPicPr>
          <p:nvPr/>
        </p:nvPicPr>
        <p:blipFill>
          <a:blip r:embed="rId5"/>
          <a:stretch>
            <a:fillRect/>
          </a:stretch>
        </p:blipFill>
        <p:spPr>
          <a:xfrm>
            <a:off x="1902320" y="1633047"/>
            <a:ext cx="5808981" cy="2900864"/>
          </a:xfrm>
          <a:prstGeom prst="rect">
            <a:avLst/>
          </a:prstGeom>
        </p:spPr>
      </p:pic>
    </p:spTree>
    <p:extLst>
      <p:ext uri="{BB962C8B-B14F-4D97-AF65-F5344CB8AC3E}">
        <p14:creationId xmlns:p14="http://schemas.microsoft.com/office/powerpoint/2010/main" val="359038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FB02-360C-1DA5-FDE5-065D8C465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E1F07-3013-1DE5-E2A7-1E265AF1DDC7}"/>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Double ended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E56A836D-2F11-110E-6902-AE76ED7CD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1CAA90-1F50-68B6-0FEC-BEAD1F7EE98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1B09175-70F2-D1F8-BDD7-A0A46B7378E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8162F939-6BEB-2C98-8466-7DE6B6334E04}"/>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5A08CBC7-EAB3-058D-4676-24FB7EC6410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A3EE6CAC-82C9-4D11-D5D5-FB919F2DDBB8}"/>
              </a:ext>
            </a:extLst>
          </p:cNvPr>
          <p:cNvSpPr txBox="1"/>
          <p:nvPr/>
        </p:nvSpPr>
        <p:spPr>
          <a:xfrm>
            <a:off x="583562" y="948419"/>
            <a:ext cx="8019664" cy="2000548"/>
          </a:xfrm>
          <a:prstGeom prst="rect">
            <a:avLst/>
          </a:prstGeom>
          <a:noFill/>
        </p:spPr>
        <p:txBody>
          <a:bodyPr wrap="square">
            <a:spAutoFit/>
          </a:bodyPr>
          <a:lstStyle/>
          <a:p>
            <a:pPr marL="342900" indent="-342900" algn="just" fontAlgn="base">
              <a:lnSpc>
                <a:spcPct val="200000"/>
              </a:lnSpc>
              <a:buFont typeface="+mj-lt"/>
              <a:buAutoNum type="arabicPeriod"/>
            </a:pPr>
            <a:r>
              <a:rPr lang="en-US" dirty="0">
                <a:latin typeface="Sitka Small" pitchFamily="2" charset="0"/>
              </a:rPr>
              <a:t>Deque can act as both Stack and Queue</a:t>
            </a:r>
          </a:p>
          <a:p>
            <a:pPr marL="342900" indent="-342900" algn="just" fontAlgn="base">
              <a:lnSpc>
                <a:spcPct val="200000"/>
              </a:lnSpc>
              <a:buFont typeface="+mj-lt"/>
              <a:buAutoNum type="arabicPeriod"/>
            </a:pPr>
            <a:r>
              <a:rPr lang="en-US" dirty="0">
                <a:latin typeface="Sitka Small" pitchFamily="2" charset="0"/>
              </a:rPr>
              <a:t>It is useful in many problems where we need to have a subset of all operations also like insert/remove at front and insert/remove at the end.</a:t>
            </a:r>
          </a:p>
          <a:p>
            <a:pPr marL="342900" indent="-342900" algn="just" fontAlgn="base">
              <a:lnSpc>
                <a:spcPct val="200000"/>
              </a:lnSpc>
              <a:buFont typeface="+mj-lt"/>
              <a:buAutoNum type="arabicPeriod"/>
            </a:pPr>
            <a:r>
              <a:rPr lang="en-US" dirty="0">
                <a:latin typeface="Sitka Small" pitchFamily="2" charset="0"/>
              </a:rPr>
              <a:t>It is typically implemented either using a doubly linked list or circular array.</a:t>
            </a:r>
          </a:p>
          <a:p>
            <a:pPr algn="just" fontAlgn="base"/>
            <a:endParaRPr lang="en-US" sz="1200" i="0" dirty="0">
              <a:effectLst/>
              <a:latin typeface="Sitka Small" pitchFamily="2" charset="0"/>
            </a:endParaRPr>
          </a:p>
        </p:txBody>
      </p:sp>
      <p:sp>
        <p:nvSpPr>
          <p:cNvPr id="6" name="AutoShape 2" descr="Deque">
            <a:extLst>
              <a:ext uri="{FF2B5EF4-FFF2-40B4-BE49-F238E27FC236}">
                <a16:creationId xmlns:a16="http://schemas.microsoft.com/office/drawing/2014/main" id="{FC022829-7534-A6A8-37E5-45FEBDFFB42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692960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8923A-32FC-2EC8-978B-601F59EB4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A579E-8C2F-C961-F3CE-3C0C68BD8A72}"/>
              </a:ext>
            </a:extLst>
          </p:cNvPr>
          <p:cNvSpPr>
            <a:spLocks noGrp="1"/>
          </p:cNvSpPr>
          <p:nvPr>
            <p:ph type="title"/>
          </p:nvPr>
        </p:nvSpPr>
        <p:spPr>
          <a:xfrm>
            <a:off x="628650" y="0"/>
            <a:ext cx="7886700" cy="728004"/>
          </a:xfrm>
        </p:spPr>
        <p:txBody>
          <a:bodyPr>
            <a:noAutofit/>
          </a:bodyPr>
          <a:lstStyle/>
          <a:p>
            <a:pPr algn="ctr"/>
            <a:r>
              <a:rPr lang="en-IN" b="1" dirty="0">
                <a:latin typeface="Sitka Small" pitchFamily="2" charset="0"/>
              </a:rPr>
              <a:t>Double ended Queue</a:t>
            </a:r>
            <a:endParaRPr lang="en-IN" sz="2700" b="1" dirty="0">
              <a:latin typeface="Sitka Small" pitchFamily="2" charset="0"/>
              <a:cs typeface="Times New Roman" pitchFamily="18" charset="0"/>
            </a:endParaRPr>
          </a:p>
        </p:txBody>
      </p:sp>
      <p:pic>
        <p:nvPicPr>
          <p:cNvPr id="15" name="Picture 14">
            <a:extLst>
              <a:ext uri="{FF2B5EF4-FFF2-40B4-BE49-F238E27FC236}">
                <a16:creationId xmlns:a16="http://schemas.microsoft.com/office/drawing/2014/main" id="{8CA36774-E0CD-0AEC-A914-0003E12D9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A336EF2E-F07B-A3D3-2C47-22D014A586A5}"/>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BAE07916-7DF1-4CA3-C846-62C27C647D1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C250EF87-48A2-3C35-3C3F-D5FEF77F263B}"/>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1BABA391-5F09-816D-D832-8F153C77DD8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6" name="AutoShape 2" descr="Deque">
            <a:extLst>
              <a:ext uri="{FF2B5EF4-FFF2-40B4-BE49-F238E27FC236}">
                <a16:creationId xmlns:a16="http://schemas.microsoft.com/office/drawing/2014/main" id="{49BA39BD-12D0-419D-FCF6-7714DA7D1A6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A5042E74-B642-ABAE-A7CA-8A7AE4C8C3BC}"/>
              </a:ext>
            </a:extLst>
          </p:cNvPr>
          <p:cNvPicPr>
            <a:picLocks noChangeAspect="1"/>
          </p:cNvPicPr>
          <p:nvPr/>
        </p:nvPicPr>
        <p:blipFill>
          <a:blip r:embed="rId4"/>
          <a:stretch>
            <a:fillRect/>
          </a:stretch>
        </p:blipFill>
        <p:spPr>
          <a:xfrm>
            <a:off x="1736900" y="593436"/>
            <a:ext cx="5233677" cy="4192344"/>
          </a:xfrm>
          <a:prstGeom prst="rect">
            <a:avLst/>
          </a:prstGeom>
        </p:spPr>
      </p:pic>
    </p:spTree>
    <p:extLst>
      <p:ext uri="{BB962C8B-B14F-4D97-AF65-F5344CB8AC3E}">
        <p14:creationId xmlns:p14="http://schemas.microsoft.com/office/powerpoint/2010/main" val="3863136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DCA7-576A-0A11-535D-81C6B44A5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1970B-23E0-38BD-C344-962D01358B88}"/>
              </a:ext>
            </a:extLst>
          </p:cNvPr>
          <p:cNvSpPr>
            <a:spLocks noGrp="1"/>
          </p:cNvSpPr>
          <p:nvPr>
            <p:ph type="title"/>
          </p:nvPr>
        </p:nvSpPr>
        <p:spPr>
          <a:xfrm>
            <a:off x="628650" y="0"/>
            <a:ext cx="7886700" cy="728004"/>
          </a:xfrm>
        </p:spPr>
        <p:txBody>
          <a:bodyPr>
            <a:noAutofit/>
          </a:bodyPr>
          <a:lstStyle/>
          <a:p>
            <a:pPr algn="ctr"/>
            <a:br>
              <a:rPr lang="en-IN" sz="2400" b="1" dirty="0">
                <a:latin typeface="Sitka Small" pitchFamily="2" charset="0"/>
              </a:rPr>
            </a:br>
            <a:r>
              <a:rPr lang="en-US" sz="2400" b="1" dirty="0">
                <a:latin typeface="Sitka Small" pitchFamily="2" charset="0"/>
              </a:rPr>
              <a:t>Single- and Double-Ended Priority Queues</a:t>
            </a:r>
            <a:endParaRPr lang="en-IN" sz="2400" b="1" dirty="0">
              <a:latin typeface="Sitka Small" pitchFamily="2" charset="0"/>
            </a:endParaRPr>
          </a:p>
        </p:txBody>
      </p:sp>
      <p:pic>
        <p:nvPicPr>
          <p:cNvPr id="15" name="Picture 14">
            <a:extLst>
              <a:ext uri="{FF2B5EF4-FFF2-40B4-BE49-F238E27FC236}">
                <a16:creationId xmlns:a16="http://schemas.microsoft.com/office/drawing/2014/main" id="{82F8CECF-1BEF-A90E-020A-1FC0704AAF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A5475845-7E39-9BC6-F14D-724BAB2D278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ACB5B539-71D1-2F08-BD64-C7752EE7BB1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AF4C3571-5B10-58AB-77CF-036D184C9521}"/>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2DC6F697-799C-11C5-7359-2B0810ABA21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6" name="AutoShape 2" descr="Deque">
            <a:extLst>
              <a:ext uri="{FF2B5EF4-FFF2-40B4-BE49-F238E27FC236}">
                <a16:creationId xmlns:a16="http://schemas.microsoft.com/office/drawing/2014/main" id="{E3F12DB1-B058-00E4-53BE-88834292309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AC41A99B-5035-EF57-034F-19A4A7607FCB}"/>
              </a:ext>
            </a:extLst>
          </p:cNvPr>
          <p:cNvPicPr>
            <a:picLocks noChangeAspect="1"/>
          </p:cNvPicPr>
          <p:nvPr/>
        </p:nvPicPr>
        <p:blipFill>
          <a:blip r:embed="rId4"/>
          <a:stretch>
            <a:fillRect/>
          </a:stretch>
        </p:blipFill>
        <p:spPr>
          <a:xfrm>
            <a:off x="6586733" y="3563082"/>
            <a:ext cx="2318276" cy="1157691"/>
          </a:xfrm>
          <a:prstGeom prst="rect">
            <a:avLst/>
          </a:prstGeom>
        </p:spPr>
      </p:pic>
      <p:sp>
        <p:nvSpPr>
          <p:cNvPr id="10" name="TextBox 9">
            <a:extLst>
              <a:ext uri="{FF2B5EF4-FFF2-40B4-BE49-F238E27FC236}">
                <a16:creationId xmlns:a16="http://schemas.microsoft.com/office/drawing/2014/main" id="{9FFB5F92-8D6D-F7C8-9B17-60FC5218DD49}"/>
              </a:ext>
            </a:extLst>
          </p:cNvPr>
          <p:cNvSpPr txBox="1"/>
          <p:nvPr/>
        </p:nvSpPr>
        <p:spPr>
          <a:xfrm>
            <a:off x="401529" y="937317"/>
            <a:ext cx="8444633" cy="289310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priority queue is a collection of elements such that each element has an associated priority.</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For single-ended priority queues (SEPQ), the operations supported by a min priority queue are: </a:t>
            </a:r>
          </a:p>
          <a:p>
            <a:r>
              <a:rPr lang="en-IN" dirty="0">
                <a:latin typeface="Times New Roman" panose="02020603050405020304" pitchFamily="18" charset="0"/>
                <a:cs typeface="Times New Roman" panose="02020603050405020304" pitchFamily="18" charset="0"/>
              </a:rPr>
              <a:t>P1: Return an element with minimum priority. minElement(); minKey(); </a:t>
            </a:r>
          </a:p>
          <a:p>
            <a:r>
              <a:rPr lang="en-IN" dirty="0">
                <a:latin typeface="Times New Roman" panose="02020603050405020304" pitchFamily="18" charset="0"/>
                <a:cs typeface="Times New Roman" panose="02020603050405020304" pitchFamily="18" charset="0"/>
              </a:rPr>
              <a:t>P2: Insert an element with an arbitrary priority. insert(); </a:t>
            </a:r>
          </a:p>
          <a:p>
            <a:r>
              <a:rPr lang="en-IN" dirty="0">
                <a:latin typeface="Times New Roman" panose="02020603050405020304" pitchFamily="18" charset="0"/>
                <a:cs typeface="Times New Roman" panose="02020603050405020304" pitchFamily="18" charset="0"/>
              </a:rPr>
              <a:t>P3: Delete an element with minimum priority. deleteMin(); </a:t>
            </a:r>
          </a:p>
          <a:p>
            <a:r>
              <a:rPr lang="en-IN" dirty="0">
                <a:latin typeface="Times New Roman" panose="02020603050405020304" pitchFamily="18" charset="0"/>
                <a:cs typeface="Times New Roman" panose="02020603050405020304" pitchFamily="18" charset="0"/>
              </a:rPr>
              <a:t>Other ADTs: size(); isEmpty();</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Problem in SEPQ</a:t>
            </a:r>
          </a:p>
          <a:p>
            <a:r>
              <a:rPr lang="en-US" dirty="0">
                <a:latin typeface="Times New Roman" panose="02020603050405020304" pitchFamily="18" charset="0"/>
                <a:cs typeface="Times New Roman" panose="02020603050405020304" pitchFamily="18" charset="0"/>
              </a:rPr>
              <a:t>A normal (single-ended) priority queue supports only </a:t>
            </a:r>
            <a:r>
              <a:rPr lang="en-US" b="1" dirty="0">
                <a:latin typeface="Times New Roman" panose="02020603050405020304" pitchFamily="18" charset="0"/>
                <a:cs typeface="Times New Roman" panose="02020603050405020304" pitchFamily="18" charset="0"/>
              </a:rPr>
              <a:t>one type of deletion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85463E71-8356-0191-A074-D843EE2B2309}"/>
              </a:ext>
            </a:extLst>
          </p:cNvPr>
          <p:cNvGraphicFramePr>
            <a:graphicFrameLocks noGrp="1"/>
          </p:cNvGraphicFramePr>
          <p:nvPr>
            <p:extLst>
              <p:ext uri="{D42A27DB-BD31-4B8C-83A1-F6EECF244321}">
                <p14:modId xmlns:p14="http://schemas.microsoft.com/office/powerpoint/2010/main" val="2629417968"/>
              </p:ext>
            </p:extLst>
          </p:nvPr>
        </p:nvGraphicFramePr>
        <p:xfrm>
          <a:off x="460375" y="3414791"/>
          <a:ext cx="5954638" cy="914400"/>
        </p:xfrm>
        <a:graphic>
          <a:graphicData uri="http://schemas.openxmlformats.org/drawingml/2006/table">
            <a:tbl>
              <a:tblPr>
                <a:tableStyleId>{3C2FFA5D-87B4-456A-9821-1D502468CF0F}</a:tableStyleId>
              </a:tblPr>
              <a:tblGrid>
                <a:gridCol w="2977319">
                  <a:extLst>
                    <a:ext uri="{9D8B030D-6E8A-4147-A177-3AD203B41FA5}">
                      <a16:colId xmlns:a16="http://schemas.microsoft.com/office/drawing/2014/main" val="3496842439"/>
                    </a:ext>
                  </a:extLst>
                </a:gridCol>
                <a:gridCol w="2977319">
                  <a:extLst>
                    <a:ext uri="{9D8B030D-6E8A-4147-A177-3AD203B41FA5}">
                      <a16:colId xmlns:a16="http://schemas.microsoft.com/office/drawing/2014/main" val="872781463"/>
                    </a:ext>
                  </a:extLst>
                </a:gridCol>
              </a:tblGrid>
              <a:tr h="0">
                <a:tc>
                  <a:txBody>
                    <a:bodyPr/>
                    <a:lstStyle/>
                    <a:p>
                      <a:pPr>
                        <a:buNone/>
                      </a:pPr>
                      <a:r>
                        <a:rPr lang="en-IN" dirty="0">
                          <a:latin typeface="Times New Roman" panose="02020603050405020304" pitchFamily="18" charset="0"/>
                          <a:cs typeface="Times New Roman" panose="02020603050405020304" pitchFamily="18" charset="0"/>
                        </a:rPr>
                        <a:t>Type</a:t>
                      </a:r>
                    </a:p>
                  </a:txBody>
                  <a:tcPr anchor="ctr"/>
                </a:tc>
                <a:tc>
                  <a:txBody>
                    <a:bodyPr/>
                    <a:lstStyle/>
                    <a:p>
                      <a:pPr>
                        <a:buNone/>
                      </a:pPr>
                      <a:r>
                        <a:rPr lang="en-IN">
                          <a:latin typeface="Times New Roman" panose="02020603050405020304" pitchFamily="18" charset="0"/>
                          <a:cs typeface="Times New Roman" panose="02020603050405020304" pitchFamily="18" charset="0"/>
                        </a:rPr>
                        <a:t>Supported Operation</a:t>
                      </a:r>
                    </a:p>
                  </a:txBody>
                  <a:tcPr anchor="ctr"/>
                </a:tc>
                <a:extLst>
                  <a:ext uri="{0D108BD9-81ED-4DB2-BD59-A6C34878D82A}">
                    <a16:rowId xmlns:a16="http://schemas.microsoft.com/office/drawing/2014/main" val="1986920473"/>
                  </a:ext>
                </a:extLst>
              </a:tr>
              <a:tr h="0">
                <a:tc>
                  <a:txBody>
                    <a:bodyPr/>
                    <a:lstStyle/>
                    <a:p>
                      <a:pPr>
                        <a:buNone/>
                      </a:pPr>
                      <a:r>
                        <a:rPr lang="en-IN">
                          <a:latin typeface="Times New Roman" panose="02020603050405020304" pitchFamily="18" charset="0"/>
                          <a:cs typeface="Times New Roman" panose="02020603050405020304" pitchFamily="18" charset="0"/>
                        </a:rPr>
                        <a:t>Min Priority Queue</a:t>
                      </a:r>
                    </a:p>
                  </a:txBody>
                  <a:tcPr anchor="ctr"/>
                </a:tc>
                <a:tc>
                  <a:txBody>
                    <a:bodyPr/>
                    <a:lstStyle/>
                    <a:p>
                      <a:pPr>
                        <a:buNone/>
                      </a:pPr>
                      <a:r>
                        <a:rPr lang="en-IN">
                          <a:latin typeface="Times New Roman" panose="02020603050405020304" pitchFamily="18" charset="0"/>
                          <a:cs typeface="Times New Roman" panose="02020603050405020304" pitchFamily="18" charset="0"/>
                        </a:rPr>
                        <a:t>Delete Min only</a:t>
                      </a:r>
                    </a:p>
                  </a:txBody>
                  <a:tcPr anchor="ctr"/>
                </a:tc>
                <a:extLst>
                  <a:ext uri="{0D108BD9-81ED-4DB2-BD59-A6C34878D82A}">
                    <a16:rowId xmlns:a16="http://schemas.microsoft.com/office/drawing/2014/main" val="3267960934"/>
                  </a:ext>
                </a:extLst>
              </a:tr>
              <a:tr h="0">
                <a:tc>
                  <a:txBody>
                    <a:bodyPr/>
                    <a:lstStyle/>
                    <a:p>
                      <a:pPr>
                        <a:buNone/>
                      </a:pPr>
                      <a:r>
                        <a:rPr lang="en-IN">
                          <a:latin typeface="Times New Roman" panose="02020603050405020304" pitchFamily="18" charset="0"/>
                          <a:cs typeface="Times New Roman" panose="02020603050405020304" pitchFamily="18" charset="0"/>
                        </a:rPr>
                        <a:t>Max Priority Queue</a:t>
                      </a:r>
                    </a:p>
                  </a:txBody>
                  <a:tcPr anchor="ctr"/>
                </a:tc>
                <a:tc>
                  <a:txBody>
                    <a:bodyPr/>
                    <a:lstStyle/>
                    <a:p>
                      <a:pPr>
                        <a:buNone/>
                      </a:pPr>
                      <a:r>
                        <a:rPr lang="en-IN" dirty="0">
                          <a:latin typeface="Times New Roman" panose="02020603050405020304" pitchFamily="18" charset="0"/>
                          <a:cs typeface="Times New Roman" panose="02020603050405020304" pitchFamily="18" charset="0"/>
                        </a:rPr>
                        <a:t>Delete Max only</a:t>
                      </a:r>
                    </a:p>
                  </a:txBody>
                  <a:tcPr anchor="ctr"/>
                </a:tc>
                <a:extLst>
                  <a:ext uri="{0D108BD9-81ED-4DB2-BD59-A6C34878D82A}">
                    <a16:rowId xmlns:a16="http://schemas.microsoft.com/office/drawing/2014/main" val="169402091"/>
                  </a:ext>
                </a:extLst>
              </a:tr>
            </a:tbl>
          </a:graphicData>
        </a:graphic>
      </p:graphicFrame>
    </p:spTree>
    <p:extLst>
      <p:ext uri="{BB962C8B-B14F-4D97-AF65-F5344CB8AC3E}">
        <p14:creationId xmlns:p14="http://schemas.microsoft.com/office/powerpoint/2010/main" val="415767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40FE-D742-56DA-CC57-4129F8FC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FB707-E56F-248F-F7B4-19D8807474FC}"/>
              </a:ext>
            </a:extLst>
          </p:cNvPr>
          <p:cNvSpPr>
            <a:spLocks noGrp="1"/>
          </p:cNvSpPr>
          <p:nvPr>
            <p:ph type="title"/>
          </p:nvPr>
        </p:nvSpPr>
        <p:spPr>
          <a:xfrm>
            <a:off x="628650" y="0"/>
            <a:ext cx="7886700" cy="728004"/>
          </a:xfrm>
        </p:spPr>
        <p:txBody>
          <a:bodyPr>
            <a:noAutofit/>
          </a:bodyPr>
          <a:lstStyle/>
          <a:p>
            <a:pPr algn="ctr"/>
            <a:br>
              <a:rPr lang="en-IN" sz="2400" b="1" dirty="0">
                <a:latin typeface="Sitka Small" pitchFamily="2" charset="0"/>
              </a:rPr>
            </a:br>
            <a:r>
              <a:rPr lang="en-US" sz="2400" b="1" dirty="0">
                <a:latin typeface="Sitka Small" pitchFamily="2" charset="0"/>
              </a:rPr>
              <a:t>Single- and Double-Ended Priority Queues</a:t>
            </a:r>
            <a:endParaRPr lang="en-IN" sz="2400" b="1" dirty="0">
              <a:latin typeface="Sitka Small" pitchFamily="2" charset="0"/>
            </a:endParaRPr>
          </a:p>
        </p:txBody>
      </p:sp>
      <p:pic>
        <p:nvPicPr>
          <p:cNvPr id="15" name="Picture 14">
            <a:extLst>
              <a:ext uri="{FF2B5EF4-FFF2-40B4-BE49-F238E27FC236}">
                <a16:creationId xmlns:a16="http://schemas.microsoft.com/office/drawing/2014/main" id="{9E8BFAD4-C174-98BC-95C2-E1648F422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EEA7755-EB4C-9558-7292-E16C7A14A598}"/>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3019659-C510-ED7C-4E6B-E7484C17445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A1BD9E95-F88B-9871-1A03-D7C1CFF9A9B1}"/>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2723C63B-ECD9-5AE4-EBA8-38C5EC128FC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6" name="AutoShape 2" descr="Deque">
            <a:extLst>
              <a:ext uri="{FF2B5EF4-FFF2-40B4-BE49-F238E27FC236}">
                <a16:creationId xmlns:a16="http://schemas.microsoft.com/office/drawing/2014/main" id="{0645FD25-41A4-3F8D-8074-81C416E0CEA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CBBAE095-8B24-43E5-336A-19C185552FC4}"/>
              </a:ext>
            </a:extLst>
          </p:cNvPr>
          <p:cNvSpPr txBox="1"/>
          <p:nvPr/>
        </p:nvSpPr>
        <p:spPr>
          <a:xfrm>
            <a:off x="401529" y="937317"/>
            <a:ext cx="8444633" cy="483209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Double-Ended Priority Queue (DEPQ)</a:t>
            </a:r>
          </a:p>
          <a:p>
            <a:r>
              <a:rPr lang="en-US" dirty="0">
                <a:latin typeface="Times New Roman" panose="02020603050405020304" pitchFamily="18" charset="0"/>
                <a:cs typeface="Times New Roman" panose="02020603050405020304" pitchFamily="18" charset="0"/>
              </a:rPr>
              <a:t>A DEPQ is a priority queue that allows access and deletion of both minimum and maximum elements efficiently.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supports operations from both ends: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Minimum 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Maximum end</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Operations Supported in DEPQ</a:t>
            </a:r>
          </a:p>
          <a:p>
            <a:r>
              <a:rPr lang="en-IN" dirty="0">
                <a:latin typeface="Times New Roman" panose="02020603050405020304" pitchFamily="18" charset="0"/>
                <a:cs typeface="Times New Roman" panose="02020603050405020304" pitchFamily="18" charset="0"/>
              </a:rPr>
              <a:t>SP1: Return Minimum: </a:t>
            </a:r>
            <a:r>
              <a:rPr lang="en-IN" b="1" dirty="0">
                <a:latin typeface="Times New Roman" panose="02020603050405020304" pitchFamily="18" charset="0"/>
                <a:cs typeface="Times New Roman" panose="02020603050405020304" pitchFamily="18" charset="0"/>
              </a:rPr>
              <a:t>FindMin(): </a:t>
            </a:r>
            <a:r>
              <a:rPr lang="en-US" dirty="0">
                <a:latin typeface="Times New Roman" panose="02020603050405020304" pitchFamily="18" charset="0"/>
                <a:cs typeface="Times New Roman" panose="02020603050405020304" pitchFamily="18" charset="0"/>
              </a:rPr>
              <a:t>Returns the smallest element without removing it.</a:t>
            </a:r>
          </a:p>
          <a:p>
            <a:r>
              <a:rPr lang="en-IN" dirty="0">
                <a:latin typeface="Times New Roman" panose="02020603050405020304" pitchFamily="18" charset="0"/>
                <a:cs typeface="Times New Roman" panose="02020603050405020304" pitchFamily="18" charset="0"/>
              </a:rPr>
              <a:t>SP2: Return Maximum: </a:t>
            </a:r>
            <a:r>
              <a:rPr lang="en-IN" b="1" dirty="0" err="1">
                <a:latin typeface="Times New Roman" panose="02020603050405020304" pitchFamily="18" charset="0"/>
                <a:cs typeface="Times New Roman" panose="02020603050405020304" pitchFamily="18" charset="0"/>
              </a:rPr>
              <a:t>FindMax</a:t>
            </a: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Returns the largest element without removing it.</a:t>
            </a:r>
          </a:p>
          <a:p>
            <a:r>
              <a:rPr lang="en-IN" dirty="0">
                <a:latin typeface="Times New Roman" panose="02020603050405020304" pitchFamily="18" charset="0"/>
                <a:cs typeface="Times New Roman" panose="02020603050405020304" pitchFamily="18" charset="0"/>
              </a:rPr>
              <a:t>SP3: Insert Element: </a:t>
            </a:r>
            <a:r>
              <a:rPr lang="en-IN" b="1" dirty="0">
                <a:latin typeface="Times New Roman" panose="02020603050405020304" pitchFamily="18" charset="0"/>
                <a:cs typeface="Times New Roman" panose="02020603050405020304" pitchFamily="18" charset="0"/>
              </a:rPr>
              <a:t>Insert(x): </a:t>
            </a:r>
            <a:r>
              <a:rPr lang="en-US" dirty="0">
                <a:latin typeface="Times New Roman" panose="02020603050405020304" pitchFamily="18" charset="0"/>
                <a:cs typeface="Times New Roman" panose="02020603050405020304" pitchFamily="18" charset="0"/>
              </a:rPr>
              <a:t>Insert a new element with any priority.</a:t>
            </a:r>
          </a:p>
          <a:p>
            <a:r>
              <a:rPr lang="en-IN" dirty="0">
                <a:latin typeface="Times New Roman" panose="02020603050405020304" pitchFamily="18" charset="0"/>
                <a:cs typeface="Times New Roman" panose="02020603050405020304" pitchFamily="18" charset="0"/>
              </a:rPr>
              <a:t>SP4: Delete Minimum: </a:t>
            </a:r>
            <a:r>
              <a:rPr lang="en-IN" b="1" dirty="0">
                <a:latin typeface="Times New Roman" panose="02020603050405020304" pitchFamily="18" charset="0"/>
                <a:cs typeface="Times New Roman" panose="02020603050405020304" pitchFamily="18" charset="0"/>
              </a:rPr>
              <a:t>DeleteMin(): </a:t>
            </a:r>
            <a:r>
              <a:rPr lang="en-IN" dirty="0">
                <a:latin typeface="Times New Roman" panose="02020603050405020304" pitchFamily="18" charset="0"/>
                <a:cs typeface="Times New Roman" panose="02020603050405020304" pitchFamily="18" charset="0"/>
              </a:rPr>
              <a:t>Removes the smallest element.</a:t>
            </a:r>
          </a:p>
          <a:p>
            <a:r>
              <a:rPr lang="en-IN" dirty="0">
                <a:latin typeface="Times New Roman" panose="02020603050405020304" pitchFamily="18" charset="0"/>
                <a:cs typeface="Times New Roman" panose="02020603050405020304" pitchFamily="18" charset="0"/>
              </a:rPr>
              <a:t>SP5: Delete Maximum: </a:t>
            </a:r>
            <a:r>
              <a:rPr lang="en-IN" b="1" dirty="0" err="1">
                <a:latin typeface="Times New Roman" panose="02020603050405020304" pitchFamily="18" charset="0"/>
                <a:cs typeface="Times New Roman" panose="02020603050405020304" pitchFamily="18" charset="0"/>
              </a:rPr>
              <a:t>DeleteMax</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Removes the largest element.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154E7CC-E2EF-75B0-E650-D84431B59A51}"/>
              </a:ext>
            </a:extLst>
          </p:cNvPr>
          <p:cNvPicPr>
            <a:picLocks noChangeAspect="1"/>
          </p:cNvPicPr>
          <p:nvPr/>
        </p:nvPicPr>
        <p:blipFill>
          <a:blip r:embed="rId4"/>
          <a:stretch>
            <a:fillRect/>
          </a:stretch>
        </p:blipFill>
        <p:spPr>
          <a:xfrm>
            <a:off x="6133976" y="3320006"/>
            <a:ext cx="2905791" cy="1581435"/>
          </a:xfrm>
          <a:prstGeom prst="rect">
            <a:avLst/>
          </a:prstGeom>
        </p:spPr>
      </p:pic>
    </p:spTree>
    <p:extLst>
      <p:ext uri="{BB962C8B-B14F-4D97-AF65-F5344CB8AC3E}">
        <p14:creationId xmlns:p14="http://schemas.microsoft.com/office/powerpoint/2010/main" val="2643267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74A75-C2EE-62EF-8894-79A3138D2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5D4B0-D56B-8305-F133-2FD7F868C3FD}"/>
              </a:ext>
            </a:extLst>
          </p:cNvPr>
          <p:cNvSpPr>
            <a:spLocks noGrp="1"/>
          </p:cNvSpPr>
          <p:nvPr>
            <p:ph type="title"/>
          </p:nvPr>
        </p:nvSpPr>
        <p:spPr>
          <a:xfrm>
            <a:off x="628650" y="0"/>
            <a:ext cx="7886700" cy="728004"/>
          </a:xfrm>
        </p:spPr>
        <p:txBody>
          <a:bodyPr>
            <a:noAutofit/>
          </a:bodyPr>
          <a:lstStyle/>
          <a:p>
            <a:pPr algn="ctr"/>
            <a:br>
              <a:rPr lang="en-IN" sz="2400" b="1" dirty="0">
                <a:latin typeface="Sitka Small" pitchFamily="2" charset="0"/>
              </a:rPr>
            </a:br>
            <a:r>
              <a:rPr lang="en-US" sz="2400" b="1" dirty="0">
                <a:latin typeface="Sitka Small" pitchFamily="2" charset="0"/>
              </a:rPr>
              <a:t>Single- and Double-Ended Priority Queues</a:t>
            </a:r>
            <a:endParaRPr lang="en-IN" sz="2400" b="1" dirty="0">
              <a:latin typeface="Sitka Small" pitchFamily="2" charset="0"/>
            </a:endParaRPr>
          </a:p>
        </p:txBody>
      </p:sp>
      <p:pic>
        <p:nvPicPr>
          <p:cNvPr id="15" name="Picture 14">
            <a:extLst>
              <a:ext uri="{FF2B5EF4-FFF2-40B4-BE49-F238E27FC236}">
                <a16:creationId xmlns:a16="http://schemas.microsoft.com/office/drawing/2014/main" id="{5452B089-E978-4E05-F8C3-D5E99BA8B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3051C84F-5F9A-B7CF-D5B2-39952281BB2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FB9C3CA-3E14-61E2-B027-1E255066721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3D3F50B4-9178-B29A-40A9-144CBA7E681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FDF26FFF-6E09-32C2-864E-73AADAD01F8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Dattatray G Takale,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6" name="AutoShape 2" descr="Deque">
            <a:extLst>
              <a:ext uri="{FF2B5EF4-FFF2-40B4-BE49-F238E27FC236}">
                <a16:creationId xmlns:a16="http://schemas.microsoft.com/office/drawing/2014/main" id="{FDAA890B-D826-A028-E895-95C6914FDD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647CEB36-9518-D3F2-88DC-6BD2D7DF0ED9}"/>
              </a:ext>
            </a:extLst>
          </p:cNvPr>
          <p:cNvPicPr>
            <a:picLocks noChangeAspect="1"/>
          </p:cNvPicPr>
          <p:nvPr/>
        </p:nvPicPr>
        <p:blipFill>
          <a:blip r:embed="rId4"/>
          <a:stretch>
            <a:fillRect/>
          </a:stretch>
        </p:blipFill>
        <p:spPr>
          <a:xfrm>
            <a:off x="2373265" y="1122145"/>
            <a:ext cx="4207572" cy="3385039"/>
          </a:xfrm>
          <a:prstGeom prst="rect">
            <a:avLst/>
          </a:prstGeom>
        </p:spPr>
      </p:pic>
    </p:spTree>
    <p:extLst>
      <p:ext uri="{BB962C8B-B14F-4D97-AF65-F5344CB8AC3E}">
        <p14:creationId xmlns:p14="http://schemas.microsoft.com/office/powerpoint/2010/main" val="194841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C9104-3B99-AC4A-1606-C7D28D240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D83A2-F9A3-7EAD-3108-79B55B5A4495}"/>
              </a:ext>
            </a:extLst>
          </p:cNvPr>
          <p:cNvSpPr>
            <a:spLocks noGrp="1"/>
          </p:cNvSpPr>
          <p:nvPr>
            <p:ph type="title"/>
          </p:nvPr>
        </p:nvSpPr>
        <p:spPr>
          <a:xfrm>
            <a:off x="628650" y="0"/>
            <a:ext cx="7886700" cy="728004"/>
          </a:xfrm>
        </p:spPr>
        <p:txBody>
          <a:bodyPr>
            <a:noAutofit/>
          </a:bodyPr>
          <a:lstStyle/>
          <a:p>
            <a:pPr lvl="0"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Heap Tree: Min Heap, Max Heap, Heap Sort </a:t>
            </a:r>
            <a:br>
              <a:rPr lang="en-US" sz="1800" b="1"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C69296B3-E4D2-E49F-F647-6AB140BA0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B96995A1-1FAB-9CD8-4AB0-8B9045D350B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9FDBAF9-6FE5-89EE-E68D-61243D58B45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3A140C2-64F2-A944-20BA-763E6C47EB8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3BD262B8-FB43-96CF-61E6-376A0E50B2A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2FC0791B-7FB9-6963-F40D-EDD317D8EFEC}"/>
              </a:ext>
            </a:extLst>
          </p:cNvPr>
          <p:cNvSpPr txBox="1"/>
          <p:nvPr/>
        </p:nvSpPr>
        <p:spPr>
          <a:xfrm>
            <a:off x="544849" y="819345"/>
            <a:ext cx="8444633" cy="2739211"/>
          </a:xfrm>
          <a:prstGeom prst="rect">
            <a:avLst/>
          </a:prstGeom>
          <a:noFill/>
        </p:spPr>
        <p:txBody>
          <a:bodyPr wrap="square">
            <a:spAutoFit/>
          </a:bodyPr>
          <a:lstStyle/>
          <a:p>
            <a:pPr algn="just"/>
            <a:r>
              <a:rPr lang="en-US" b="1" dirty="0">
                <a:latin typeface="Times New Roman" panose="02020603050405020304" pitchFamily="18" charset="0"/>
                <a:ea typeface="Calibri" panose="020F0502020204030204" pitchFamily="34" charset="0"/>
                <a:cs typeface="Times New Roman" panose="02020603050405020304" pitchFamily="18" charset="0"/>
              </a:rPr>
              <a:t>Introduction Heap</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heap data structure is a specialized </a:t>
            </a:r>
            <a:r>
              <a:rPr lang="en-US" dirty="0">
                <a:latin typeface="Times New Roman" panose="02020603050405020304" pitchFamily="18" charset="0"/>
                <a:cs typeface="Times New Roman" panose="02020603050405020304" pitchFamily="18" charset="0"/>
                <a:hlinkClick r:id="rId4"/>
              </a:rPr>
              <a:t>binary tree</a:t>
            </a:r>
            <a:r>
              <a:rPr lang="en-US" dirty="0">
                <a:latin typeface="Times New Roman" panose="02020603050405020304" pitchFamily="18" charset="0"/>
                <a:cs typeface="Times New Roman" panose="02020603050405020304" pitchFamily="18" charset="0"/>
              </a:rPr>
              <a:t> used in </a:t>
            </a:r>
            <a:r>
              <a:rPr lang="en-US" dirty="0">
                <a:latin typeface="Times New Roman" panose="02020603050405020304" pitchFamily="18" charset="0"/>
                <a:cs typeface="Times New Roman" panose="02020603050405020304" pitchFamily="18" charset="0"/>
                <a:hlinkClick r:id="rId5"/>
              </a:rPr>
              <a:t>DSA</a:t>
            </a:r>
            <a:r>
              <a:rPr lang="en-US" dirty="0">
                <a:latin typeface="Times New Roman" panose="02020603050405020304" pitchFamily="18" charset="0"/>
                <a:cs typeface="Times New Roman" panose="02020603050405020304" pitchFamily="18" charset="0"/>
              </a:rPr>
              <a:t> to efficiently manage </a:t>
            </a:r>
            <a:r>
              <a:rPr lang="en-US" dirty="0">
                <a:latin typeface="Times New Roman" panose="02020603050405020304" pitchFamily="18" charset="0"/>
                <a:cs typeface="Times New Roman" panose="02020603050405020304" pitchFamily="18" charset="0"/>
                <a:hlinkClick r:id="rId6"/>
              </a:rPr>
              <a:t>priority queues</a:t>
            </a:r>
            <a:r>
              <a:rPr lang="en-US" dirty="0">
                <a:latin typeface="Times New Roman" panose="02020603050405020304" pitchFamily="18" charset="0"/>
                <a:cs typeface="Times New Roman" panose="02020603050405020304" pitchFamily="18" charset="0"/>
              </a:rPr>
              <a:t>. Here, we will discuss the basics of a heap tree in data structure, its types, and its significance in various </a:t>
            </a:r>
            <a:r>
              <a:rPr lang="en-US" dirty="0">
                <a:latin typeface="Times New Roman" panose="02020603050405020304" pitchFamily="18" charset="0"/>
                <a:cs typeface="Times New Roman" panose="02020603050405020304" pitchFamily="18" charset="0"/>
                <a:hlinkClick r:id="rId7"/>
              </a:rPr>
              <a:t>algorithms</a:t>
            </a:r>
            <a:r>
              <a:rPr lang="en-US" dirty="0">
                <a:latin typeface="Times New Roman" panose="02020603050405020304" pitchFamily="18" charset="0"/>
                <a:cs typeface="Times New Roman" panose="02020603050405020304" pitchFamily="18" charset="0"/>
              </a:rPr>
              <a:t>, providing a foundational understanding for beginners.</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There are two types of Heaps:</a:t>
            </a:r>
            <a:endParaRPr lang="en-IN"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Min Heap: </a:t>
            </a:r>
            <a:r>
              <a:rPr lang="en-US" dirty="0">
                <a:latin typeface="Times New Roman" panose="02020603050405020304" pitchFamily="18" charset="0"/>
                <a:cs typeface="Times New Roman" panose="02020603050405020304" pitchFamily="18" charset="0"/>
              </a:rPr>
              <a:t>The value of the parent node is always less than or equal to the values of its children. The root node contains the smallest element.</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Max Heap: </a:t>
            </a:r>
            <a:r>
              <a:rPr lang="en-US" dirty="0">
                <a:latin typeface="Times New Roman" panose="02020603050405020304" pitchFamily="18" charset="0"/>
                <a:cs typeface="Times New Roman" panose="02020603050405020304" pitchFamily="18" charset="0"/>
              </a:rPr>
              <a:t>The value of the parent node is always greater than or equal to the values of its children. The root node contains the largest element.</a:t>
            </a:r>
            <a:endParaRPr lang="en-IN" dirty="0">
              <a:latin typeface="Times New Roman" panose="02020603050405020304" pitchFamily="18" charset="0"/>
              <a:cs typeface="Times New Roman" panose="02020603050405020304" pitchFamily="18" charset="0"/>
            </a:endParaRPr>
          </a:p>
        </p:txBody>
      </p:sp>
      <p:pic>
        <p:nvPicPr>
          <p:cNvPr id="16388" name="Picture 4">
            <a:extLst>
              <a:ext uri="{FF2B5EF4-FFF2-40B4-BE49-F238E27FC236}">
                <a16:creationId xmlns:a16="http://schemas.microsoft.com/office/drawing/2014/main" id="{7CA6E908-15A2-1710-E532-DB490017C5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4471" y="3329369"/>
            <a:ext cx="2610541" cy="1563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978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8FCA-F6DE-8FE1-CFDD-5E7ABFFBE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3D827-353C-BC8E-BDAB-C13CD41F3160}"/>
              </a:ext>
            </a:extLst>
          </p:cNvPr>
          <p:cNvSpPr>
            <a:spLocks noGrp="1"/>
          </p:cNvSpPr>
          <p:nvPr>
            <p:ph type="title"/>
          </p:nvPr>
        </p:nvSpPr>
        <p:spPr>
          <a:xfrm>
            <a:off x="628650" y="0"/>
            <a:ext cx="7886700" cy="728004"/>
          </a:xfrm>
        </p:spPr>
        <p:txBody>
          <a:bodyPr>
            <a:noAutofit/>
          </a:bodyPr>
          <a:lstStyle/>
          <a:p>
            <a:pPr lvl="0"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Heap Tree: Min Heap, Max Heap</a:t>
            </a:r>
            <a:br>
              <a:rPr lang="en-US" sz="18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Introduction Heap</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43EF972E-B2CA-AF7D-74C2-5DD49531B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B28FEBF2-A10B-E741-82AF-92DF6200337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FA36FC0-C8CE-8151-FB94-118B07A8923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0697FE08-1FF8-95C5-A93B-89A8AFDCE82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30949596-1F79-0980-8E8A-968C0AF04078}"/>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DD76F094-3D91-C7A6-B788-0228BE0F1385}"/>
              </a:ext>
            </a:extLst>
          </p:cNvPr>
          <p:cNvSpPr txBox="1"/>
          <p:nvPr/>
        </p:nvSpPr>
        <p:spPr>
          <a:xfrm>
            <a:off x="549587" y="919138"/>
            <a:ext cx="8444633" cy="375487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Characteristics of Heap Tree</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Heap Tree has the following important properties:</a:t>
            </a:r>
          </a:p>
          <a:p>
            <a:r>
              <a:rPr lang="en-US" b="1" dirty="0">
                <a:latin typeface="Times New Roman" panose="02020603050405020304" pitchFamily="18" charset="0"/>
                <a:cs typeface="Times New Roman" panose="02020603050405020304" pitchFamily="18" charset="0"/>
              </a:rPr>
              <a:t>Complete Binary Tree: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levels are completely filled except possibly the last.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Nodes are filled from left to right.</a:t>
            </a:r>
          </a:p>
          <a:p>
            <a:r>
              <a:rPr lang="en-US" b="1" dirty="0">
                <a:latin typeface="Times New Roman" panose="02020603050405020304" pitchFamily="18" charset="0"/>
                <a:cs typeface="Times New Roman" panose="02020603050405020304" pitchFamily="18" charset="0"/>
              </a:rPr>
              <a:t>Heap Property</a:t>
            </a:r>
          </a:p>
          <a:p>
            <a:r>
              <a:rPr lang="en-US" dirty="0">
                <a:latin typeface="Times New Roman" panose="02020603050405020304" pitchFamily="18" charset="0"/>
                <a:cs typeface="Times New Roman" panose="02020603050405020304" pitchFamily="18" charset="0"/>
              </a:rPr>
              <a:t>Determines the type of heap:</a:t>
            </a:r>
          </a:p>
          <a:p>
            <a:pPr algn="just"/>
            <a:r>
              <a:rPr lang="en-US" b="1" dirty="0">
                <a:latin typeface="Times New Roman" panose="02020603050405020304" pitchFamily="18" charset="0"/>
                <a:cs typeface="Times New Roman" panose="02020603050405020304" pitchFamily="18" charset="0"/>
              </a:rPr>
              <a:t>Max Heap </a:t>
            </a:r>
            <a:r>
              <a:rPr lang="en-US" dirty="0">
                <a:latin typeface="Times New Roman" panose="02020603050405020304" pitchFamily="18" charset="0"/>
                <a:cs typeface="Times New Roman" panose="02020603050405020304" pitchFamily="18" charset="0"/>
              </a:rPr>
              <a:t>:In a max-heap, each parent node is greater than or equal to its child nodes. This ensures that the largest value is always at the root of the tree.</a:t>
            </a:r>
          </a:p>
          <a:p>
            <a:pPr algn="just"/>
            <a:r>
              <a:rPr lang="en-US" b="1" dirty="0">
                <a:latin typeface="Times New Roman" panose="02020603050405020304" pitchFamily="18" charset="0"/>
                <a:cs typeface="Times New Roman" panose="02020603050405020304" pitchFamily="18" charset="0"/>
              </a:rPr>
              <a:t>Min Heap: </a:t>
            </a:r>
            <a:r>
              <a:rPr lang="en-US" dirty="0">
                <a:latin typeface="Times New Roman" panose="02020603050405020304" pitchFamily="18" charset="0"/>
                <a:cs typeface="Times New Roman" panose="02020603050405020304" pitchFamily="18" charset="0"/>
              </a:rPr>
              <a:t>In a min-heap, each parent node is less than or equal to its child nodes. This ensures that the smallest value is always at the root of the tree.</a:t>
            </a:r>
          </a:p>
          <a:p>
            <a:r>
              <a:rPr lang="en-US" b="1" dirty="0">
                <a:latin typeface="Times New Roman" panose="02020603050405020304" pitchFamily="18" charset="0"/>
                <a:cs typeface="Times New Roman" panose="02020603050405020304" pitchFamily="18" charset="0"/>
              </a:rPr>
              <a:t>Array Representation: </a:t>
            </a:r>
          </a:p>
          <a:p>
            <a:r>
              <a:rPr lang="en-US" dirty="0">
                <a:latin typeface="Times New Roman" panose="02020603050405020304" pitchFamily="18" charset="0"/>
                <a:cs typeface="Times New Roman" panose="02020603050405020304" pitchFamily="18" charset="0"/>
              </a:rPr>
              <a:t>Heaps are efficiently stored using arrays, not pointers.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0909A0F-CEC7-D04C-7686-B4950E701264}"/>
              </a:ext>
            </a:extLst>
          </p:cNvPr>
          <p:cNvPicPr>
            <a:picLocks noChangeAspect="1"/>
          </p:cNvPicPr>
          <p:nvPr/>
        </p:nvPicPr>
        <p:blipFill>
          <a:blip r:embed="rId4"/>
          <a:srcRect l="25337" t="6017" r="24145" b="12995"/>
          <a:stretch>
            <a:fillRect/>
          </a:stretch>
        </p:blipFill>
        <p:spPr>
          <a:xfrm>
            <a:off x="6618739" y="921832"/>
            <a:ext cx="2254873" cy="1575088"/>
          </a:xfrm>
          <a:prstGeom prst="rect">
            <a:avLst/>
          </a:prstGeom>
        </p:spPr>
      </p:pic>
      <p:pic>
        <p:nvPicPr>
          <p:cNvPr id="10" name="Picture 9">
            <a:extLst>
              <a:ext uri="{FF2B5EF4-FFF2-40B4-BE49-F238E27FC236}">
                <a16:creationId xmlns:a16="http://schemas.microsoft.com/office/drawing/2014/main" id="{D333049B-0659-266A-1788-FD42D3ABF26A}"/>
              </a:ext>
            </a:extLst>
          </p:cNvPr>
          <p:cNvPicPr>
            <a:picLocks noChangeAspect="1"/>
          </p:cNvPicPr>
          <p:nvPr/>
        </p:nvPicPr>
        <p:blipFill>
          <a:blip r:embed="rId5"/>
          <a:srcRect l="25130" t="6229" r="23265" b="17039"/>
          <a:stretch>
            <a:fillRect/>
          </a:stretch>
        </p:blipFill>
        <p:spPr>
          <a:xfrm>
            <a:off x="6687706" y="3419020"/>
            <a:ext cx="2217303" cy="1436525"/>
          </a:xfrm>
          <a:prstGeom prst="rect">
            <a:avLst/>
          </a:prstGeom>
        </p:spPr>
      </p:pic>
    </p:spTree>
    <p:extLst>
      <p:ext uri="{BB962C8B-B14F-4D97-AF65-F5344CB8AC3E}">
        <p14:creationId xmlns:p14="http://schemas.microsoft.com/office/powerpoint/2010/main" val="1650862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ED86-AA52-EAD5-87D4-5910D40E3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36E86-25CD-3571-1E43-BA76A774E47F}"/>
              </a:ext>
            </a:extLst>
          </p:cNvPr>
          <p:cNvSpPr>
            <a:spLocks noGrp="1"/>
          </p:cNvSpPr>
          <p:nvPr>
            <p:ph type="title"/>
          </p:nvPr>
        </p:nvSpPr>
        <p:spPr>
          <a:xfrm>
            <a:off x="628650" y="0"/>
            <a:ext cx="7886700" cy="728004"/>
          </a:xfrm>
        </p:spPr>
        <p:txBody>
          <a:bodyPr>
            <a:noAutofit/>
          </a:bodyPr>
          <a:lstStyle/>
          <a:p>
            <a:pPr lvl="0" algn="ctr"/>
            <a:r>
              <a:rPr lang="en-IN" sz="2800" dirty="0">
                <a:latin typeface="Times New Roman" panose="02020603050405020304" pitchFamily="18" charset="0"/>
                <a:cs typeface="Times New Roman" panose="02020603050405020304" pitchFamily="18" charset="0"/>
              </a:rPr>
              <a:t>Limitations of Binary Heap</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2EBDDA6A-1FD6-28F0-2A59-A27A242FB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B2AAFCE-C263-4F18-8924-A6486BA0B449}"/>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5795973-1D91-3BD0-61F4-764BB025375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1BC3D7A-5965-6702-2C46-FCB4B9EC710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FD9EC0B2-899A-146E-8E73-06272A48C5ED}"/>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7DCD3C80-1454-4F8D-95C7-C3DA5966CB8C}"/>
              </a:ext>
            </a:extLst>
          </p:cNvPr>
          <p:cNvSpPr txBox="1"/>
          <p:nvPr/>
        </p:nvSpPr>
        <p:spPr>
          <a:xfrm>
            <a:off x="587489" y="1055149"/>
            <a:ext cx="7305725" cy="160043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While heaps are efficient, they have some drawbacks: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Merging two heaps is costly → 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Structure must remain complete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Less flexible for some applications</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To solve efficient merge (meld) operations, we use </a:t>
            </a:r>
            <a:r>
              <a:rPr lang="en-US" b="1" dirty="0">
                <a:latin typeface="Times New Roman" panose="02020603050405020304" pitchFamily="18" charset="0"/>
                <a:cs typeface="Times New Roman" panose="02020603050405020304" pitchFamily="18" charset="0"/>
              </a:rPr>
              <a:t>Leftist Trees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149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3448-4279-B7FA-A4F0-C8A9A4A77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677CB-E4DA-FBA4-F732-E348FAC46C65}"/>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Leftist Tree</a:t>
            </a:r>
          </a:p>
        </p:txBody>
      </p:sp>
      <p:pic>
        <p:nvPicPr>
          <p:cNvPr id="15" name="Picture 14">
            <a:extLst>
              <a:ext uri="{FF2B5EF4-FFF2-40B4-BE49-F238E27FC236}">
                <a16:creationId xmlns:a16="http://schemas.microsoft.com/office/drawing/2014/main" id="{660A25E7-C20D-1CC1-6AF0-D6F3989D2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6E849A4-80D5-799E-DD14-2F67A824FD1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AA3F2EC-1871-4CD6-F178-1988AE31CCE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3504586-14D0-E777-533C-2F1F4E4A2075}"/>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7A5E46A3-E23D-A966-D29E-87CA31895869}"/>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807BFF1F-5A0C-845F-B600-E5B5CFFBACA1}"/>
              </a:ext>
            </a:extLst>
          </p:cNvPr>
          <p:cNvSpPr txBox="1"/>
          <p:nvPr/>
        </p:nvSpPr>
        <p:spPr>
          <a:xfrm>
            <a:off x="587489" y="1055149"/>
            <a:ext cx="7305725" cy="3970318"/>
          </a:xfrm>
          <a:prstGeom prst="rect">
            <a:avLst/>
          </a:prstGeom>
          <a:noFill/>
        </p:spPr>
        <p:txBody>
          <a:bodyPr wrap="square">
            <a:spAutoFit/>
          </a:bodyPr>
          <a:lstStyle/>
          <a:p>
            <a:pPr marL="342900" indent="-342900"/>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Leftist Tree</a:t>
            </a:r>
            <a:r>
              <a:rPr lang="en-US" dirty="0">
                <a:latin typeface="Times New Roman" panose="02020603050405020304" pitchFamily="18" charset="0"/>
                <a:cs typeface="Times New Roman" panose="02020603050405020304" pitchFamily="18" charset="0"/>
              </a:rPr>
              <a:t> is a special type of </a:t>
            </a:r>
            <a:r>
              <a:rPr lang="en-US" b="1" dirty="0">
                <a:latin typeface="Times New Roman" panose="02020603050405020304" pitchFamily="18" charset="0"/>
                <a:cs typeface="Times New Roman" panose="02020603050405020304" pitchFamily="18" charset="0"/>
              </a:rPr>
              <a:t>heap</a:t>
            </a:r>
            <a:r>
              <a:rPr lang="en-US" dirty="0">
                <a:latin typeface="Times New Roman" panose="02020603050405020304" pitchFamily="18" charset="0"/>
                <a:cs typeface="Times New Roman" panose="02020603050405020304" pitchFamily="18" charset="0"/>
              </a:rPr>
              <a:t> that is designed to </a:t>
            </a:r>
            <a:r>
              <a:rPr lang="en-US" b="1" dirty="0">
                <a:latin typeface="Times New Roman" panose="02020603050405020304" pitchFamily="18" charset="0"/>
                <a:cs typeface="Times New Roman" panose="02020603050405020304" pitchFamily="18" charset="0"/>
              </a:rPr>
              <a:t>merge quickly</a:t>
            </a:r>
            <a:r>
              <a:rPr lang="en-US" dirty="0">
                <a:latin typeface="Times New Roman" panose="02020603050405020304" pitchFamily="18" charset="0"/>
                <a:cs typeface="Times New Roman" panose="02020603050405020304" pitchFamily="18" charset="0"/>
              </a:rPr>
              <a:t>.</a:t>
            </a: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r>
              <a:rPr lang="en-US" altLang="en-US" dirty="0">
                <a:latin typeface="Times New Roman" panose="02020603050405020304" pitchFamily="18" charset="0"/>
                <a:cs typeface="Times New Roman" panose="02020603050405020304" pitchFamily="18" charset="0"/>
              </a:rPr>
              <a:t>Its also called as </a:t>
            </a:r>
            <a:r>
              <a:rPr lang="en-IN" b="1" dirty="0">
                <a:latin typeface="Times New Roman" panose="02020603050405020304" pitchFamily="18" charset="0"/>
                <a:cs typeface="Times New Roman" panose="02020603050405020304" pitchFamily="18" charset="0"/>
              </a:rPr>
              <a:t>Leftist Heap</a:t>
            </a:r>
            <a:endParaRPr lang="en-IN" dirty="0">
              <a:latin typeface="Times New Roman" panose="02020603050405020304" pitchFamily="18" charset="0"/>
              <a:cs typeface="Times New Roman" panose="02020603050405020304" pitchFamily="18" charset="0"/>
            </a:endParaRPr>
          </a:p>
          <a:p>
            <a:pPr marL="342900" indent="-342900"/>
            <a:endParaRPr lang="en-US" alt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 Leftist Tree: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follows Min Heap property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But it keeps the right side short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Tree becomes heavy on the left side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That’s why it is called Leftist</a:t>
            </a:r>
          </a:p>
          <a:p>
            <a:pPr marL="342900" indent="-342900"/>
            <a:endParaRPr lang="en-US" altLang="en-US" dirty="0">
              <a:latin typeface="Times New Roman" panose="02020603050405020304" pitchFamily="18" charset="0"/>
              <a:cs typeface="Times New Roman" panose="02020603050405020304" pitchFamily="18" charset="0"/>
            </a:endParaRPr>
          </a:p>
          <a:p>
            <a:pPr marL="342900" indent="-342900"/>
            <a:r>
              <a:rPr lang="en-US" altLang="en-US" dirty="0">
                <a:latin typeface="Times New Roman" panose="02020603050405020304" pitchFamily="18" charset="0"/>
                <a:cs typeface="Times New Roman" panose="02020603050405020304" pitchFamily="18" charset="0"/>
              </a:rPr>
              <a:t>Linked binary tree.</a:t>
            </a:r>
          </a:p>
          <a:p>
            <a:pPr marL="342900" indent="-342900"/>
            <a:r>
              <a:rPr lang="en-US" altLang="en-US" dirty="0">
                <a:latin typeface="Times New Roman" panose="02020603050405020304" pitchFamily="18" charset="0"/>
                <a:cs typeface="Times New Roman" panose="02020603050405020304" pitchFamily="18" charset="0"/>
              </a:rPr>
              <a:t>Can do everything a heap can do and in the same asymptotic complexity.</a:t>
            </a:r>
          </a:p>
          <a:p>
            <a:pPr marL="742950" lvl="1" indent="-28575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insert</a:t>
            </a:r>
          </a:p>
          <a:p>
            <a:pPr marL="742950" lvl="1" indent="-28575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remove min (or max)</a:t>
            </a:r>
          </a:p>
          <a:p>
            <a:pPr marL="742950" lvl="1" indent="-28575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arbitrary remove (need parent pointers)</a:t>
            </a:r>
          </a:p>
          <a:p>
            <a:pPr marL="742950" lvl="1" indent="-28575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initialize</a:t>
            </a:r>
          </a:p>
          <a:p>
            <a:pPr marL="342900" indent="-342900"/>
            <a:r>
              <a:rPr lang="en-US" altLang="en-US" dirty="0">
                <a:latin typeface="Times New Roman" panose="02020603050405020304" pitchFamily="18" charset="0"/>
                <a:cs typeface="Times New Roman" panose="02020603050405020304" pitchFamily="18" charset="0"/>
              </a:rPr>
              <a:t>Can meld two leftist tree priority queues in </a:t>
            </a:r>
            <a:r>
              <a:rPr lang="en-US" altLang="en-US" dirty="0">
                <a:solidFill>
                  <a:schemeClr val="hlink"/>
                </a:solidFill>
                <a:latin typeface="Times New Roman" panose="02020603050405020304" pitchFamily="18" charset="0"/>
                <a:cs typeface="Times New Roman" panose="02020603050405020304" pitchFamily="18" charset="0"/>
              </a:rPr>
              <a:t>O(log n)</a:t>
            </a:r>
            <a:r>
              <a:rPr lang="en-US" altLang="en-US" dirty="0">
                <a:solidFill>
                  <a:schemeClr val="bg2"/>
                </a:solidFill>
                <a:latin typeface="Times New Roman" panose="02020603050405020304" pitchFamily="18" charset="0"/>
                <a:cs typeface="Times New Roman" panose="02020603050405020304" pitchFamily="18" charset="0"/>
              </a:rPr>
              <a:t> time.</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554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2F720-1994-19E4-537B-CC89F58C7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25E65-BCBF-95C2-3024-645743E69C14}"/>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Leftist Tree</a:t>
            </a:r>
          </a:p>
        </p:txBody>
      </p:sp>
      <p:pic>
        <p:nvPicPr>
          <p:cNvPr id="15" name="Picture 14">
            <a:extLst>
              <a:ext uri="{FF2B5EF4-FFF2-40B4-BE49-F238E27FC236}">
                <a16:creationId xmlns:a16="http://schemas.microsoft.com/office/drawing/2014/main" id="{F996C0DC-C5AE-CB05-7170-C2FA443D8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F4923CA-3EAC-5348-F56A-E72700D1F0CF}"/>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AE3100B-1ECA-6A7B-236A-D33A4C14E80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5B36BA2-5CC9-269D-2AC5-DFAC0211DCA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10" name="Picture 9">
            <a:extLst>
              <a:ext uri="{FF2B5EF4-FFF2-40B4-BE49-F238E27FC236}">
                <a16:creationId xmlns:a16="http://schemas.microsoft.com/office/drawing/2014/main" id="{DBAD9C5F-8B80-D387-A084-BD46E3A66774}"/>
              </a:ext>
            </a:extLst>
          </p:cNvPr>
          <p:cNvPicPr>
            <a:picLocks noChangeAspect="1"/>
          </p:cNvPicPr>
          <p:nvPr/>
        </p:nvPicPr>
        <p:blipFill>
          <a:blip r:embed="rId4"/>
          <a:stretch>
            <a:fillRect/>
          </a:stretch>
        </p:blipFill>
        <p:spPr>
          <a:xfrm>
            <a:off x="460375" y="992568"/>
            <a:ext cx="3361936" cy="2565538"/>
          </a:xfrm>
          <a:prstGeom prst="rect">
            <a:avLst/>
          </a:prstGeom>
        </p:spPr>
      </p:pic>
      <p:pic>
        <p:nvPicPr>
          <p:cNvPr id="12" name="Picture 11">
            <a:extLst>
              <a:ext uri="{FF2B5EF4-FFF2-40B4-BE49-F238E27FC236}">
                <a16:creationId xmlns:a16="http://schemas.microsoft.com/office/drawing/2014/main" id="{40DA2D74-B056-9F72-C4A7-4495DC22C087}"/>
              </a:ext>
            </a:extLst>
          </p:cNvPr>
          <p:cNvPicPr>
            <a:picLocks noChangeAspect="1"/>
          </p:cNvPicPr>
          <p:nvPr/>
        </p:nvPicPr>
        <p:blipFill>
          <a:blip r:embed="rId5"/>
          <a:stretch>
            <a:fillRect/>
          </a:stretch>
        </p:blipFill>
        <p:spPr>
          <a:xfrm>
            <a:off x="4816452" y="992568"/>
            <a:ext cx="3337342" cy="2499572"/>
          </a:xfrm>
          <a:prstGeom prst="rect">
            <a:avLst/>
          </a:prstGeom>
        </p:spPr>
      </p:pic>
      <p:sp>
        <p:nvSpPr>
          <p:cNvPr id="5" name="TextBox 4">
            <a:extLst>
              <a:ext uri="{FF2B5EF4-FFF2-40B4-BE49-F238E27FC236}">
                <a16:creationId xmlns:a16="http://schemas.microsoft.com/office/drawing/2014/main" id="{05CCCC95-C11B-15E5-8887-A2E91B7898CA}"/>
              </a:ext>
            </a:extLst>
          </p:cNvPr>
          <p:cNvSpPr txBox="1"/>
          <p:nvPr/>
        </p:nvSpPr>
        <p:spPr>
          <a:xfrm>
            <a:off x="234574" y="4034367"/>
            <a:ext cx="6014615" cy="738664"/>
          </a:xfrm>
          <a:prstGeom prst="rect">
            <a:avLst/>
          </a:prstGeom>
          <a:noFill/>
        </p:spPr>
        <p:txBody>
          <a:bodyPr wrap="square">
            <a:spAutoFit/>
          </a:bodyPr>
          <a:lstStyle/>
          <a:p>
            <a:pPr marL="342900" indent="-342900" algn="l"/>
            <a:r>
              <a:rPr lang="en-US" altLang="en-US" dirty="0">
                <a:latin typeface="Times New Roman" panose="02020603050405020304" pitchFamily="18" charset="0"/>
                <a:cs typeface="Times New Roman" panose="02020603050405020304" pitchFamily="18" charset="0"/>
              </a:rPr>
              <a:t>Start with any binary tree and add an external node wherever there is an empty subtree.</a:t>
            </a:r>
          </a:p>
          <a:p>
            <a:pPr marL="342900" indent="-342900" algn="l"/>
            <a:r>
              <a:rPr lang="en-US" altLang="en-US" dirty="0">
                <a:latin typeface="Times New Roman" panose="02020603050405020304" pitchFamily="18" charset="0"/>
                <a:cs typeface="Times New Roman" panose="02020603050405020304" pitchFamily="18" charset="0"/>
              </a:rPr>
              <a:t>Result is an </a:t>
            </a:r>
            <a:r>
              <a:rPr lang="en-US" altLang="en-US" dirty="0">
                <a:solidFill>
                  <a:schemeClr val="hlink"/>
                </a:solidFill>
                <a:latin typeface="Times New Roman" panose="02020603050405020304" pitchFamily="18" charset="0"/>
                <a:cs typeface="Times New Roman" panose="02020603050405020304" pitchFamily="18" charset="0"/>
              </a:rPr>
              <a:t>extended binary tree.</a:t>
            </a:r>
          </a:p>
        </p:txBody>
      </p:sp>
    </p:spTree>
    <p:extLst>
      <p:ext uri="{BB962C8B-B14F-4D97-AF65-F5344CB8AC3E}">
        <p14:creationId xmlns:p14="http://schemas.microsoft.com/office/powerpoint/2010/main" val="4205514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09DED-BC5D-5CB3-255D-EF5F145483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71798-62DF-679D-F3A6-49178789DEC1}"/>
              </a:ext>
            </a:extLst>
          </p:cNvPr>
          <p:cNvSpPr>
            <a:spLocks noGrp="1"/>
          </p:cNvSpPr>
          <p:nvPr>
            <p:ph type="title"/>
          </p:nvPr>
        </p:nvSpPr>
        <p:spPr>
          <a:xfrm>
            <a:off x="628650" y="0"/>
            <a:ext cx="7886700" cy="728004"/>
          </a:xfrm>
        </p:spPr>
        <p:txBody>
          <a:bodyPr>
            <a:noAutofit/>
          </a:bodyPr>
          <a:lstStyle/>
          <a:p>
            <a:pPr lvl="0" algn="ctr"/>
            <a:r>
              <a:rPr lang="en-US" altLang="en-US" sz="2800" dirty="0">
                <a:latin typeface="Times New Roman" panose="02020603050405020304" pitchFamily="18" charset="0"/>
                <a:cs typeface="Times New Roman" panose="02020603050405020304" pitchFamily="18" charset="0"/>
              </a:rPr>
              <a:t>The Function </a:t>
            </a:r>
            <a:r>
              <a:rPr lang="en-US" altLang="en-US" sz="2800" dirty="0">
                <a:solidFill>
                  <a:schemeClr val="hlink"/>
                </a:solidFill>
                <a:latin typeface="Times New Roman" panose="02020603050405020304" pitchFamily="18" charset="0"/>
                <a:cs typeface="Times New Roman" panose="02020603050405020304" pitchFamily="18" charset="0"/>
              </a:rPr>
              <a:t>s()</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13E607B0-9E3B-18EC-50CC-23CC08E7F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4900F41-8BE8-B873-DCAA-2C5603F8DA20}"/>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AB867544-D12D-6710-55BE-08C377A26D2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17FED6E-55D6-8181-A623-905CA6412E0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5FDA8701-8045-3BE1-4C7B-6457D4B9C2B9}"/>
              </a:ext>
            </a:extLst>
          </p:cNvPr>
          <p:cNvSpPr txBox="1"/>
          <p:nvPr/>
        </p:nvSpPr>
        <p:spPr>
          <a:xfrm>
            <a:off x="244050" y="963808"/>
            <a:ext cx="8625156" cy="738664"/>
          </a:xfrm>
          <a:prstGeom prst="rect">
            <a:avLst/>
          </a:prstGeom>
          <a:noFill/>
        </p:spPr>
        <p:txBody>
          <a:bodyPr wrap="square">
            <a:spAutoFit/>
          </a:bodyPr>
          <a:lstStyle/>
          <a:p>
            <a:pPr marL="342900" indent="-342900" algn="just"/>
            <a:r>
              <a:rPr lang="en-US" altLang="en-US" dirty="0">
                <a:latin typeface="Times New Roman" panose="02020603050405020304" pitchFamily="18" charset="0"/>
                <a:cs typeface="Times New Roman" panose="02020603050405020304" pitchFamily="18" charset="0"/>
              </a:rPr>
              <a:t>For any node x in an extended binary tree, let s(x) be the length of a shortest path from x to an external node in the subtree rooted at x.</a:t>
            </a:r>
          </a:p>
          <a:p>
            <a:pPr marL="342900" indent="-342900" algn="l"/>
            <a:endParaRPr lang="en-US" alt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89005E9-55F4-FB23-B5F2-C81FE7340E78}"/>
              </a:ext>
            </a:extLst>
          </p:cNvPr>
          <p:cNvPicPr>
            <a:picLocks noChangeAspect="1"/>
          </p:cNvPicPr>
          <p:nvPr/>
        </p:nvPicPr>
        <p:blipFill>
          <a:blip r:embed="rId4"/>
          <a:stretch>
            <a:fillRect/>
          </a:stretch>
        </p:blipFill>
        <p:spPr>
          <a:xfrm>
            <a:off x="94758" y="1643613"/>
            <a:ext cx="4055384" cy="2590468"/>
          </a:xfrm>
          <a:prstGeom prst="rect">
            <a:avLst/>
          </a:prstGeom>
        </p:spPr>
      </p:pic>
      <p:pic>
        <p:nvPicPr>
          <p:cNvPr id="8" name="Picture 7">
            <a:extLst>
              <a:ext uri="{FF2B5EF4-FFF2-40B4-BE49-F238E27FC236}">
                <a16:creationId xmlns:a16="http://schemas.microsoft.com/office/drawing/2014/main" id="{0919F1DE-4C69-1386-D5F2-B6B50B13B2C3}"/>
              </a:ext>
            </a:extLst>
          </p:cNvPr>
          <p:cNvPicPr>
            <a:picLocks noChangeAspect="1"/>
          </p:cNvPicPr>
          <p:nvPr/>
        </p:nvPicPr>
        <p:blipFill>
          <a:blip r:embed="rId5"/>
          <a:stretch>
            <a:fillRect/>
          </a:stretch>
        </p:blipFill>
        <p:spPr>
          <a:xfrm>
            <a:off x="4823105" y="1635773"/>
            <a:ext cx="4136120" cy="2637744"/>
          </a:xfrm>
          <a:prstGeom prst="rect">
            <a:avLst/>
          </a:prstGeom>
        </p:spPr>
      </p:pic>
    </p:spTree>
    <p:extLst>
      <p:ext uri="{BB962C8B-B14F-4D97-AF65-F5344CB8AC3E}">
        <p14:creationId xmlns:p14="http://schemas.microsoft.com/office/powerpoint/2010/main" val="731849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8F89B09-90FC-C07B-AA6C-6B96C2DD152B}"/>
              </a:ext>
            </a:extLst>
          </p:cNvPr>
          <p:cNvSpPr>
            <a:spLocks noGrp="1" noChangeArrowheads="1"/>
          </p:cNvSpPr>
          <p:nvPr>
            <p:ph type="ctrTitle"/>
          </p:nvPr>
        </p:nvSpPr>
        <p:spPr>
          <a:xfrm>
            <a:off x="1714500" y="285750"/>
            <a:ext cx="5829300" cy="857250"/>
          </a:xfrm>
          <a:noFill/>
        </p:spPr>
        <p:txBody>
          <a:bodyPr/>
          <a:lstStyle/>
          <a:p>
            <a:r>
              <a:rPr lang="en-US" altLang="en-US"/>
              <a:t>Leftist Trees</a:t>
            </a:r>
          </a:p>
        </p:txBody>
      </p:sp>
      <p:sp>
        <p:nvSpPr>
          <p:cNvPr id="345091" name="Rectangle 3">
            <a:extLst>
              <a:ext uri="{FF2B5EF4-FFF2-40B4-BE49-F238E27FC236}">
                <a16:creationId xmlns:a16="http://schemas.microsoft.com/office/drawing/2014/main" id="{F35DBB0E-9994-0F75-5925-C5FEC530DACF}"/>
              </a:ext>
            </a:extLst>
          </p:cNvPr>
          <p:cNvSpPr>
            <a:spLocks noGrp="1" noChangeArrowheads="1"/>
          </p:cNvSpPr>
          <p:nvPr>
            <p:ph type="subTitle" idx="1"/>
          </p:nvPr>
        </p:nvSpPr>
        <p:spPr>
          <a:xfrm>
            <a:off x="535374" y="1371600"/>
            <a:ext cx="6894126" cy="3257550"/>
          </a:xfrm>
          <a:noFill/>
        </p:spPr>
        <p:txBody>
          <a:bodyPr/>
          <a:lstStyle/>
          <a:p>
            <a:pPr marL="257175" indent="-257175" algn="l"/>
            <a:r>
              <a:rPr lang="en-US" altLang="en-US" dirty="0">
                <a:latin typeface="Times New Roman" panose="02020603050405020304" pitchFamily="18" charset="0"/>
                <a:cs typeface="Times New Roman" panose="02020603050405020304" pitchFamily="18" charset="0"/>
              </a:rPr>
              <a:t>Linked binary tree.</a:t>
            </a:r>
          </a:p>
          <a:p>
            <a:pPr marL="257175" indent="-257175" algn="l"/>
            <a:r>
              <a:rPr lang="en-US" altLang="en-US" dirty="0">
                <a:latin typeface="Times New Roman" panose="02020603050405020304" pitchFamily="18" charset="0"/>
                <a:cs typeface="Times New Roman" panose="02020603050405020304" pitchFamily="18" charset="0"/>
              </a:rPr>
              <a:t>Can do everything a heap can do and in the same asymptotic complexity.</a:t>
            </a:r>
          </a:p>
          <a:p>
            <a:pPr marL="557213" lvl="1" indent="-214313" algn="l">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insert</a:t>
            </a:r>
          </a:p>
          <a:p>
            <a:pPr marL="557213" lvl="1" indent="-214313" algn="l">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remove min (or max)</a:t>
            </a:r>
          </a:p>
          <a:p>
            <a:pPr marL="557213" lvl="1" indent="-214313" algn="l">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arbitrary remove (need parent pointers)</a:t>
            </a:r>
          </a:p>
          <a:p>
            <a:pPr marL="557213" lvl="1" indent="-214313" algn="l">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initialize</a:t>
            </a:r>
          </a:p>
          <a:p>
            <a:pPr marL="257175" indent="-257175" algn="l"/>
            <a:r>
              <a:rPr lang="en-US" altLang="en-US" dirty="0">
                <a:latin typeface="Times New Roman" panose="02020603050405020304" pitchFamily="18" charset="0"/>
                <a:cs typeface="Times New Roman" panose="02020603050405020304" pitchFamily="18" charset="0"/>
              </a:rPr>
              <a:t>Can meld two leftist tree priority queues in </a:t>
            </a:r>
            <a:r>
              <a:rPr lang="en-US" altLang="en-US" dirty="0">
                <a:solidFill>
                  <a:schemeClr val="hlink"/>
                </a:solidFill>
                <a:latin typeface="Times New Roman" panose="02020603050405020304" pitchFamily="18" charset="0"/>
                <a:cs typeface="Times New Roman" panose="02020603050405020304" pitchFamily="18" charset="0"/>
              </a:rPr>
              <a:t>O(log n)</a:t>
            </a:r>
            <a:r>
              <a:rPr lang="en-US" altLang="en-US" dirty="0">
                <a:solidFill>
                  <a:schemeClr val="bg2"/>
                </a:solidFill>
                <a:latin typeface="Times New Roman" panose="02020603050405020304" pitchFamily="18" charset="0"/>
                <a:cs typeface="Times New Roman" panose="02020603050405020304" pitchFamily="18" charset="0"/>
              </a:rPr>
              <a:t> time.</a:t>
            </a:r>
          </a:p>
        </p:txBody>
      </p:sp>
      <p:pic>
        <p:nvPicPr>
          <p:cNvPr id="2" name="Picture 1">
            <a:extLst>
              <a:ext uri="{FF2B5EF4-FFF2-40B4-BE49-F238E27FC236}">
                <a16:creationId xmlns:a16="http://schemas.microsoft.com/office/drawing/2014/main" id="{4C1A40D0-1E55-0569-4BFD-BAAD44677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EEAD03FB-856A-2951-67EC-30CE6CB79A76}"/>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5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5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50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50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50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4509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450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bldLvl="3"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96C8EF3-F832-3BF7-9AED-356BD7BADEBE}"/>
              </a:ext>
            </a:extLst>
          </p:cNvPr>
          <p:cNvSpPr>
            <a:spLocks noGrp="1" noChangeArrowheads="1"/>
          </p:cNvSpPr>
          <p:nvPr>
            <p:ph type="ctrTitle"/>
          </p:nvPr>
        </p:nvSpPr>
        <p:spPr>
          <a:xfrm>
            <a:off x="1657350" y="400050"/>
            <a:ext cx="5829300" cy="857250"/>
          </a:xfrm>
          <a:noFill/>
        </p:spPr>
        <p:txBody>
          <a:bodyPr/>
          <a:lstStyle/>
          <a:p>
            <a:r>
              <a:rPr lang="en-US" altLang="en-US"/>
              <a:t>The Function </a:t>
            </a:r>
            <a:r>
              <a:rPr lang="en-US" altLang="en-US">
                <a:solidFill>
                  <a:schemeClr val="hlink"/>
                </a:solidFill>
              </a:rPr>
              <a:t>s()</a:t>
            </a:r>
          </a:p>
        </p:txBody>
      </p:sp>
      <p:sp>
        <p:nvSpPr>
          <p:cNvPr id="351235" name="Rectangle 3">
            <a:extLst>
              <a:ext uri="{FF2B5EF4-FFF2-40B4-BE49-F238E27FC236}">
                <a16:creationId xmlns:a16="http://schemas.microsoft.com/office/drawing/2014/main" id="{24DE5184-9801-9A4D-543B-54652CF2B0BF}"/>
              </a:ext>
            </a:extLst>
          </p:cNvPr>
          <p:cNvSpPr>
            <a:spLocks noGrp="1" noChangeArrowheads="1"/>
          </p:cNvSpPr>
          <p:nvPr>
            <p:ph type="subTitle" idx="1"/>
          </p:nvPr>
        </p:nvSpPr>
        <p:spPr>
          <a:xfrm>
            <a:off x="1371600" y="1543050"/>
            <a:ext cx="6971708" cy="3200400"/>
          </a:xfrm>
          <a:noFill/>
        </p:spPr>
        <p:txBody>
          <a:bodyPr/>
          <a:lstStyle/>
          <a:p>
            <a:pPr marL="257175" indent="-257175" algn="l"/>
            <a:r>
              <a:rPr lang="en-US" altLang="en-US" dirty="0">
                <a:solidFill>
                  <a:srgbClr val="FF0000"/>
                </a:solidFill>
                <a:latin typeface="Times New Roman" panose="02020603050405020304" pitchFamily="18" charset="0"/>
                <a:cs typeface="Times New Roman" panose="02020603050405020304" pitchFamily="18" charset="0"/>
              </a:rPr>
              <a:t>For any node x in an extended binary tree, let s(x) be the length of a shortest path from x to an external node in the subtree rooted at x.</a:t>
            </a:r>
          </a:p>
          <a:p>
            <a:pPr marL="257175" indent="-257175" algn="l"/>
            <a:endParaRPr lang="en-US" altLang="en-US" dirty="0">
              <a:solidFill>
                <a:srgbClr val="FF0000"/>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B8B64F7-BBC7-0812-539C-A0D99D921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EF2C950E-B74A-0959-3632-35981B1573A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1235">
                                            <p:txEl>
                                              <p:pRg st="0" end="0"/>
                                            </p:txEl>
                                          </p:spTgt>
                                        </p:tgtEl>
                                        <p:attrNameLst>
                                          <p:attrName>style.visibility</p:attrName>
                                        </p:attrNameLst>
                                      </p:cBhvr>
                                      <p:to>
                                        <p:strVal val="visible"/>
                                      </p:to>
                                    </p:set>
                                    <p:anim calcmode="lin" valueType="num">
                                      <p:cBhvr additive="base">
                                        <p:cTn id="7" dur="500" fill="hold"/>
                                        <p:tgtEl>
                                          <p:spTgt spid="351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12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15F2E74-C4A6-7C16-37A7-3E70698364FF}"/>
              </a:ext>
            </a:extLst>
          </p:cNvPr>
          <p:cNvSpPr>
            <a:spLocks noGrp="1" noChangeArrowheads="1"/>
          </p:cNvSpPr>
          <p:nvPr>
            <p:ph type="ctrTitle"/>
          </p:nvPr>
        </p:nvSpPr>
        <p:spPr>
          <a:xfrm>
            <a:off x="1143000" y="171450"/>
            <a:ext cx="6686550" cy="857250"/>
          </a:xfrm>
          <a:noFill/>
        </p:spPr>
        <p:txBody>
          <a:bodyPr/>
          <a:lstStyle/>
          <a:p>
            <a:r>
              <a:rPr lang="en-US" altLang="en-US">
                <a:solidFill>
                  <a:schemeClr val="hlink"/>
                </a:solidFill>
              </a:rPr>
              <a:t>s()</a:t>
            </a:r>
            <a:r>
              <a:rPr lang="en-US" altLang="en-US"/>
              <a:t> Values Example</a:t>
            </a:r>
          </a:p>
        </p:txBody>
      </p:sp>
      <p:grpSp>
        <p:nvGrpSpPr>
          <p:cNvPr id="2" name="Group 3">
            <a:extLst>
              <a:ext uri="{FF2B5EF4-FFF2-40B4-BE49-F238E27FC236}">
                <a16:creationId xmlns:a16="http://schemas.microsoft.com/office/drawing/2014/main" id="{80637A6C-D554-216B-216F-223600BBA425}"/>
              </a:ext>
            </a:extLst>
          </p:cNvPr>
          <p:cNvGrpSpPr>
            <a:grpSpLocks/>
          </p:cNvGrpSpPr>
          <p:nvPr/>
        </p:nvGrpSpPr>
        <p:grpSpPr bwMode="auto">
          <a:xfrm>
            <a:off x="1319213" y="1090613"/>
            <a:ext cx="6105525" cy="3076575"/>
            <a:chOff x="148" y="916"/>
            <a:chExt cx="5128" cy="2584"/>
          </a:xfrm>
        </p:grpSpPr>
        <p:sp>
          <p:nvSpPr>
            <p:cNvPr id="11268" name="Oval 4">
              <a:extLst>
                <a:ext uri="{FF2B5EF4-FFF2-40B4-BE49-F238E27FC236}">
                  <a16:creationId xmlns:a16="http://schemas.microsoft.com/office/drawing/2014/main" id="{A71D7B4B-9587-3B2B-0CFA-36FD65E8767F}"/>
                </a:ext>
              </a:extLst>
            </p:cNvPr>
            <p:cNvSpPr>
              <a:spLocks noChangeArrowheads="1"/>
            </p:cNvSpPr>
            <p:nvPr/>
          </p:nvSpPr>
          <p:spPr bwMode="auto">
            <a:xfrm>
              <a:off x="2644" y="91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69" name="Oval 5">
              <a:extLst>
                <a:ext uri="{FF2B5EF4-FFF2-40B4-BE49-F238E27FC236}">
                  <a16:creationId xmlns:a16="http://schemas.microsoft.com/office/drawing/2014/main" id="{29715F21-E183-5D32-634C-CEE3338E3605}"/>
                </a:ext>
              </a:extLst>
            </p:cNvPr>
            <p:cNvSpPr>
              <a:spLocks noChangeArrowheads="1"/>
            </p:cNvSpPr>
            <p:nvPr/>
          </p:nvSpPr>
          <p:spPr bwMode="auto">
            <a:xfrm>
              <a:off x="1300"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0" name="Oval 6">
              <a:extLst>
                <a:ext uri="{FF2B5EF4-FFF2-40B4-BE49-F238E27FC236}">
                  <a16:creationId xmlns:a16="http://schemas.microsoft.com/office/drawing/2014/main" id="{465628DD-EFD9-9F8A-29C5-7A865A3E6B59}"/>
                </a:ext>
              </a:extLst>
            </p:cNvPr>
            <p:cNvSpPr>
              <a:spLocks noChangeArrowheads="1"/>
            </p:cNvSpPr>
            <p:nvPr/>
          </p:nvSpPr>
          <p:spPr bwMode="auto">
            <a:xfrm>
              <a:off x="4036"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1" name="Oval 7">
              <a:extLst>
                <a:ext uri="{FF2B5EF4-FFF2-40B4-BE49-F238E27FC236}">
                  <a16:creationId xmlns:a16="http://schemas.microsoft.com/office/drawing/2014/main" id="{690BDC26-1C65-D13F-46EF-9EA5D8906DB7}"/>
                </a:ext>
              </a:extLst>
            </p:cNvPr>
            <p:cNvSpPr>
              <a:spLocks noChangeArrowheads="1"/>
            </p:cNvSpPr>
            <p:nvPr/>
          </p:nvSpPr>
          <p:spPr bwMode="auto">
            <a:xfrm>
              <a:off x="676"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2" name="Oval 8">
              <a:extLst>
                <a:ext uri="{FF2B5EF4-FFF2-40B4-BE49-F238E27FC236}">
                  <a16:creationId xmlns:a16="http://schemas.microsoft.com/office/drawing/2014/main" id="{08DDE6AC-27A0-A25D-992F-6939C9F7CFF2}"/>
                </a:ext>
              </a:extLst>
            </p:cNvPr>
            <p:cNvSpPr>
              <a:spLocks noChangeArrowheads="1"/>
            </p:cNvSpPr>
            <p:nvPr/>
          </p:nvSpPr>
          <p:spPr bwMode="auto">
            <a:xfrm>
              <a:off x="1780"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3" name="Oval 9">
              <a:extLst>
                <a:ext uri="{FF2B5EF4-FFF2-40B4-BE49-F238E27FC236}">
                  <a16:creationId xmlns:a16="http://schemas.microsoft.com/office/drawing/2014/main" id="{59E8586D-26E7-022C-63FE-AB2CD2456D4D}"/>
                </a:ext>
              </a:extLst>
            </p:cNvPr>
            <p:cNvSpPr>
              <a:spLocks noChangeArrowheads="1"/>
            </p:cNvSpPr>
            <p:nvPr/>
          </p:nvSpPr>
          <p:spPr bwMode="auto">
            <a:xfrm>
              <a:off x="3268"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4" name="Oval 10">
              <a:extLst>
                <a:ext uri="{FF2B5EF4-FFF2-40B4-BE49-F238E27FC236}">
                  <a16:creationId xmlns:a16="http://schemas.microsoft.com/office/drawing/2014/main" id="{3D460E75-3167-FEA6-173D-45CDD73D3C29}"/>
                </a:ext>
              </a:extLst>
            </p:cNvPr>
            <p:cNvSpPr>
              <a:spLocks noChangeArrowheads="1"/>
            </p:cNvSpPr>
            <p:nvPr/>
          </p:nvSpPr>
          <p:spPr bwMode="auto">
            <a:xfrm>
              <a:off x="29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5" name="Oval 11">
              <a:extLst>
                <a:ext uri="{FF2B5EF4-FFF2-40B4-BE49-F238E27FC236}">
                  <a16:creationId xmlns:a16="http://schemas.microsoft.com/office/drawing/2014/main" id="{18D41017-0B13-B145-6DE4-27CDB6DE017A}"/>
                </a:ext>
              </a:extLst>
            </p:cNvPr>
            <p:cNvSpPr>
              <a:spLocks noChangeArrowheads="1"/>
            </p:cNvSpPr>
            <p:nvPr/>
          </p:nvSpPr>
          <p:spPr bwMode="auto">
            <a:xfrm>
              <a:off x="101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76" name="Line 12">
              <a:extLst>
                <a:ext uri="{FF2B5EF4-FFF2-40B4-BE49-F238E27FC236}">
                  <a16:creationId xmlns:a16="http://schemas.microsoft.com/office/drawing/2014/main" id="{BBE7ED33-9B3A-5E37-3406-7D8F5975E5C3}"/>
                </a:ext>
              </a:extLst>
            </p:cNvPr>
            <p:cNvSpPr>
              <a:spLocks noChangeShapeType="1"/>
            </p:cNvSpPr>
            <p:nvPr/>
          </p:nvSpPr>
          <p:spPr bwMode="auto">
            <a:xfrm flipH="1">
              <a:off x="1584" y="1104"/>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77" name="Line 13">
              <a:extLst>
                <a:ext uri="{FF2B5EF4-FFF2-40B4-BE49-F238E27FC236}">
                  <a16:creationId xmlns:a16="http://schemas.microsoft.com/office/drawing/2014/main" id="{3322B2DA-7614-7863-4711-C63D358B48A8}"/>
                </a:ext>
              </a:extLst>
            </p:cNvPr>
            <p:cNvSpPr>
              <a:spLocks noChangeShapeType="1"/>
            </p:cNvSpPr>
            <p:nvPr/>
          </p:nvSpPr>
          <p:spPr bwMode="auto">
            <a:xfrm>
              <a:off x="2928" y="1104"/>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78" name="Line 14">
              <a:extLst>
                <a:ext uri="{FF2B5EF4-FFF2-40B4-BE49-F238E27FC236}">
                  <a16:creationId xmlns:a16="http://schemas.microsoft.com/office/drawing/2014/main" id="{59866EB9-14C3-FA1D-D2FD-7A06AABFF26B}"/>
                </a:ext>
              </a:extLst>
            </p:cNvPr>
            <p:cNvSpPr>
              <a:spLocks noChangeShapeType="1"/>
            </p:cNvSpPr>
            <p:nvPr/>
          </p:nvSpPr>
          <p:spPr bwMode="auto">
            <a:xfrm flipH="1">
              <a:off x="864" y="1776"/>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79" name="Line 15">
              <a:extLst>
                <a:ext uri="{FF2B5EF4-FFF2-40B4-BE49-F238E27FC236}">
                  <a16:creationId xmlns:a16="http://schemas.microsoft.com/office/drawing/2014/main" id="{4B0D98B6-7BD6-7CDC-A613-540B981EB5E9}"/>
                </a:ext>
              </a:extLst>
            </p:cNvPr>
            <p:cNvSpPr>
              <a:spLocks noChangeShapeType="1"/>
            </p:cNvSpPr>
            <p:nvPr/>
          </p:nvSpPr>
          <p:spPr bwMode="auto">
            <a:xfrm>
              <a:off x="1536" y="1776"/>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80" name="Line 16">
              <a:extLst>
                <a:ext uri="{FF2B5EF4-FFF2-40B4-BE49-F238E27FC236}">
                  <a16:creationId xmlns:a16="http://schemas.microsoft.com/office/drawing/2014/main" id="{3A392ED3-AB5B-20DA-5754-9C2254B47B8A}"/>
                </a:ext>
              </a:extLst>
            </p:cNvPr>
            <p:cNvSpPr>
              <a:spLocks noChangeShapeType="1"/>
            </p:cNvSpPr>
            <p:nvPr/>
          </p:nvSpPr>
          <p:spPr bwMode="auto">
            <a:xfrm flipH="1">
              <a:off x="3504" y="1824"/>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81" name="Line 17">
              <a:extLst>
                <a:ext uri="{FF2B5EF4-FFF2-40B4-BE49-F238E27FC236}">
                  <a16:creationId xmlns:a16="http://schemas.microsoft.com/office/drawing/2014/main" id="{7551C0D4-2B8A-1998-F6B9-85292B62795D}"/>
                </a:ext>
              </a:extLst>
            </p:cNvPr>
            <p:cNvSpPr>
              <a:spLocks noChangeShapeType="1"/>
            </p:cNvSpPr>
            <p:nvPr/>
          </p:nvSpPr>
          <p:spPr bwMode="auto">
            <a:xfrm flipH="1">
              <a:off x="480" y="2304"/>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82" name="Line 18">
              <a:extLst>
                <a:ext uri="{FF2B5EF4-FFF2-40B4-BE49-F238E27FC236}">
                  <a16:creationId xmlns:a16="http://schemas.microsoft.com/office/drawing/2014/main" id="{526985F4-A1C8-49B6-8C22-513476F7E266}"/>
                </a:ext>
              </a:extLst>
            </p:cNvPr>
            <p:cNvSpPr>
              <a:spLocks noChangeShapeType="1"/>
            </p:cNvSpPr>
            <p:nvPr/>
          </p:nvSpPr>
          <p:spPr bwMode="auto">
            <a:xfrm>
              <a:off x="912" y="2304"/>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83" name="Oval 19">
              <a:extLst>
                <a:ext uri="{FF2B5EF4-FFF2-40B4-BE49-F238E27FC236}">
                  <a16:creationId xmlns:a16="http://schemas.microsoft.com/office/drawing/2014/main" id="{EF78E9A4-3FC9-0DCA-3F5D-CA8EF842DF0D}"/>
                </a:ext>
              </a:extLst>
            </p:cNvPr>
            <p:cNvSpPr>
              <a:spLocks noChangeArrowheads="1"/>
            </p:cNvSpPr>
            <p:nvPr/>
          </p:nvSpPr>
          <p:spPr bwMode="auto">
            <a:xfrm>
              <a:off x="2932" y="2692"/>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84" name="Line 20">
              <a:extLst>
                <a:ext uri="{FF2B5EF4-FFF2-40B4-BE49-F238E27FC236}">
                  <a16:creationId xmlns:a16="http://schemas.microsoft.com/office/drawing/2014/main" id="{5C238767-9D05-986E-428C-6299AFD546EA}"/>
                </a:ext>
              </a:extLst>
            </p:cNvPr>
            <p:cNvSpPr>
              <a:spLocks noChangeShapeType="1"/>
            </p:cNvSpPr>
            <p:nvPr/>
          </p:nvSpPr>
          <p:spPr bwMode="auto">
            <a:xfrm flipH="1">
              <a:off x="3120" y="2352"/>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85" name="Rectangle 21">
              <a:extLst>
                <a:ext uri="{FF2B5EF4-FFF2-40B4-BE49-F238E27FC236}">
                  <a16:creationId xmlns:a16="http://schemas.microsoft.com/office/drawing/2014/main" id="{85D47D32-3C0A-4C1F-486A-E21BC5F3A062}"/>
                </a:ext>
              </a:extLst>
            </p:cNvPr>
            <p:cNvSpPr>
              <a:spLocks noChangeArrowheads="1"/>
            </p:cNvSpPr>
            <p:nvPr/>
          </p:nvSpPr>
          <p:spPr bwMode="auto">
            <a:xfrm>
              <a:off x="1588" y="2788"/>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86" name="Rectangle 22">
              <a:extLst>
                <a:ext uri="{FF2B5EF4-FFF2-40B4-BE49-F238E27FC236}">
                  <a16:creationId xmlns:a16="http://schemas.microsoft.com/office/drawing/2014/main" id="{D01B57AE-B50C-C75E-7EC3-471F02FA5BCA}"/>
                </a:ext>
              </a:extLst>
            </p:cNvPr>
            <p:cNvSpPr>
              <a:spLocks noChangeArrowheads="1"/>
            </p:cNvSpPr>
            <p:nvPr/>
          </p:nvSpPr>
          <p:spPr bwMode="auto">
            <a:xfrm>
              <a:off x="2068" y="2788"/>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87" name="Rectangle 23">
              <a:extLst>
                <a:ext uri="{FF2B5EF4-FFF2-40B4-BE49-F238E27FC236}">
                  <a16:creationId xmlns:a16="http://schemas.microsoft.com/office/drawing/2014/main" id="{92A621FA-005B-1884-8B19-578634ADA336}"/>
                </a:ext>
              </a:extLst>
            </p:cNvPr>
            <p:cNvSpPr>
              <a:spLocks noChangeArrowheads="1"/>
            </p:cNvSpPr>
            <p:nvPr/>
          </p:nvSpPr>
          <p:spPr bwMode="auto">
            <a:xfrm>
              <a:off x="3604" y="2788"/>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88" name="Rectangle 24">
              <a:extLst>
                <a:ext uri="{FF2B5EF4-FFF2-40B4-BE49-F238E27FC236}">
                  <a16:creationId xmlns:a16="http://schemas.microsoft.com/office/drawing/2014/main" id="{8646EAFA-8899-53A8-6E72-DE00978C6A6A}"/>
                </a:ext>
              </a:extLst>
            </p:cNvPr>
            <p:cNvSpPr>
              <a:spLocks noChangeArrowheads="1"/>
            </p:cNvSpPr>
            <p:nvPr/>
          </p:nvSpPr>
          <p:spPr bwMode="auto">
            <a:xfrm>
              <a:off x="5092" y="2164"/>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89" name="Rectangle 25">
              <a:extLst>
                <a:ext uri="{FF2B5EF4-FFF2-40B4-BE49-F238E27FC236}">
                  <a16:creationId xmlns:a16="http://schemas.microsoft.com/office/drawing/2014/main" id="{DBE4A97B-7864-1F6F-7349-A06ADBD8B53F}"/>
                </a:ext>
              </a:extLst>
            </p:cNvPr>
            <p:cNvSpPr>
              <a:spLocks noChangeArrowheads="1"/>
            </p:cNvSpPr>
            <p:nvPr/>
          </p:nvSpPr>
          <p:spPr bwMode="auto">
            <a:xfrm>
              <a:off x="148" y="3316"/>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90" name="Rectangle 26">
              <a:extLst>
                <a:ext uri="{FF2B5EF4-FFF2-40B4-BE49-F238E27FC236}">
                  <a16:creationId xmlns:a16="http://schemas.microsoft.com/office/drawing/2014/main" id="{2728217D-FE41-F40E-1500-FB7947A77D3A}"/>
                </a:ext>
              </a:extLst>
            </p:cNvPr>
            <p:cNvSpPr>
              <a:spLocks noChangeArrowheads="1"/>
            </p:cNvSpPr>
            <p:nvPr/>
          </p:nvSpPr>
          <p:spPr bwMode="auto">
            <a:xfrm>
              <a:off x="580" y="3316"/>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91" name="Rectangle 27">
              <a:extLst>
                <a:ext uri="{FF2B5EF4-FFF2-40B4-BE49-F238E27FC236}">
                  <a16:creationId xmlns:a16="http://schemas.microsoft.com/office/drawing/2014/main" id="{78AC881D-629B-5D5E-86F0-F2E25204D6D3}"/>
                </a:ext>
              </a:extLst>
            </p:cNvPr>
            <p:cNvSpPr>
              <a:spLocks noChangeArrowheads="1"/>
            </p:cNvSpPr>
            <p:nvPr/>
          </p:nvSpPr>
          <p:spPr bwMode="auto">
            <a:xfrm>
              <a:off x="868" y="3316"/>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92" name="Rectangle 28">
              <a:extLst>
                <a:ext uri="{FF2B5EF4-FFF2-40B4-BE49-F238E27FC236}">
                  <a16:creationId xmlns:a16="http://schemas.microsoft.com/office/drawing/2014/main" id="{3C69EB7C-B406-968A-427A-9BE8CB970937}"/>
                </a:ext>
              </a:extLst>
            </p:cNvPr>
            <p:cNvSpPr>
              <a:spLocks noChangeArrowheads="1"/>
            </p:cNvSpPr>
            <p:nvPr/>
          </p:nvSpPr>
          <p:spPr bwMode="auto">
            <a:xfrm>
              <a:off x="1252" y="3316"/>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293" name="Line 29">
              <a:extLst>
                <a:ext uri="{FF2B5EF4-FFF2-40B4-BE49-F238E27FC236}">
                  <a16:creationId xmlns:a16="http://schemas.microsoft.com/office/drawing/2014/main" id="{DE43DA71-0F2B-3AF0-BC0F-067B350EBF0C}"/>
                </a:ext>
              </a:extLst>
            </p:cNvPr>
            <p:cNvSpPr>
              <a:spLocks noChangeShapeType="1"/>
            </p:cNvSpPr>
            <p:nvPr/>
          </p:nvSpPr>
          <p:spPr bwMode="auto">
            <a:xfrm flipH="1">
              <a:off x="1632" y="2352"/>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4" name="Line 30">
              <a:extLst>
                <a:ext uri="{FF2B5EF4-FFF2-40B4-BE49-F238E27FC236}">
                  <a16:creationId xmlns:a16="http://schemas.microsoft.com/office/drawing/2014/main" id="{D13AC341-624C-2840-3D81-8EDE058682AE}"/>
                </a:ext>
              </a:extLst>
            </p:cNvPr>
            <p:cNvSpPr>
              <a:spLocks noChangeShapeType="1"/>
            </p:cNvSpPr>
            <p:nvPr/>
          </p:nvSpPr>
          <p:spPr bwMode="auto">
            <a:xfrm>
              <a:off x="2016" y="2304"/>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5" name="Line 31">
              <a:extLst>
                <a:ext uri="{FF2B5EF4-FFF2-40B4-BE49-F238E27FC236}">
                  <a16:creationId xmlns:a16="http://schemas.microsoft.com/office/drawing/2014/main" id="{E851FB0E-37E0-BD83-051B-FFB94831656D}"/>
                </a:ext>
              </a:extLst>
            </p:cNvPr>
            <p:cNvSpPr>
              <a:spLocks noChangeShapeType="1"/>
            </p:cNvSpPr>
            <p:nvPr/>
          </p:nvSpPr>
          <p:spPr bwMode="auto">
            <a:xfrm flipH="1">
              <a:off x="192" y="2976"/>
              <a:ext cx="144"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6" name="Line 32">
              <a:extLst>
                <a:ext uri="{FF2B5EF4-FFF2-40B4-BE49-F238E27FC236}">
                  <a16:creationId xmlns:a16="http://schemas.microsoft.com/office/drawing/2014/main" id="{07E9DE1A-F25E-013D-A53C-7A3C08056AF6}"/>
                </a:ext>
              </a:extLst>
            </p:cNvPr>
            <p:cNvSpPr>
              <a:spLocks noChangeShapeType="1"/>
            </p:cNvSpPr>
            <p:nvPr/>
          </p:nvSpPr>
          <p:spPr bwMode="auto">
            <a:xfrm>
              <a:off x="528" y="3024"/>
              <a:ext cx="144"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7" name="Line 33">
              <a:extLst>
                <a:ext uri="{FF2B5EF4-FFF2-40B4-BE49-F238E27FC236}">
                  <a16:creationId xmlns:a16="http://schemas.microsoft.com/office/drawing/2014/main" id="{C1FA91B6-37BD-E2BB-81C2-698C1635F1FC}"/>
                </a:ext>
              </a:extLst>
            </p:cNvPr>
            <p:cNvSpPr>
              <a:spLocks noChangeShapeType="1"/>
            </p:cNvSpPr>
            <p:nvPr/>
          </p:nvSpPr>
          <p:spPr bwMode="auto">
            <a:xfrm flipH="1">
              <a:off x="960" y="2976"/>
              <a:ext cx="9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8" name="Line 34">
              <a:extLst>
                <a:ext uri="{FF2B5EF4-FFF2-40B4-BE49-F238E27FC236}">
                  <a16:creationId xmlns:a16="http://schemas.microsoft.com/office/drawing/2014/main" id="{2C592D4B-C1DC-C133-1A0E-EFEF496DFC4A}"/>
                </a:ext>
              </a:extLst>
            </p:cNvPr>
            <p:cNvSpPr>
              <a:spLocks noChangeShapeType="1"/>
            </p:cNvSpPr>
            <p:nvPr/>
          </p:nvSpPr>
          <p:spPr bwMode="auto">
            <a:xfrm>
              <a:off x="1248" y="3024"/>
              <a:ext cx="96"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299" name="Line 35">
              <a:extLst>
                <a:ext uri="{FF2B5EF4-FFF2-40B4-BE49-F238E27FC236}">
                  <a16:creationId xmlns:a16="http://schemas.microsoft.com/office/drawing/2014/main" id="{EEE2460D-98AF-EC20-9BF8-7C3E20679A01}"/>
                </a:ext>
              </a:extLst>
            </p:cNvPr>
            <p:cNvSpPr>
              <a:spLocks noChangeShapeType="1"/>
            </p:cNvSpPr>
            <p:nvPr/>
          </p:nvSpPr>
          <p:spPr bwMode="auto">
            <a:xfrm>
              <a:off x="3456" y="2352"/>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300" name="Line 36">
              <a:extLst>
                <a:ext uri="{FF2B5EF4-FFF2-40B4-BE49-F238E27FC236}">
                  <a16:creationId xmlns:a16="http://schemas.microsoft.com/office/drawing/2014/main" id="{DA4C60CC-8DAA-B49D-0A31-A19D6D9A6D21}"/>
                </a:ext>
              </a:extLst>
            </p:cNvPr>
            <p:cNvSpPr>
              <a:spLocks noChangeShapeType="1"/>
            </p:cNvSpPr>
            <p:nvPr/>
          </p:nvSpPr>
          <p:spPr bwMode="auto">
            <a:xfrm>
              <a:off x="4272" y="1776"/>
              <a:ext cx="912"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301" name="Rectangle 37">
              <a:extLst>
                <a:ext uri="{FF2B5EF4-FFF2-40B4-BE49-F238E27FC236}">
                  <a16:creationId xmlns:a16="http://schemas.microsoft.com/office/drawing/2014/main" id="{6F0B4D5C-B921-9CD4-9D38-AD26CD70FD1A}"/>
                </a:ext>
              </a:extLst>
            </p:cNvPr>
            <p:cNvSpPr>
              <a:spLocks noChangeArrowheads="1"/>
            </p:cNvSpPr>
            <p:nvPr/>
          </p:nvSpPr>
          <p:spPr bwMode="auto">
            <a:xfrm>
              <a:off x="2596" y="3268"/>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302" name="Rectangle 38">
              <a:extLst>
                <a:ext uri="{FF2B5EF4-FFF2-40B4-BE49-F238E27FC236}">
                  <a16:creationId xmlns:a16="http://schemas.microsoft.com/office/drawing/2014/main" id="{B60D2A19-4C00-C157-7CC9-8526A4D600C5}"/>
                </a:ext>
              </a:extLst>
            </p:cNvPr>
            <p:cNvSpPr>
              <a:spLocks noChangeArrowheads="1"/>
            </p:cNvSpPr>
            <p:nvPr/>
          </p:nvSpPr>
          <p:spPr bwMode="auto">
            <a:xfrm>
              <a:off x="3268" y="3268"/>
              <a:ext cx="184" cy="184"/>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1303" name="Line 39">
              <a:extLst>
                <a:ext uri="{FF2B5EF4-FFF2-40B4-BE49-F238E27FC236}">
                  <a16:creationId xmlns:a16="http://schemas.microsoft.com/office/drawing/2014/main" id="{0E632FE5-FC2B-9BAD-234D-C5A2DA9587FF}"/>
                </a:ext>
              </a:extLst>
            </p:cNvPr>
            <p:cNvSpPr>
              <a:spLocks noChangeShapeType="1"/>
            </p:cNvSpPr>
            <p:nvPr/>
          </p:nvSpPr>
          <p:spPr bwMode="auto">
            <a:xfrm flipH="1">
              <a:off x="2640" y="2928"/>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1304" name="Line 40">
              <a:extLst>
                <a:ext uri="{FF2B5EF4-FFF2-40B4-BE49-F238E27FC236}">
                  <a16:creationId xmlns:a16="http://schemas.microsoft.com/office/drawing/2014/main" id="{ABEF833B-4CA1-6C8A-E0CB-5F8F0C231723}"/>
                </a:ext>
              </a:extLst>
            </p:cNvPr>
            <p:cNvSpPr>
              <a:spLocks noChangeShapeType="1"/>
            </p:cNvSpPr>
            <p:nvPr/>
          </p:nvSpPr>
          <p:spPr bwMode="auto">
            <a:xfrm>
              <a:off x="3168" y="2928"/>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pic>
        <p:nvPicPr>
          <p:cNvPr id="3" name="Picture 2">
            <a:extLst>
              <a:ext uri="{FF2B5EF4-FFF2-40B4-BE49-F238E27FC236}">
                <a16:creationId xmlns:a16="http://schemas.microsoft.com/office/drawing/2014/main" id="{51EDB012-8229-C746-40C7-655EC88B80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2D5F784D-70FC-96CA-A6E1-BB5D89A2645F}"/>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2">
            <a:extLst>
              <a:ext uri="{FF2B5EF4-FFF2-40B4-BE49-F238E27FC236}">
                <a16:creationId xmlns:a16="http://schemas.microsoft.com/office/drawing/2014/main" id="{DAFACDC3-0ADB-6E86-3EFF-21C5B5ECF6D3}"/>
              </a:ext>
            </a:extLst>
          </p:cNvPr>
          <p:cNvSpPr>
            <a:spLocks noChangeArrowheads="1"/>
          </p:cNvSpPr>
          <p:nvPr/>
        </p:nvSpPr>
        <p:spPr bwMode="auto">
          <a:xfrm>
            <a:off x="4291013" y="10906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15" name="Oval 3">
            <a:extLst>
              <a:ext uri="{FF2B5EF4-FFF2-40B4-BE49-F238E27FC236}">
                <a16:creationId xmlns:a16="http://schemas.microsoft.com/office/drawing/2014/main" id="{E3C6CE11-BE82-0417-D400-A556FE979721}"/>
              </a:ext>
            </a:extLst>
          </p:cNvPr>
          <p:cNvSpPr>
            <a:spLocks noChangeArrowheads="1"/>
          </p:cNvSpPr>
          <p:nvPr/>
        </p:nvSpPr>
        <p:spPr bwMode="auto">
          <a:xfrm>
            <a:off x="269081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16" name="Oval 4">
            <a:extLst>
              <a:ext uri="{FF2B5EF4-FFF2-40B4-BE49-F238E27FC236}">
                <a16:creationId xmlns:a16="http://schemas.microsoft.com/office/drawing/2014/main" id="{7F2030DC-B429-5681-DD3A-8A9709E452B5}"/>
              </a:ext>
            </a:extLst>
          </p:cNvPr>
          <p:cNvSpPr>
            <a:spLocks noChangeArrowheads="1"/>
          </p:cNvSpPr>
          <p:nvPr/>
        </p:nvSpPr>
        <p:spPr bwMode="auto">
          <a:xfrm>
            <a:off x="59483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17" name="Oval 5">
            <a:extLst>
              <a:ext uri="{FF2B5EF4-FFF2-40B4-BE49-F238E27FC236}">
                <a16:creationId xmlns:a16="http://schemas.microsoft.com/office/drawing/2014/main" id="{F88422D2-FB26-BD4B-5CE4-9B8D20D17B21}"/>
              </a:ext>
            </a:extLst>
          </p:cNvPr>
          <p:cNvSpPr>
            <a:spLocks noChangeArrowheads="1"/>
          </p:cNvSpPr>
          <p:nvPr/>
        </p:nvSpPr>
        <p:spPr bwMode="auto">
          <a:xfrm>
            <a:off x="19478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18" name="Oval 6">
            <a:extLst>
              <a:ext uri="{FF2B5EF4-FFF2-40B4-BE49-F238E27FC236}">
                <a16:creationId xmlns:a16="http://schemas.microsoft.com/office/drawing/2014/main" id="{96AD72AD-B677-34E3-6E73-3F5A2852F72B}"/>
              </a:ext>
            </a:extLst>
          </p:cNvPr>
          <p:cNvSpPr>
            <a:spLocks noChangeArrowheads="1"/>
          </p:cNvSpPr>
          <p:nvPr/>
        </p:nvSpPr>
        <p:spPr bwMode="auto">
          <a:xfrm>
            <a:off x="326231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19" name="Oval 7">
            <a:extLst>
              <a:ext uri="{FF2B5EF4-FFF2-40B4-BE49-F238E27FC236}">
                <a16:creationId xmlns:a16="http://schemas.microsoft.com/office/drawing/2014/main" id="{D2F38819-2457-BA47-4C81-5F67405B0750}"/>
              </a:ext>
            </a:extLst>
          </p:cNvPr>
          <p:cNvSpPr>
            <a:spLocks noChangeArrowheads="1"/>
          </p:cNvSpPr>
          <p:nvPr/>
        </p:nvSpPr>
        <p:spPr bwMode="auto">
          <a:xfrm>
            <a:off x="50339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20" name="Oval 8">
            <a:extLst>
              <a:ext uri="{FF2B5EF4-FFF2-40B4-BE49-F238E27FC236}">
                <a16:creationId xmlns:a16="http://schemas.microsoft.com/office/drawing/2014/main" id="{E49B62D9-2EBB-E782-B4BC-95D19D9AA167}"/>
              </a:ext>
            </a:extLst>
          </p:cNvPr>
          <p:cNvSpPr>
            <a:spLocks noChangeArrowheads="1"/>
          </p:cNvSpPr>
          <p:nvPr/>
        </p:nvSpPr>
        <p:spPr bwMode="auto">
          <a:xfrm>
            <a:off x="149066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21" name="Oval 9">
            <a:extLst>
              <a:ext uri="{FF2B5EF4-FFF2-40B4-BE49-F238E27FC236}">
                <a16:creationId xmlns:a16="http://schemas.microsoft.com/office/drawing/2014/main" id="{C6C34343-DC1C-919B-DF17-7ECFDC6D2FEF}"/>
              </a:ext>
            </a:extLst>
          </p:cNvPr>
          <p:cNvSpPr>
            <a:spLocks noChangeArrowheads="1"/>
          </p:cNvSpPr>
          <p:nvPr/>
        </p:nvSpPr>
        <p:spPr bwMode="auto">
          <a:xfrm>
            <a:off x="234791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22" name="Line 10">
            <a:extLst>
              <a:ext uri="{FF2B5EF4-FFF2-40B4-BE49-F238E27FC236}">
                <a16:creationId xmlns:a16="http://schemas.microsoft.com/office/drawing/2014/main" id="{3501D18A-EBEF-EC1D-A233-2A665A6F35B3}"/>
              </a:ext>
            </a:extLst>
          </p:cNvPr>
          <p:cNvSpPr>
            <a:spLocks noChangeShapeType="1"/>
          </p:cNvSpPr>
          <p:nvPr/>
        </p:nvSpPr>
        <p:spPr bwMode="auto">
          <a:xfrm flipH="1">
            <a:off x="3028950" y="1314450"/>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3" name="Line 11">
            <a:extLst>
              <a:ext uri="{FF2B5EF4-FFF2-40B4-BE49-F238E27FC236}">
                <a16:creationId xmlns:a16="http://schemas.microsoft.com/office/drawing/2014/main" id="{C4108951-0B5D-BBC1-6C9E-95565EF26A2B}"/>
              </a:ext>
            </a:extLst>
          </p:cNvPr>
          <p:cNvSpPr>
            <a:spLocks noChangeShapeType="1"/>
          </p:cNvSpPr>
          <p:nvPr/>
        </p:nvSpPr>
        <p:spPr bwMode="auto">
          <a:xfrm>
            <a:off x="4629150" y="1314450"/>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4" name="Line 12">
            <a:extLst>
              <a:ext uri="{FF2B5EF4-FFF2-40B4-BE49-F238E27FC236}">
                <a16:creationId xmlns:a16="http://schemas.microsoft.com/office/drawing/2014/main" id="{84162A1E-D87A-7B99-6D70-2A2E62A99C83}"/>
              </a:ext>
            </a:extLst>
          </p:cNvPr>
          <p:cNvSpPr>
            <a:spLocks noChangeShapeType="1"/>
          </p:cNvSpPr>
          <p:nvPr/>
        </p:nvSpPr>
        <p:spPr bwMode="auto">
          <a:xfrm flipH="1">
            <a:off x="2171700" y="21145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5" name="Line 13">
            <a:extLst>
              <a:ext uri="{FF2B5EF4-FFF2-40B4-BE49-F238E27FC236}">
                <a16:creationId xmlns:a16="http://schemas.microsoft.com/office/drawing/2014/main" id="{F32F3345-8C7E-1AD3-4918-74D929EE0842}"/>
              </a:ext>
            </a:extLst>
          </p:cNvPr>
          <p:cNvSpPr>
            <a:spLocks noChangeShapeType="1"/>
          </p:cNvSpPr>
          <p:nvPr/>
        </p:nvSpPr>
        <p:spPr bwMode="auto">
          <a:xfrm>
            <a:off x="2971800" y="21145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6" name="Line 14">
            <a:extLst>
              <a:ext uri="{FF2B5EF4-FFF2-40B4-BE49-F238E27FC236}">
                <a16:creationId xmlns:a16="http://schemas.microsoft.com/office/drawing/2014/main" id="{0B56FBC9-AD97-5D65-9B05-6391D146E993}"/>
              </a:ext>
            </a:extLst>
          </p:cNvPr>
          <p:cNvSpPr>
            <a:spLocks noChangeShapeType="1"/>
          </p:cNvSpPr>
          <p:nvPr/>
        </p:nvSpPr>
        <p:spPr bwMode="auto">
          <a:xfrm flipH="1">
            <a:off x="5314950" y="21717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7" name="Line 15">
            <a:extLst>
              <a:ext uri="{FF2B5EF4-FFF2-40B4-BE49-F238E27FC236}">
                <a16:creationId xmlns:a16="http://schemas.microsoft.com/office/drawing/2014/main" id="{263C6354-D794-3F48-382F-55495552AC37}"/>
              </a:ext>
            </a:extLst>
          </p:cNvPr>
          <p:cNvSpPr>
            <a:spLocks noChangeShapeType="1"/>
          </p:cNvSpPr>
          <p:nvPr/>
        </p:nvSpPr>
        <p:spPr bwMode="auto">
          <a:xfrm flipH="1">
            <a:off x="1714500" y="27432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8" name="Line 16">
            <a:extLst>
              <a:ext uri="{FF2B5EF4-FFF2-40B4-BE49-F238E27FC236}">
                <a16:creationId xmlns:a16="http://schemas.microsoft.com/office/drawing/2014/main" id="{60BD37CB-131A-A83F-21A8-FB1EDAF6F71B}"/>
              </a:ext>
            </a:extLst>
          </p:cNvPr>
          <p:cNvSpPr>
            <a:spLocks noChangeShapeType="1"/>
          </p:cNvSpPr>
          <p:nvPr/>
        </p:nvSpPr>
        <p:spPr bwMode="auto">
          <a:xfrm>
            <a:off x="222885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29" name="Oval 17">
            <a:extLst>
              <a:ext uri="{FF2B5EF4-FFF2-40B4-BE49-F238E27FC236}">
                <a16:creationId xmlns:a16="http://schemas.microsoft.com/office/drawing/2014/main" id="{5412D94C-3657-00D5-ADBD-633C1C1B42F9}"/>
              </a:ext>
            </a:extLst>
          </p:cNvPr>
          <p:cNvSpPr>
            <a:spLocks noChangeArrowheads="1"/>
          </p:cNvSpPr>
          <p:nvPr/>
        </p:nvSpPr>
        <p:spPr bwMode="auto">
          <a:xfrm>
            <a:off x="4633913" y="32051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0" name="Line 18">
            <a:extLst>
              <a:ext uri="{FF2B5EF4-FFF2-40B4-BE49-F238E27FC236}">
                <a16:creationId xmlns:a16="http://schemas.microsoft.com/office/drawing/2014/main" id="{3F5E37EC-B86B-72A7-67CE-5DC9921B7DDF}"/>
              </a:ext>
            </a:extLst>
          </p:cNvPr>
          <p:cNvSpPr>
            <a:spLocks noChangeShapeType="1"/>
          </p:cNvSpPr>
          <p:nvPr/>
        </p:nvSpPr>
        <p:spPr bwMode="auto">
          <a:xfrm flipH="1">
            <a:off x="4857750" y="28003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31" name="Rectangle 19">
            <a:extLst>
              <a:ext uri="{FF2B5EF4-FFF2-40B4-BE49-F238E27FC236}">
                <a16:creationId xmlns:a16="http://schemas.microsoft.com/office/drawing/2014/main" id="{8195AA0F-8D74-7F34-5760-541708F7F4AA}"/>
              </a:ext>
            </a:extLst>
          </p:cNvPr>
          <p:cNvSpPr>
            <a:spLocks noChangeArrowheads="1"/>
          </p:cNvSpPr>
          <p:nvPr/>
        </p:nvSpPr>
        <p:spPr bwMode="auto">
          <a:xfrm>
            <a:off x="30337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2" name="Rectangle 20">
            <a:extLst>
              <a:ext uri="{FF2B5EF4-FFF2-40B4-BE49-F238E27FC236}">
                <a16:creationId xmlns:a16="http://schemas.microsoft.com/office/drawing/2014/main" id="{44797896-C48E-BA1E-DBC2-0B6550FFBEE2}"/>
              </a:ext>
            </a:extLst>
          </p:cNvPr>
          <p:cNvSpPr>
            <a:spLocks noChangeArrowheads="1"/>
          </p:cNvSpPr>
          <p:nvPr/>
        </p:nvSpPr>
        <p:spPr bwMode="auto">
          <a:xfrm>
            <a:off x="36052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3" name="Rectangle 21">
            <a:extLst>
              <a:ext uri="{FF2B5EF4-FFF2-40B4-BE49-F238E27FC236}">
                <a16:creationId xmlns:a16="http://schemas.microsoft.com/office/drawing/2014/main" id="{C25B0AC9-045B-B13B-A8AF-A86317C561AC}"/>
              </a:ext>
            </a:extLst>
          </p:cNvPr>
          <p:cNvSpPr>
            <a:spLocks noChangeArrowheads="1"/>
          </p:cNvSpPr>
          <p:nvPr/>
        </p:nvSpPr>
        <p:spPr bwMode="auto">
          <a:xfrm>
            <a:off x="54340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4" name="Rectangle 22">
            <a:extLst>
              <a:ext uri="{FF2B5EF4-FFF2-40B4-BE49-F238E27FC236}">
                <a16:creationId xmlns:a16="http://schemas.microsoft.com/office/drawing/2014/main" id="{B8B0B2EB-926A-D578-047E-E91C5EBB09C8}"/>
              </a:ext>
            </a:extLst>
          </p:cNvPr>
          <p:cNvSpPr>
            <a:spLocks noChangeArrowheads="1"/>
          </p:cNvSpPr>
          <p:nvPr/>
        </p:nvSpPr>
        <p:spPr bwMode="auto">
          <a:xfrm>
            <a:off x="7205663" y="25765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5" name="Rectangle 23">
            <a:extLst>
              <a:ext uri="{FF2B5EF4-FFF2-40B4-BE49-F238E27FC236}">
                <a16:creationId xmlns:a16="http://schemas.microsoft.com/office/drawing/2014/main" id="{F5C2CDA3-790B-4AC1-E5BF-2A6BB80931CD}"/>
              </a:ext>
            </a:extLst>
          </p:cNvPr>
          <p:cNvSpPr>
            <a:spLocks noChangeArrowheads="1"/>
          </p:cNvSpPr>
          <p:nvPr/>
        </p:nvSpPr>
        <p:spPr bwMode="auto">
          <a:xfrm>
            <a:off x="131921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6" name="Rectangle 24">
            <a:extLst>
              <a:ext uri="{FF2B5EF4-FFF2-40B4-BE49-F238E27FC236}">
                <a16:creationId xmlns:a16="http://schemas.microsoft.com/office/drawing/2014/main" id="{3FD65C65-C4CF-DED9-BB34-0D5CB10EF106}"/>
              </a:ext>
            </a:extLst>
          </p:cNvPr>
          <p:cNvSpPr>
            <a:spLocks noChangeArrowheads="1"/>
          </p:cNvSpPr>
          <p:nvPr/>
        </p:nvSpPr>
        <p:spPr bwMode="auto">
          <a:xfrm>
            <a:off x="18335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7" name="Rectangle 25">
            <a:extLst>
              <a:ext uri="{FF2B5EF4-FFF2-40B4-BE49-F238E27FC236}">
                <a16:creationId xmlns:a16="http://schemas.microsoft.com/office/drawing/2014/main" id="{77BA2AB3-9FFF-1583-5B60-112121DEEA7D}"/>
              </a:ext>
            </a:extLst>
          </p:cNvPr>
          <p:cNvSpPr>
            <a:spLocks noChangeArrowheads="1"/>
          </p:cNvSpPr>
          <p:nvPr/>
        </p:nvSpPr>
        <p:spPr bwMode="auto">
          <a:xfrm>
            <a:off x="21764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8" name="Rectangle 26">
            <a:extLst>
              <a:ext uri="{FF2B5EF4-FFF2-40B4-BE49-F238E27FC236}">
                <a16:creationId xmlns:a16="http://schemas.microsoft.com/office/drawing/2014/main" id="{B1C01B82-B27C-D3EB-6145-CB3C8D60F6DE}"/>
              </a:ext>
            </a:extLst>
          </p:cNvPr>
          <p:cNvSpPr>
            <a:spLocks noChangeArrowheads="1"/>
          </p:cNvSpPr>
          <p:nvPr/>
        </p:nvSpPr>
        <p:spPr bwMode="auto">
          <a:xfrm>
            <a:off x="26336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39" name="Line 27">
            <a:extLst>
              <a:ext uri="{FF2B5EF4-FFF2-40B4-BE49-F238E27FC236}">
                <a16:creationId xmlns:a16="http://schemas.microsoft.com/office/drawing/2014/main" id="{DD4B1C06-D692-BDF8-E67A-958B4F222302}"/>
              </a:ext>
            </a:extLst>
          </p:cNvPr>
          <p:cNvSpPr>
            <a:spLocks noChangeShapeType="1"/>
          </p:cNvSpPr>
          <p:nvPr/>
        </p:nvSpPr>
        <p:spPr bwMode="auto">
          <a:xfrm flipH="1">
            <a:off x="30861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0" name="Line 28">
            <a:extLst>
              <a:ext uri="{FF2B5EF4-FFF2-40B4-BE49-F238E27FC236}">
                <a16:creationId xmlns:a16="http://schemas.microsoft.com/office/drawing/2014/main" id="{28B70F1E-DCF3-9A9B-C82B-1E14220BD7DF}"/>
              </a:ext>
            </a:extLst>
          </p:cNvPr>
          <p:cNvSpPr>
            <a:spLocks noChangeShapeType="1"/>
          </p:cNvSpPr>
          <p:nvPr/>
        </p:nvSpPr>
        <p:spPr bwMode="auto">
          <a:xfrm>
            <a:off x="354330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1" name="Line 29">
            <a:extLst>
              <a:ext uri="{FF2B5EF4-FFF2-40B4-BE49-F238E27FC236}">
                <a16:creationId xmlns:a16="http://schemas.microsoft.com/office/drawing/2014/main" id="{DA84E929-32D7-CEED-192B-F289EDAAB63E}"/>
              </a:ext>
            </a:extLst>
          </p:cNvPr>
          <p:cNvSpPr>
            <a:spLocks noChangeShapeType="1"/>
          </p:cNvSpPr>
          <p:nvPr/>
        </p:nvSpPr>
        <p:spPr bwMode="auto">
          <a:xfrm flipH="1">
            <a:off x="1371600" y="3543300"/>
            <a:ext cx="1714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2" name="Line 30">
            <a:extLst>
              <a:ext uri="{FF2B5EF4-FFF2-40B4-BE49-F238E27FC236}">
                <a16:creationId xmlns:a16="http://schemas.microsoft.com/office/drawing/2014/main" id="{F3ACB7B2-E10D-6F91-2371-0144CB414012}"/>
              </a:ext>
            </a:extLst>
          </p:cNvPr>
          <p:cNvSpPr>
            <a:spLocks noChangeShapeType="1"/>
          </p:cNvSpPr>
          <p:nvPr/>
        </p:nvSpPr>
        <p:spPr bwMode="auto">
          <a:xfrm>
            <a:off x="1771650" y="3600450"/>
            <a:ext cx="17145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3" name="Line 31">
            <a:extLst>
              <a:ext uri="{FF2B5EF4-FFF2-40B4-BE49-F238E27FC236}">
                <a16:creationId xmlns:a16="http://schemas.microsoft.com/office/drawing/2014/main" id="{8178A1A1-16AE-A7E0-F326-9773A984D168}"/>
              </a:ext>
            </a:extLst>
          </p:cNvPr>
          <p:cNvSpPr>
            <a:spLocks noChangeShapeType="1"/>
          </p:cNvSpPr>
          <p:nvPr/>
        </p:nvSpPr>
        <p:spPr bwMode="auto">
          <a:xfrm flipH="1">
            <a:off x="2286000" y="3543300"/>
            <a:ext cx="1143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4" name="Line 32">
            <a:extLst>
              <a:ext uri="{FF2B5EF4-FFF2-40B4-BE49-F238E27FC236}">
                <a16:creationId xmlns:a16="http://schemas.microsoft.com/office/drawing/2014/main" id="{489F4814-04D8-18D6-7864-1ECEFB9F980D}"/>
              </a:ext>
            </a:extLst>
          </p:cNvPr>
          <p:cNvSpPr>
            <a:spLocks noChangeShapeType="1"/>
          </p:cNvSpPr>
          <p:nvPr/>
        </p:nvSpPr>
        <p:spPr bwMode="auto">
          <a:xfrm>
            <a:off x="2628900" y="3600450"/>
            <a:ext cx="11430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5" name="Line 33">
            <a:extLst>
              <a:ext uri="{FF2B5EF4-FFF2-40B4-BE49-F238E27FC236}">
                <a16:creationId xmlns:a16="http://schemas.microsoft.com/office/drawing/2014/main" id="{7F49F3ED-7787-1D34-AA17-CBAA56CE32F9}"/>
              </a:ext>
            </a:extLst>
          </p:cNvPr>
          <p:cNvSpPr>
            <a:spLocks noChangeShapeType="1"/>
          </p:cNvSpPr>
          <p:nvPr/>
        </p:nvSpPr>
        <p:spPr bwMode="auto">
          <a:xfrm>
            <a:off x="52578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6" name="Line 34">
            <a:extLst>
              <a:ext uri="{FF2B5EF4-FFF2-40B4-BE49-F238E27FC236}">
                <a16:creationId xmlns:a16="http://schemas.microsoft.com/office/drawing/2014/main" id="{E657FAB7-0E0B-ABFC-91DE-A5255B259B1F}"/>
              </a:ext>
            </a:extLst>
          </p:cNvPr>
          <p:cNvSpPr>
            <a:spLocks noChangeShapeType="1"/>
          </p:cNvSpPr>
          <p:nvPr/>
        </p:nvSpPr>
        <p:spPr bwMode="auto">
          <a:xfrm>
            <a:off x="6229350" y="2114550"/>
            <a:ext cx="10858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47" name="Rectangle 35">
            <a:extLst>
              <a:ext uri="{FF2B5EF4-FFF2-40B4-BE49-F238E27FC236}">
                <a16:creationId xmlns:a16="http://schemas.microsoft.com/office/drawing/2014/main" id="{3977404E-3F2D-D9CC-56BF-99E64880F67E}"/>
              </a:ext>
            </a:extLst>
          </p:cNvPr>
          <p:cNvSpPr>
            <a:spLocks noChangeArrowheads="1"/>
          </p:cNvSpPr>
          <p:nvPr/>
        </p:nvSpPr>
        <p:spPr bwMode="auto">
          <a:xfrm>
            <a:off x="42338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48" name="Rectangle 36">
            <a:extLst>
              <a:ext uri="{FF2B5EF4-FFF2-40B4-BE49-F238E27FC236}">
                <a16:creationId xmlns:a16="http://schemas.microsoft.com/office/drawing/2014/main" id="{638C2EF7-C31E-4B65-2431-4A8E382D91C3}"/>
              </a:ext>
            </a:extLst>
          </p:cNvPr>
          <p:cNvSpPr>
            <a:spLocks noChangeArrowheads="1"/>
          </p:cNvSpPr>
          <p:nvPr/>
        </p:nvSpPr>
        <p:spPr bwMode="auto">
          <a:xfrm>
            <a:off x="50339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3349" name="Line 37">
            <a:extLst>
              <a:ext uri="{FF2B5EF4-FFF2-40B4-BE49-F238E27FC236}">
                <a16:creationId xmlns:a16="http://schemas.microsoft.com/office/drawing/2014/main" id="{7FF4AD75-DD3F-DD5B-BAF0-505A0C3DFA93}"/>
              </a:ext>
            </a:extLst>
          </p:cNvPr>
          <p:cNvSpPr>
            <a:spLocks noChangeShapeType="1"/>
          </p:cNvSpPr>
          <p:nvPr/>
        </p:nvSpPr>
        <p:spPr bwMode="auto">
          <a:xfrm flipH="1">
            <a:off x="4286250" y="34861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50" name="Line 38">
            <a:extLst>
              <a:ext uri="{FF2B5EF4-FFF2-40B4-BE49-F238E27FC236}">
                <a16:creationId xmlns:a16="http://schemas.microsoft.com/office/drawing/2014/main" id="{604A5B02-5120-8151-A84B-609C17D9AF72}"/>
              </a:ext>
            </a:extLst>
          </p:cNvPr>
          <p:cNvSpPr>
            <a:spLocks noChangeShapeType="1"/>
          </p:cNvSpPr>
          <p:nvPr/>
        </p:nvSpPr>
        <p:spPr bwMode="auto">
          <a:xfrm>
            <a:off x="4914900" y="3486150"/>
            <a:ext cx="2286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3351" name="Rectangle 39">
            <a:extLst>
              <a:ext uri="{FF2B5EF4-FFF2-40B4-BE49-F238E27FC236}">
                <a16:creationId xmlns:a16="http://schemas.microsoft.com/office/drawing/2014/main" id="{0B92D9BD-6C55-39B6-F52C-32E8E841BDDB}"/>
              </a:ext>
            </a:extLst>
          </p:cNvPr>
          <p:cNvSpPr>
            <a:spLocks noChangeArrowheads="1"/>
          </p:cNvSpPr>
          <p:nvPr/>
        </p:nvSpPr>
        <p:spPr bwMode="auto">
          <a:xfrm>
            <a:off x="130254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2" name="Rectangle 40">
            <a:extLst>
              <a:ext uri="{FF2B5EF4-FFF2-40B4-BE49-F238E27FC236}">
                <a16:creationId xmlns:a16="http://schemas.microsoft.com/office/drawing/2014/main" id="{B962CA85-6630-994A-28DD-E827FA07BC48}"/>
              </a:ext>
            </a:extLst>
          </p:cNvPr>
          <p:cNvSpPr>
            <a:spLocks noChangeArrowheads="1"/>
          </p:cNvSpPr>
          <p:nvPr/>
        </p:nvSpPr>
        <p:spPr bwMode="auto">
          <a:xfrm>
            <a:off x="18168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3" name="Rectangle 41">
            <a:extLst>
              <a:ext uri="{FF2B5EF4-FFF2-40B4-BE49-F238E27FC236}">
                <a16:creationId xmlns:a16="http://schemas.microsoft.com/office/drawing/2014/main" id="{4E631B31-219A-FABC-11E1-38B13AF3FA2A}"/>
              </a:ext>
            </a:extLst>
          </p:cNvPr>
          <p:cNvSpPr>
            <a:spLocks noChangeArrowheads="1"/>
          </p:cNvSpPr>
          <p:nvPr/>
        </p:nvSpPr>
        <p:spPr bwMode="auto">
          <a:xfrm>
            <a:off x="21597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4" name="Rectangle 42">
            <a:extLst>
              <a:ext uri="{FF2B5EF4-FFF2-40B4-BE49-F238E27FC236}">
                <a16:creationId xmlns:a16="http://schemas.microsoft.com/office/drawing/2014/main" id="{BA4E253D-0893-0DEC-8134-5DEF088BBA98}"/>
              </a:ext>
            </a:extLst>
          </p:cNvPr>
          <p:cNvSpPr>
            <a:spLocks noChangeArrowheads="1"/>
          </p:cNvSpPr>
          <p:nvPr/>
        </p:nvSpPr>
        <p:spPr bwMode="auto">
          <a:xfrm>
            <a:off x="26169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5" name="Rectangle 43">
            <a:extLst>
              <a:ext uri="{FF2B5EF4-FFF2-40B4-BE49-F238E27FC236}">
                <a16:creationId xmlns:a16="http://schemas.microsoft.com/office/drawing/2014/main" id="{187E2A93-FC62-5A1E-4D82-9625D6C4E469}"/>
              </a:ext>
            </a:extLst>
          </p:cNvPr>
          <p:cNvSpPr>
            <a:spLocks noChangeArrowheads="1"/>
          </p:cNvSpPr>
          <p:nvPr/>
        </p:nvSpPr>
        <p:spPr bwMode="auto">
          <a:xfrm>
            <a:off x="30170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6" name="Rectangle 44">
            <a:extLst>
              <a:ext uri="{FF2B5EF4-FFF2-40B4-BE49-F238E27FC236}">
                <a16:creationId xmlns:a16="http://schemas.microsoft.com/office/drawing/2014/main" id="{FDBA2D9D-B6F3-C011-AD84-66694E4C772F}"/>
              </a:ext>
            </a:extLst>
          </p:cNvPr>
          <p:cNvSpPr>
            <a:spLocks noChangeArrowheads="1"/>
          </p:cNvSpPr>
          <p:nvPr/>
        </p:nvSpPr>
        <p:spPr bwMode="auto">
          <a:xfrm>
            <a:off x="35885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3357" name="Rectangle 45">
            <a:extLst>
              <a:ext uri="{FF2B5EF4-FFF2-40B4-BE49-F238E27FC236}">
                <a16:creationId xmlns:a16="http://schemas.microsoft.com/office/drawing/2014/main" id="{B632E0DC-DCF6-E7AD-05D5-EBC8BD711A2C}"/>
              </a:ext>
            </a:extLst>
          </p:cNvPr>
          <p:cNvSpPr>
            <a:spLocks noChangeArrowheads="1"/>
          </p:cNvSpPr>
          <p:nvPr/>
        </p:nvSpPr>
        <p:spPr bwMode="auto">
          <a:xfrm>
            <a:off x="42291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3358" name="Rectangle 46">
            <a:extLst>
              <a:ext uri="{FF2B5EF4-FFF2-40B4-BE49-F238E27FC236}">
                <a16:creationId xmlns:a16="http://schemas.microsoft.com/office/drawing/2014/main" id="{1DCBFC75-8B8B-ECE4-11F3-FEAFF39B79E7}"/>
              </a:ext>
            </a:extLst>
          </p:cNvPr>
          <p:cNvSpPr>
            <a:spLocks noChangeArrowheads="1"/>
          </p:cNvSpPr>
          <p:nvPr/>
        </p:nvSpPr>
        <p:spPr bwMode="auto">
          <a:xfrm>
            <a:off x="50292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3359" name="Rectangle 47">
            <a:extLst>
              <a:ext uri="{FF2B5EF4-FFF2-40B4-BE49-F238E27FC236}">
                <a16:creationId xmlns:a16="http://schemas.microsoft.com/office/drawing/2014/main" id="{CBBD87C7-428F-30F0-569E-481B47EC96A4}"/>
              </a:ext>
            </a:extLst>
          </p:cNvPr>
          <p:cNvSpPr>
            <a:spLocks noChangeArrowheads="1"/>
          </p:cNvSpPr>
          <p:nvPr/>
        </p:nvSpPr>
        <p:spPr bwMode="auto">
          <a:xfrm>
            <a:off x="5429250" y="33147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3360" name="Rectangle 48">
            <a:extLst>
              <a:ext uri="{FF2B5EF4-FFF2-40B4-BE49-F238E27FC236}">
                <a16:creationId xmlns:a16="http://schemas.microsoft.com/office/drawing/2014/main" id="{2995F809-1E6F-BACE-5023-F277C39B9F0E}"/>
              </a:ext>
            </a:extLst>
          </p:cNvPr>
          <p:cNvSpPr>
            <a:spLocks noChangeArrowheads="1"/>
          </p:cNvSpPr>
          <p:nvPr/>
        </p:nvSpPr>
        <p:spPr bwMode="auto">
          <a:xfrm>
            <a:off x="7200900" y="257175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354353" name="Rectangle 49">
            <a:extLst>
              <a:ext uri="{FF2B5EF4-FFF2-40B4-BE49-F238E27FC236}">
                <a16:creationId xmlns:a16="http://schemas.microsoft.com/office/drawing/2014/main" id="{DE1A3D7C-1E84-CA27-71D9-3AE7FE10E001}"/>
              </a:ext>
            </a:extLst>
          </p:cNvPr>
          <p:cNvSpPr>
            <a:spLocks noChangeArrowheads="1"/>
          </p:cNvSpPr>
          <p:nvPr/>
        </p:nvSpPr>
        <p:spPr bwMode="auto">
          <a:xfrm>
            <a:off x="15311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54" name="Rectangle 50">
            <a:extLst>
              <a:ext uri="{FF2B5EF4-FFF2-40B4-BE49-F238E27FC236}">
                <a16:creationId xmlns:a16="http://schemas.microsoft.com/office/drawing/2014/main" id="{667BEE34-A2BC-845B-52EA-F5C428F9BE7B}"/>
              </a:ext>
            </a:extLst>
          </p:cNvPr>
          <p:cNvSpPr>
            <a:spLocks noChangeArrowheads="1"/>
          </p:cNvSpPr>
          <p:nvPr/>
        </p:nvSpPr>
        <p:spPr bwMode="auto">
          <a:xfrm>
            <a:off x="238839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55" name="Rectangle 51">
            <a:extLst>
              <a:ext uri="{FF2B5EF4-FFF2-40B4-BE49-F238E27FC236}">
                <a16:creationId xmlns:a16="http://schemas.microsoft.com/office/drawing/2014/main" id="{E81E2E61-DE27-B837-3A5E-0A24CAF1000B}"/>
              </a:ext>
            </a:extLst>
          </p:cNvPr>
          <p:cNvSpPr>
            <a:spLocks noChangeArrowheads="1"/>
          </p:cNvSpPr>
          <p:nvPr/>
        </p:nvSpPr>
        <p:spPr bwMode="auto">
          <a:xfrm>
            <a:off x="4674394" y="32230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56" name="Rectangle 52">
            <a:extLst>
              <a:ext uri="{FF2B5EF4-FFF2-40B4-BE49-F238E27FC236}">
                <a16:creationId xmlns:a16="http://schemas.microsoft.com/office/drawing/2014/main" id="{982C9E3F-5794-A7C2-38F9-5726AF8730D3}"/>
              </a:ext>
            </a:extLst>
          </p:cNvPr>
          <p:cNvSpPr>
            <a:spLocks noChangeArrowheads="1"/>
          </p:cNvSpPr>
          <p:nvPr/>
        </p:nvSpPr>
        <p:spPr bwMode="auto">
          <a:xfrm>
            <a:off x="19883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354357" name="Rectangle 53">
            <a:extLst>
              <a:ext uri="{FF2B5EF4-FFF2-40B4-BE49-F238E27FC236}">
                <a16:creationId xmlns:a16="http://schemas.microsoft.com/office/drawing/2014/main" id="{04BB7AFF-D205-11F2-8442-08D017D4B69F}"/>
              </a:ext>
            </a:extLst>
          </p:cNvPr>
          <p:cNvSpPr>
            <a:spLocks noChangeArrowheads="1"/>
          </p:cNvSpPr>
          <p:nvPr/>
        </p:nvSpPr>
        <p:spPr bwMode="auto">
          <a:xfrm>
            <a:off x="330279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58" name="Rectangle 54">
            <a:extLst>
              <a:ext uri="{FF2B5EF4-FFF2-40B4-BE49-F238E27FC236}">
                <a16:creationId xmlns:a16="http://schemas.microsoft.com/office/drawing/2014/main" id="{38CB3FF3-832B-BE64-D1C6-524EFE49D9A8}"/>
              </a:ext>
            </a:extLst>
          </p:cNvPr>
          <p:cNvSpPr>
            <a:spLocks noChangeArrowheads="1"/>
          </p:cNvSpPr>
          <p:nvPr/>
        </p:nvSpPr>
        <p:spPr bwMode="auto">
          <a:xfrm>
            <a:off x="50744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59" name="Rectangle 55">
            <a:extLst>
              <a:ext uri="{FF2B5EF4-FFF2-40B4-BE49-F238E27FC236}">
                <a16:creationId xmlns:a16="http://schemas.microsoft.com/office/drawing/2014/main" id="{903A411F-A8D2-E2D0-C6E8-84F70E9BAFF1}"/>
              </a:ext>
            </a:extLst>
          </p:cNvPr>
          <p:cNvSpPr>
            <a:spLocks noChangeArrowheads="1"/>
          </p:cNvSpPr>
          <p:nvPr/>
        </p:nvSpPr>
        <p:spPr bwMode="auto">
          <a:xfrm>
            <a:off x="27312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354360" name="Rectangle 56">
            <a:extLst>
              <a:ext uri="{FF2B5EF4-FFF2-40B4-BE49-F238E27FC236}">
                <a16:creationId xmlns:a16="http://schemas.microsoft.com/office/drawing/2014/main" id="{F1F82812-5DD0-DCA2-40DD-F20E3BBD31FC}"/>
              </a:ext>
            </a:extLst>
          </p:cNvPr>
          <p:cNvSpPr>
            <a:spLocks noChangeArrowheads="1"/>
          </p:cNvSpPr>
          <p:nvPr/>
        </p:nvSpPr>
        <p:spPr bwMode="auto">
          <a:xfrm>
            <a:off x="60459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354361" name="Rectangle 57">
            <a:extLst>
              <a:ext uri="{FF2B5EF4-FFF2-40B4-BE49-F238E27FC236}">
                <a16:creationId xmlns:a16="http://schemas.microsoft.com/office/drawing/2014/main" id="{B981C676-90C2-5D70-3F4A-BD1AFB2B9B26}"/>
              </a:ext>
            </a:extLst>
          </p:cNvPr>
          <p:cNvSpPr>
            <a:spLocks noChangeArrowheads="1"/>
          </p:cNvSpPr>
          <p:nvPr/>
        </p:nvSpPr>
        <p:spPr bwMode="auto">
          <a:xfrm>
            <a:off x="433149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13370" name="Rectangle 58">
            <a:extLst>
              <a:ext uri="{FF2B5EF4-FFF2-40B4-BE49-F238E27FC236}">
                <a16:creationId xmlns:a16="http://schemas.microsoft.com/office/drawing/2014/main" id="{74EAC3C7-7E24-9994-D8A7-FBABD2C6F117}"/>
              </a:ext>
            </a:extLst>
          </p:cNvPr>
          <p:cNvSpPr>
            <a:spLocks noGrp="1" noChangeArrowheads="1"/>
          </p:cNvSpPr>
          <p:nvPr>
            <p:ph type="ctrTitle"/>
          </p:nvPr>
        </p:nvSpPr>
        <p:spPr>
          <a:xfrm>
            <a:off x="1143000" y="171450"/>
            <a:ext cx="6686550" cy="857250"/>
          </a:xfrm>
          <a:noFill/>
        </p:spPr>
        <p:txBody>
          <a:bodyPr/>
          <a:lstStyle/>
          <a:p>
            <a:r>
              <a:rPr lang="en-US" altLang="en-US">
                <a:solidFill>
                  <a:schemeClr val="hlink"/>
                </a:solidFill>
              </a:rPr>
              <a:t>s()</a:t>
            </a:r>
            <a:r>
              <a:rPr lang="en-US" altLang="en-US"/>
              <a:t> Values Example</a:t>
            </a:r>
          </a:p>
        </p:txBody>
      </p:sp>
      <p:pic>
        <p:nvPicPr>
          <p:cNvPr id="2" name="Picture 1">
            <a:extLst>
              <a:ext uri="{FF2B5EF4-FFF2-40B4-BE49-F238E27FC236}">
                <a16:creationId xmlns:a16="http://schemas.microsoft.com/office/drawing/2014/main" id="{2C9D8B92-39EB-5153-1535-262936E01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F01B7FBA-8047-A0F0-AF23-D6E681FCBE9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5435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435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5435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54356">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54357">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54358">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54359">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54360">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543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53" grpId="0" build="p" autoUpdateAnimBg="0"/>
      <p:bldP spid="354354" grpId="0" build="p" autoUpdateAnimBg="0"/>
      <p:bldP spid="354355" grpId="0" build="p" autoUpdateAnimBg="0"/>
      <p:bldP spid="354356" grpId="0" build="p" autoUpdateAnimBg="0"/>
      <p:bldP spid="354357" grpId="0" build="p" autoUpdateAnimBg="0"/>
      <p:bldP spid="354358" grpId="0" build="p" autoUpdateAnimBg="0"/>
      <p:bldP spid="354359" grpId="0" build="p" autoUpdateAnimBg="0"/>
      <p:bldP spid="354360" grpId="0" build="p" autoUpdateAnimBg="0"/>
      <p:bldP spid="35436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5DE3A4C-8D0D-B1BB-421C-68B868965215}"/>
              </a:ext>
            </a:extLst>
          </p:cNvPr>
          <p:cNvSpPr>
            <a:spLocks noGrp="1" noChangeArrowheads="1"/>
          </p:cNvSpPr>
          <p:nvPr>
            <p:ph type="ctrTitle"/>
          </p:nvPr>
        </p:nvSpPr>
        <p:spPr>
          <a:xfrm>
            <a:off x="1657350" y="400050"/>
            <a:ext cx="5829300" cy="857250"/>
          </a:xfrm>
          <a:noFill/>
        </p:spPr>
        <p:txBody>
          <a:bodyPr/>
          <a:lstStyle/>
          <a:p>
            <a:r>
              <a:rPr lang="en-US" altLang="en-US"/>
              <a:t>Properties Of </a:t>
            </a:r>
            <a:r>
              <a:rPr lang="en-US" altLang="en-US">
                <a:solidFill>
                  <a:schemeClr val="hlink"/>
                </a:solidFill>
              </a:rPr>
              <a:t>s()</a:t>
            </a:r>
          </a:p>
        </p:txBody>
      </p:sp>
      <p:sp>
        <p:nvSpPr>
          <p:cNvPr id="356355" name="Rectangle 3">
            <a:extLst>
              <a:ext uri="{FF2B5EF4-FFF2-40B4-BE49-F238E27FC236}">
                <a16:creationId xmlns:a16="http://schemas.microsoft.com/office/drawing/2014/main" id="{2C6D8A5A-3B18-2BB5-5CCC-286341BCF91A}"/>
              </a:ext>
            </a:extLst>
          </p:cNvPr>
          <p:cNvSpPr>
            <a:spLocks noGrp="1" noChangeArrowheads="1"/>
          </p:cNvSpPr>
          <p:nvPr>
            <p:ph type="subTitle" idx="1"/>
          </p:nvPr>
        </p:nvSpPr>
        <p:spPr>
          <a:xfrm>
            <a:off x="1371600" y="1543050"/>
            <a:ext cx="5486400" cy="3200400"/>
          </a:xfrm>
          <a:noFill/>
        </p:spPr>
        <p:txBody>
          <a:bodyPr/>
          <a:lstStyle/>
          <a:p>
            <a:pPr marL="257175" indent="-257175" algn="l"/>
            <a:r>
              <a:rPr lang="en-US" altLang="en-US" dirty="0"/>
              <a:t>If x is an external node, then s(x) = 0.</a:t>
            </a:r>
          </a:p>
          <a:p>
            <a:pPr marL="257175" indent="-257175" algn="l"/>
            <a:endParaRPr lang="en-US" altLang="en-US" dirty="0"/>
          </a:p>
          <a:p>
            <a:pPr marL="257175" indent="-257175" algn="l"/>
            <a:r>
              <a:rPr lang="en-US" altLang="en-US" dirty="0"/>
              <a:t>Otherwise,</a:t>
            </a:r>
          </a:p>
          <a:p>
            <a:pPr marL="557213" lvl="1" indent="-214313" algn="l"/>
            <a:r>
              <a:rPr lang="en-US" altLang="en-US" dirty="0"/>
              <a:t>s(x) = min {s(leftChild(x)),</a:t>
            </a:r>
          </a:p>
          <a:p>
            <a:pPr marL="857250" lvl="2" indent="-171450" algn="l"/>
            <a:r>
              <a:rPr lang="en-US" altLang="en-US" sz="2100" dirty="0"/>
              <a:t>               s(rightChild(x))} + 1</a:t>
            </a:r>
          </a:p>
        </p:txBody>
      </p:sp>
      <p:pic>
        <p:nvPicPr>
          <p:cNvPr id="2" name="Picture 1">
            <a:extLst>
              <a:ext uri="{FF2B5EF4-FFF2-40B4-BE49-F238E27FC236}">
                <a16:creationId xmlns:a16="http://schemas.microsoft.com/office/drawing/2014/main" id="{654CF705-B300-7173-0263-591414B6D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BF07DB76-690A-CD3C-01BE-327CDB9E9FB8}"/>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6355">
                                            <p:txEl>
                                              <p:pRg st="0" end="0"/>
                                            </p:txEl>
                                          </p:spTgt>
                                        </p:tgtEl>
                                        <p:attrNameLst>
                                          <p:attrName>style.visibility</p:attrName>
                                        </p:attrNameLst>
                                      </p:cBhvr>
                                      <p:to>
                                        <p:strVal val="visible"/>
                                      </p:to>
                                    </p:set>
                                    <p:anim calcmode="lin" valueType="num">
                                      <p:cBhvr additive="base">
                                        <p:cTn id="7" dur="500" fill="hold"/>
                                        <p:tgtEl>
                                          <p:spTgt spid="356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6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6355">
                                            <p:txEl>
                                              <p:pRg st="2" end="2"/>
                                            </p:txEl>
                                          </p:spTgt>
                                        </p:tgtEl>
                                        <p:attrNameLst>
                                          <p:attrName>style.visibility</p:attrName>
                                        </p:attrNameLst>
                                      </p:cBhvr>
                                      <p:to>
                                        <p:strVal val="visible"/>
                                      </p:to>
                                    </p:set>
                                    <p:anim calcmode="lin" valueType="num">
                                      <p:cBhvr additive="base">
                                        <p:cTn id="13" dur="500" fill="hold"/>
                                        <p:tgtEl>
                                          <p:spTgt spid="3563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6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56355">
                                            <p:txEl>
                                              <p:pRg st="3" end="3"/>
                                            </p:txEl>
                                          </p:spTgt>
                                        </p:tgtEl>
                                        <p:attrNameLst>
                                          <p:attrName>style.visibility</p:attrName>
                                        </p:attrNameLst>
                                      </p:cBhvr>
                                      <p:to>
                                        <p:strVal val="visible"/>
                                      </p:to>
                                    </p:set>
                                    <p:anim calcmode="lin" valueType="num">
                                      <p:cBhvr additive="base">
                                        <p:cTn id="19" dur="500" fill="hold"/>
                                        <p:tgtEl>
                                          <p:spTgt spid="3563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635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356355">
                                            <p:txEl>
                                              <p:pRg st="4" end="4"/>
                                            </p:txEl>
                                          </p:spTgt>
                                        </p:tgtEl>
                                        <p:attrNameLst>
                                          <p:attrName>style.visibility</p:attrName>
                                        </p:attrNameLst>
                                      </p:cBhvr>
                                      <p:to>
                                        <p:strVal val="visible"/>
                                      </p:to>
                                    </p:set>
                                    <p:anim calcmode="lin" valueType="num">
                                      <p:cBhvr additive="base">
                                        <p:cTn id="23" dur="500" fill="hold"/>
                                        <p:tgtEl>
                                          <p:spTgt spid="35635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5635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build="p" bldLvl="2"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3E0633A-B125-7CCE-F76A-EF532B6B7FA1}"/>
              </a:ext>
            </a:extLst>
          </p:cNvPr>
          <p:cNvSpPr>
            <a:spLocks noGrp="1" noChangeArrowheads="1"/>
          </p:cNvSpPr>
          <p:nvPr>
            <p:ph type="ctrTitle"/>
          </p:nvPr>
        </p:nvSpPr>
        <p:spPr>
          <a:xfrm>
            <a:off x="1657350" y="400050"/>
            <a:ext cx="5829300" cy="857250"/>
          </a:xfrm>
          <a:noFill/>
        </p:spPr>
        <p:txBody>
          <a:bodyPr>
            <a:normAutofit fontScale="90000"/>
          </a:bodyPr>
          <a:lstStyle/>
          <a:p>
            <a:r>
              <a:rPr lang="en-US" altLang="en-US"/>
              <a:t>(Height Biased) Leftist Trees</a:t>
            </a:r>
          </a:p>
        </p:txBody>
      </p:sp>
      <p:sp>
        <p:nvSpPr>
          <p:cNvPr id="358403" name="Rectangle 3">
            <a:extLst>
              <a:ext uri="{FF2B5EF4-FFF2-40B4-BE49-F238E27FC236}">
                <a16:creationId xmlns:a16="http://schemas.microsoft.com/office/drawing/2014/main" id="{41494021-35AD-D706-D567-E191EB37FE29}"/>
              </a:ext>
            </a:extLst>
          </p:cNvPr>
          <p:cNvSpPr>
            <a:spLocks noGrp="1" noChangeArrowheads="1"/>
          </p:cNvSpPr>
          <p:nvPr>
            <p:ph type="subTitle" idx="1"/>
          </p:nvPr>
        </p:nvSpPr>
        <p:spPr>
          <a:xfrm>
            <a:off x="1272105" y="1358275"/>
            <a:ext cx="6763243" cy="3200400"/>
          </a:xfrm>
          <a:noFill/>
        </p:spPr>
        <p:txBody>
          <a:bodyPr/>
          <a:lstStyle/>
          <a:p>
            <a:pPr marL="257175" indent="-257175" algn="l"/>
            <a:r>
              <a:rPr lang="en-US" altLang="en-US" dirty="0">
                <a:solidFill>
                  <a:srgbClr val="FF0000"/>
                </a:solidFill>
              </a:rPr>
              <a:t>A binary tree is a (height biased) leftist tree </a:t>
            </a:r>
            <a:r>
              <a:rPr lang="en-US" altLang="en-US" dirty="0" err="1">
                <a:solidFill>
                  <a:srgbClr val="FF0000"/>
                </a:solidFill>
              </a:rPr>
              <a:t>iff</a:t>
            </a:r>
            <a:r>
              <a:rPr lang="en-US" altLang="en-US" dirty="0">
                <a:solidFill>
                  <a:srgbClr val="FF0000"/>
                </a:solidFill>
              </a:rPr>
              <a:t> for every internal node x, s(leftChild(x)) &gt;= s(rightChild(x))</a:t>
            </a:r>
          </a:p>
          <a:p>
            <a:pPr marL="257175" indent="-257175" algn="l"/>
            <a:endParaRPr lang="en-US" altLang="en-US" dirty="0">
              <a:solidFill>
                <a:srgbClr val="FF0000"/>
              </a:solidFill>
            </a:endParaRPr>
          </a:p>
          <a:p>
            <a:pPr marL="257175" indent="-257175" algn="l"/>
            <a:r>
              <a:rPr lang="en-US" altLang="en-US" dirty="0">
                <a:solidFill>
                  <a:srgbClr val="FF0000"/>
                </a:solidFill>
              </a:rPr>
              <a:t>So, in a leftist tree, s(x) = s(rightChild) + 1.</a:t>
            </a:r>
          </a:p>
        </p:txBody>
      </p:sp>
      <p:pic>
        <p:nvPicPr>
          <p:cNvPr id="2" name="Picture 1">
            <a:extLst>
              <a:ext uri="{FF2B5EF4-FFF2-40B4-BE49-F238E27FC236}">
                <a16:creationId xmlns:a16="http://schemas.microsoft.com/office/drawing/2014/main" id="{884022B4-4251-EBA7-0EF6-FEC5514AF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703EA315-9DA6-6BD2-96FF-6FA00EB5055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anim calcmode="lin" valueType="num">
                                      <p:cBhvr additive="base">
                                        <p:cTn id="7" dur="500" fill="hold"/>
                                        <p:tgtEl>
                                          <p:spTgt spid="358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58403">
                                            <p:txEl>
                                              <p:pRg st="2" end="2"/>
                                            </p:txEl>
                                          </p:spTgt>
                                        </p:tgtEl>
                                        <p:attrNameLst>
                                          <p:attrName>style.visibility</p:attrName>
                                        </p:attrNameLst>
                                      </p:cBhvr>
                                      <p:to>
                                        <p:strVal val="visible"/>
                                      </p:to>
                                    </p:set>
                                    <p:anim calcmode="lin" valueType="num">
                                      <p:cBhvr additive="base">
                                        <p:cTn id="13" dur="500" fill="hold"/>
                                        <p:tgtEl>
                                          <p:spTgt spid="35840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840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DE2D4D8-5C57-9D0E-7016-039E43C42983}"/>
              </a:ext>
            </a:extLst>
          </p:cNvPr>
          <p:cNvSpPr>
            <a:spLocks noGrp="1" noChangeArrowheads="1"/>
          </p:cNvSpPr>
          <p:nvPr>
            <p:ph type="ctrTitle"/>
          </p:nvPr>
        </p:nvSpPr>
        <p:spPr>
          <a:xfrm>
            <a:off x="1200150" y="171450"/>
            <a:ext cx="6686550" cy="857250"/>
          </a:xfrm>
          <a:noFill/>
        </p:spPr>
        <p:txBody>
          <a:bodyPr/>
          <a:lstStyle/>
          <a:p>
            <a:r>
              <a:rPr lang="en-US" altLang="en-US"/>
              <a:t>A Leftist Tree</a:t>
            </a:r>
          </a:p>
        </p:txBody>
      </p:sp>
      <p:sp>
        <p:nvSpPr>
          <p:cNvPr id="19459" name="Oval 3">
            <a:extLst>
              <a:ext uri="{FF2B5EF4-FFF2-40B4-BE49-F238E27FC236}">
                <a16:creationId xmlns:a16="http://schemas.microsoft.com/office/drawing/2014/main" id="{ECAE9D3A-94D6-35AF-648B-66354CABF7CC}"/>
              </a:ext>
            </a:extLst>
          </p:cNvPr>
          <p:cNvSpPr>
            <a:spLocks noChangeArrowheads="1"/>
          </p:cNvSpPr>
          <p:nvPr/>
        </p:nvSpPr>
        <p:spPr bwMode="auto">
          <a:xfrm>
            <a:off x="4291013" y="8572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0" name="Oval 4">
            <a:extLst>
              <a:ext uri="{FF2B5EF4-FFF2-40B4-BE49-F238E27FC236}">
                <a16:creationId xmlns:a16="http://schemas.microsoft.com/office/drawing/2014/main" id="{AC744B12-CF22-81D5-0009-29D8BEFE681B}"/>
              </a:ext>
            </a:extLst>
          </p:cNvPr>
          <p:cNvSpPr>
            <a:spLocks noChangeArrowheads="1"/>
          </p:cNvSpPr>
          <p:nvPr/>
        </p:nvSpPr>
        <p:spPr bwMode="auto">
          <a:xfrm>
            <a:off x="2690813" y="160020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1" name="Oval 5">
            <a:extLst>
              <a:ext uri="{FF2B5EF4-FFF2-40B4-BE49-F238E27FC236}">
                <a16:creationId xmlns:a16="http://schemas.microsoft.com/office/drawing/2014/main" id="{C419E7CA-4C17-DD5C-9343-F78EC231DEA5}"/>
              </a:ext>
            </a:extLst>
          </p:cNvPr>
          <p:cNvSpPr>
            <a:spLocks noChangeArrowheads="1"/>
          </p:cNvSpPr>
          <p:nvPr/>
        </p:nvSpPr>
        <p:spPr bwMode="auto">
          <a:xfrm>
            <a:off x="5948363" y="160020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2" name="Oval 6">
            <a:extLst>
              <a:ext uri="{FF2B5EF4-FFF2-40B4-BE49-F238E27FC236}">
                <a16:creationId xmlns:a16="http://schemas.microsoft.com/office/drawing/2014/main" id="{2BBE2E7F-BF6D-4266-69C0-5D41A4E73158}"/>
              </a:ext>
            </a:extLst>
          </p:cNvPr>
          <p:cNvSpPr>
            <a:spLocks noChangeArrowheads="1"/>
          </p:cNvSpPr>
          <p:nvPr/>
        </p:nvSpPr>
        <p:spPr bwMode="auto">
          <a:xfrm>
            <a:off x="1947863" y="22288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3" name="Oval 7">
            <a:extLst>
              <a:ext uri="{FF2B5EF4-FFF2-40B4-BE49-F238E27FC236}">
                <a16:creationId xmlns:a16="http://schemas.microsoft.com/office/drawing/2014/main" id="{D99D7504-D79E-F665-B62E-54D223BDD781}"/>
              </a:ext>
            </a:extLst>
          </p:cNvPr>
          <p:cNvSpPr>
            <a:spLocks noChangeArrowheads="1"/>
          </p:cNvSpPr>
          <p:nvPr/>
        </p:nvSpPr>
        <p:spPr bwMode="auto">
          <a:xfrm>
            <a:off x="3262313" y="22288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4" name="Oval 8">
            <a:extLst>
              <a:ext uri="{FF2B5EF4-FFF2-40B4-BE49-F238E27FC236}">
                <a16:creationId xmlns:a16="http://schemas.microsoft.com/office/drawing/2014/main" id="{6C310971-CA0B-2CE5-A7D9-7171C480055D}"/>
              </a:ext>
            </a:extLst>
          </p:cNvPr>
          <p:cNvSpPr>
            <a:spLocks noChangeArrowheads="1"/>
          </p:cNvSpPr>
          <p:nvPr/>
        </p:nvSpPr>
        <p:spPr bwMode="auto">
          <a:xfrm>
            <a:off x="5033963" y="22288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5" name="Oval 9">
            <a:extLst>
              <a:ext uri="{FF2B5EF4-FFF2-40B4-BE49-F238E27FC236}">
                <a16:creationId xmlns:a16="http://schemas.microsoft.com/office/drawing/2014/main" id="{55066343-26D5-61C4-E45A-6A4DC0F5C4E7}"/>
              </a:ext>
            </a:extLst>
          </p:cNvPr>
          <p:cNvSpPr>
            <a:spLocks noChangeArrowheads="1"/>
          </p:cNvSpPr>
          <p:nvPr/>
        </p:nvSpPr>
        <p:spPr bwMode="auto">
          <a:xfrm>
            <a:off x="1490663" y="30289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6" name="Oval 10">
            <a:extLst>
              <a:ext uri="{FF2B5EF4-FFF2-40B4-BE49-F238E27FC236}">
                <a16:creationId xmlns:a16="http://schemas.microsoft.com/office/drawing/2014/main" id="{DEAAC08A-9681-733E-2688-C1790B403B27}"/>
              </a:ext>
            </a:extLst>
          </p:cNvPr>
          <p:cNvSpPr>
            <a:spLocks noChangeArrowheads="1"/>
          </p:cNvSpPr>
          <p:nvPr/>
        </p:nvSpPr>
        <p:spPr bwMode="auto">
          <a:xfrm>
            <a:off x="2347913" y="302895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67" name="Line 11">
            <a:extLst>
              <a:ext uri="{FF2B5EF4-FFF2-40B4-BE49-F238E27FC236}">
                <a16:creationId xmlns:a16="http://schemas.microsoft.com/office/drawing/2014/main" id="{B3C465E5-7E98-D403-553D-D546C7851ED6}"/>
              </a:ext>
            </a:extLst>
          </p:cNvPr>
          <p:cNvSpPr>
            <a:spLocks noChangeShapeType="1"/>
          </p:cNvSpPr>
          <p:nvPr/>
        </p:nvSpPr>
        <p:spPr bwMode="auto">
          <a:xfrm flipH="1">
            <a:off x="3028950" y="1081088"/>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68" name="Line 12">
            <a:extLst>
              <a:ext uri="{FF2B5EF4-FFF2-40B4-BE49-F238E27FC236}">
                <a16:creationId xmlns:a16="http://schemas.microsoft.com/office/drawing/2014/main" id="{5FC0D2D0-1AD9-54A9-1CF7-906292A08E58}"/>
              </a:ext>
            </a:extLst>
          </p:cNvPr>
          <p:cNvSpPr>
            <a:spLocks noChangeShapeType="1"/>
          </p:cNvSpPr>
          <p:nvPr/>
        </p:nvSpPr>
        <p:spPr bwMode="auto">
          <a:xfrm>
            <a:off x="4629150" y="1081088"/>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69" name="Line 13">
            <a:extLst>
              <a:ext uri="{FF2B5EF4-FFF2-40B4-BE49-F238E27FC236}">
                <a16:creationId xmlns:a16="http://schemas.microsoft.com/office/drawing/2014/main" id="{F421BFE4-7E4E-F926-160D-D8BA626111A0}"/>
              </a:ext>
            </a:extLst>
          </p:cNvPr>
          <p:cNvSpPr>
            <a:spLocks noChangeShapeType="1"/>
          </p:cNvSpPr>
          <p:nvPr/>
        </p:nvSpPr>
        <p:spPr bwMode="auto">
          <a:xfrm flipH="1">
            <a:off x="2171700" y="1881188"/>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0" name="Line 14">
            <a:extLst>
              <a:ext uri="{FF2B5EF4-FFF2-40B4-BE49-F238E27FC236}">
                <a16:creationId xmlns:a16="http://schemas.microsoft.com/office/drawing/2014/main" id="{E9F2A560-E1C9-7612-5680-4C6898989C82}"/>
              </a:ext>
            </a:extLst>
          </p:cNvPr>
          <p:cNvSpPr>
            <a:spLocks noChangeShapeType="1"/>
          </p:cNvSpPr>
          <p:nvPr/>
        </p:nvSpPr>
        <p:spPr bwMode="auto">
          <a:xfrm>
            <a:off x="2971800" y="1881188"/>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1" name="Line 15">
            <a:extLst>
              <a:ext uri="{FF2B5EF4-FFF2-40B4-BE49-F238E27FC236}">
                <a16:creationId xmlns:a16="http://schemas.microsoft.com/office/drawing/2014/main" id="{2C48204C-50C5-1832-30E2-F27A554D31C8}"/>
              </a:ext>
            </a:extLst>
          </p:cNvPr>
          <p:cNvSpPr>
            <a:spLocks noChangeShapeType="1"/>
          </p:cNvSpPr>
          <p:nvPr/>
        </p:nvSpPr>
        <p:spPr bwMode="auto">
          <a:xfrm flipH="1">
            <a:off x="5314950" y="1938338"/>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2" name="Line 16">
            <a:extLst>
              <a:ext uri="{FF2B5EF4-FFF2-40B4-BE49-F238E27FC236}">
                <a16:creationId xmlns:a16="http://schemas.microsoft.com/office/drawing/2014/main" id="{5024D207-0F2F-8921-68BA-D72089DF24F3}"/>
              </a:ext>
            </a:extLst>
          </p:cNvPr>
          <p:cNvSpPr>
            <a:spLocks noChangeShapeType="1"/>
          </p:cNvSpPr>
          <p:nvPr/>
        </p:nvSpPr>
        <p:spPr bwMode="auto">
          <a:xfrm flipH="1">
            <a:off x="1714500" y="2509838"/>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3" name="Line 17">
            <a:extLst>
              <a:ext uri="{FF2B5EF4-FFF2-40B4-BE49-F238E27FC236}">
                <a16:creationId xmlns:a16="http://schemas.microsoft.com/office/drawing/2014/main" id="{85DCDDBE-BA84-EE20-9119-7E369F40B37C}"/>
              </a:ext>
            </a:extLst>
          </p:cNvPr>
          <p:cNvSpPr>
            <a:spLocks noChangeShapeType="1"/>
          </p:cNvSpPr>
          <p:nvPr/>
        </p:nvSpPr>
        <p:spPr bwMode="auto">
          <a:xfrm>
            <a:off x="2228850" y="2509838"/>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4" name="Oval 18">
            <a:extLst>
              <a:ext uri="{FF2B5EF4-FFF2-40B4-BE49-F238E27FC236}">
                <a16:creationId xmlns:a16="http://schemas.microsoft.com/office/drawing/2014/main" id="{FDBE68EF-5A20-E985-51DD-E03B3EF140D6}"/>
              </a:ext>
            </a:extLst>
          </p:cNvPr>
          <p:cNvSpPr>
            <a:spLocks noChangeArrowheads="1"/>
          </p:cNvSpPr>
          <p:nvPr/>
        </p:nvSpPr>
        <p:spPr bwMode="auto">
          <a:xfrm>
            <a:off x="4633913" y="2971800"/>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75" name="Line 19">
            <a:extLst>
              <a:ext uri="{FF2B5EF4-FFF2-40B4-BE49-F238E27FC236}">
                <a16:creationId xmlns:a16="http://schemas.microsoft.com/office/drawing/2014/main" id="{11D4AD01-E9C7-101B-124F-BC8BB35563E9}"/>
              </a:ext>
            </a:extLst>
          </p:cNvPr>
          <p:cNvSpPr>
            <a:spLocks noChangeShapeType="1"/>
          </p:cNvSpPr>
          <p:nvPr/>
        </p:nvSpPr>
        <p:spPr bwMode="auto">
          <a:xfrm flipH="1">
            <a:off x="4857750" y="2566988"/>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76" name="Rectangle 20">
            <a:extLst>
              <a:ext uri="{FF2B5EF4-FFF2-40B4-BE49-F238E27FC236}">
                <a16:creationId xmlns:a16="http://schemas.microsoft.com/office/drawing/2014/main" id="{9974B6A4-AA0C-7F85-1EFB-40AD3DE28C2B}"/>
              </a:ext>
            </a:extLst>
          </p:cNvPr>
          <p:cNvSpPr>
            <a:spLocks noChangeArrowheads="1"/>
          </p:cNvSpPr>
          <p:nvPr/>
        </p:nvSpPr>
        <p:spPr bwMode="auto">
          <a:xfrm>
            <a:off x="3033713" y="308610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77" name="Rectangle 21">
            <a:extLst>
              <a:ext uri="{FF2B5EF4-FFF2-40B4-BE49-F238E27FC236}">
                <a16:creationId xmlns:a16="http://schemas.microsoft.com/office/drawing/2014/main" id="{BDD82D4D-97B4-5098-3882-F3BE86EA38A8}"/>
              </a:ext>
            </a:extLst>
          </p:cNvPr>
          <p:cNvSpPr>
            <a:spLocks noChangeArrowheads="1"/>
          </p:cNvSpPr>
          <p:nvPr/>
        </p:nvSpPr>
        <p:spPr bwMode="auto">
          <a:xfrm>
            <a:off x="3605213" y="308610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78" name="Rectangle 22">
            <a:extLst>
              <a:ext uri="{FF2B5EF4-FFF2-40B4-BE49-F238E27FC236}">
                <a16:creationId xmlns:a16="http://schemas.microsoft.com/office/drawing/2014/main" id="{45A14B03-C7F9-699F-38B7-02264FFF3275}"/>
              </a:ext>
            </a:extLst>
          </p:cNvPr>
          <p:cNvSpPr>
            <a:spLocks noChangeArrowheads="1"/>
          </p:cNvSpPr>
          <p:nvPr/>
        </p:nvSpPr>
        <p:spPr bwMode="auto">
          <a:xfrm>
            <a:off x="5434013" y="308610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79" name="Rectangle 23">
            <a:extLst>
              <a:ext uri="{FF2B5EF4-FFF2-40B4-BE49-F238E27FC236}">
                <a16:creationId xmlns:a16="http://schemas.microsoft.com/office/drawing/2014/main" id="{7ABFAAEF-0F84-DB79-D2EF-17727596C0DC}"/>
              </a:ext>
            </a:extLst>
          </p:cNvPr>
          <p:cNvSpPr>
            <a:spLocks noChangeArrowheads="1"/>
          </p:cNvSpPr>
          <p:nvPr/>
        </p:nvSpPr>
        <p:spPr bwMode="auto">
          <a:xfrm>
            <a:off x="7205663" y="234315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80" name="Rectangle 24">
            <a:extLst>
              <a:ext uri="{FF2B5EF4-FFF2-40B4-BE49-F238E27FC236}">
                <a16:creationId xmlns:a16="http://schemas.microsoft.com/office/drawing/2014/main" id="{9F893F3F-5CE4-AB9A-FABC-620D1941F5F3}"/>
              </a:ext>
            </a:extLst>
          </p:cNvPr>
          <p:cNvSpPr>
            <a:spLocks noChangeArrowheads="1"/>
          </p:cNvSpPr>
          <p:nvPr/>
        </p:nvSpPr>
        <p:spPr bwMode="auto">
          <a:xfrm>
            <a:off x="1319213" y="371475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81" name="Rectangle 25">
            <a:extLst>
              <a:ext uri="{FF2B5EF4-FFF2-40B4-BE49-F238E27FC236}">
                <a16:creationId xmlns:a16="http://schemas.microsoft.com/office/drawing/2014/main" id="{AA4CEC8A-5970-5F60-1716-3063F4A8F229}"/>
              </a:ext>
            </a:extLst>
          </p:cNvPr>
          <p:cNvSpPr>
            <a:spLocks noChangeArrowheads="1"/>
          </p:cNvSpPr>
          <p:nvPr/>
        </p:nvSpPr>
        <p:spPr bwMode="auto">
          <a:xfrm>
            <a:off x="1833563" y="371475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82" name="Rectangle 26">
            <a:extLst>
              <a:ext uri="{FF2B5EF4-FFF2-40B4-BE49-F238E27FC236}">
                <a16:creationId xmlns:a16="http://schemas.microsoft.com/office/drawing/2014/main" id="{F641228D-7C24-9131-7E38-C742EB533375}"/>
              </a:ext>
            </a:extLst>
          </p:cNvPr>
          <p:cNvSpPr>
            <a:spLocks noChangeArrowheads="1"/>
          </p:cNvSpPr>
          <p:nvPr/>
        </p:nvSpPr>
        <p:spPr bwMode="auto">
          <a:xfrm>
            <a:off x="2176463" y="371475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83" name="Rectangle 27">
            <a:extLst>
              <a:ext uri="{FF2B5EF4-FFF2-40B4-BE49-F238E27FC236}">
                <a16:creationId xmlns:a16="http://schemas.microsoft.com/office/drawing/2014/main" id="{D66F2643-E766-DDC1-993A-FAD6B5E83CE7}"/>
              </a:ext>
            </a:extLst>
          </p:cNvPr>
          <p:cNvSpPr>
            <a:spLocks noChangeArrowheads="1"/>
          </p:cNvSpPr>
          <p:nvPr/>
        </p:nvSpPr>
        <p:spPr bwMode="auto">
          <a:xfrm>
            <a:off x="2633663" y="371475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84" name="Line 28">
            <a:extLst>
              <a:ext uri="{FF2B5EF4-FFF2-40B4-BE49-F238E27FC236}">
                <a16:creationId xmlns:a16="http://schemas.microsoft.com/office/drawing/2014/main" id="{9954B93C-AFBE-95D2-9E00-2BBF424F417D}"/>
              </a:ext>
            </a:extLst>
          </p:cNvPr>
          <p:cNvSpPr>
            <a:spLocks noChangeShapeType="1"/>
          </p:cNvSpPr>
          <p:nvPr/>
        </p:nvSpPr>
        <p:spPr bwMode="auto">
          <a:xfrm flipH="1">
            <a:off x="3086100" y="2566988"/>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85" name="Line 29">
            <a:extLst>
              <a:ext uri="{FF2B5EF4-FFF2-40B4-BE49-F238E27FC236}">
                <a16:creationId xmlns:a16="http://schemas.microsoft.com/office/drawing/2014/main" id="{CD9D7D5D-9075-4C23-1DD3-85BE61344C36}"/>
              </a:ext>
            </a:extLst>
          </p:cNvPr>
          <p:cNvSpPr>
            <a:spLocks noChangeShapeType="1"/>
          </p:cNvSpPr>
          <p:nvPr/>
        </p:nvSpPr>
        <p:spPr bwMode="auto">
          <a:xfrm>
            <a:off x="3543300" y="2509838"/>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86" name="Line 30">
            <a:extLst>
              <a:ext uri="{FF2B5EF4-FFF2-40B4-BE49-F238E27FC236}">
                <a16:creationId xmlns:a16="http://schemas.microsoft.com/office/drawing/2014/main" id="{DA15E328-71AF-8F1B-F9DC-5B32C128372E}"/>
              </a:ext>
            </a:extLst>
          </p:cNvPr>
          <p:cNvSpPr>
            <a:spLocks noChangeShapeType="1"/>
          </p:cNvSpPr>
          <p:nvPr/>
        </p:nvSpPr>
        <p:spPr bwMode="auto">
          <a:xfrm flipH="1">
            <a:off x="1371600" y="3309938"/>
            <a:ext cx="1714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87" name="Line 31">
            <a:extLst>
              <a:ext uri="{FF2B5EF4-FFF2-40B4-BE49-F238E27FC236}">
                <a16:creationId xmlns:a16="http://schemas.microsoft.com/office/drawing/2014/main" id="{FB7FC24F-3E1C-AD4E-6362-193737BAB57A}"/>
              </a:ext>
            </a:extLst>
          </p:cNvPr>
          <p:cNvSpPr>
            <a:spLocks noChangeShapeType="1"/>
          </p:cNvSpPr>
          <p:nvPr/>
        </p:nvSpPr>
        <p:spPr bwMode="auto">
          <a:xfrm>
            <a:off x="1771650" y="3367088"/>
            <a:ext cx="17145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88" name="Line 32">
            <a:extLst>
              <a:ext uri="{FF2B5EF4-FFF2-40B4-BE49-F238E27FC236}">
                <a16:creationId xmlns:a16="http://schemas.microsoft.com/office/drawing/2014/main" id="{9B9B41A8-DECC-FF76-E12F-05A6A425F248}"/>
              </a:ext>
            </a:extLst>
          </p:cNvPr>
          <p:cNvSpPr>
            <a:spLocks noChangeShapeType="1"/>
          </p:cNvSpPr>
          <p:nvPr/>
        </p:nvSpPr>
        <p:spPr bwMode="auto">
          <a:xfrm flipH="1">
            <a:off x="2286000" y="3309938"/>
            <a:ext cx="1143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89" name="Line 33">
            <a:extLst>
              <a:ext uri="{FF2B5EF4-FFF2-40B4-BE49-F238E27FC236}">
                <a16:creationId xmlns:a16="http://schemas.microsoft.com/office/drawing/2014/main" id="{CF9E0ADB-DFB4-C9A7-ECCA-B27FD6158753}"/>
              </a:ext>
            </a:extLst>
          </p:cNvPr>
          <p:cNvSpPr>
            <a:spLocks noChangeShapeType="1"/>
          </p:cNvSpPr>
          <p:nvPr/>
        </p:nvSpPr>
        <p:spPr bwMode="auto">
          <a:xfrm>
            <a:off x="2628900" y="3367088"/>
            <a:ext cx="11430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90" name="Line 34">
            <a:extLst>
              <a:ext uri="{FF2B5EF4-FFF2-40B4-BE49-F238E27FC236}">
                <a16:creationId xmlns:a16="http://schemas.microsoft.com/office/drawing/2014/main" id="{15FCC6EA-EDF2-AB2D-3852-D10177BEB169}"/>
              </a:ext>
            </a:extLst>
          </p:cNvPr>
          <p:cNvSpPr>
            <a:spLocks noChangeShapeType="1"/>
          </p:cNvSpPr>
          <p:nvPr/>
        </p:nvSpPr>
        <p:spPr bwMode="auto">
          <a:xfrm>
            <a:off x="5257800" y="2566988"/>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91" name="Line 35">
            <a:extLst>
              <a:ext uri="{FF2B5EF4-FFF2-40B4-BE49-F238E27FC236}">
                <a16:creationId xmlns:a16="http://schemas.microsoft.com/office/drawing/2014/main" id="{D47FCD3B-C9A5-643C-CA83-0831975DA4B2}"/>
              </a:ext>
            </a:extLst>
          </p:cNvPr>
          <p:cNvSpPr>
            <a:spLocks noChangeShapeType="1"/>
          </p:cNvSpPr>
          <p:nvPr/>
        </p:nvSpPr>
        <p:spPr bwMode="auto">
          <a:xfrm>
            <a:off x="6229350" y="1881188"/>
            <a:ext cx="10858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92" name="Rectangle 36">
            <a:extLst>
              <a:ext uri="{FF2B5EF4-FFF2-40B4-BE49-F238E27FC236}">
                <a16:creationId xmlns:a16="http://schemas.microsoft.com/office/drawing/2014/main" id="{00FD9972-2AC3-FF11-49F4-A1F5F50378A0}"/>
              </a:ext>
            </a:extLst>
          </p:cNvPr>
          <p:cNvSpPr>
            <a:spLocks noChangeArrowheads="1"/>
          </p:cNvSpPr>
          <p:nvPr/>
        </p:nvSpPr>
        <p:spPr bwMode="auto">
          <a:xfrm>
            <a:off x="4233863" y="365760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93" name="Rectangle 37">
            <a:extLst>
              <a:ext uri="{FF2B5EF4-FFF2-40B4-BE49-F238E27FC236}">
                <a16:creationId xmlns:a16="http://schemas.microsoft.com/office/drawing/2014/main" id="{149B2E24-7445-3066-1DB8-9AB9C9CA1D61}"/>
              </a:ext>
            </a:extLst>
          </p:cNvPr>
          <p:cNvSpPr>
            <a:spLocks noChangeArrowheads="1"/>
          </p:cNvSpPr>
          <p:nvPr/>
        </p:nvSpPr>
        <p:spPr bwMode="auto">
          <a:xfrm>
            <a:off x="5033963" y="3657600"/>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19494" name="Line 38">
            <a:extLst>
              <a:ext uri="{FF2B5EF4-FFF2-40B4-BE49-F238E27FC236}">
                <a16:creationId xmlns:a16="http://schemas.microsoft.com/office/drawing/2014/main" id="{CE2A493C-E7AC-7AD2-3DA9-4A379461F61A}"/>
              </a:ext>
            </a:extLst>
          </p:cNvPr>
          <p:cNvSpPr>
            <a:spLocks noChangeShapeType="1"/>
          </p:cNvSpPr>
          <p:nvPr/>
        </p:nvSpPr>
        <p:spPr bwMode="auto">
          <a:xfrm flipH="1">
            <a:off x="4286250" y="3252788"/>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95" name="Line 39">
            <a:extLst>
              <a:ext uri="{FF2B5EF4-FFF2-40B4-BE49-F238E27FC236}">
                <a16:creationId xmlns:a16="http://schemas.microsoft.com/office/drawing/2014/main" id="{58118CEA-DFD3-6E7E-E6BB-31B0D80FC106}"/>
              </a:ext>
            </a:extLst>
          </p:cNvPr>
          <p:cNvSpPr>
            <a:spLocks noChangeShapeType="1"/>
          </p:cNvSpPr>
          <p:nvPr/>
        </p:nvSpPr>
        <p:spPr bwMode="auto">
          <a:xfrm>
            <a:off x="4914900" y="3252788"/>
            <a:ext cx="2286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19496" name="Rectangle 40">
            <a:extLst>
              <a:ext uri="{FF2B5EF4-FFF2-40B4-BE49-F238E27FC236}">
                <a16:creationId xmlns:a16="http://schemas.microsoft.com/office/drawing/2014/main" id="{84BAA93A-1F2F-EB2E-841E-A6F7CF1EAF99}"/>
              </a:ext>
            </a:extLst>
          </p:cNvPr>
          <p:cNvSpPr>
            <a:spLocks noChangeArrowheads="1"/>
          </p:cNvSpPr>
          <p:nvPr/>
        </p:nvSpPr>
        <p:spPr bwMode="auto">
          <a:xfrm>
            <a:off x="1302544" y="36754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497" name="Rectangle 41">
            <a:extLst>
              <a:ext uri="{FF2B5EF4-FFF2-40B4-BE49-F238E27FC236}">
                <a16:creationId xmlns:a16="http://schemas.microsoft.com/office/drawing/2014/main" id="{E197CCD6-3DD1-DF65-F79D-E8F320D363BE}"/>
              </a:ext>
            </a:extLst>
          </p:cNvPr>
          <p:cNvSpPr>
            <a:spLocks noChangeArrowheads="1"/>
          </p:cNvSpPr>
          <p:nvPr/>
        </p:nvSpPr>
        <p:spPr bwMode="auto">
          <a:xfrm>
            <a:off x="1816894" y="36754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498" name="Rectangle 42">
            <a:extLst>
              <a:ext uri="{FF2B5EF4-FFF2-40B4-BE49-F238E27FC236}">
                <a16:creationId xmlns:a16="http://schemas.microsoft.com/office/drawing/2014/main" id="{BCC9B0C3-E834-CC45-ED30-FD6C074F8732}"/>
              </a:ext>
            </a:extLst>
          </p:cNvPr>
          <p:cNvSpPr>
            <a:spLocks noChangeArrowheads="1"/>
          </p:cNvSpPr>
          <p:nvPr/>
        </p:nvSpPr>
        <p:spPr bwMode="auto">
          <a:xfrm>
            <a:off x="2159794" y="36754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499" name="Rectangle 43">
            <a:extLst>
              <a:ext uri="{FF2B5EF4-FFF2-40B4-BE49-F238E27FC236}">
                <a16:creationId xmlns:a16="http://schemas.microsoft.com/office/drawing/2014/main" id="{2A810A1F-3064-C66D-C6AF-810916EBAC0A}"/>
              </a:ext>
            </a:extLst>
          </p:cNvPr>
          <p:cNvSpPr>
            <a:spLocks noChangeArrowheads="1"/>
          </p:cNvSpPr>
          <p:nvPr/>
        </p:nvSpPr>
        <p:spPr bwMode="auto">
          <a:xfrm>
            <a:off x="2616994" y="36754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500" name="Rectangle 44">
            <a:extLst>
              <a:ext uri="{FF2B5EF4-FFF2-40B4-BE49-F238E27FC236}">
                <a16:creationId xmlns:a16="http://schemas.microsoft.com/office/drawing/2014/main" id="{7D5B9169-DF46-094D-CB92-E79673C5D149}"/>
              </a:ext>
            </a:extLst>
          </p:cNvPr>
          <p:cNvSpPr>
            <a:spLocks noChangeArrowheads="1"/>
          </p:cNvSpPr>
          <p:nvPr/>
        </p:nvSpPr>
        <p:spPr bwMode="auto">
          <a:xfrm>
            <a:off x="3017044" y="30468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501" name="Rectangle 45">
            <a:extLst>
              <a:ext uri="{FF2B5EF4-FFF2-40B4-BE49-F238E27FC236}">
                <a16:creationId xmlns:a16="http://schemas.microsoft.com/office/drawing/2014/main" id="{63651031-C4E5-11EC-2589-4056BA71F728}"/>
              </a:ext>
            </a:extLst>
          </p:cNvPr>
          <p:cNvSpPr>
            <a:spLocks noChangeArrowheads="1"/>
          </p:cNvSpPr>
          <p:nvPr/>
        </p:nvSpPr>
        <p:spPr bwMode="auto">
          <a:xfrm>
            <a:off x="3588544" y="30468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19502" name="Rectangle 46">
            <a:extLst>
              <a:ext uri="{FF2B5EF4-FFF2-40B4-BE49-F238E27FC236}">
                <a16:creationId xmlns:a16="http://schemas.microsoft.com/office/drawing/2014/main" id="{D67ADED1-10F3-5D6A-29E0-E5DE9D767E3F}"/>
              </a:ext>
            </a:extLst>
          </p:cNvPr>
          <p:cNvSpPr>
            <a:spLocks noChangeArrowheads="1"/>
          </p:cNvSpPr>
          <p:nvPr/>
        </p:nvSpPr>
        <p:spPr bwMode="auto">
          <a:xfrm>
            <a:off x="4229100" y="3652838"/>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9503" name="Rectangle 47">
            <a:extLst>
              <a:ext uri="{FF2B5EF4-FFF2-40B4-BE49-F238E27FC236}">
                <a16:creationId xmlns:a16="http://schemas.microsoft.com/office/drawing/2014/main" id="{5DE4AF7C-9489-B33B-2873-82589996F4C1}"/>
              </a:ext>
            </a:extLst>
          </p:cNvPr>
          <p:cNvSpPr>
            <a:spLocks noChangeArrowheads="1"/>
          </p:cNvSpPr>
          <p:nvPr/>
        </p:nvSpPr>
        <p:spPr bwMode="auto">
          <a:xfrm>
            <a:off x="5029200" y="3652838"/>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9504" name="Rectangle 48">
            <a:extLst>
              <a:ext uri="{FF2B5EF4-FFF2-40B4-BE49-F238E27FC236}">
                <a16:creationId xmlns:a16="http://schemas.microsoft.com/office/drawing/2014/main" id="{409E7401-1311-A06B-89EB-F81922DCB5F7}"/>
              </a:ext>
            </a:extLst>
          </p:cNvPr>
          <p:cNvSpPr>
            <a:spLocks noChangeArrowheads="1"/>
          </p:cNvSpPr>
          <p:nvPr/>
        </p:nvSpPr>
        <p:spPr bwMode="auto">
          <a:xfrm>
            <a:off x="5429250" y="3081338"/>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9505" name="Rectangle 49">
            <a:extLst>
              <a:ext uri="{FF2B5EF4-FFF2-40B4-BE49-F238E27FC236}">
                <a16:creationId xmlns:a16="http://schemas.microsoft.com/office/drawing/2014/main" id="{DDDDAEDF-D817-F51F-44F8-D62CAAA77D1D}"/>
              </a:ext>
            </a:extLst>
          </p:cNvPr>
          <p:cNvSpPr>
            <a:spLocks noChangeArrowheads="1"/>
          </p:cNvSpPr>
          <p:nvPr/>
        </p:nvSpPr>
        <p:spPr bwMode="auto">
          <a:xfrm>
            <a:off x="7200900" y="2338388"/>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19506" name="Rectangle 50">
            <a:extLst>
              <a:ext uri="{FF2B5EF4-FFF2-40B4-BE49-F238E27FC236}">
                <a16:creationId xmlns:a16="http://schemas.microsoft.com/office/drawing/2014/main" id="{F7027398-AC62-8F3F-72AB-3893D39A7E60}"/>
              </a:ext>
            </a:extLst>
          </p:cNvPr>
          <p:cNvSpPr>
            <a:spLocks noChangeArrowheads="1"/>
          </p:cNvSpPr>
          <p:nvPr/>
        </p:nvSpPr>
        <p:spPr bwMode="auto">
          <a:xfrm>
            <a:off x="1531144" y="30468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07" name="Rectangle 51">
            <a:extLst>
              <a:ext uri="{FF2B5EF4-FFF2-40B4-BE49-F238E27FC236}">
                <a16:creationId xmlns:a16="http://schemas.microsoft.com/office/drawing/2014/main" id="{396B7722-B5A0-0F99-51CF-ADC933B45C69}"/>
              </a:ext>
            </a:extLst>
          </p:cNvPr>
          <p:cNvSpPr>
            <a:spLocks noChangeArrowheads="1"/>
          </p:cNvSpPr>
          <p:nvPr/>
        </p:nvSpPr>
        <p:spPr bwMode="auto">
          <a:xfrm>
            <a:off x="2388394" y="30468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08" name="Rectangle 52">
            <a:extLst>
              <a:ext uri="{FF2B5EF4-FFF2-40B4-BE49-F238E27FC236}">
                <a16:creationId xmlns:a16="http://schemas.microsoft.com/office/drawing/2014/main" id="{395645A9-2EEE-BC2A-1549-2058A3945B04}"/>
              </a:ext>
            </a:extLst>
          </p:cNvPr>
          <p:cNvSpPr>
            <a:spLocks noChangeArrowheads="1"/>
          </p:cNvSpPr>
          <p:nvPr/>
        </p:nvSpPr>
        <p:spPr bwMode="auto">
          <a:xfrm>
            <a:off x="4674394" y="29896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09" name="Rectangle 53">
            <a:extLst>
              <a:ext uri="{FF2B5EF4-FFF2-40B4-BE49-F238E27FC236}">
                <a16:creationId xmlns:a16="http://schemas.microsoft.com/office/drawing/2014/main" id="{AE030BA6-3E98-5824-13BF-816C1B6FB705}"/>
              </a:ext>
            </a:extLst>
          </p:cNvPr>
          <p:cNvSpPr>
            <a:spLocks noChangeArrowheads="1"/>
          </p:cNvSpPr>
          <p:nvPr/>
        </p:nvSpPr>
        <p:spPr bwMode="auto">
          <a:xfrm>
            <a:off x="1988344" y="22467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19510" name="Rectangle 54">
            <a:extLst>
              <a:ext uri="{FF2B5EF4-FFF2-40B4-BE49-F238E27FC236}">
                <a16:creationId xmlns:a16="http://schemas.microsoft.com/office/drawing/2014/main" id="{0BA61EDA-4C19-741F-3B91-1282A170A5E0}"/>
              </a:ext>
            </a:extLst>
          </p:cNvPr>
          <p:cNvSpPr>
            <a:spLocks noChangeArrowheads="1"/>
          </p:cNvSpPr>
          <p:nvPr/>
        </p:nvSpPr>
        <p:spPr bwMode="auto">
          <a:xfrm>
            <a:off x="3302794" y="22467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11" name="Rectangle 55">
            <a:extLst>
              <a:ext uri="{FF2B5EF4-FFF2-40B4-BE49-F238E27FC236}">
                <a16:creationId xmlns:a16="http://schemas.microsoft.com/office/drawing/2014/main" id="{86BC16E9-B784-101C-0CAE-28865AD42D97}"/>
              </a:ext>
            </a:extLst>
          </p:cNvPr>
          <p:cNvSpPr>
            <a:spLocks noChangeArrowheads="1"/>
          </p:cNvSpPr>
          <p:nvPr/>
        </p:nvSpPr>
        <p:spPr bwMode="auto">
          <a:xfrm>
            <a:off x="5074444" y="22467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12" name="Rectangle 56">
            <a:extLst>
              <a:ext uri="{FF2B5EF4-FFF2-40B4-BE49-F238E27FC236}">
                <a16:creationId xmlns:a16="http://schemas.microsoft.com/office/drawing/2014/main" id="{A62B3D17-512E-EAFA-E458-F5D00801F8F6}"/>
              </a:ext>
            </a:extLst>
          </p:cNvPr>
          <p:cNvSpPr>
            <a:spLocks noChangeArrowheads="1"/>
          </p:cNvSpPr>
          <p:nvPr/>
        </p:nvSpPr>
        <p:spPr bwMode="auto">
          <a:xfrm>
            <a:off x="2731294" y="16180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19513" name="Rectangle 57">
            <a:extLst>
              <a:ext uri="{FF2B5EF4-FFF2-40B4-BE49-F238E27FC236}">
                <a16:creationId xmlns:a16="http://schemas.microsoft.com/office/drawing/2014/main" id="{8A334328-370B-B30E-1C4A-D6766C64E872}"/>
              </a:ext>
            </a:extLst>
          </p:cNvPr>
          <p:cNvSpPr>
            <a:spLocks noChangeArrowheads="1"/>
          </p:cNvSpPr>
          <p:nvPr/>
        </p:nvSpPr>
        <p:spPr bwMode="auto">
          <a:xfrm>
            <a:off x="6045994" y="161806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19514" name="Rectangle 58">
            <a:extLst>
              <a:ext uri="{FF2B5EF4-FFF2-40B4-BE49-F238E27FC236}">
                <a16:creationId xmlns:a16="http://schemas.microsoft.com/office/drawing/2014/main" id="{7DBE57F1-9CDB-BC64-6BF2-CD08A041E86A}"/>
              </a:ext>
            </a:extLst>
          </p:cNvPr>
          <p:cNvSpPr>
            <a:spLocks noChangeArrowheads="1"/>
          </p:cNvSpPr>
          <p:nvPr/>
        </p:nvSpPr>
        <p:spPr bwMode="auto">
          <a:xfrm>
            <a:off x="4331494" y="875110"/>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3" name="TextBox 2">
            <a:extLst>
              <a:ext uri="{FF2B5EF4-FFF2-40B4-BE49-F238E27FC236}">
                <a16:creationId xmlns:a16="http://schemas.microsoft.com/office/drawing/2014/main" id="{33A4A55E-8E28-BE6B-8F9B-B8CE4B0B5CF6}"/>
              </a:ext>
            </a:extLst>
          </p:cNvPr>
          <p:cNvSpPr txBox="1">
            <a:spLocks noChangeArrowheads="1"/>
          </p:cNvSpPr>
          <p:nvPr/>
        </p:nvSpPr>
        <p:spPr bwMode="auto">
          <a:xfrm>
            <a:off x="1319212" y="4000500"/>
            <a:ext cx="656748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2100"/>
              <a:t>s() decreases by 1 each time you move to a right child</a:t>
            </a:r>
          </a:p>
        </p:txBody>
      </p:sp>
      <p:sp>
        <p:nvSpPr>
          <p:cNvPr id="4" name="TextBox 3">
            <a:extLst>
              <a:ext uri="{FF2B5EF4-FFF2-40B4-BE49-F238E27FC236}">
                <a16:creationId xmlns:a16="http://schemas.microsoft.com/office/drawing/2014/main" id="{7FAD7EF0-3A93-FC2F-0DCD-6CF73AC689BF}"/>
              </a:ext>
            </a:extLst>
          </p:cNvPr>
          <p:cNvSpPr txBox="1">
            <a:spLocks noChangeArrowheads="1"/>
          </p:cNvSpPr>
          <p:nvPr/>
        </p:nvSpPr>
        <p:spPr bwMode="auto">
          <a:xfrm>
            <a:off x="1314450" y="4350544"/>
            <a:ext cx="656748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2100">
                <a:solidFill>
                  <a:schemeClr val="bg1"/>
                </a:solidFill>
              </a:rPr>
              <a:t>how about when you move to a left child?</a:t>
            </a:r>
          </a:p>
        </p:txBody>
      </p:sp>
      <p:sp>
        <p:nvSpPr>
          <p:cNvPr id="5" name="TextBox 4">
            <a:extLst>
              <a:ext uri="{FF2B5EF4-FFF2-40B4-BE49-F238E27FC236}">
                <a16:creationId xmlns:a16="http://schemas.microsoft.com/office/drawing/2014/main" id="{8EE25695-A937-6B4C-3EFB-ED233D6BEE60}"/>
              </a:ext>
            </a:extLst>
          </p:cNvPr>
          <p:cNvSpPr txBox="1">
            <a:spLocks noChangeArrowheads="1"/>
          </p:cNvSpPr>
          <p:nvPr/>
        </p:nvSpPr>
        <p:spPr bwMode="auto">
          <a:xfrm>
            <a:off x="1290637" y="4723210"/>
            <a:ext cx="656748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2100">
                <a:solidFill>
                  <a:srgbClr val="FF0000"/>
                </a:solidFill>
              </a:rPr>
              <a:t>subtrees are also leftist trees</a:t>
            </a:r>
          </a:p>
        </p:txBody>
      </p:sp>
      <p:pic>
        <p:nvPicPr>
          <p:cNvPr id="2" name="Picture 1">
            <a:extLst>
              <a:ext uri="{FF2B5EF4-FFF2-40B4-BE49-F238E27FC236}">
                <a16:creationId xmlns:a16="http://schemas.microsoft.com/office/drawing/2014/main" id="{9542D3BE-581A-FF89-AC00-7E1A5107C2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Rectangle 5">
            <a:extLst>
              <a:ext uri="{FF2B5EF4-FFF2-40B4-BE49-F238E27FC236}">
                <a16:creationId xmlns:a16="http://schemas.microsoft.com/office/drawing/2014/main" id="{53B0BE7C-9E75-B249-35BC-640EC6CE279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EDAD7E7-F9B1-BB38-5E43-4FED4A5EB12B}"/>
              </a:ext>
            </a:extLst>
          </p:cNvPr>
          <p:cNvSpPr>
            <a:spLocks noGrp="1" noChangeArrowheads="1"/>
          </p:cNvSpPr>
          <p:nvPr>
            <p:ph type="ctrTitle"/>
          </p:nvPr>
        </p:nvSpPr>
        <p:spPr>
          <a:xfrm>
            <a:off x="1657350" y="400050"/>
            <a:ext cx="5829300" cy="857250"/>
          </a:xfrm>
          <a:noFill/>
        </p:spPr>
        <p:txBody>
          <a:bodyPr/>
          <a:lstStyle/>
          <a:p>
            <a:r>
              <a:rPr lang="en-US" altLang="en-US"/>
              <a:t>Leftist Trees – Property 1</a:t>
            </a:r>
          </a:p>
        </p:txBody>
      </p:sp>
      <p:sp>
        <p:nvSpPr>
          <p:cNvPr id="361475" name="Rectangle 3">
            <a:extLst>
              <a:ext uri="{FF2B5EF4-FFF2-40B4-BE49-F238E27FC236}">
                <a16:creationId xmlns:a16="http://schemas.microsoft.com/office/drawing/2014/main" id="{0A44215A-4837-BF32-7EC5-82AA378965FB}"/>
              </a:ext>
            </a:extLst>
          </p:cNvPr>
          <p:cNvSpPr>
            <a:spLocks noGrp="1" noChangeArrowheads="1"/>
          </p:cNvSpPr>
          <p:nvPr>
            <p:ph type="subTitle" idx="1"/>
          </p:nvPr>
        </p:nvSpPr>
        <p:spPr>
          <a:xfrm>
            <a:off x="1371600" y="1543050"/>
            <a:ext cx="6763244" cy="3200400"/>
          </a:xfrm>
          <a:noFill/>
        </p:spPr>
        <p:txBody>
          <a:bodyPr/>
          <a:lstStyle/>
          <a:p>
            <a:pPr marL="257175" indent="-257175" algn="l"/>
            <a:r>
              <a:rPr lang="en-US" altLang="en-US" dirty="0">
                <a:solidFill>
                  <a:srgbClr val="FF0000"/>
                </a:solidFill>
              </a:rPr>
              <a:t>In a leftist tree, the rightmost path is a shortest root to external node path and the length of this path is s(root).</a:t>
            </a:r>
          </a:p>
        </p:txBody>
      </p:sp>
      <p:pic>
        <p:nvPicPr>
          <p:cNvPr id="2" name="Picture 1">
            <a:extLst>
              <a:ext uri="{FF2B5EF4-FFF2-40B4-BE49-F238E27FC236}">
                <a16:creationId xmlns:a16="http://schemas.microsoft.com/office/drawing/2014/main" id="{7A373A41-5384-2835-7C43-D2E084A95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7C15FC91-2DF9-2871-2C60-98632571059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 calcmode="lin" valueType="num">
                                      <p:cBhvr additive="base">
                                        <p:cTn id="7" dur="500" fill="hold"/>
                                        <p:tgtEl>
                                          <p:spTgt spid="3614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147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4D2AA08-37BF-847C-FC65-F0B6F9422A49}"/>
              </a:ext>
            </a:extLst>
          </p:cNvPr>
          <p:cNvSpPr>
            <a:spLocks noGrp="1" noChangeArrowheads="1"/>
          </p:cNvSpPr>
          <p:nvPr>
            <p:ph type="ctrTitle"/>
          </p:nvPr>
        </p:nvSpPr>
        <p:spPr>
          <a:xfrm>
            <a:off x="1200150" y="171450"/>
            <a:ext cx="6686550" cy="857250"/>
          </a:xfrm>
          <a:noFill/>
        </p:spPr>
        <p:txBody>
          <a:bodyPr/>
          <a:lstStyle/>
          <a:p>
            <a:r>
              <a:rPr lang="en-US" altLang="en-US"/>
              <a:t>A Leftist Tree</a:t>
            </a:r>
          </a:p>
        </p:txBody>
      </p:sp>
      <p:sp>
        <p:nvSpPr>
          <p:cNvPr id="22531" name="Oval 3">
            <a:extLst>
              <a:ext uri="{FF2B5EF4-FFF2-40B4-BE49-F238E27FC236}">
                <a16:creationId xmlns:a16="http://schemas.microsoft.com/office/drawing/2014/main" id="{214CFD53-15A3-0C34-CF98-00C4FDA1BC80}"/>
              </a:ext>
            </a:extLst>
          </p:cNvPr>
          <p:cNvSpPr>
            <a:spLocks noChangeArrowheads="1"/>
          </p:cNvSpPr>
          <p:nvPr/>
        </p:nvSpPr>
        <p:spPr bwMode="auto">
          <a:xfrm>
            <a:off x="4291013" y="10906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2" name="Oval 4">
            <a:extLst>
              <a:ext uri="{FF2B5EF4-FFF2-40B4-BE49-F238E27FC236}">
                <a16:creationId xmlns:a16="http://schemas.microsoft.com/office/drawing/2014/main" id="{ED274B53-D365-6A41-47C6-4375A052FFA5}"/>
              </a:ext>
            </a:extLst>
          </p:cNvPr>
          <p:cNvSpPr>
            <a:spLocks noChangeArrowheads="1"/>
          </p:cNvSpPr>
          <p:nvPr/>
        </p:nvSpPr>
        <p:spPr bwMode="auto">
          <a:xfrm>
            <a:off x="269081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3" name="Oval 5">
            <a:extLst>
              <a:ext uri="{FF2B5EF4-FFF2-40B4-BE49-F238E27FC236}">
                <a16:creationId xmlns:a16="http://schemas.microsoft.com/office/drawing/2014/main" id="{77727E06-623A-04D7-3C1D-1952875A849D}"/>
              </a:ext>
            </a:extLst>
          </p:cNvPr>
          <p:cNvSpPr>
            <a:spLocks noChangeArrowheads="1"/>
          </p:cNvSpPr>
          <p:nvPr/>
        </p:nvSpPr>
        <p:spPr bwMode="auto">
          <a:xfrm>
            <a:off x="59483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4" name="Oval 6">
            <a:extLst>
              <a:ext uri="{FF2B5EF4-FFF2-40B4-BE49-F238E27FC236}">
                <a16:creationId xmlns:a16="http://schemas.microsoft.com/office/drawing/2014/main" id="{5056EA05-97F5-B399-FDAD-B4715089B873}"/>
              </a:ext>
            </a:extLst>
          </p:cNvPr>
          <p:cNvSpPr>
            <a:spLocks noChangeArrowheads="1"/>
          </p:cNvSpPr>
          <p:nvPr/>
        </p:nvSpPr>
        <p:spPr bwMode="auto">
          <a:xfrm>
            <a:off x="19478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5" name="Oval 7">
            <a:extLst>
              <a:ext uri="{FF2B5EF4-FFF2-40B4-BE49-F238E27FC236}">
                <a16:creationId xmlns:a16="http://schemas.microsoft.com/office/drawing/2014/main" id="{1F0D9655-F944-FD5B-BAFB-F460EBE6B8A5}"/>
              </a:ext>
            </a:extLst>
          </p:cNvPr>
          <p:cNvSpPr>
            <a:spLocks noChangeArrowheads="1"/>
          </p:cNvSpPr>
          <p:nvPr/>
        </p:nvSpPr>
        <p:spPr bwMode="auto">
          <a:xfrm>
            <a:off x="326231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6" name="Oval 8">
            <a:extLst>
              <a:ext uri="{FF2B5EF4-FFF2-40B4-BE49-F238E27FC236}">
                <a16:creationId xmlns:a16="http://schemas.microsoft.com/office/drawing/2014/main" id="{F03C2E38-D8CF-B8BB-C761-0F7CACE33D06}"/>
              </a:ext>
            </a:extLst>
          </p:cNvPr>
          <p:cNvSpPr>
            <a:spLocks noChangeArrowheads="1"/>
          </p:cNvSpPr>
          <p:nvPr/>
        </p:nvSpPr>
        <p:spPr bwMode="auto">
          <a:xfrm>
            <a:off x="50339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7" name="Oval 9">
            <a:extLst>
              <a:ext uri="{FF2B5EF4-FFF2-40B4-BE49-F238E27FC236}">
                <a16:creationId xmlns:a16="http://schemas.microsoft.com/office/drawing/2014/main" id="{CA93B31A-22B3-360C-DF42-0FB88CD8FC58}"/>
              </a:ext>
            </a:extLst>
          </p:cNvPr>
          <p:cNvSpPr>
            <a:spLocks noChangeArrowheads="1"/>
          </p:cNvSpPr>
          <p:nvPr/>
        </p:nvSpPr>
        <p:spPr bwMode="auto">
          <a:xfrm>
            <a:off x="149066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8" name="Oval 10">
            <a:extLst>
              <a:ext uri="{FF2B5EF4-FFF2-40B4-BE49-F238E27FC236}">
                <a16:creationId xmlns:a16="http://schemas.microsoft.com/office/drawing/2014/main" id="{668E1F4C-167B-E457-E0AF-F6A8E0798C9A}"/>
              </a:ext>
            </a:extLst>
          </p:cNvPr>
          <p:cNvSpPr>
            <a:spLocks noChangeArrowheads="1"/>
          </p:cNvSpPr>
          <p:nvPr/>
        </p:nvSpPr>
        <p:spPr bwMode="auto">
          <a:xfrm>
            <a:off x="234791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39" name="Line 11">
            <a:extLst>
              <a:ext uri="{FF2B5EF4-FFF2-40B4-BE49-F238E27FC236}">
                <a16:creationId xmlns:a16="http://schemas.microsoft.com/office/drawing/2014/main" id="{4072E05B-0964-75A3-D0E0-3838DF29E8E6}"/>
              </a:ext>
            </a:extLst>
          </p:cNvPr>
          <p:cNvSpPr>
            <a:spLocks noChangeShapeType="1"/>
          </p:cNvSpPr>
          <p:nvPr/>
        </p:nvSpPr>
        <p:spPr bwMode="auto">
          <a:xfrm flipH="1">
            <a:off x="3028950" y="1314450"/>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0" name="Line 12">
            <a:extLst>
              <a:ext uri="{FF2B5EF4-FFF2-40B4-BE49-F238E27FC236}">
                <a16:creationId xmlns:a16="http://schemas.microsoft.com/office/drawing/2014/main" id="{C4383DDE-D80F-0F3F-6B20-E63931CAA2FD}"/>
              </a:ext>
            </a:extLst>
          </p:cNvPr>
          <p:cNvSpPr>
            <a:spLocks noChangeShapeType="1"/>
          </p:cNvSpPr>
          <p:nvPr/>
        </p:nvSpPr>
        <p:spPr bwMode="auto">
          <a:xfrm>
            <a:off x="4629150" y="1314450"/>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1" name="Line 13">
            <a:extLst>
              <a:ext uri="{FF2B5EF4-FFF2-40B4-BE49-F238E27FC236}">
                <a16:creationId xmlns:a16="http://schemas.microsoft.com/office/drawing/2014/main" id="{6123E213-BA61-4C9D-9840-D6B240183E59}"/>
              </a:ext>
            </a:extLst>
          </p:cNvPr>
          <p:cNvSpPr>
            <a:spLocks noChangeShapeType="1"/>
          </p:cNvSpPr>
          <p:nvPr/>
        </p:nvSpPr>
        <p:spPr bwMode="auto">
          <a:xfrm flipH="1">
            <a:off x="2171700" y="21145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2" name="Line 14">
            <a:extLst>
              <a:ext uri="{FF2B5EF4-FFF2-40B4-BE49-F238E27FC236}">
                <a16:creationId xmlns:a16="http://schemas.microsoft.com/office/drawing/2014/main" id="{D4437D52-A2EB-5147-270D-0F1BEB2138A7}"/>
              </a:ext>
            </a:extLst>
          </p:cNvPr>
          <p:cNvSpPr>
            <a:spLocks noChangeShapeType="1"/>
          </p:cNvSpPr>
          <p:nvPr/>
        </p:nvSpPr>
        <p:spPr bwMode="auto">
          <a:xfrm>
            <a:off x="2971800" y="21145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3" name="Line 15">
            <a:extLst>
              <a:ext uri="{FF2B5EF4-FFF2-40B4-BE49-F238E27FC236}">
                <a16:creationId xmlns:a16="http://schemas.microsoft.com/office/drawing/2014/main" id="{1F75DFE5-A442-7336-1E91-7DC2871F0B43}"/>
              </a:ext>
            </a:extLst>
          </p:cNvPr>
          <p:cNvSpPr>
            <a:spLocks noChangeShapeType="1"/>
          </p:cNvSpPr>
          <p:nvPr/>
        </p:nvSpPr>
        <p:spPr bwMode="auto">
          <a:xfrm flipH="1">
            <a:off x="5314950" y="21717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4" name="Line 16">
            <a:extLst>
              <a:ext uri="{FF2B5EF4-FFF2-40B4-BE49-F238E27FC236}">
                <a16:creationId xmlns:a16="http://schemas.microsoft.com/office/drawing/2014/main" id="{9C73B415-0532-C68B-8B63-680DF7B0EA08}"/>
              </a:ext>
            </a:extLst>
          </p:cNvPr>
          <p:cNvSpPr>
            <a:spLocks noChangeShapeType="1"/>
          </p:cNvSpPr>
          <p:nvPr/>
        </p:nvSpPr>
        <p:spPr bwMode="auto">
          <a:xfrm flipH="1">
            <a:off x="1714500" y="27432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5" name="Line 17">
            <a:extLst>
              <a:ext uri="{FF2B5EF4-FFF2-40B4-BE49-F238E27FC236}">
                <a16:creationId xmlns:a16="http://schemas.microsoft.com/office/drawing/2014/main" id="{78DA4CD5-A7E0-E3FF-5AB4-416B76C1323A}"/>
              </a:ext>
            </a:extLst>
          </p:cNvPr>
          <p:cNvSpPr>
            <a:spLocks noChangeShapeType="1"/>
          </p:cNvSpPr>
          <p:nvPr/>
        </p:nvSpPr>
        <p:spPr bwMode="auto">
          <a:xfrm>
            <a:off x="222885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6" name="Oval 18">
            <a:extLst>
              <a:ext uri="{FF2B5EF4-FFF2-40B4-BE49-F238E27FC236}">
                <a16:creationId xmlns:a16="http://schemas.microsoft.com/office/drawing/2014/main" id="{06918EE8-B69F-5145-6EC6-5E0AFE702CEC}"/>
              </a:ext>
            </a:extLst>
          </p:cNvPr>
          <p:cNvSpPr>
            <a:spLocks noChangeArrowheads="1"/>
          </p:cNvSpPr>
          <p:nvPr/>
        </p:nvSpPr>
        <p:spPr bwMode="auto">
          <a:xfrm>
            <a:off x="4633913" y="32051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47" name="Line 19">
            <a:extLst>
              <a:ext uri="{FF2B5EF4-FFF2-40B4-BE49-F238E27FC236}">
                <a16:creationId xmlns:a16="http://schemas.microsoft.com/office/drawing/2014/main" id="{C2252A15-C4C1-8224-3225-6D06BC181F42}"/>
              </a:ext>
            </a:extLst>
          </p:cNvPr>
          <p:cNvSpPr>
            <a:spLocks noChangeShapeType="1"/>
          </p:cNvSpPr>
          <p:nvPr/>
        </p:nvSpPr>
        <p:spPr bwMode="auto">
          <a:xfrm flipH="1">
            <a:off x="4857750" y="28003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48" name="Rectangle 20">
            <a:extLst>
              <a:ext uri="{FF2B5EF4-FFF2-40B4-BE49-F238E27FC236}">
                <a16:creationId xmlns:a16="http://schemas.microsoft.com/office/drawing/2014/main" id="{02A76988-361E-443A-D1EB-A6D3A6A58981}"/>
              </a:ext>
            </a:extLst>
          </p:cNvPr>
          <p:cNvSpPr>
            <a:spLocks noChangeArrowheads="1"/>
          </p:cNvSpPr>
          <p:nvPr/>
        </p:nvSpPr>
        <p:spPr bwMode="auto">
          <a:xfrm>
            <a:off x="30337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49" name="Rectangle 21">
            <a:extLst>
              <a:ext uri="{FF2B5EF4-FFF2-40B4-BE49-F238E27FC236}">
                <a16:creationId xmlns:a16="http://schemas.microsoft.com/office/drawing/2014/main" id="{669C7D6A-1BFF-6295-A5B4-481E87CA7C4D}"/>
              </a:ext>
            </a:extLst>
          </p:cNvPr>
          <p:cNvSpPr>
            <a:spLocks noChangeArrowheads="1"/>
          </p:cNvSpPr>
          <p:nvPr/>
        </p:nvSpPr>
        <p:spPr bwMode="auto">
          <a:xfrm>
            <a:off x="36052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0" name="Rectangle 22">
            <a:extLst>
              <a:ext uri="{FF2B5EF4-FFF2-40B4-BE49-F238E27FC236}">
                <a16:creationId xmlns:a16="http://schemas.microsoft.com/office/drawing/2014/main" id="{B9F718C7-F01A-C85D-1FBF-3C9AF4260694}"/>
              </a:ext>
            </a:extLst>
          </p:cNvPr>
          <p:cNvSpPr>
            <a:spLocks noChangeArrowheads="1"/>
          </p:cNvSpPr>
          <p:nvPr/>
        </p:nvSpPr>
        <p:spPr bwMode="auto">
          <a:xfrm>
            <a:off x="54340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1" name="Rectangle 23">
            <a:extLst>
              <a:ext uri="{FF2B5EF4-FFF2-40B4-BE49-F238E27FC236}">
                <a16:creationId xmlns:a16="http://schemas.microsoft.com/office/drawing/2014/main" id="{92DB2F7C-8190-2616-EDBB-38E16D1026FA}"/>
              </a:ext>
            </a:extLst>
          </p:cNvPr>
          <p:cNvSpPr>
            <a:spLocks noChangeArrowheads="1"/>
          </p:cNvSpPr>
          <p:nvPr/>
        </p:nvSpPr>
        <p:spPr bwMode="auto">
          <a:xfrm>
            <a:off x="7205663" y="25765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2" name="Rectangle 24">
            <a:extLst>
              <a:ext uri="{FF2B5EF4-FFF2-40B4-BE49-F238E27FC236}">
                <a16:creationId xmlns:a16="http://schemas.microsoft.com/office/drawing/2014/main" id="{1A8C0667-827D-B240-B326-BA3B262CD554}"/>
              </a:ext>
            </a:extLst>
          </p:cNvPr>
          <p:cNvSpPr>
            <a:spLocks noChangeArrowheads="1"/>
          </p:cNvSpPr>
          <p:nvPr/>
        </p:nvSpPr>
        <p:spPr bwMode="auto">
          <a:xfrm>
            <a:off x="131921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3" name="Rectangle 25">
            <a:extLst>
              <a:ext uri="{FF2B5EF4-FFF2-40B4-BE49-F238E27FC236}">
                <a16:creationId xmlns:a16="http://schemas.microsoft.com/office/drawing/2014/main" id="{E3A056FA-36EE-2B1A-9F98-DE54AB9AC972}"/>
              </a:ext>
            </a:extLst>
          </p:cNvPr>
          <p:cNvSpPr>
            <a:spLocks noChangeArrowheads="1"/>
          </p:cNvSpPr>
          <p:nvPr/>
        </p:nvSpPr>
        <p:spPr bwMode="auto">
          <a:xfrm>
            <a:off x="18335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4" name="Rectangle 26">
            <a:extLst>
              <a:ext uri="{FF2B5EF4-FFF2-40B4-BE49-F238E27FC236}">
                <a16:creationId xmlns:a16="http://schemas.microsoft.com/office/drawing/2014/main" id="{DCCCF71F-3940-6D96-B3B3-F10AB2B878E5}"/>
              </a:ext>
            </a:extLst>
          </p:cNvPr>
          <p:cNvSpPr>
            <a:spLocks noChangeArrowheads="1"/>
          </p:cNvSpPr>
          <p:nvPr/>
        </p:nvSpPr>
        <p:spPr bwMode="auto">
          <a:xfrm>
            <a:off x="21764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5" name="Rectangle 27">
            <a:extLst>
              <a:ext uri="{FF2B5EF4-FFF2-40B4-BE49-F238E27FC236}">
                <a16:creationId xmlns:a16="http://schemas.microsoft.com/office/drawing/2014/main" id="{81511D20-08DD-B329-0017-3E09DEA7CBF4}"/>
              </a:ext>
            </a:extLst>
          </p:cNvPr>
          <p:cNvSpPr>
            <a:spLocks noChangeArrowheads="1"/>
          </p:cNvSpPr>
          <p:nvPr/>
        </p:nvSpPr>
        <p:spPr bwMode="auto">
          <a:xfrm>
            <a:off x="26336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56" name="Line 28">
            <a:extLst>
              <a:ext uri="{FF2B5EF4-FFF2-40B4-BE49-F238E27FC236}">
                <a16:creationId xmlns:a16="http://schemas.microsoft.com/office/drawing/2014/main" id="{02D13360-E942-F3EA-FFAB-86FFBB29746D}"/>
              </a:ext>
            </a:extLst>
          </p:cNvPr>
          <p:cNvSpPr>
            <a:spLocks noChangeShapeType="1"/>
          </p:cNvSpPr>
          <p:nvPr/>
        </p:nvSpPr>
        <p:spPr bwMode="auto">
          <a:xfrm flipH="1">
            <a:off x="30861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57" name="Line 29">
            <a:extLst>
              <a:ext uri="{FF2B5EF4-FFF2-40B4-BE49-F238E27FC236}">
                <a16:creationId xmlns:a16="http://schemas.microsoft.com/office/drawing/2014/main" id="{A9C01AAB-0D7D-B126-4123-E307266EDB11}"/>
              </a:ext>
            </a:extLst>
          </p:cNvPr>
          <p:cNvSpPr>
            <a:spLocks noChangeShapeType="1"/>
          </p:cNvSpPr>
          <p:nvPr/>
        </p:nvSpPr>
        <p:spPr bwMode="auto">
          <a:xfrm>
            <a:off x="354330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58" name="Line 30">
            <a:extLst>
              <a:ext uri="{FF2B5EF4-FFF2-40B4-BE49-F238E27FC236}">
                <a16:creationId xmlns:a16="http://schemas.microsoft.com/office/drawing/2014/main" id="{D5E33D8A-4E58-1CE0-C5C6-C1C5AD87526C}"/>
              </a:ext>
            </a:extLst>
          </p:cNvPr>
          <p:cNvSpPr>
            <a:spLocks noChangeShapeType="1"/>
          </p:cNvSpPr>
          <p:nvPr/>
        </p:nvSpPr>
        <p:spPr bwMode="auto">
          <a:xfrm flipH="1">
            <a:off x="1371600" y="3543300"/>
            <a:ext cx="1714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59" name="Line 31">
            <a:extLst>
              <a:ext uri="{FF2B5EF4-FFF2-40B4-BE49-F238E27FC236}">
                <a16:creationId xmlns:a16="http://schemas.microsoft.com/office/drawing/2014/main" id="{BD543CB7-180E-94B6-8257-94063B5747A5}"/>
              </a:ext>
            </a:extLst>
          </p:cNvPr>
          <p:cNvSpPr>
            <a:spLocks noChangeShapeType="1"/>
          </p:cNvSpPr>
          <p:nvPr/>
        </p:nvSpPr>
        <p:spPr bwMode="auto">
          <a:xfrm>
            <a:off x="1771650" y="3600450"/>
            <a:ext cx="17145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0" name="Line 32">
            <a:extLst>
              <a:ext uri="{FF2B5EF4-FFF2-40B4-BE49-F238E27FC236}">
                <a16:creationId xmlns:a16="http://schemas.microsoft.com/office/drawing/2014/main" id="{865D5418-3169-3A0C-E9E7-1713DB06DB5F}"/>
              </a:ext>
            </a:extLst>
          </p:cNvPr>
          <p:cNvSpPr>
            <a:spLocks noChangeShapeType="1"/>
          </p:cNvSpPr>
          <p:nvPr/>
        </p:nvSpPr>
        <p:spPr bwMode="auto">
          <a:xfrm flipH="1">
            <a:off x="2286000" y="3543300"/>
            <a:ext cx="1143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1" name="Line 33">
            <a:extLst>
              <a:ext uri="{FF2B5EF4-FFF2-40B4-BE49-F238E27FC236}">
                <a16:creationId xmlns:a16="http://schemas.microsoft.com/office/drawing/2014/main" id="{66AC75C1-B5AB-35A1-6EA9-3A4B320E89BE}"/>
              </a:ext>
            </a:extLst>
          </p:cNvPr>
          <p:cNvSpPr>
            <a:spLocks noChangeShapeType="1"/>
          </p:cNvSpPr>
          <p:nvPr/>
        </p:nvSpPr>
        <p:spPr bwMode="auto">
          <a:xfrm>
            <a:off x="2628900" y="3600450"/>
            <a:ext cx="11430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2" name="Line 34">
            <a:extLst>
              <a:ext uri="{FF2B5EF4-FFF2-40B4-BE49-F238E27FC236}">
                <a16:creationId xmlns:a16="http://schemas.microsoft.com/office/drawing/2014/main" id="{1A0C9BE0-0314-7BD1-E08B-5FAFB515ED80}"/>
              </a:ext>
            </a:extLst>
          </p:cNvPr>
          <p:cNvSpPr>
            <a:spLocks noChangeShapeType="1"/>
          </p:cNvSpPr>
          <p:nvPr/>
        </p:nvSpPr>
        <p:spPr bwMode="auto">
          <a:xfrm>
            <a:off x="52578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3" name="Line 35">
            <a:extLst>
              <a:ext uri="{FF2B5EF4-FFF2-40B4-BE49-F238E27FC236}">
                <a16:creationId xmlns:a16="http://schemas.microsoft.com/office/drawing/2014/main" id="{AF7437BD-22E0-E650-45F1-B4DE8F3E5AE9}"/>
              </a:ext>
            </a:extLst>
          </p:cNvPr>
          <p:cNvSpPr>
            <a:spLocks noChangeShapeType="1"/>
          </p:cNvSpPr>
          <p:nvPr/>
        </p:nvSpPr>
        <p:spPr bwMode="auto">
          <a:xfrm>
            <a:off x="6229350" y="2114550"/>
            <a:ext cx="10858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4" name="Rectangle 36">
            <a:extLst>
              <a:ext uri="{FF2B5EF4-FFF2-40B4-BE49-F238E27FC236}">
                <a16:creationId xmlns:a16="http://schemas.microsoft.com/office/drawing/2014/main" id="{01C4382A-6885-74F7-8B6B-B37B6A62C0FE}"/>
              </a:ext>
            </a:extLst>
          </p:cNvPr>
          <p:cNvSpPr>
            <a:spLocks noChangeArrowheads="1"/>
          </p:cNvSpPr>
          <p:nvPr/>
        </p:nvSpPr>
        <p:spPr bwMode="auto">
          <a:xfrm>
            <a:off x="42338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65" name="Rectangle 37">
            <a:extLst>
              <a:ext uri="{FF2B5EF4-FFF2-40B4-BE49-F238E27FC236}">
                <a16:creationId xmlns:a16="http://schemas.microsoft.com/office/drawing/2014/main" id="{942F5BCA-2F74-CF96-3982-9FFDDF519282}"/>
              </a:ext>
            </a:extLst>
          </p:cNvPr>
          <p:cNvSpPr>
            <a:spLocks noChangeArrowheads="1"/>
          </p:cNvSpPr>
          <p:nvPr/>
        </p:nvSpPr>
        <p:spPr bwMode="auto">
          <a:xfrm>
            <a:off x="50339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22566" name="Line 38">
            <a:extLst>
              <a:ext uri="{FF2B5EF4-FFF2-40B4-BE49-F238E27FC236}">
                <a16:creationId xmlns:a16="http://schemas.microsoft.com/office/drawing/2014/main" id="{CC49CE4D-02F0-F7AB-D146-C9B8BA5F77AA}"/>
              </a:ext>
            </a:extLst>
          </p:cNvPr>
          <p:cNvSpPr>
            <a:spLocks noChangeShapeType="1"/>
          </p:cNvSpPr>
          <p:nvPr/>
        </p:nvSpPr>
        <p:spPr bwMode="auto">
          <a:xfrm flipH="1">
            <a:off x="4286250" y="34861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7" name="Line 39">
            <a:extLst>
              <a:ext uri="{FF2B5EF4-FFF2-40B4-BE49-F238E27FC236}">
                <a16:creationId xmlns:a16="http://schemas.microsoft.com/office/drawing/2014/main" id="{4C398E87-B4C8-882E-736E-24918B4CCA5D}"/>
              </a:ext>
            </a:extLst>
          </p:cNvPr>
          <p:cNvSpPr>
            <a:spLocks noChangeShapeType="1"/>
          </p:cNvSpPr>
          <p:nvPr/>
        </p:nvSpPr>
        <p:spPr bwMode="auto">
          <a:xfrm>
            <a:off x="4914900" y="3486150"/>
            <a:ext cx="2286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22568" name="Rectangle 40">
            <a:extLst>
              <a:ext uri="{FF2B5EF4-FFF2-40B4-BE49-F238E27FC236}">
                <a16:creationId xmlns:a16="http://schemas.microsoft.com/office/drawing/2014/main" id="{88F5197C-E784-3942-D2E5-7C43123913F6}"/>
              </a:ext>
            </a:extLst>
          </p:cNvPr>
          <p:cNvSpPr>
            <a:spLocks noChangeArrowheads="1"/>
          </p:cNvSpPr>
          <p:nvPr/>
        </p:nvSpPr>
        <p:spPr bwMode="auto">
          <a:xfrm>
            <a:off x="130254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69" name="Rectangle 41">
            <a:extLst>
              <a:ext uri="{FF2B5EF4-FFF2-40B4-BE49-F238E27FC236}">
                <a16:creationId xmlns:a16="http://schemas.microsoft.com/office/drawing/2014/main" id="{724C0F4C-146A-6028-A493-1029D7E8835C}"/>
              </a:ext>
            </a:extLst>
          </p:cNvPr>
          <p:cNvSpPr>
            <a:spLocks noChangeArrowheads="1"/>
          </p:cNvSpPr>
          <p:nvPr/>
        </p:nvSpPr>
        <p:spPr bwMode="auto">
          <a:xfrm>
            <a:off x="18168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70" name="Rectangle 42">
            <a:extLst>
              <a:ext uri="{FF2B5EF4-FFF2-40B4-BE49-F238E27FC236}">
                <a16:creationId xmlns:a16="http://schemas.microsoft.com/office/drawing/2014/main" id="{DCC19003-0651-F422-1DD0-FDE3BAAC7092}"/>
              </a:ext>
            </a:extLst>
          </p:cNvPr>
          <p:cNvSpPr>
            <a:spLocks noChangeArrowheads="1"/>
          </p:cNvSpPr>
          <p:nvPr/>
        </p:nvSpPr>
        <p:spPr bwMode="auto">
          <a:xfrm>
            <a:off x="21597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71" name="Rectangle 43">
            <a:extLst>
              <a:ext uri="{FF2B5EF4-FFF2-40B4-BE49-F238E27FC236}">
                <a16:creationId xmlns:a16="http://schemas.microsoft.com/office/drawing/2014/main" id="{43B7B82D-DA1F-3BCE-8907-870146332707}"/>
              </a:ext>
            </a:extLst>
          </p:cNvPr>
          <p:cNvSpPr>
            <a:spLocks noChangeArrowheads="1"/>
          </p:cNvSpPr>
          <p:nvPr/>
        </p:nvSpPr>
        <p:spPr bwMode="auto">
          <a:xfrm>
            <a:off x="26169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72" name="Rectangle 44">
            <a:extLst>
              <a:ext uri="{FF2B5EF4-FFF2-40B4-BE49-F238E27FC236}">
                <a16:creationId xmlns:a16="http://schemas.microsoft.com/office/drawing/2014/main" id="{19B6D7BD-FFFF-9149-8251-B76B3C6676CA}"/>
              </a:ext>
            </a:extLst>
          </p:cNvPr>
          <p:cNvSpPr>
            <a:spLocks noChangeArrowheads="1"/>
          </p:cNvSpPr>
          <p:nvPr/>
        </p:nvSpPr>
        <p:spPr bwMode="auto">
          <a:xfrm>
            <a:off x="30170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73" name="Rectangle 45">
            <a:extLst>
              <a:ext uri="{FF2B5EF4-FFF2-40B4-BE49-F238E27FC236}">
                <a16:creationId xmlns:a16="http://schemas.microsoft.com/office/drawing/2014/main" id="{1FFE3E47-E755-12ED-0DB9-E311AE3CA491}"/>
              </a:ext>
            </a:extLst>
          </p:cNvPr>
          <p:cNvSpPr>
            <a:spLocks noChangeArrowheads="1"/>
          </p:cNvSpPr>
          <p:nvPr/>
        </p:nvSpPr>
        <p:spPr bwMode="auto">
          <a:xfrm>
            <a:off x="35885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0</a:t>
            </a:r>
          </a:p>
        </p:txBody>
      </p:sp>
      <p:sp>
        <p:nvSpPr>
          <p:cNvPr id="22574" name="Rectangle 46">
            <a:extLst>
              <a:ext uri="{FF2B5EF4-FFF2-40B4-BE49-F238E27FC236}">
                <a16:creationId xmlns:a16="http://schemas.microsoft.com/office/drawing/2014/main" id="{DA0E94D2-BDC7-EA80-55C0-5B45132DDE6E}"/>
              </a:ext>
            </a:extLst>
          </p:cNvPr>
          <p:cNvSpPr>
            <a:spLocks noChangeArrowheads="1"/>
          </p:cNvSpPr>
          <p:nvPr/>
        </p:nvSpPr>
        <p:spPr bwMode="auto">
          <a:xfrm>
            <a:off x="42291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22575" name="Rectangle 47">
            <a:extLst>
              <a:ext uri="{FF2B5EF4-FFF2-40B4-BE49-F238E27FC236}">
                <a16:creationId xmlns:a16="http://schemas.microsoft.com/office/drawing/2014/main" id="{F9A83F48-B3D2-8D4F-1A86-1B3DA60EF8E5}"/>
              </a:ext>
            </a:extLst>
          </p:cNvPr>
          <p:cNvSpPr>
            <a:spLocks noChangeArrowheads="1"/>
          </p:cNvSpPr>
          <p:nvPr/>
        </p:nvSpPr>
        <p:spPr bwMode="auto">
          <a:xfrm>
            <a:off x="50292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22576" name="Rectangle 48">
            <a:extLst>
              <a:ext uri="{FF2B5EF4-FFF2-40B4-BE49-F238E27FC236}">
                <a16:creationId xmlns:a16="http://schemas.microsoft.com/office/drawing/2014/main" id="{B2973320-66A5-9E55-4642-34BDEE8A3C09}"/>
              </a:ext>
            </a:extLst>
          </p:cNvPr>
          <p:cNvSpPr>
            <a:spLocks noChangeArrowheads="1"/>
          </p:cNvSpPr>
          <p:nvPr/>
        </p:nvSpPr>
        <p:spPr bwMode="auto">
          <a:xfrm>
            <a:off x="5429250" y="33147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22577" name="Rectangle 49">
            <a:extLst>
              <a:ext uri="{FF2B5EF4-FFF2-40B4-BE49-F238E27FC236}">
                <a16:creationId xmlns:a16="http://schemas.microsoft.com/office/drawing/2014/main" id="{71CD3D26-D341-F3DB-7512-3064DCD62E4B}"/>
              </a:ext>
            </a:extLst>
          </p:cNvPr>
          <p:cNvSpPr>
            <a:spLocks noChangeArrowheads="1"/>
          </p:cNvSpPr>
          <p:nvPr/>
        </p:nvSpPr>
        <p:spPr bwMode="auto">
          <a:xfrm>
            <a:off x="7200900" y="257175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solidFill>
                  <a:schemeClr val="bg2"/>
                </a:solidFill>
              </a:rPr>
              <a:t>0</a:t>
            </a:r>
          </a:p>
        </p:txBody>
      </p:sp>
      <p:sp>
        <p:nvSpPr>
          <p:cNvPr id="22578" name="Rectangle 50">
            <a:extLst>
              <a:ext uri="{FF2B5EF4-FFF2-40B4-BE49-F238E27FC236}">
                <a16:creationId xmlns:a16="http://schemas.microsoft.com/office/drawing/2014/main" id="{FB94CB75-747D-9494-01DD-237BEAD6788C}"/>
              </a:ext>
            </a:extLst>
          </p:cNvPr>
          <p:cNvSpPr>
            <a:spLocks noChangeArrowheads="1"/>
          </p:cNvSpPr>
          <p:nvPr/>
        </p:nvSpPr>
        <p:spPr bwMode="auto">
          <a:xfrm>
            <a:off x="15311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79" name="Rectangle 51">
            <a:extLst>
              <a:ext uri="{FF2B5EF4-FFF2-40B4-BE49-F238E27FC236}">
                <a16:creationId xmlns:a16="http://schemas.microsoft.com/office/drawing/2014/main" id="{3D15A198-2C9E-F8EB-B939-6D9B63028FBF}"/>
              </a:ext>
            </a:extLst>
          </p:cNvPr>
          <p:cNvSpPr>
            <a:spLocks noChangeArrowheads="1"/>
          </p:cNvSpPr>
          <p:nvPr/>
        </p:nvSpPr>
        <p:spPr bwMode="auto">
          <a:xfrm>
            <a:off x="238839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80" name="Rectangle 52">
            <a:extLst>
              <a:ext uri="{FF2B5EF4-FFF2-40B4-BE49-F238E27FC236}">
                <a16:creationId xmlns:a16="http://schemas.microsoft.com/office/drawing/2014/main" id="{0056D700-15AD-686D-CACD-BC073A3967B7}"/>
              </a:ext>
            </a:extLst>
          </p:cNvPr>
          <p:cNvSpPr>
            <a:spLocks noChangeArrowheads="1"/>
          </p:cNvSpPr>
          <p:nvPr/>
        </p:nvSpPr>
        <p:spPr bwMode="auto">
          <a:xfrm>
            <a:off x="4674394" y="32230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81" name="Rectangle 53">
            <a:extLst>
              <a:ext uri="{FF2B5EF4-FFF2-40B4-BE49-F238E27FC236}">
                <a16:creationId xmlns:a16="http://schemas.microsoft.com/office/drawing/2014/main" id="{F29AC959-FA2E-AE51-96C6-5344895F3372}"/>
              </a:ext>
            </a:extLst>
          </p:cNvPr>
          <p:cNvSpPr>
            <a:spLocks noChangeArrowheads="1"/>
          </p:cNvSpPr>
          <p:nvPr/>
        </p:nvSpPr>
        <p:spPr bwMode="auto">
          <a:xfrm>
            <a:off x="19883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22582" name="Rectangle 54">
            <a:extLst>
              <a:ext uri="{FF2B5EF4-FFF2-40B4-BE49-F238E27FC236}">
                <a16:creationId xmlns:a16="http://schemas.microsoft.com/office/drawing/2014/main" id="{E90F34A6-2549-54A5-E827-D9E282B46027}"/>
              </a:ext>
            </a:extLst>
          </p:cNvPr>
          <p:cNvSpPr>
            <a:spLocks noChangeArrowheads="1"/>
          </p:cNvSpPr>
          <p:nvPr/>
        </p:nvSpPr>
        <p:spPr bwMode="auto">
          <a:xfrm>
            <a:off x="330279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83" name="Rectangle 55">
            <a:extLst>
              <a:ext uri="{FF2B5EF4-FFF2-40B4-BE49-F238E27FC236}">
                <a16:creationId xmlns:a16="http://schemas.microsoft.com/office/drawing/2014/main" id="{E8734B61-E4A8-5A8E-E485-6276F915447A}"/>
              </a:ext>
            </a:extLst>
          </p:cNvPr>
          <p:cNvSpPr>
            <a:spLocks noChangeArrowheads="1"/>
          </p:cNvSpPr>
          <p:nvPr/>
        </p:nvSpPr>
        <p:spPr bwMode="auto">
          <a:xfrm>
            <a:off x="50744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84" name="Rectangle 56">
            <a:extLst>
              <a:ext uri="{FF2B5EF4-FFF2-40B4-BE49-F238E27FC236}">
                <a16:creationId xmlns:a16="http://schemas.microsoft.com/office/drawing/2014/main" id="{BB451298-83DC-D042-7C73-43A417EEB308}"/>
              </a:ext>
            </a:extLst>
          </p:cNvPr>
          <p:cNvSpPr>
            <a:spLocks noChangeArrowheads="1"/>
          </p:cNvSpPr>
          <p:nvPr/>
        </p:nvSpPr>
        <p:spPr bwMode="auto">
          <a:xfrm>
            <a:off x="27312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22585" name="Rectangle 57">
            <a:extLst>
              <a:ext uri="{FF2B5EF4-FFF2-40B4-BE49-F238E27FC236}">
                <a16:creationId xmlns:a16="http://schemas.microsoft.com/office/drawing/2014/main" id="{000E3331-BE6F-B6E2-05F9-8D4D924C50E9}"/>
              </a:ext>
            </a:extLst>
          </p:cNvPr>
          <p:cNvSpPr>
            <a:spLocks noChangeArrowheads="1"/>
          </p:cNvSpPr>
          <p:nvPr/>
        </p:nvSpPr>
        <p:spPr bwMode="auto">
          <a:xfrm>
            <a:off x="60459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1</a:t>
            </a:r>
          </a:p>
        </p:txBody>
      </p:sp>
      <p:sp>
        <p:nvSpPr>
          <p:cNvPr id="22586" name="Rectangle 58">
            <a:extLst>
              <a:ext uri="{FF2B5EF4-FFF2-40B4-BE49-F238E27FC236}">
                <a16:creationId xmlns:a16="http://schemas.microsoft.com/office/drawing/2014/main" id="{83EE7CC0-2C1D-BADD-D7C1-0B21D2CFFE4F}"/>
              </a:ext>
            </a:extLst>
          </p:cNvPr>
          <p:cNvSpPr>
            <a:spLocks noChangeArrowheads="1"/>
          </p:cNvSpPr>
          <p:nvPr/>
        </p:nvSpPr>
        <p:spPr bwMode="auto">
          <a:xfrm>
            <a:off x="433149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sp>
        <p:nvSpPr>
          <p:cNvPr id="22587" name="Rectangle 59">
            <a:extLst>
              <a:ext uri="{FF2B5EF4-FFF2-40B4-BE49-F238E27FC236}">
                <a16:creationId xmlns:a16="http://schemas.microsoft.com/office/drawing/2014/main" id="{1081EAE2-6068-C01F-0B6F-B589B0CDA3DD}"/>
              </a:ext>
            </a:extLst>
          </p:cNvPr>
          <p:cNvSpPr>
            <a:spLocks noChangeArrowheads="1"/>
          </p:cNvSpPr>
          <p:nvPr/>
        </p:nvSpPr>
        <p:spPr bwMode="auto">
          <a:xfrm>
            <a:off x="1988344" y="4310943"/>
            <a:ext cx="47434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solidFill>
                  <a:srgbClr val="FF0000"/>
                </a:solidFill>
              </a:rPr>
              <a:t>Length of rightmost path is 2.</a:t>
            </a:r>
          </a:p>
        </p:txBody>
      </p:sp>
      <p:pic>
        <p:nvPicPr>
          <p:cNvPr id="2" name="Picture 1">
            <a:extLst>
              <a:ext uri="{FF2B5EF4-FFF2-40B4-BE49-F238E27FC236}">
                <a16:creationId xmlns:a16="http://schemas.microsoft.com/office/drawing/2014/main" id="{CFAD3F2D-9F86-AA8F-511B-E44F07A95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B217E2DA-60C2-CFE9-B96D-DE883488521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34BFA28-289B-A788-3DA2-26C85F8C24B4}"/>
              </a:ext>
            </a:extLst>
          </p:cNvPr>
          <p:cNvSpPr>
            <a:spLocks noGrp="1" noChangeArrowheads="1"/>
          </p:cNvSpPr>
          <p:nvPr>
            <p:ph type="ctrTitle"/>
          </p:nvPr>
        </p:nvSpPr>
        <p:spPr>
          <a:xfrm>
            <a:off x="1657350" y="400050"/>
            <a:ext cx="5829300" cy="857250"/>
          </a:xfrm>
          <a:noFill/>
        </p:spPr>
        <p:txBody>
          <a:bodyPr/>
          <a:lstStyle/>
          <a:p>
            <a:r>
              <a:rPr lang="en-US" altLang="en-US"/>
              <a:t>Leftist Trees—Property 2</a:t>
            </a:r>
          </a:p>
        </p:txBody>
      </p:sp>
      <p:sp>
        <p:nvSpPr>
          <p:cNvPr id="364547" name="Rectangle 3">
            <a:extLst>
              <a:ext uri="{FF2B5EF4-FFF2-40B4-BE49-F238E27FC236}">
                <a16:creationId xmlns:a16="http://schemas.microsoft.com/office/drawing/2014/main" id="{6E8D48BE-D7A3-9A84-50A8-A793512231A3}"/>
              </a:ext>
            </a:extLst>
          </p:cNvPr>
          <p:cNvSpPr>
            <a:spLocks noGrp="1" noChangeArrowheads="1"/>
          </p:cNvSpPr>
          <p:nvPr>
            <p:ph type="subTitle" idx="1"/>
          </p:nvPr>
        </p:nvSpPr>
        <p:spPr>
          <a:xfrm>
            <a:off x="1428750" y="1543050"/>
            <a:ext cx="6971412" cy="3200400"/>
          </a:xfrm>
          <a:noFill/>
        </p:spPr>
        <p:txBody>
          <a:bodyPr/>
          <a:lstStyle/>
          <a:p>
            <a:pPr marL="257175" indent="-257175" algn="l"/>
            <a:r>
              <a:rPr lang="en-US" altLang="en-US" dirty="0">
                <a:solidFill>
                  <a:srgbClr val="FF0000"/>
                </a:solidFill>
              </a:rPr>
              <a:t>The number of internal nodes is at least</a:t>
            </a:r>
          </a:p>
          <a:p>
            <a:pPr marL="557213" lvl="1" indent="-214313" algn="l"/>
            <a:r>
              <a:rPr lang="en-US" altLang="en-US" dirty="0">
                <a:solidFill>
                  <a:srgbClr val="FF0000"/>
                </a:solidFill>
              </a:rPr>
              <a:t>2</a:t>
            </a:r>
            <a:r>
              <a:rPr lang="en-US" altLang="en-US" baseline="30000" dirty="0">
                <a:solidFill>
                  <a:srgbClr val="FF0000"/>
                </a:solidFill>
              </a:rPr>
              <a:t>s(root)</a:t>
            </a:r>
            <a:r>
              <a:rPr lang="en-US" altLang="en-US" dirty="0">
                <a:solidFill>
                  <a:srgbClr val="FF0000"/>
                </a:solidFill>
              </a:rPr>
              <a:t> - 1</a:t>
            </a:r>
          </a:p>
          <a:p>
            <a:pPr marL="257175" indent="-257175" algn="l"/>
            <a:r>
              <a:rPr lang="en-US" altLang="en-US" dirty="0">
                <a:solidFill>
                  <a:srgbClr val="FF0000"/>
                </a:solidFill>
              </a:rPr>
              <a:t>Because levels 1 through s(root) have no external nodes.</a:t>
            </a:r>
          </a:p>
        </p:txBody>
      </p:sp>
      <p:pic>
        <p:nvPicPr>
          <p:cNvPr id="2" name="Picture 1">
            <a:extLst>
              <a:ext uri="{FF2B5EF4-FFF2-40B4-BE49-F238E27FC236}">
                <a16:creationId xmlns:a16="http://schemas.microsoft.com/office/drawing/2014/main" id="{9BDAC4A9-93EA-CC54-CED1-81BC247A1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CBDB12D5-E6C7-6F33-003D-B1DFC309CE04}"/>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45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36454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3645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6632054-2B89-ED1C-28DF-4F9B7FB8EC48}"/>
              </a:ext>
            </a:extLst>
          </p:cNvPr>
          <p:cNvSpPr>
            <a:spLocks noGrp="1" noChangeArrowheads="1"/>
          </p:cNvSpPr>
          <p:nvPr>
            <p:ph type="ctrTitle"/>
          </p:nvPr>
        </p:nvSpPr>
        <p:spPr>
          <a:xfrm>
            <a:off x="1200150" y="171450"/>
            <a:ext cx="6686550" cy="857250"/>
          </a:xfrm>
          <a:noFill/>
        </p:spPr>
        <p:txBody>
          <a:bodyPr/>
          <a:lstStyle/>
          <a:p>
            <a:r>
              <a:rPr lang="en-US" altLang="en-US">
                <a:latin typeface="Times New Roman" panose="02020603050405020304" pitchFamily="18" charset="0"/>
                <a:cs typeface="Times New Roman" panose="02020603050405020304" pitchFamily="18" charset="0"/>
              </a:rPr>
              <a:t>A Leftist Tree</a:t>
            </a:r>
          </a:p>
        </p:txBody>
      </p:sp>
      <p:sp>
        <p:nvSpPr>
          <p:cNvPr id="25603" name="Oval 3">
            <a:extLst>
              <a:ext uri="{FF2B5EF4-FFF2-40B4-BE49-F238E27FC236}">
                <a16:creationId xmlns:a16="http://schemas.microsoft.com/office/drawing/2014/main" id="{18969506-55E9-285C-3717-D9E2A7052A0A}"/>
              </a:ext>
            </a:extLst>
          </p:cNvPr>
          <p:cNvSpPr>
            <a:spLocks noChangeArrowheads="1"/>
          </p:cNvSpPr>
          <p:nvPr/>
        </p:nvSpPr>
        <p:spPr bwMode="auto">
          <a:xfrm>
            <a:off x="4291013" y="10906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4" name="Oval 4">
            <a:extLst>
              <a:ext uri="{FF2B5EF4-FFF2-40B4-BE49-F238E27FC236}">
                <a16:creationId xmlns:a16="http://schemas.microsoft.com/office/drawing/2014/main" id="{D274819E-BCDB-69B5-84AA-DA889FA58544}"/>
              </a:ext>
            </a:extLst>
          </p:cNvPr>
          <p:cNvSpPr>
            <a:spLocks noChangeArrowheads="1"/>
          </p:cNvSpPr>
          <p:nvPr/>
        </p:nvSpPr>
        <p:spPr bwMode="auto">
          <a:xfrm>
            <a:off x="269081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5" name="Oval 5">
            <a:extLst>
              <a:ext uri="{FF2B5EF4-FFF2-40B4-BE49-F238E27FC236}">
                <a16:creationId xmlns:a16="http://schemas.microsoft.com/office/drawing/2014/main" id="{4910C145-C552-AE94-A57F-0B9B593D57FD}"/>
              </a:ext>
            </a:extLst>
          </p:cNvPr>
          <p:cNvSpPr>
            <a:spLocks noChangeArrowheads="1"/>
          </p:cNvSpPr>
          <p:nvPr/>
        </p:nvSpPr>
        <p:spPr bwMode="auto">
          <a:xfrm>
            <a:off x="59483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6" name="Oval 6">
            <a:extLst>
              <a:ext uri="{FF2B5EF4-FFF2-40B4-BE49-F238E27FC236}">
                <a16:creationId xmlns:a16="http://schemas.microsoft.com/office/drawing/2014/main" id="{05F7CF9E-C549-DF7E-D038-6732E16AD377}"/>
              </a:ext>
            </a:extLst>
          </p:cNvPr>
          <p:cNvSpPr>
            <a:spLocks noChangeArrowheads="1"/>
          </p:cNvSpPr>
          <p:nvPr/>
        </p:nvSpPr>
        <p:spPr bwMode="auto">
          <a:xfrm>
            <a:off x="19478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7" name="Oval 7">
            <a:extLst>
              <a:ext uri="{FF2B5EF4-FFF2-40B4-BE49-F238E27FC236}">
                <a16:creationId xmlns:a16="http://schemas.microsoft.com/office/drawing/2014/main" id="{2300C565-BFAB-F387-E888-D14F09C9A6C9}"/>
              </a:ext>
            </a:extLst>
          </p:cNvPr>
          <p:cNvSpPr>
            <a:spLocks noChangeArrowheads="1"/>
          </p:cNvSpPr>
          <p:nvPr/>
        </p:nvSpPr>
        <p:spPr bwMode="auto">
          <a:xfrm>
            <a:off x="326231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8" name="Oval 8">
            <a:extLst>
              <a:ext uri="{FF2B5EF4-FFF2-40B4-BE49-F238E27FC236}">
                <a16:creationId xmlns:a16="http://schemas.microsoft.com/office/drawing/2014/main" id="{695EA2DF-EF95-1BAA-C2E2-56DB136C03BA}"/>
              </a:ext>
            </a:extLst>
          </p:cNvPr>
          <p:cNvSpPr>
            <a:spLocks noChangeArrowheads="1"/>
          </p:cNvSpPr>
          <p:nvPr/>
        </p:nvSpPr>
        <p:spPr bwMode="auto">
          <a:xfrm>
            <a:off x="50339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09" name="Oval 9">
            <a:extLst>
              <a:ext uri="{FF2B5EF4-FFF2-40B4-BE49-F238E27FC236}">
                <a16:creationId xmlns:a16="http://schemas.microsoft.com/office/drawing/2014/main" id="{8027A434-F38D-3F17-31D8-8FB9CD8C3D7E}"/>
              </a:ext>
            </a:extLst>
          </p:cNvPr>
          <p:cNvSpPr>
            <a:spLocks noChangeArrowheads="1"/>
          </p:cNvSpPr>
          <p:nvPr/>
        </p:nvSpPr>
        <p:spPr bwMode="auto">
          <a:xfrm>
            <a:off x="149066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10" name="Oval 10">
            <a:extLst>
              <a:ext uri="{FF2B5EF4-FFF2-40B4-BE49-F238E27FC236}">
                <a16:creationId xmlns:a16="http://schemas.microsoft.com/office/drawing/2014/main" id="{FA26FA1C-3B0C-3C7E-103B-6B7CF685643F}"/>
              </a:ext>
            </a:extLst>
          </p:cNvPr>
          <p:cNvSpPr>
            <a:spLocks noChangeArrowheads="1"/>
          </p:cNvSpPr>
          <p:nvPr/>
        </p:nvSpPr>
        <p:spPr bwMode="auto">
          <a:xfrm>
            <a:off x="234791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11" name="Line 11">
            <a:extLst>
              <a:ext uri="{FF2B5EF4-FFF2-40B4-BE49-F238E27FC236}">
                <a16:creationId xmlns:a16="http://schemas.microsoft.com/office/drawing/2014/main" id="{D268F8E8-CFD2-45EB-DBC0-F2BA69804C1A}"/>
              </a:ext>
            </a:extLst>
          </p:cNvPr>
          <p:cNvSpPr>
            <a:spLocks noChangeShapeType="1"/>
          </p:cNvSpPr>
          <p:nvPr/>
        </p:nvSpPr>
        <p:spPr bwMode="auto">
          <a:xfrm flipH="1">
            <a:off x="3028950" y="1314450"/>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2" name="Line 12">
            <a:extLst>
              <a:ext uri="{FF2B5EF4-FFF2-40B4-BE49-F238E27FC236}">
                <a16:creationId xmlns:a16="http://schemas.microsoft.com/office/drawing/2014/main" id="{F6071153-94FA-3AAC-A6E9-0DDCB84B8B2A}"/>
              </a:ext>
            </a:extLst>
          </p:cNvPr>
          <p:cNvSpPr>
            <a:spLocks noChangeShapeType="1"/>
          </p:cNvSpPr>
          <p:nvPr/>
        </p:nvSpPr>
        <p:spPr bwMode="auto">
          <a:xfrm>
            <a:off x="4629150" y="1314450"/>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3" name="Line 13">
            <a:extLst>
              <a:ext uri="{FF2B5EF4-FFF2-40B4-BE49-F238E27FC236}">
                <a16:creationId xmlns:a16="http://schemas.microsoft.com/office/drawing/2014/main" id="{FB40F03B-5288-B229-2995-D632ED6A3186}"/>
              </a:ext>
            </a:extLst>
          </p:cNvPr>
          <p:cNvSpPr>
            <a:spLocks noChangeShapeType="1"/>
          </p:cNvSpPr>
          <p:nvPr/>
        </p:nvSpPr>
        <p:spPr bwMode="auto">
          <a:xfrm flipH="1">
            <a:off x="2171700" y="21145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4" name="Line 14">
            <a:extLst>
              <a:ext uri="{FF2B5EF4-FFF2-40B4-BE49-F238E27FC236}">
                <a16:creationId xmlns:a16="http://schemas.microsoft.com/office/drawing/2014/main" id="{20889724-A68C-776E-EAD7-DF93DFAAB7A0}"/>
              </a:ext>
            </a:extLst>
          </p:cNvPr>
          <p:cNvSpPr>
            <a:spLocks noChangeShapeType="1"/>
          </p:cNvSpPr>
          <p:nvPr/>
        </p:nvSpPr>
        <p:spPr bwMode="auto">
          <a:xfrm>
            <a:off x="2971800" y="21145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5" name="Line 15">
            <a:extLst>
              <a:ext uri="{FF2B5EF4-FFF2-40B4-BE49-F238E27FC236}">
                <a16:creationId xmlns:a16="http://schemas.microsoft.com/office/drawing/2014/main" id="{A108A3A3-AECD-7A39-118D-D6BDFCD93F6C}"/>
              </a:ext>
            </a:extLst>
          </p:cNvPr>
          <p:cNvSpPr>
            <a:spLocks noChangeShapeType="1"/>
          </p:cNvSpPr>
          <p:nvPr/>
        </p:nvSpPr>
        <p:spPr bwMode="auto">
          <a:xfrm flipH="1">
            <a:off x="5314950" y="21717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6" name="Line 16">
            <a:extLst>
              <a:ext uri="{FF2B5EF4-FFF2-40B4-BE49-F238E27FC236}">
                <a16:creationId xmlns:a16="http://schemas.microsoft.com/office/drawing/2014/main" id="{D5C5B164-9F23-980C-76E9-5E8BA328717D}"/>
              </a:ext>
            </a:extLst>
          </p:cNvPr>
          <p:cNvSpPr>
            <a:spLocks noChangeShapeType="1"/>
          </p:cNvSpPr>
          <p:nvPr/>
        </p:nvSpPr>
        <p:spPr bwMode="auto">
          <a:xfrm flipH="1">
            <a:off x="1714500" y="27432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7" name="Line 17">
            <a:extLst>
              <a:ext uri="{FF2B5EF4-FFF2-40B4-BE49-F238E27FC236}">
                <a16:creationId xmlns:a16="http://schemas.microsoft.com/office/drawing/2014/main" id="{F3F83275-68F8-1C24-A483-FE3984B54F72}"/>
              </a:ext>
            </a:extLst>
          </p:cNvPr>
          <p:cNvSpPr>
            <a:spLocks noChangeShapeType="1"/>
          </p:cNvSpPr>
          <p:nvPr/>
        </p:nvSpPr>
        <p:spPr bwMode="auto">
          <a:xfrm>
            <a:off x="222885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18" name="Oval 18">
            <a:extLst>
              <a:ext uri="{FF2B5EF4-FFF2-40B4-BE49-F238E27FC236}">
                <a16:creationId xmlns:a16="http://schemas.microsoft.com/office/drawing/2014/main" id="{B3134D0E-1EC6-90E0-965E-5F50894AB941}"/>
              </a:ext>
            </a:extLst>
          </p:cNvPr>
          <p:cNvSpPr>
            <a:spLocks noChangeArrowheads="1"/>
          </p:cNvSpPr>
          <p:nvPr/>
        </p:nvSpPr>
        <p:spPr bwMode="auto">
          <a:xfrm>
            <a:off x="4633913" y="32051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19" name="Line 19">
            <a:extLst>
              <a:ext uri="{FF2B5EF4-FFF2-40B4-BE49-F238E27FC236}">
                <a16:creationId xmlns:a16="http://schemas.microsoft.com/office/drawing/2014/main" id="{FF1D337B-1DD2-6257-7D3A-F0E7FF8A0E67}"/>
              </a:ext>
            </a:extLst>
          </p:cNvPr>
          <p:cNvSpPr>
            <a:spLocks noChangeShapeType="1"/>
          </p:cNvSpPr>
          <p:nvPr/>
        </p:nvSpPr>
        <p:spPr bwMode="auto">
          <a:xfrm flipH="1">
            <a:off x="4857750" y="28003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20" name="Rectangle 20">
            <a:extLst>
              <a:ext uri="{FF2B5EF4-FFF2-40B4-BE49-F238E27FC236}">
                <a16:creationId xmlns:a16="http://schemas.microsoft.com/office/drawing/2014/main" id="{DC0050DA-A730-8A9E-708B-408ADF522EEE}"/>
              </a:ext>
            </a:extLst>
          </p:cNvPr>
          <p:cNvSpPr>
            <a:spLocks noChangeArrowheads="1"/>
          </p:cNvSpPr>
          <p:nvPr/>
        </p:nvSpPr>
        <p:spPr bwMode="auto">
          <a:xfrm>
            <a:off x="30337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1" name="Rectangle 21">
            <a:extLst>
              <a:ext uri="{FF2B5EF4-FFF2-40B4-BE49-F238E27FC236}">
                <a16:creationId xmlns:a16="http://schemas.microsoft.com/office/drawing/2014/main" id="{00D8209A-346B-9BC9-1E00-8F1313307372}"/>
              </a:ext>
            </a:extLst>
          </p:cNvPr>
          <p:cNvSpPr>
            <a:spLocks noChangeArrowheads="1"/>
          </p:cNvSpPr>
          <p:nvPr/>
        </p:nvSpPr>
        <p:spPr bwMode="auto">
          <a:xfrm>
            <a:off x="36052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2" name="Rectangle 22">
            <a:extLst>
              <a:ext uri="{FF2B5EF4-FFF2-40B4-BE49-F238E27FC236}">
                <a16:creationId xmlns:a16="http://schemas.microsoft.com/office/drawing/2014/main" id="{415DC522-FE76-87C3-E827-08550A34E098}"/>
              </a:ext>
            </a:extLst>
          </p:cNvPr>
          <p:cNvSpPr>
            <a:spLocks noChangeArrowheads="1"/>
          </p:cNvSpPr>
          <p:nvPr/>
        </p:nvSpPr>
        <p:spPr bwMode="auto">
          <a:xfrm>
            <a:off x="5434013" y="33194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3" name="Rectangle 23">
            <a:extLst>
              <a:ext uri="{FF2B5EF4-FFF2-40B4-BE49-F238E27FC236}">
                <a16:creationId xmlns:a16="http://schemas.microsoft.com/office/drawing/2014/main" id="{389801B9-BC48-5AE6-0007-E36B5335BC96}"/>
              </a:ext>
            </a:extLst>
          </p:cNvPr>
          <p:cNvSpPr>
            <a:spLocks noChangeArrowheads="1"/>
          </p:cNvSpPr>
          <p:nvPr/>
        </p:nvSpPr>
        <p:spPr bwMode="auto">
          <a:xfrm>
            <a:off x="7205663" y="25765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4" name="Rectangle 24">
            <a:extLst>
              <a:ext uri="{FF2B5EF4-FFF2-40B4-BE49-F238E27FC236}">
                <a16:creationId xmlns:a16="http://schemas.microsoft.com/office/drawing/2014/main" id="{DACB42C5-DC80-CE2E-8F23-738D3AA00F0A}"/>
              </a:ext>
            </a:extLst>
          </p:cNvPr>
          <p:cNvSpPr>
            <a:spLocks noChangeArrowheads="1"/>
          </p:cNvSpPr>
          <p:nvPr/>
        </p:nvSpPr>
        <p:spPr bwMode="auto">
          <a:xfrm>
            <a:off x="131921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5" name="Rectangle 25">
            <a:extLst>
              <a:ext uri="{FF2B5EF4-FFF2-40B4-BE49-F238E27FC236}">
                <a16:creationId xmlns:a16="http://schemas.microsoft.com/office/drawing/2014/main" id="{29873EC7-702B-A3DD-4F79-6AABB02C5977}"/>
              </a:ext>
            </a:extLst>
          </p:cNvPr>
          <p:cNvSpPr>
            <a:spLocks noChangeArrowheads="1"/>
          </p:cNvSpPr>
          <p:nvPr/>
        </p:nvSpPr>
        <p:spPr bwMode="auto">
          <a:xfrm>
            <a:off x="18335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6" name="Rectangle 26">
            <a:extLst>
              <a:ext uri="{FF2B5EF4-FFF2-40B4-BE49-F238E27FC236}">
                <a16:creationId xmlns:a16="http://schemas.microsoft.com/office/drawing/2014/main" id="{30C4A459-18ED-2902-5FBA-3CBE309BF3CF}"/>
              </a:ext>
            </a:extLst>
          </p:cNvPr>
          <p:cNvSpPr>
            <a:spLocks noChangeArrowheads="1"/>
          </p:cNvSpPr>
          <p:nvPr/>
        </p:nvSpPr>
        <p:spPr bwMode="auto">
          <a:xfrm>
            <a:off x="21764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7" name="Rectangle 27">
            <a:extLst>
              <a:ext uri="{FF2B5EF4-FFF2-40B4-BE49-F238E27FC236}">
                <a16:creationId xmlns:a16="http://schemas.microsoft.com/office/drawing/2014/main" id="{2BC69064-FC1D-3950-0FFE-9DB58473BBA4}"/>
              </a:ext>
            </a:extLst>
          </p:cNvPr>
          <p:cNvSpPr>
            <a:spLocks noChangeArrowheads="1"/>
          </p:cNvSpPr>
          <p:nvPr/>
        </p:nvSpPr>
        <p:spPr bwMode="auto">
          <a:xfrm>
            <a:off x="2633663" y="394811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28" name="Line 28">
            <a:extLst>
              <a:ext uri="{FF2B5EF4-FFF2-40B4-BE49-F238E27FC236}">
                <a16:creationId xmlns:a16="http://schemas.microsoft.com/office/drawing/2014/main" id="{5F1E3553-B9BA-379E-5DDD-EB3FE3248D10}"/>
              </a:ext>
            </a:extLst>
          </p:cNvPr>
          <p:cNvSpPr>
            <a:spLocks noChangeShapeType="1"/>
          </p:cNvSpPr>
          <p:nvPr/>
        </p:nvSpPr>
        <p:spPr bwMode="auto">
          <a:xfrm flipH="1">
            <a:off x="30861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29" name="Line 29">
            <a:extLst>
              <a:ext uri="{FF2B5EF4-FFF2-40B4-BE49-F238E27FC236}">
                <a16:creationId xmlns:a16="http://schemas.microsoft.com/office/drawing/2014/main" id="{5451C985-6B9C-77BA-1FF4-60A0FFC0510F}"/>
              </a:ext>
            </a:extLst>
          </p:cNvPr>
          <p:cNvSpPr>
            <a:spLocks noChangeShapeType="1"/>
          </p:cNvSpPr>
          <p:nvPr/>
        </p:nvSpPr>
        <p:spPr bwMode="auto">
          <a:xfrm>
            <a:off x="354330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0" name="Line 30">
            <a:extLst>
              <a:ext uri="{FF2B5EF4-FFF2-40B4-BE49-F238E27FC236}">
                <a16:creationId xmlns:a16="http://schemas.microsoft.com/office/drawing/2014/main" id="{6776B847-1F2B-F97E-7DD1-DA17DDC1F700}"/>
              </a:ext>
            </a:extLst>
          </p:cNvPr>
          <p:cNvSpPr>
            <a:spLocks noChangeShapeType="1"/>
          </p:cNvSpPr>
          <p:nvPr/>
        </p:nvSpPr>
        <p:spPr bwMode="auto">
          <a:xfrm flipH="1">
            <a:off x="1371600" y="3543300"/>
            <a:ext cx="1714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1" name="Line 31">
            <a:extLst>
              <a:ext uri="{FF2B5EF4-FFF2-40B4-BE49-F238E27FC236}">
                <a16:creationId xmlns:a16="http://schemas.microsoft.com/office/drawing/2014/main" id="{0835DB75-D685-018A-301A-BA3E9CF6B895}"/>
              </a:ext>
            </a:extLst>
          </p:cNvPr>
          <p:cNvSpPr>
            <a:spLocks noChangeShapeType="1"/>
          </p:cNvSpPr>
          <p:nvPr/>
        </p:nvSpPr>
        <p:spPr bwMode="auto">
          <a:xfrm>
            <a:off x="1771650" y="3600450"/>
            <a:ext cx="17145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2" name="Line 32">
            <a:extLst>
              <a:ext uri="{FF2B5EF4-FFF2-40B4-BE49-F238E27FC236}">
                <a16:creationId xmlns:a16="http://schemas.microsoft.com/office/drawing/2014/main" id="{975EB0C0-8BCA-783B-8159-68F122D14835}"/>
              </a:ext>
            </a:extLst>
          </p:cNvPr>
          <p:cNvSpPr>
            <a:spLocks noChangeShapeType="1"/>
          </p:cNvSpPr>
          <p:nvPr/>
        </p:nvSpPr>
        <p:spPr bwMode="auto">
          <a:xfrm flipH="1">
            <a:off x="2286000" y="3543300"/>
            <a:ext cx="1143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3" name="Line 33">
            <a:extLst>
              <a:ext uri="{FF2B5EF4-FFF2-40B4-BE49-F238E27FC236}">
                <a16:creationId xmlns:a16="http://schemas.microsoft.com/office/drawing/2014/main" id="{E0B04B73-58A2-FCD8-4AAA-56473D0C2BF0}"/>
              </a:ext>
            </a:extLst>
          </p:cNvPr>
          <p:cNvSpPr>
            <a:spLocks noChangeShapeType="1"/>
          </p:cNvSpPr>
          <p:nvPr/>
        </p:nvSpPr>
        <p:spPr bwMode="auto">
          <a:xfrm>
            <a:off x="2628900" y="3600450"/>
            <a:ext cx="11430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4" name="Line 34">
            <a:extLst>
              <a:ext uri="{FF2B5EF4-FFF2-40B4-BE49-F238E27FC236}">
                <a16:creationId xmlns:a16="http://schemas.microsoft.com/office/drawing/2014/main" id="{D46A38D9-B7D9-01C7-6334-F0CD6F9B3F5E}"/>
              </a:ext>
            </a:extLst>
          </p:cNvPr>
          <p:cNvSpPr>
            <a:spLocks noChangeShapeType="1"/>
          </p:cNvSpPr>
          <p:nvPr/>
        </p:nvSpPr>
        <p:spPr bwMode="auto">
          <a:xfrm>
            <a:off x="5257800" y="28003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5" name="Line 35">
            <a:extLst>
              <a:ext uri="{FF2B5EF4-FFF2-40B4-BE49-F238E27FC236}">
                <a16:creationId xmlns:a16="http://schemas.microsoft.com/office/drawing/2014/main" id="{6CD65C74-DFEE-608B-BAB7-FE3C933768E0}"/>
              </a:ext>
            </a:extLst>
          </p:cNvPr>
          <p:cNvSpPr>
            <a:spLocks noChangeShapeType="1"/>
          </p:cNvSpPr>
          <p:nvPr/>
        </p:nvSpPr>
        <p:spPr bwMode="auto">
          <a:xfrm>
            <a:off x="6229350" y="2114550"/>
            <a:ext cx="10858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6" name="Rectangle 36">
            <a:extLst>
              <a:ext uri="{FF2B5EF4-FFF2-40B4-BE49-F238E27FC236}">
                <a16:creationId xmlns:a16="http://schemas.microsoft.com/office/drawing/2014/main" id="{1CD2C29B-7AC1-C188-1168-397FFBC7D239}"/>
              </a:ext>
            </a:extLst>
          </p:cNvPr>
          <p:cNvSpPr>
            <a:spLocks noChangeArrowheads="1"/>
          </p:cNvSpPr>
          <p:nvPr/>
        </p:nvSpPr>
        <p:spPr bwMode="auto">
          <a:xfrm>
            <a:off x="42338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37" name="Rectangle 37">
            <a:extLst>
              <a:ext uri="{FF2B5EF4-FFF2-40B4-BE49-F238E27FC236}">
                <a16:creationId xmlns:a16="http://schemas.microsoft.com/office/drawing/2014/main" id="{92AF65D5-D144-5E52-3894-DC8AF404CA04}"/>
              </a:ext>
            </a:extLst>
          </p:cNvPr>
          <p:cNvSpPr>
            <a:spLocks noChangeArrowheads="1"/>
          </p:cNvSpPr>
          <p:nvPr/>
        </p:nvSpPr>
        <p:spPr bwMode="auto">
          <a:xfrm>
            <a:off x="5033963" y="3890963"/>
            <a:ext cx="219075" cy="219075"/>
          </a:xfrm>
          <a:prstGeom prst="rect">
            <a:avLst/>
          </a:prstGeom>
          <a:solidFill>
            <a:schemeClr val="hlink"/>
          </a:solidFill>
          <a:ln w="12700">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25638" name="Line 38">
            <a:extLst>
              <a:ext uri="{FF2B5EF4-FFF2-40B4-BE49-F238E27FC236}">
                <a16:creationId xmlns:a16="http://schemas.microsoft.com/office/drawing/2014/main" id="{7012129D-A7E8-4288-8194-1239ED615501}"/>
              </a:ext>
            </a:extLst>
          </p:cNvPr>
          <p:cNvSpPr>
            <a:spLocks noChangeShapeType="1"/>
          </p:cNvSpPr>
          <p:nvPr/>
        </p:nvSpPr>
        <p:spPr bwMode="auto">
          <a:xfrm flipH="1">
            <a:off x="4286250" y="34861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39" name="Line 39">
            <a:extLst>
              <a:ext uri="{FF2B5EF4-FFF2-40B4-BE49-F238E27FC236}">
                <a16:creationId xmlns:a16="http://schemas.microsoft.com/office/drawing/2014/main" id="{3C04FC69-FF8E-0615-8893-546909003253}"/>
              </a:ext>
            </a:extLst>
          </p:cNvPr>
          <p:cNvSpPr>
            <a:spLocks noChangeShapeType="1"/>
          </p:cNvSpPr>
          <p:nvPr/>
        </p:nvSpPr>
        <p:spPr bwMode="auto">
          <a:xfrm>
            <a:off x="4914900" y="3486150"/>
            <a:ext cx="2286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25640" name="Rectangle 40">
            <a:extLst>
              <a:ext uri="{FF2B5EF4-FFF2-40B4-BE49-F238E27FC236}">
                <a16:creationId xmlns:a16="http://schemas.microsoft.com/office/drawing/2014/main" id="{17EB2398-7BBE-8555-C671-841D1D555EB1}"/>
              </a:ext>
            </a:extLst>
          </p:cNvPr>
          <p:cNvSpPr>
            <a:spLocks noChangeArrowheads="1"/>
          </p:cNvSpPr>
          <p:nvPr/>
        </p:nvSpPr>
        <p:spPr bwMode="auto">
          <a:xfrm>
            <a:off x="130254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1" name="Rectangle 41">
            <a:extLst>
              <a:ext uri="{FF2B5EF4-FFF2-40B4-BE49-F238E27FC236}">
                <a16:creationId xmlns:a16="http://schemas.microsoft.com/office/drawing/2014/main" id="{7C655F6B-E946-7956-CEDE-C605FB11D6CA}"/>
              </a:ext>
            </a:extLst>
          </p:cNvPr>
          <p:cNvSpPr>
            <a:spLocks noChangeArrowheads="1"/>
          </p:cNvSpPr>
          <p:nvPr/>
        </p:nvSpPr>
        <p:spPr bwMode="auto">
          <a:xfrm>
            <a:off x="18168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2" name="Rectangle 42">
            <a:extLst>
              <a:ext uri="{FF2B5EF4-FFF2-40B4-BE49-F238E27FC236}">
                <a16:creationId xmlns:a16="http://schemas.microsoft.com/office/drawing/2014/main" id="{BB5CC29F-EB74-0E5A-B709-3D6423FA85AC}"/>
              </a:ext>
            </a:extLst>
          </p:cNvPr>
          <p:cNvSpPr>
            <a:spLocks noChangeArrowheads="1"/>
          </p:cNvSpPr>
          <p:nvPr/>
        </p:nvSpPr>
        <p:spPr bwMode="auto">
          <a:xfrm>
            <a:off x="21597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3" name="Rectangle 43">
            <a:extLst>
              <a:ext uri="{FF2B5EF4-FFF2-40B4-BE49-F238E27FC236}">
                <a16:creationId xmlns:a16="http://schemas.microsoft.com/office/drawing/2014/main" id="{0C931AD4-A0C7-F48A-DB28-A1DA747AC06E}"/>
              </a:ext>
            </a:extLst>
          </p:cNvPr>
          <p:cNvSpPr>
            <a:spLocks noChangeArrowheads="1"/>
          </p:cNvSpPr>
          <p:nvPr/>
        </p:nvSpPr>
        <p:spPr bwMode="auto">
          <a:xfrm>
            <a:off x="2616994" y="3908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4" name="Rectangle 44">
            <a:extLst>
              <a:ext uri="{FF2B5EF4-FFF2-40B4-BE49-F238E27FC236}">
                <a16:creationId xmlns:a16="http://schemas.microsoft.com/office/drawing/2014/main" id="{DA1CA95D-A5B3-D75C-8BED-9E6225EABE3A}"/>
              </a:ext>
            </a:extLst>
          </p:cNvPr>
          <p:cNvSpPr>
            <a:spLocks noChangeArrowheads="1"/>
          </p:cNvSpPr>
          <p:nvPr/>
        </p:nvSpPr>
        <p:spPr bwMode="auto">
          <a:xfrm>
            <a:off x="30170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5" name="Rectangle 45">
            <a:extLst>
              <a:ext uri="{FF2B5EF4-FFF2-40B4-BE49-F238E27FC236}">
                <a16:creationId xmlns:a16="http://schemas.microsoft.com/office/drawing/2014/main" id="{3BE78E02-A077-C576-85C0-E5EB265635A7}"/>
              </a:ext>
            </a:extLst>
          </p:cNvPr>
          <p:cNvSpPr>
            <a:spLocks noChangeArrowheads="1"/>
          </p:cNvSpPr>
          <p:nvPr/>
        </p:nvSpPr>
        <p:spPr bwMode="auto">
          <a:xfrm>
            <a:off x="35885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0</a:t>
            </a:r>
          </a:p>
        </p:txBody>
      </p:sp>
      <p:sp>
        <p:nvSpPr>
          <p:cNvPr id="25646" name="Rectangle 46">
            <a:extLst>
              <a:ext uri="{FF2B5EF4-FFF2-40B4-BE49-F238E27FC236}">
                <a16:creationId xmlns:a16="http://schemas.microsoft.com/office/drawing/2014/main" id="{BB94EE3F-A356-33EA-70D8-AB537754599F}"/>
              </a:ext>
            </a:extLst>
          </p:cNvPr>
          <p:cNvSpPr>
            <a:spLocks noChangeArrowheads="1"/>
          </p:cNvSpPr>
          <p:nvPr/>
        </p:nvSpPr>
        <p:spPr bwMode="auto">
          <a:xfrm>
            <a:off x="42291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cs typeface="Times New Roman" panose="02020603050405020304" pitchFamily="18" charset="0"/>
              </a:rPr>
              <a:t>0</a:t>
            </a:r>
          </a:p>
        </p:txBody>
      </p:sp>
      <p:sp>
        <p:nvSpPr>
          <p:cNvPr id="25647" name="Rectangle 47">
            <a:extLst>
              <a:ext uri="{FF2B5EF4-FFF2-40B4-BE49-F238E27FC236}">
                <a16:creationId xmlns:a16="http://schemas.microsoft.com/office/drawing/2014/main" id="{98A99CE6-7DFE-E5A2-0359-39747E27B78D}"/>
              </a:ext>
            </a:extLst>
          </p:cNvPr>
          <p:cNvSpPr>
            <a:spLocks noChangeArrowheads="1"/>
          </p:cNvSpPr>
          <p:nvPr/>
        </p:nvSpPr>
        <p:spPr bwMode="auto">
          <a:xfrm>
            <a:off x="5029200" y="38862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cs typeface="Times New Roman" panose="02020603050405020304" pitchFamily="18" charset="0"/>
              </a:rPr>
              <a:t>0</a:t>
            </a:r>
          </a:p>
        </p:txBody>
      </p:sp>
      <p:sp>
        <p:nvSpPr>
          <p:cNvPr id="25648" name="Rectangle 48">
            <a:extLst>
              <a:ext uri="{FF2B5EF4-FFF2-40B4-BE49-F238E27FC236}">
                <a16:creationId xmlns:a16="http://schemas.microsoft.com/office/drawing/2014/main" id="{E2BCFC74-A0AA-A7A4-03D0-9713032EDEA8}"/>
              </a:ext>
            </a:extLst>
          </p:cNvPr>
          <p:cNvSpPr>
            <a:spLocks noChangeArrowheads="1"/>
          </p:cNvSpPr>
          <p:nvPr/>
        </p:nvSpPr>
        <p:spPr bwMode="auto">
          <a:xfrm>
            <a:off x="5429250" y="331470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cs typeface="Times New Roman" panose="02020603050405020304" pitchFamily="18" charset="0"/>
              </a:rPr>
              <a:t>0</a:t>
            </a:r>
          </a:p>
        </p:txBody>
      </p:sp>
      <p:sp>
        <p:nvSpPr>
          <p:cNvPr id="25649" name="Rectangle 49">
            <a:extLst>
              <a:ext uri="{FF2B5EF4-FFF2-40B4-BE49-F238E27FC236}">
                <a16:creationId xmlns:a16="http://schemas.microsoft.com/office/drawing/2014/main" id="{50192C61-5611-5420-BD5B-B9882BA1EF0C}"/>
              </a:ext>
            </a:extLst>
          </p:cNvPr>
          <p:cNvSpPr>
            <a:spLocks noChangeArrowheads="1"/>
          </p:cNvSpPr>
          <p:nvPr/>
        </p:nvSpPr>
        <p:spPr bwMode="auto">
          <a:xfrm>
            <a:off x="7200900" y="2571750"/>
            <a:ext cx="17145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500">
                <a:cs typeface="Times New Roman" panose="02020603050405020304" pitchFamily="18" charset="0"/>
              </a:rPr>
              <a:t>0</a:t>
            </a:r>
          </a:p>
        </p:txBody>
      </p:sp>
      <p:sp>
        <p:nvSpPr>
          <p:cNvPr id="25650" name="Rectangle 50">
            <a:extLst>
              <a:ext uri="{FF2B5EF4-FFF2-40B4-BE49-F238E27FC236}">
                <a16:creationId xmlns:a16="http://schemas.microsoft.com/office/drawing/2014/main" id="{DA7F427A-54CD-9847-B7FD-6E28A16B612B}"/>
              </a:ext>
            </a:extLst>
          </p:cNvPr>
          <p:cNvSpPr>
            <a:spLocks noChangeArrowheads="1"/>
          </p:cNvSpPr>
          <p:nvPr/>
        </p:nvSpPr>
        <p:spPr bwMode="auto">
          <a:xfrm>
            <a:off x="15311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1" name="Rectangle 51">
            <a:extLst>
              <a:ext uri="{FF2B5EF4-FFF2-40B4-BE49-F238E27FC236}">
                <a16:creationId xmlns:a16="http://schemas.microsoft.com/office/drawing/2014/main" id="{915BA6E4-3410-B8D4-0FA7-6FE3F548A273}"/>
              </a:ext>
            </a:extLst>
          </p:cNvPr>
          <p:cNvSpPr>
            <a:spLocks noChangeArrowheads="1"/>
          </p:cNvSpPr>
          <p:nvPr/>
        </p:nvSpPr>
        <p:spPr bwMode="auto">
          <a:xfrm>
            <a:off x="238839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2" name="Rectangle 52">
            <a:extLst>
              <a:ext uri="{FF2B5EF4-FFF2-40B4-BE49-F238E27FC236}">
                <a16:creationId xmlns:a16="http://schemas.microsoft.com/office/drawing/2014/main" id="{95ACD1BA-E009-37CA-47D9-224CCC84046B}"/>
              </a:ext>
            </a:extLst>
          </p:cNvPr>
          <p:cNvSpPr>
            <a:spLocks noChangeArrowheads="1"/>
          </p:cNvSpPr>
          <p:nvPr/>
        </p:nvSpPr>
        <p:spPr bwMode="auto">
          <a:xfrm>
            <a:off x="4674394" y="32230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3" name="Rectangle 53">
            <a:extLst>
              <a:ext uri="{FF2B5EF4-FFF2-40B4-BE49-F238E27FC236}">
                <a16:creationId xmlns:a16="http://schemas.microsoft.com/office/drawing/2014/main" id="{1DB99DE7-A3EB-7B85-71C1-A35D88ABAFBD}"/>
              </a:ext>
            </a:extLst>
          </p:cNvPr>
          <p:cNvSpPr>
            <a:spLocks noChangeArrowheads="1"/>
          </p:cNvSpPr>
          <p:nvPr/>
        </p:nvSpPr>
        <p:spPr bwMode="auto">
          <a:xfrm>
            <a:off x="19883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2</a:t>
            </a:r>
          </a:p>
        </p:txBody>
      </p:sp>
      <p:sp>
        <p:nvSpPr>
          <p:cNvPr id="25654" name="Rectangle 54">
            <a:extLst>
              <a:ext uri="{FF2B5EF4-FFF2-40B4-BE49-F238E27FC236}">
                <a16:creationId xmlns:a16="http://schemas.microsoft.com/office/drawing/2014/main" id="{31D02C15-5AA7-AFDA-FB56-A3F651A3106E}"/>
              </a:ext>
            </a:extLst>
          </p:cNvPr>
          <p:cNvSpPr>
            <a:spLocks noChangeArrowheads="1"/>
          </p:cNvSpPr>
          <p:nvPr/>
        </p:nvSpPr>
        <p:spPr bwMode="auto">
          <a:xfrm>
            <a:off x="330279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5" name="Rectangle 55">
            <a:extLst>
              <a:ext uri="{FF2B5EF4-FFF2-40B4-BE49-F238E27FC236}">
                <a16:creationId xmlns:a16="http://schemas.microsoft.com/office/drawing/2014/main" id="{1F424DE0-C67C-05D1-69B9-817ABFD90C37}"/>
              </a:ext>
            </a:extLst>
          </p:cNvPr>
          <p:cNvSpPr>
            <a:spLocks noChangeArrowheads="1"/>
          </p:cNvSpPr>
          <p:nvPr/>
        </p:nvSpPr>
        <p:spPr bwMode="auto">
          <a:xfrm>
            <a:off x="50744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6" name="Rectangle 56">
            <a:extLst>
              <a:ext uri="{FF2B5EF4-FFF2-40B4-BE49-F238E27FC236}">
                <a16:creationId xmlns:a16="http://schemas.microsoft.com/office/drawing/2014/main" id="{9EC1DC09-71CC-FBDB-ED72-6AB7B76D5450}"/>
              </a:ext>
            </a:extLst>
          </p:cNvPr>
          <p:cNvSpPr>
            <a:spLocks noChangeArrowheads="1"/>
          </p:cNvSpPr>
          <p:nvPr/>
        </p:nvSpPr>
        <p:spPr bwMode="auto">
          <a:xfrm>
            <a:off x="27312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2</a:t>
            </a:r>
          </a:p>
        </p:txBody>
      </p:sp>
      <p:sp>
        <p:nvSpPr>
          <p:cNvPr id="25657" name="Rectangle 57">
            <a:extLst>
              <a:ext uri="{FF2B5EF4-FFF2-40B4-BE49-F238E27FC236}">
                <a16:creationId xmlns:a16="http://schemas.microsoft.com/office/drawing/2014/main" id="{E6A827E5-6795-FDAA-AB82-6743DD98437D}"/>
              </a:ext>
            </a:extLst>
          </p:cNvPr>
          <p:cNvSpPr>
            <a:spLocks noChangeArrowheads="1"/>
          </p:cNvSpPr>
          <p:nvPr/>
        </p:nvSpPr>
        <p:spPr bwMode="auto">
          <a:xfrm>
            <a:off x="60459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1</a:t>
            </a:r>
          </a:p>
        </p:txBody>
      </p:sp>
      <p:sp>
        <p:nvSpPr>
          <p:cNvPr id="25658" name="Rectangle 58">
            <a:extLst>
              <a:ext uri="{FF2B5EF4-FFF2-40B4-BE49-F238E27FC236}">
                <a16:creationId xmlns:a16="http://schemas.microsoft.com/office/drawing/2014/main" id="{00A88488-E87C-328A-E92D-9DCED3646ACE}"/>
              </a:ext>
            </a:extLst>
          </p:cNvPr>
          <p:cNvSpPr>
            <a:spLocks noChangeArrowheads="1"/>
          </p:cNvSpPr>
          <p:nvPr/>
        </p:nvSpPr>
        <p:spPr bwMode="auto">
          <a:xfrm>
            <a:off x="433149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2</a:t>
            </a:r>
          </a:p>
        </p:txBody>
      </p:sp>
      <p:sp>
        <p:nvSpPr>
          <p:cNvPr id="25659" name="Rectangle 59">
            <a:extLst>
              <a:ext uri="{FF2B5EF4-FFF2-40B4-BE49-F238E27FC236}">
                <a16:creationId xmlns:a16="http://schemas.microsoft.com/office/drawing/2014/main" id="{3D98EAD9-0B6F-EBA1-B8B9-7EF2884B43BC}"/>
              </a:ext>
            </a:extLst>
          </p:cNvPr>
          <p:cNvSpPr>
            <a:spLocks noChangeArrowheads="1"/>
          </p:cNvSpPr>
          <p:nvPr/>
        </p:nvSpPr>
        <p:spPr bwMode="auto">
          <a:xfrm>
            <a:off x="1485900" y="4286251"/>
            <a:ext cx="63436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cs typeface="Times New Roman" panose="02020603050405020304" pitchFamily="18" charset="0"/>
              </a:rPr>
              <a:t>Levels 1 and 2 have no external nodes.</a:t>
            </a:r>
          </a:p>
        </p:txBody>
      </p:sp>
      <p:sp>
        <p:nvSpPr>
          <p:cNvPr id="2" name="Rectangle 59">
            <a:extLst>
              <a:ext uri="{FF2B5EF4-FFF2-40B4-BE49-F238E27FC236}">
                <a16:creationId xmlns:a16="http://schemas.microsoft.com/office/drawing/2014/main" id="{5ECAA5F1-C2FA-CF7E-63F5-0271FB19E5D4}"/>
              </a:ext>
            </a:extLst>
          </p:cNvPr>
          <p:cNvSpPr>
            <a:spLocks noChangeArrowheads="1"/>
          </p:cNvSpPr>
          <p:nvPr/>
        </p:nvSpPr>
        <p:spPr bwMode="auto">
          <a:xfrm>
            <a:off x="1485900" y="4651773"/>
            <a:ext cx="63436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cs typeface="Times New Roman" panose="02020603050405020304" pitchFamily="18" charset="0"/>
              </a:rPr>
              <a:t>Max # of internal nodes?</a:t>
            </a:r>
          </a:p>
        </p:txBody>
      </p:sp>
      <p:pic>
        <p:nvPicPr>
          <p:cNvPr id="3" name="Picture 2">
            <a:extLst>
              <a:ext uri="{FF2B5EF4-FFF2-40B4-BE49-F238E27FC236}">
                <a16:creationId xmlns:a16="http://schemas.microsoft.com/office/drawing/2014/main" id="{39BF9100-E687-3C99-DA92-4EABAF5BA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F8916AFC-1397-30B2-9298-D5E3A0D0A0C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F6394CF-A9AD-AD84-3C25-D47CF4D34839}"/>
              </a:ext>
            </a:extLst>
          </p:cNvPr>
          <p:cNvSpPr>
            <a:spLocks noGrp="1" noChangeArrowheads="1"/>
          </p:cNvSpPr>
          <p:nvPr>
            <p:ph type="ctrTitle"/>
          </p:nvPr>
        </p:nvSpPr>
        <p:spPr>
          <a:xfrm>
            <a:off x="1657350" y="400050"/>
            <a:ext cx="5829300" cy="857250"/>
          </a:xfrm>
          <a:noFill/>
        </p:spPr>
        <p:txBody>
          <a:bodyPr/>
          <a:lstStyle/>
          <a:p>
            <a:r>
              <a:rPr lang="en-US" altLang="en-US"/>
              <a:t>Leftist Trees—Property 3</a:t>
            </a:r>
          </a:p>
        </p:txBody>
      </p:sp>
      <p:sp>
        <p:nvSpPr>
          <p:cNvPr id="367619" name="Rectangle 3">
            <a:extLst>
              <a:ext uri="{FF2B5EF4-FFF2-40B4-BE49-F238E27FC236}">
                <a16:creationId xmlns:a16="http://schemas.microsoft.com/office/drawing/2014/main" id="{2F94BDFB-852D-184D-A970-EC3AA4C5FC92}"/>
              </a:ext>
            </a:extLst>
          </p:cNvPr>
          <p:cNvSpPr>
            <a:spLocks noGrp="1" noChangeArrowheads="1"/>
          </p:cNvSpPr>
          <p:nvPr>
            <p:ph type="subTitle" idx="1"/>
          </p:nvPr>
        </p:nvSpPr>
        <p:spPr>
          <a:xfrm>
            <a:off x="1428750" y="1543050"/>
            <a:ext cx="5486400" cy="3200400"/>
          </a:xfrm>
          <a:noFill/>
        </p:spPr>
        <p:txBody>
          <a:bodyPr/>
          <a:lstStyle/>
          <a:p>
            <a:pPr marL="257175" indent="-257175" algn="l"/>
            <a:r>
              <a:rPr lang="en-US" altLang="en-US"/>
              <a:t>Length of rightmost path is O(log n), where n is the number of (internal) nodes in a leftist tree.</a:t>
            </a:r>
          </a:p>
          <a:p>
            <a:pPr marL="257175" indent="-257175" algn="l"/>
            <a:endParaRPr lang="en-US" altLang="en-US"/>
          </a:p>
          <a:p>
            <a:pPr marL="257175" indent="-257175" algn="l"/>
            <a:r>
              <a:rPr lang="en-US" altLang="en-US"/>
              <a:t>Property 2 =&gt;</a:t>
            </a:r>
          </a:p>
          <a:p>
            <a:pPr marL="557213" lvl="1" indent="-214313" algn="l">
              <a:buFont typeface="Wingdings" panose="05000000000000000000" pitchFamily="2" charset="2"/>
              <a:buChar char="§"/>
            </a:pPr>
            <a:r>
              <a:rPr lang="en-US" altLang="en-US"/>
              <a:t>n &gt;= 2</a:t>
            </a:r>
            <a:r>
              <a:rPr lang="en-US" altLang="en-US" baseline="30000"/>
              <a:t>s(root)</a:t>
            </a:r>
            <a:r>
              <a:rPr lang="en-US" altLang="en-US"/>
              <a:t> – 1 =&gt; s(root) &lt;= log</a:t>
            </a:r>
            <a:r>
              <a:rPr lang="en-US" altLang="en-US" baseline="-25000"/>
              <a:t>2</a:t>
            </a:r>
            <a:r>
              <a:rPr lang="en-US" altLang="en-US"/>
              <a:t>(n+1)</a:t>
            </a:r>
          </a:p>
          <a:p>
            <a:pPr marL="257175" indent="-257175" algn="l">
              <a:buClr>
                <a:schemeClr val="hlink"/>
              </a:buClr>
            </a:pPr>
            <a:r>
              <a:rPr lang="en-US" altLang="en-US"/>
              <a:t>Property 1 =&gt; length of rightmost path is s(root).</a:t>
            </a:r>
          </a:p>
        </p:txBody>
      </p:sp>
      <p:pic>
        <p:nvPicPr>
          <p:cNvPr id="2" name="Picture 1">
            <a:extLst>
              <a:ext uri="{FF2B5EF4-FFF2-40B4-BE49-F238E27FC236}">
                <a16:creationId xmlns:a16="http://schemas.microsoft.com/office/drawing/2014/main" id="{271BF9B2-CD96-7F2E-C066-AABE88CB82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F2F91274-B709-F02B-E519-BF850D1E2DE6}"/>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7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676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6761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676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6063319-5C47-4C21-C1A8-F2CAFE567A8D}"/>
              </a:ext>
            </a:extLst>
          </p:cNvPr>
          <p:cNvSpPr>
            <a:spLocks noGrp="1" noChangeArrowheads="1"/>
          </p:cNvSpPr>
          <p:nvPr>
            <p:ph type="ctrTitle"/>
          </p:nvPr>
        </p:nvSpPr>
        <p:spPr>
          <a:xfrm>
            <a:off x="1200150" y="171450"/>
            <a:ext cx="6686550" cy="857250"/>
          </a:xfrm>
          <a:noFill/>
        </p:spPr>
        <p:txBody>
          <a:bodyPr>
            <a:normAutofit fontScale="90000"/>
          </a:bodyPr>
          <a:lstStyle/>
          <a:p>
            <a:r>
              <a:rPr lang="en-US" altLang="en-US"/>
              <a:t>Leftist Trees As Priority Queues</a:t>
            </a:r>
          </a:p>
        </p:txBody>
      </p:sp>
      <p:sp>
        <p:nvSpPr>
          <p:cNvPr id="368643" name="Rectangle 3">
            <a:extLst>
              <a:ext uri="{FF2B5EF4-FFF2-40B4-BE49-F238E27FC236}">
                <a16:creationId xmlns:a16="http://schemas.microsoft.com/office/drawing/2014/main" id="{63763CC2-64AB-EF0B-2416-40EC9F341902}"/>
              </a:ext>
            </a:extLst>
          </p:cNvPr>
          <p:cNvSpPr>
            <a:spLocks noChangeArrowheads="1"/>
          </p:cNvSpPr>
          <p:nvPr/>
        </p:nvSpPr>
        <p:spPr bwMode="auto">
          <a:xfrm>
            <a:off x="758053" y="1771650"/>
            <a:ext cx="7556828" cy="210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t>Min leftist tree … leftist tree that is a min tree.</a:t>
            </a:r>
          </a:p>
          <a:p>
            <a:pPr lvl="1">
              <a:spcBef>
                <a:spcPct val="50000"/>
              </a:spcBef>
              <a:buClrTx/>
              <a:buFontTx/>
              <a:buNone/>
            </a:pPr>
            <a:r>
              <a:rPr lang="en-US" altLang="en-US" sz="2400" dirty="0"/>
              <a:t>Used as a min priority queue.</a:t>
            </a:r>
          </a:p>
          <a:p>
            <a:pPr>
              <a:spcBef>
                <a:spcPct val="50000"/>
              </a:spcBef>
              <a:buClrTx/>
              <a:buFontTx/>
              <a:buNone/>
            </a:pPr>
            <a:r>
              <a:rPr lang="en-US" altLang="en-US" sz="2400" dirty="0"/>
              <a:t>Max leftist tree … leftist tree that is a max tree.</a:t>
            </a:r>
          </a:p>
          <a:p>
            <a:pPr lvl="1">
              <a:spcBef>
                <a:spcPct val="50000"/>
              </a:spcBef>
              <a:buClrTx/>
              <a:buFontTx/>
              <a:buNone/>
            </a:pPr>
            <a:r>
              <a:rPr lang="en-US" altLang="en-US" sz="2400" dirty="0"/>
              <a:t>Used as a max priority queue.</a:t>
            </a:r>
          </a:p>
        </p:txBody>
      </p:sp>
      <p:pic>
        <p:nvPicPr>
          <p:cNvPr id="2" name="Picture 1">
            <a:extLst>
              <a:ext uri="{FF2B5EF4-FFF2-40B4-BE49-F238E27FC236}">
                <a16:creationId xmlns:a16="http://schemas.microsoft.com/office/drawing/2014/main" id="{36C3B387-FCA3-009E-7778-311270F4D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492CF39E-C65C-9928-C5B0-D4F3EA13570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8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68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68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68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7F287-6E52-2D2D-C131-FAF1C8F960EE}"/>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162D4727-33F4-96EF-4B8B-6065BB2ACBAC}"/>
              </a:ext>
            </a:extLst>
          </p:cNvPr>
          <p:cNvSpPr>
            <a:spLocks noGrp="1" noChangeArrowheads="1"/>
          </p:cNvSpPr>
          <p:nvPr>
            <p:ph type="ctrTitle"/>
          </p:nvPr>
        </p:nvSpPr>
        <p:spPr>
          <a:xfrm>
            <a:off x="1200150" y="171450"/>
            <a:ext cx="6686550" cy="857250"/>
          </a:xfrm>
          <a:noFill/>
        </p:spPr>
        <p:txBody>
          <a:bodyPr>
            <a:normAutofit fontScale="90000"/>
          </a:bodyPr>
          <a:lstStyle/>
          <a:p>
            <a:r>
              <a:rPr lang="en-US" altLang="en-US"/>
              <a:t>Leftist Trees As Priority Queues</a:t>
            </a:r>
          </a:p>
        </p:txBody>
      </p:sp>
      <p:sp>
        <p:nvSpPr>
          <p:cNvPr id="368643" name="Rectangle 3">
            <a:extLst>
              <a:ext uri="{FF2B5EF4-FFF2-40B4-BE49-F238E27FC236}">
                <a16:creationId xmlns:a16="http://schemas.microsoft.com/office/drawing/2014/main" id="{3B635F50-8075-5D11-5F75-E6236F0629F3}"/>
              </a:ext>
            </a:extLst>
          </p:cNvPr>
          <p:cNvSpPr>
            <a:spLocks noChangeArrowheads="1"/>
          </p:cNvSpPr>
          <p:nvPr/>
        </p:nvSpPr>
        <p:spPr bwMode="auto">
          <a:xfrm>
            <a:off x="397977" y="1771650"/>
            <a:ext cx="8210649" cy="210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t>Min leftist tree … leftist tree that is a min tree.</a:t>
            </a:r>
          </a:p>
          <a:p>
            <a:pPr lvl="1">
              <a:spcBef>
                <a:spcPct val="50000"/>
              </a:spcBef>
              <a:buClrTx/>
              <a:buFontTx/>
              <a:buNone/>
            </a:pPr>
            <a:r>
              <a:rPr lang="en-US" altLang="en-US" sz="2400" dirty="0"/>
              <a:t>Used as a min priority queue.</a:t>
            </a:r>
          </a:p>
          <a:p>
            <a:pPr>
              <a:spcBef>
                <a:spcPct val="50000"/>
              </a:spcBef>
              <a:buClrTx/>
              <a:buFontTx/>
              <a:buNone/>
            </a:pPr>
            <a:r>
              <a:rPr lang="en-US" altLang="en-US" sz="2400" dirty="0"/>
              <a:t>Max leftist tree … leftist tree that is a max tree.</a:t>
            </a:r>
          </a:p>
          <a:p>
            <a:pPr lvl="1">
              <a:spcBef>
                <a:spcPct val="50000"/>
              </a:spcBef>
              <a:buClrTx/>
              <a:buFontTx/>
              <a:buNone/>
            </a:pPr>
            <a:r>
              <a:rPr lang="en-US" altLang="en-US" sz="2400" dirty="0"/>
              <a:t>Used as a max priority queue.</a:t>
            </a:r>
          </a:p>
        </p:txBody>
      </p:sp>
      <p:pic>
        <p:nvPicPr>
          <p:cNvPr id="2" name="Picture 1">
            <a:extLst>
              <a:ext uri="{FF2B5EF4-FFF2-40B4-BE49-F238E27FC236}">
                <a16:creationId xmlns:a16="http://schemas.microsoft.com/office/drawing/2014/main" id="{EE2BFCD0-B6BE-B289-6878-DC67C7E25D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85DD06E5-92FC-B5FF-6A13-21D677F3456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38453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8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68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68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686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22ACCB9-4F29-9671-9E96-69E33F139191}"/>
              </a:ext>
            </a:extLst>
          </p:cNvPr>
          <p:cNvSpPr>
            <a:spLocks noGrp="1" noChangeArrowheads="1"/>
          </p:cNvSpPr>
          <p:nvPr>
            <p:ph type="ctrTitle"/>
          </p:nvPr>
        </p:nvSpPr>
        <p:spPr>
          <a:xfrm>
            <a:off x="1200150" y="171450"/>
            <a:ext cx="6686550" cy="857250"/>
          </a:xfrm>
          <a:noFill/>
        </p:spPr>
        <p:txBody>
          <a:bodyPr/>
          <a:lstStyle/>
          <a:p>
            <a:r>
              <a:rPr lang="en-US" altLang="en-US"/>
              <a:t>A Min Leftist Tree</a:t>
            </a:r>
          </a:p>
        </p:txBody>
      </p:sp>
      <p:sp>
        <p:nvSpPr>
          <p:cNvPr id="30723" name="Oval 3">
            <a:extLst>
              <a:ext uri="{FF2B5EF4-FFF2-40B4-BE49-F238E27FC236}">
                <a16:creationId xmlns:a16="http://schemas.microsoft.com/office/drawing/2014/main" id="{5E195870-AFA5-4DB3-7ED6-0A9F84D2CEEA}"/>
              </a:ext>
            </a:extLst>
          </p:cNvPr>
          <p:cNvSpPr>
            <a:spLocks noChangeArrowheads="1"/>
          </p:cNvSpPr>
          <p:nvPr/>
        </p:nvSpPr>
        <p:spPr bwMode="auto">
          <a:xfrm>
            <a:off x="4291013" y="10906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4" name="Oval 4">
            <a:extLst>
              <a:ext uri="{FF2B5EF4-FFF2-40B4-BE49-F238E27FC236}">
                <a16:creationId xmlns:a16="http://schemas.microsoft.com/office/drawing/2014/main" id="{6A40AB8F-4762-A9D8-623E-B71827E32A10}"/>
              </a:ext>
            </a:extLst>
          </p:cNvPr>
          <p:cNvSpPr>
            <a:spLocks noChangeArrowheads="1"/>
          </p:cNvSpPr>
          <p:nvPr/>
        </p:nvSpPr>
        <p:spPr bwMode="auto">
          <a:xfrm>
            <a:off x="269081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5" name="Oval 5">
            <a:extLst>
              <a:ext uri="{FF2B5EF4-FFF2-40B4-BE49-F238E27FC236}">
                <a16:creationId xmlns:a16="http://schemas.microsoft.com/office/drawing/2014/main" id="{F657CB44-07FA-8A2C-C59A-D36C7ADB2C34}"/>
              </a:ext>
            </a:extLst>
          </p:cNvPr>
          <p:cNvSpPr>
            <a:spLocks noChangeArrowheads="1"/>
          </p:cNvSpPr>
          <p:nvPr/>
        </p:nvSpPr>
        <p:spPr bwMode="auto">
          <a:xfrm>
            <a:off x="59483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6" name="Oval 6">
            <a:extLst>
              <a:ext uri="{FF2B5EF4-FFF2-40B4-BE49-F238E27FC236}">
                <a16:creationId xmlns:a16="http://schemas.microsoft.com/office/drawing/2014/main" id="{7F511984-9B46-CF20-D5CD-920B96DA7D64}"/>
              </a:ext>
            </a:extLst>
          </p:cNvPr>
          <p:cNvSpPr>
            <a:spLocks noChangeArrowheads="1"/>
          </p:cNvSpPr>
          <p:nvPr/>
        </p:nvSpPr>
        <p:spPr bwMode="auto">
          <a:xfrm>
            <a:off x="19478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7" name="Oval 7">
            <a:extLst>
              <a:ext uri="{FF2B5EF4-FFF2-40B4-BE49-F238E27FC236}">
                <a16:creationId xmlns:a16="http://schemas.microsoft.com/office/drawing/2014/main" id="{F180BC58-BF78-D760-CCA7-6BD0A035D69D}"/>
              </a:ext>
            </a:extLst>
          </p:cNvPr>
          <p:cNvSpPr>
            <a:spLocks noChangeArrowheads="1"/>
          </p:cNvSpPr>
          <p:nvPr/>
        </p:nvSpPr>
        <p:spPr bwMode="auto">
          <a:xfrm>
            <a:off x="326231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8" name="Oval 8">
            <a:extLst>
              <a:ext uri="{FF2B5EF4-FFF2-40B4-BE49-F238E27FC236}">
                <a16:creationId xmlns:a16="http://schemas.microsoft.com/office/drawing/2014/main" id="{960F88E3-CF9C-1DDA-F74E-DB2C76D34B19}"/>
              </a:ext>
            </a:extLst>
          </p:cNvPr>
          <p:cNvSpPr>
            <a:spLocks noChangeArrowheads="1"/>
          </p:cNvSpPr>
          <p:nvPr/>
        </p:nvSpPr>
        <p:spPr bwMode="auto">
          <a:xfrm>
            <a:off x="50339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29" name="Oval 9">
            <a:extLst>
              <a:ext uri="{FF2B5EF4-FFF2-40B4-BE49-F238E27FC236}">
                <a16:creationId xmlns:a16="http://schemas.microsoft.com/office/drawing/2014/main" id="{CE4C5EF1-4E8A-AC82-462A-5AE49DD2633D}"/>
              </a:ext>
            </a:extLst>
          </p:cNvPr>
          <p:cNvSpPr>
            <a:spLocks noChangeArrowheads="1"/>
          </p:cNvSpPr>
          <p:nvPr/>
        </p:nvSpPr>
        <p:spPr bwMode="auto">
          <a:xfrm>
            <a:off x="149066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30" name="Oval 10">
            <a:extLst>
              <a:ext uri="{FF2B5EF4-FFF2-40B4-BE49-F238E27FC236}">
                <a16:creationId xmlns:a16="http://schemas.microsoft.com/office/drawing/2014/main" id="{3AD26AE5-D9A3-1EEF-3C9D-FC5676CE66DB}"/>
              </a:ext>
            </a:extLst>
          </p:cNvPr>
          <p:cNvSpPr>
            <a:spLocks noChangeArrowheads="1"/>
          </p:cNvSpPr>
          <p:nvPr/>
        </p:nvSpPr>
        <p:spPr bwMode="auto">
          <a:xfrm>
            <a:off x="234791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31" name="Line 11">
            <a:extLst>
              <a:ext uri="{FF2B5EF4-FFF2-40B4-BE49-F238E27FC236}">
                <a16:creationId xmlns:a16="http://schemas.microsoft.com/office/drawing/2014/main" id="{C57A7F26-D283-CBC5-D8D6-4F4D1B8AF16A}"/>
              </a:ext>
            </a:extLst>
          </p:cNvPr>
          <p:cNvSpPr>
            <a:spLocks noChangeShapeType="1"/>
          </p:cNvSpPr>
          <p:nvPr/>
        </p:nvSpPr>
        <p:spPr bwMode="auto">
          <a:xfrm flipH="1">
            <a:off x="3028950" y="1314450"/>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2" name="Line 12">
            <a:extLst>
              <a:ext uri="{FF2B5EF4-FFF2-40B4-BE49-F238E27FC236}">
                <a16:creationId xmlns:a16="http://schemas.microsoft.com/office/drawing/2014/main" id="{5EAB22D0-BCA3-861F-DED6-CB3C475D2CEB}"/>
              </a:ext>
            </a:extLst>
          </p:cNvPr>
          <p:cNvSpPr>
            <a:spLocks noChangeShapeType="1"/>
          </p:cNvSpPr>
          <p:nvPr/>
        </p:nvSpPr>
        <p:spPr bwMode="auto">
          <a:xfrm>
            <a:off x="4629150" y="1314450"/>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3" name="Line 13">
            <a:extLst>
              <a:ext uri="{FF2B5EF4-FFF2-40B4-BE49-F238E27FC236}">
                <a16:creationId xmlns:a16="http://schemas.microsoft.com/office/drawing/2014/main" id="{FE33DE31-CCCA-8F6D-BD9E-70A15A29C7C8}"/>
              </a:ext>
            </a:extLst>
          </p:cNvPr>
          <p:cNvSpPr>
            <a:spLocks noChangeShapeType="1"/>
          </p:cNvSpPr>
          <p:nvPr/>
        </p:nvSpPr>
        <p:spPr bwMode="auto">
          <a:xfrm flipH="1">
            <a:off x="2171700" y="21145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4" name="Line 14">
            <a:extLst>
              <a:ext uri="{FF2B5EF4-FFF2-40B4-BE49-F238E27FC236}">
                <a16:creationId xmlns:a16="http://schemas.microsoft.com/office/drawing/2014/main" id="{D2DDD3DB-1ED6-D4CD-5BC4-8859B1902383}"/>
              </a:ext>
            </a:extLst>
          </p:cNvPr>
          <p:cNvSpPr>
            <a:spLocks noChangeShapeType="1"/>
          </p:cNvSpPr>
          <p:nvPr/>
        </p:nvSpPr>
        <p:spPr bwMode="auto">
          <a:xfrm>
            <a:off x="2971800" y="21145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5" name="Line 15">
            <a:extLst>
              <a:ext uri="{FF2B5EF4-FFF2-40B4-BE49-F238E27FC236}">
                <a16:creationId xmlns:a16="http://schemas.microsoft.com/office/drawing/2014/main" id="{3033CA32-7AD2-C52A-500E-8512C9597A3A}"/>
              </a:ext>
            </a:extLst>
          </p:cNvPr>
          <p:cNvSpPr>
            <a:spLocks noChangeShapeType="1"/>
          </p:cNvSpPr>
          <p:nvPr/>
        </p:nvSpPr>
        <p:spPr bwMode="auto">
          <a:xfrm flipH="1">
            <a:off x="5314950" y="21717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6" name="Line 16">
            <a:extLst>
              <a:ext uri="{FF2B5EF4-FFF2-40B4-BE49-F238E27FC236}">
                <a16:creationId xmlns:a16="http://schemas.microsoft.com/office/drawing/2014/main" id="{8976C8F7-EA53-5125-719C-721469E0AC1A}"/>
              </a:ext>
            </a:extLst>
          </p:cNvPr>
          <p:cNvSpPr>
            <a:spLocks noChangeShapeType="1"/>
          </p:cNvSpPr>
          <p:nvPr/>
        </p:nvSpPr>
        <p:spPr bwMode="auto">
          <a:xfrm flipH="1">
            <a:off x="1714500" y="27432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7" name="Line 17">
            <a:extLst>
              <a:ext uri="{FF2B5EF4-FFF2-40B4-BE49-F238E27FC236}">
                <a16:creationId xmlns:a16="http://schemas.microsoft.com/office/drawing/2014/main" id="{0BF76724-48BB-EBC3-6EF8-A7228229E344}"/>
              </a:ext>
            </a:extLst>
          </p:cNvPr>
          <p:cNvSpPr>
            <a:spLocks noChangeShapeType="1"/>
          </p:cNvSpPr>
          <p:nvPr/>
        </p:nvSpPr>
        <p:spPr bwMode="auto">
          <a:xfrm>
            <a:off x="222885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38" name="Oval 18">
            <a:extLst>
              <a:ext uri="{FF2B5EF4-FFF2-40B4-BE49-F238E27FC236}">
                <a16:creationId xmlns:a16="http://schemas.microsoft.com/office/drawing/2014/main" id="{D073917E-C7A9-B722-2CC3-566331FDA7C2}"/>
              </a:ext>
            </a:extLst>
          </p:cNvPr>
          <p:cNvSpPr>
            <a:spLocks noChangeArrowheads="1"/>
          </p:cNvSpPr>
          <p:nvPr/>
        </p:nvSpPr>
        <p:spPr bwMode="auto">
          <a:xfrm>
            <a:off x="4633913" y="32051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30739" name="Line 19">
            <a:extLst>
              <a:ext uri="{FF2B5EF4-FFF2-40B4-BE49-F238E27FC236}">
                <a16:creationId xmlns:a16="http://schemas.microsoft.com/office/drawing/2014/main" id="{2014FFFE-0F5C-84FE-4116-5FA28DFB5009}"/>
              </a:ext>
            </a:extLst>
          </p:cNvPr>
          <p:cNvSpPr>
            <a:spLocks noChangeShapeType="1"/>
          </p:cNvSpPr>
          <p:nvPr/>
        </p:nvSpPr>
        <p:spPr bwMode="auto">
          <a:xfrm flipH="1">
            <a:off x="4857750" y="28003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0740" name="Rectangle 20">
            <a:extLst>
              <a:ext uri="{FF2B5EF4-FFF2-40B4-BE49-F238E27FC236}">
                <a16:creationId xmlns:a16="http://schemas.microsoft.com/office/drawing/2014/main" id="{F3346DC5-9B33-D9A1-3624-B28B09047D1D}"/>
              </a:ext>
            </a:extLst>
          </p:cNvPr>
          <p:cNvSpPr>
            <a:spLocks noChangeArrowheads="1"/>
          </p:cNvSpPr>
          <p:nvPr/>
        </p:nvSpPr>
        <p:spPr bwMode="auto">
          <a:xfrm>
            <a:off x="15311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8</a:t>
            </a:r>
          </a:p>
        </p:txBody>
      </p:sp>
      <p:sp>
        <p:nvSpPr>
          <p:cNvPr id="30741" name="Rectangle 21">
            <a:extLst>
              <a:ext uri="{FF2B5EF4-FFF2-40B4-BE49-F238E27FC236}">
                <a16:creationId xmlns:a16="http://schemas.microsoft.com/office/drawing/2014/main" id="{FBD36D77-7188-165B-860D-653E75C764E0}"/>
              </a:ext>
            </a:extLst>
          </p:cNvPr>
          <p:cNvSpPr>
            <a:spLocks noChangeArrowheads="1"/>
          </p:cNvSpPr>
          <p:nvPr/>
        </p:nvSpPr>
        <p:spPr bwMode="auto">
          <a:xfrm>
            <a:off x="238839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6</a:t>
            </a:r>
          </a:p>
        </p:txBody>
      </p:sp>
      <p:sp>
        <p:nvSpPr>
          <p:cNvPr id="30742" name="Rectangle 22">
            <a:extLst>
              <a:ext uri="{FF2B5EF4-FFF2-40B4-BE49-F238E27FC236}">
                <a16:creationId xmlns:a16="http://schemas.microsoft.com/office/drawing/2014/main" id="{98B7708B-9A93-3262-684C-5F63E1DC1BB9}"/>
              </a:ext>
            </a:extLst>
          </p:cNvPr>
          <p:cNvSpPr>
            <a:spLocks noChangeArrowheads="1"/>
          </p:cNvSpPr>
          <p:nvPr/>
        </p:nvSpPr>
        <p:spPr bwMode="auto">
          <a:xfrm>
            <a:off x="4674394" y="32230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9</a:t>
            </a:r>
          </a:p>
        </p:txBody>
      </p:sp>
      <p:sp>
        <p:nvSpPr>
          <p:cNvPr id="30743" name="Rectangle 23">
            <a:extLst>
              <a:ext uri="{FF2B5EF4-FFF2-40B4-BE49-F238E27FC236}">
                <a16:creationId xmlns:a16="http://schemas.microsoft.com/office/drawing/2014/main" id="{BB1EF932-807C-7890-1EE6-0545439A2EF1}"/>
              </a:ext>
            </a:extLst>
          </p:cNvPr>
          <p:cNvSpPr>
            <a:spLocks noChangeArrowheads="1"/>
          </p:cNvSpPr>
          <p:nvPr/>
        </p:nvSpPr>
        <p:spPr bwMode="auto">
          <a:xfrm>
            <a:off x="19883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6</a:t>
            </a:r>
          </a:p>
        </p:txBody>
      </p:sp>
      <p:sp>
        <p:nvSpPr>
          <p:cNvPr id="30744" name="Rectangle 24">
            <a:extLst>
              <a:ext uri="{FF2B5EF4-FFF2-40B4-BE49-F238E27FC236}">
                <a16:creationId xmlns:a16="http://schemas.microsoft.com/office/drawing/2014/main" id="{26B2EE58-1EFF-1F79-E828-DA26BB829573}"/>
              </a:ext>
            </a:extLst>
          </p:cNvPr>
          <p:cNvSpPr>
            <a:spLocks noChangeArrowheads="1"/>
          </p:cNvSpPr>
          <p:nvPr/>
        </p:nvSpPr>
        <p:spPr bwMode="auto">
          <a:xfrm>
            <a:off x="330279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8</a:t>
            </a:r>
          </a:p>
        </p:txBody>
      </p:sp>
      <p:sp>
        <p:nvSpPr>
          <p:cNvPr id="30745" name="Rectangle 25">
            <a:extLst>
              <a:ext uri="{FF2B5EF4-FFF2-40B4-BE49-F238E27FC236}">
                <a16:creationId xmlns:a16="http://schemas.microsoft.com/office/drawing/2014/main" id="{AC2374D4-1CB9-829C-FC6B-24FFBD1DB241}"/>
              </a:ext>
            </a:extLst>
          </p:cNvPr>
          <p:cNvSpPr>
            <a:spLocks noChangeArrowheads="1"/>
          </p:cNvSpPr>
          <p:nvPr/>
        </p:nvSpPr>
        <p:spPr bwMode="auto">
          <a:xfrm>
            <a:off x="50744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5</a:t>
            </a:r>
          </a:p>
        </p:txBody>
      </p:sp>
      <p:sp>
        <p:nvSpPr>
          <p:cNvPr id="30746" name="Rectangle 26">
            <a:extLst>
              <a:ext uri="{FF2B5EF4-FFF2-40B4-BE49-F238E27FC236}">
                <a16:creationId xmlns:a16="http://schemas.microsoft.com/office/drawing/2014/main" id="{44675417-D9D3-E253-3330-C48725DDE797}"/>
              </a:ext>
            </a:extLst>
          </p:cNvPr>
          <p:cNvSpPr>
            <a:spLocks noChangeArrowheads="1"/>
          </p:cNvSpPr>
          <p:nvPr/>
        </p:nvSpPr>
        <p:spPr bwMode="auto">
          <a:xfrm>
            <a:off x="27312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4</a:t>
            </a:r>
          </a:p>
        </p:txBody>
      </p:sp>
      <p:sp>
        <p:nvSpPr>
          <p:cNvPr id="30747" name="Rectangle 27">
            <a:extLst>
              <a:ext uri="{FF2B5EF4-FFF2-40B4-BE49-F238E27FC236}">
                <a16:creationId xmlns:a16="http://schemas.microsoft.com/office/drawing/2014/main" id="{E6C9450E-C69B-7ACD-1AAC-654DFA58E29B}"/>
              </a:ext>
            </a:extLst>
          </p:cNvPr>
          <p:cNvSpPr>
            <a:spLocks noChangeArrowheads="1"/>
          </p:cNvSpPr>
          <p:nvPr/>
        </p:nvSpPr>
        <p:spPr bwMode="auto">
          <a:xfrm>
            <a:off x="60459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3</a:t>
            </a:r>
          </a:p>
        </p:txBody>
      </p:sp>
      <p:sp>
        <p:nvSpPr>
          <p:cNvPr id="30748" name="Rectangle 28">
            <a:extLst>
              <a:ext uri="{FF2B5EF4-FFF2-40B4-BE49-F238E27FC236}">
                <a16:creationId xmlns:a16="http://schemas.microsoft.com/office/drawing/2014/main" id="{900A3C30-E017-025B-1AD1-495062898642}"/>
              </a:ext>
            </a:extLst>
          </p:cNvPr>
          <p:cNvSpPr>
            <a:spLocks noChangeArrowheads="1"/>
          </p:cNvSpPr>
          <p:nvPr/>
        </p:nvSpPr>
        <p:spPr bwMode="auto">
          <a:xfrm>
            <a:off x="433149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2</a:t>
            </a:r>
          </a:p>
        </p:txBody>
      </p:sp>
      <p:pic>
        <p:nvPicPr>
          <p:cNvPr id="2" name="Picture 1">
            <a:extLst>
              <a:ext uri="{FF2B5EF4-FFF2-40B4-BE49-F238E27FC236}">
                <a16:creationId xmlns:a16="http://schemas.microsoft.com/office/drawing/2014/main" id="{EE27EF53-1E6F-1F51-54E8-16828B4D5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32849854-CCB8-D339-D8FF-C2F5245AFBCC}"/>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54E7A11-37AB-4AC3-52FD-DF79A9D2ECD2}"/>
              </a:ext>
            </a:extLst>
          </p:cNvPr>
          <p:cNvSpPr>
            <a:spLocks noGrp="1" noChangeArrowheads="1"/>
          </p:cNvSpPr>
          <p:nvPr>
            <p:ph type="ctrTitle"/>
          </p:nvPr>
        </p:nvSpPr>
        <p:spPr>
          <a:xfrm>
            <a:off x="1200150" y="171450"/>
            <a:ext cx="6686550" cy="857250"/>
          </a:xfrm>
          <a:noFill/>
        </p:spPr>
        <p:txBody>
          <a:bodyPr>
            <a:normAutofit fontScale="90000"/>
          </a:bodyPr>
          <a:lstStyle/>
          <a:p>
            <a:r>
              <a:rPr lang="en-US" altLang="en-US"/>
              <a:t>Some Min Leftist Tree Operations</a:t>
            </a:r>
          </a:p>
        </p:txBody>
      </p:sp>
      <p:sp>
        <p:nvSpPr>
          <p:cNvPr id="372739" name="Text Box 3">
            <a:extLst>
              <a:ext uri="{FF2B5EF4-FFF2-40B4-BE49-F238E27FC236}">
                <a16:creationId xmlns:a16="http://schemas.microsoft.com/office/drawing/2014/main" id="{807ABC04-54A0-9B44-ABAD-313FDD8BF5DA}"/>
              </a:ext>
            </a:extLst>
          </p:cNvPr>
          <p:cNvSpPr txBox="1">
            <a:spLocks noChangeArrowheads="1"/>
          </p:cNvSpPr>
          <p:nvPr/>
        </p:nvSpPr>
        <p:spPr bwMode="auto">
          <a:xfrm>
            <a:off x="487996" y="1485900"/>
            <a:ext cx="7341554"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err="1"/>
              <a:t>findMin</a:t>
            </a:r>
            <a:r>
              <a:rPr lang="en-US" altLang="en-US" sz="2400" dirty="0"/>
              <a:t>()</a:t>
            </a:r>
          </a:p>
          <a:p>
            <a:pPr>
              <a:spcBef>
                <a:spcPct val="50000"/>
              </a:spcBef>
              <a:buClrTx/>
              <a:buFontTx/>
              <a:buNone/>
            </a:pPr>
            <a:r>
              <a:rPr lang="en-US" altLang="en-US" sz="2400" dirty="0"/>
              <a:t>put()</a:t>
            </a:r>
          </a:p>
          <a:p>
            <a:pPr>
              <a:spcBef>
                <a:spcPct val="50000"/>
              </a:spcBef>
              <a:buClrTx/>
              <a:buFontTx/>
              <a:buNone/>
            </a:pPr>
            <a:r>
              <a:rPr lang="en-US" altLang="en-US" sz="2400" dirty="0" err="1"/>
              <a:t>removeMin</a:t>
            </a:r>
            <a:r>
              <a:rPr lang="en-US" altLang="en-US" sz="2400" dirty="0"/>
              <a:t>()</a:t>
            </a:r>
          </a:p>
          <a:p>
            <a:pPr>
              <a:spcBef>
                <a:spcPct val="50000"/>
              </a:spcBef>
              <a:buClrTx/>
              <a:buFontTx/>
              <a:buNone/>
            </a:pPr>
            <a:r>
              <a:rPr lang="en-US" altLang="en-US" sz="2400" dirty="0"/>
              <a:t>meld()</a:t>
            </a:r>
          </a:p>
          <a:p>
            <a:pPr>
              <a:spcBef>
                <a:spcPct val="50000"/>
              </a:spcBef>
              <a:buClrTx/>
              <a:buFontTx/>
              <a:buNone/>
            </a:pPr>
            <a:r>
              <a:rPr lang="en-US" altLang="en-US" sz="2400" dirty="0"/>
              <a:t>initialize()</a:t>
            </a:r>
          </a:p>
          <a:p>
            <a:pPr>
              <a:spcBef>
                <a:spcPct val="50000"/>
              </a:spcBef>
              <a:buClrTx/>
              <a:buFontTx/>
              <a:buNone/>
            </a:pPr>
            <a:r>
              <a:rPr lang="en-US" altLang="en-US" sz="2400" dirty="0"/>
              <a:t>put() and </a:t>
            </a:r>
            <a:r>
              <a:rPr lang="en-US" altLang="en-US" sz="2400" dirty="0" err="1"/>
              <a:t>removeMin</a:t>
            </a:r>
            <a:r>
              <a:rPr lang="en-US" altLang="en-US" sz="2400" dirty="0"/>
              <a:t>() use meld().</a:t>
            </a:r>
          </a:p>
        </p:txBody>
      </p:sp>
      <p:pic>
        <p:nvPicPr>
          <p:cNvPr id="2" name="Picture 1">
            <a:extLst>
              <a:ext uri="{FF2B5EF4-FFF2-40B4-BE49-F238E27FC236}">
                <a16:creationId xmlns:a16="http://schemas.microsoft.com/office/drawing/2014/main" id="{C67F8FF4-07EA-10A9-EE70-9A5527BCD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62869C55-D19A-034F-4D3E-A3936CA0526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72739">
                                            <p:txEl>
                                              <p:pRg st="0" end="0"/>
                                            </p:txEl>
                                          </p:spTgt>
                                        </p:tgtEl>
                                        <p:attrNameLst>
                                          <p:attrName>style.visibility</p:attrName>
                                        </p:attrNameLst>
                                      </p:cBhvr>
                                      <p:to>
                                        <p:strVal val="visible"/>
                                      </p:to>
                                    </p:set>
                                    <p:anim calcmode="lin" valueType="num">
                                      <p:cBhvr additive="base">
                                        <p:cTn id="7" dur="500" fill="hold"/>
                                        <p:tgtEl>
                                          <p:spTgt spid="3727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27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2739">
                                            <p:txEl>
                                              <p:pRg st="1" end="1"/>
                                            </p:txEl>
                                          </p:spTgt>
                                        </p:tgtEl>
                                        <p:attrNameLst>
                                          <p:attrName>style.visibility</p:attrName>
                                        </p:attrNameLst>
                                      </p:cBhvr>
                                      <p:to>
                                        <p:strVal val="visible"/>
                                      </p:to>
                                    </p:set>
                                    <p:anim calcmode="lin" valueType="num">
                                      <p:cBhvr additive="base">
                                        <p:cTn id="13" dur="500" fill="hold"/>
                                        <p:tgtEl>
                                          <p:spTgt spid="3727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27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72739">
                                            <p:txEl>
                                              <p:pRg st="2" end="2"/>
                                            </p:txEl>
                                          </p:spTgt>
                                        </p:tgtEl>
                                        <p:attrNameLst>
                                          <p:attrName>style.visibility</p:attrName>
                                        </p:attrNameLst>
                                      </p:cBhvr>
                                      <p:to>
                                        <p:strVal val="visible"/>
                                      </p:to>
                                    </p:set>
                                    <p:anim calcmode="lin" valueType="num">
                                      <p:cBhvr additive="base">
                                        <p:cTn id="19" dur="500" fill="hold"/>
                                        <p:tgtEl>
                                          <p:spTgt spid="3727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27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72739">
                                            <p:txEl>
                                              <p:pRg st="3" end="3"/>
                                            </p:txEl>
                                          </p:spTgt>
                                        </p:tgtEl>
                                        <p:attrNameLst>
                                          <p:attrName>style.visibility</p:attrName>
                                        </p:attrNameLst>
                                      </p:cBhvr>
                                      <p:to>
                                        <p:strVal val="visible"/>
                                      </p:to>
                                    </p:set>
                                    <p:anim calcmode="lin" valueType="num">
                                      <p:cBhvr additive="base">
                                        <p:cTn id="25" dur="500" fill="hold"/>
                                        <p:tgtEl>
                                          <p:spTgt spid="3727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27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72739">
                                            <p:txEl>
                                              <p:pRg st="4" end="4"/>
                                            </p:txEl>
                                          </p:spTgt>
                                        </p:tgtEl>
                                        <p:attrNameLst>
                                          <p:attrName>style.visibility</p:attrName>
                                        </p:attrNameLst>
                                      </p:cBhvr>
                                      <p:to>
                                        <p:strVal val="visible"/>
                                      </p:to>
                                    </p:set>
                                    <p:anim calcmode="lin" valueType="num">
                                      <p:cBhvr additive="base">
                                        <p:cTn id="31" dur="500" fill="hold"/>
                                        <p:tgtEl>
                                          <p:spTgt spid="3727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727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72739">
                                            <p:txEl>
                                              <p:pRg st="5" end="5"/>
                                            </p:txEl>
                                          </p:spTgt>
                                        </p:tgtEl>
                                        <p:attrNameLst>
                                          <p:attrName>style.visibility</p:attrName>
                                        </p:attrNameLst>
                                      </p:cBhvr>
                                      <p:to>
                                        <p:strVal val="visible"/>
                                      </p:to>
                                    </p:set>
                                    <p:anim calcmode="lin" valueType="num">
                                      <p:cBhvr additive="base">
                                        <p:cTn id="37" dur="500" fill="hold"/>
                                        <p:tgtEl>
                                          <p:spTgt spid="3727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727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7971A50-A89B-079A-D873-59E1EB1962CE}"/>
              </a:ext>
            </a:extLst>
          </p:cNvPr>
          <p:cNvSpPr>
            <a:spLocks noGrp="1" noChangeArrowheads="1"/>
          </p:cNvSpPr>
          <p:nvPr>
            <p:ph type="ctrTitle"/>
          </p:nvPr>
        </p:nvSpPr>
        <p:spPr>
          <a:xfrm>
            <a:off x="1657350" y="400050"/>
            <a:ext cx="5829300" cy="857250"/>
          </a:xfrm>
          <a:noFill/>
        </p:spPr>
        <p:txBody>
          <a:bodyPr/>
          <a:lstStyle/>
          <a:p>
            <a:r>
              <a:rPr lang="en-US" altLang="en-US" sz="4400">
                <a:latin typeface="Times New Roman" panose="02020603050405020304" pitchFamily="18" charset="0"/>
                <a:cs typeface="Times New Roman" panose="02020603050405020304" pitchFamily="18" charset="0"/>
              </a:rPr>
              <a:t>Put Operation</a:t>
            </a:r>
          </a:p>
        </p:txBody>
      </p:sp>
      <p:sp>
        <p:nvSpPr>
          <p:cNvPr id="374787" name="Rectangle 3">
            <a:extLst>
              <a:ext uri="{FF2B5EF4-FFF2-40B4-BE49-F238E27FC236}">
                <a16:creationId xmlns:a16="http://schemas.microsoft.com/office/drawing/2014/main" id="{1EB6B196-E5EE-0207-75CC-0441CC9D5351}"/>
              </a:ext>
            </a:extLst>
          </p:cNvPr>
          <p:cNvSpPr>
            <a:spLocks noGrp="1" noChangeArrowheads="1"/>
          </p:cNvSpPr>
          <p:nvPr>
            <p:ph type="subTitle" idx="1"/>
          </p:nvPr>
        </p:nvSpPr>
        <p:spPr>
          <a:xfrm>
            <a:off x="2057400" y="1257300"/>
            <a:ext cx="5772150" cy="1314450"/>
          </a:xfrm>
          <a:noFill/>
        </p:spPr>
        <p:txBody>
          <a:bodyPr/>
          <a:lstStyle/>
          <a:p>
            <a:pPr marL="257175" indent="-257175" algn="l"/>
            <a:r>
              <a:rPr lang="en-US" altLang="en-US" sz="1600">
                <a:latin typeface="Times New Roman" panose="02020603050405020304" pitchFamily="18" charset="0"/>
                <a:cs typeface="Times New Roman" panose="02020603050405020304" pitchFamily="18" charset="0"/>
              </a:rPr>
              <a:t>put(7)</a:t>
            </a:r>
          </a:p>
        </p:txBody>
      </p:sp>
      <p:grpSp>
        <p:nvGrpSpPr>
          <p:cNvPr id="2" name="Group 4">
            <a:extLst>
              <a:ext uri="{FF2B5EF4-FFF2-40B4-BE49-F238E27FC236}">
                <a16:creationId xmlns:a16="http://schemas.microsoft.com/office/drawing/2014/main" id="{E01896A1-336E-D054-0650-DB2149691F8A}"/>
              </a:ext>
            </a:extLst>
          </p:cNvPr>
          <p:cNvGrpSpPr>
            <a:grpSpLocks/>
          </p:cNvGrpSpPr>
          <p:nvPr/>
        </p:nvGrpSpPr>
        <p:grpSpPr bwMode="auto">
          <a:xfrm>
            <a:off x="1662113" y="1490663"/>
            <a:ext cx="4791075" cy="2505075"/>
            <a:chOff x="436" y="1252"/>
            <a:chExt cx="4024" cy="2104"/>
          </a:xfrm>
        </p:grpSpPr>
        <p:sp>
          <p:nvSpPr>
            <p:cNvPr id="34828" name="Oval 5">
              <a:extLst>
                <a:ext uri="{FF2B5EF4-FFF2-40B4-BE49-F238E27FC236}">
                  <a16:creationId xmlns:a16="http://schemas.microsoft.com/office/drawing/2014/main" id="{FE24DD5E-8B07-55B9-C7FA-97123BCC9CFC}"/>
                </a:ext>
              </a:extLst>
            </p:cNvPr>
            <p:cNvSpPr>
              <a:spLocks noChangeArrowheads="1"/>
            </p:cNvSpPr>
            <p:nvPr/>
          </p:nvSpPr>
          <p:spPr bwMode="auto">
            <a:xfrm>
              <a:off x="2788" y="1252"/>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29" name="Oval 6">
              <a:extLst>
                <a:ext uri="{FF2B5EF4-FFF2-40B4-BE49-F238E27FC236}">
                  <a16:creationId xmlns:a16="http://schemas.microsoft.com/office/drawing/2014/main" id="{BBA4DC0A-2D0C-8C0E-9E38-5BD4E21659BD}"/>
                </a:ext>
              </a:extLst>
            </p:cNvPr>
            <p:cNvSpPr>
              <a:spLocks noChangeArrowheads="1"/>
            </p:cNvSpPr>
            <p:nvPr/>
          </p:nvSpPr>
          <p:spPr bwMode="auto">
            <a:xfrm>
              <a:off x="1444" y="187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0" name="Oval 7">
              <a:extLst>
                <a:ext uri="{FF2B5EF4-FFF2-40B4-BE49-F238E27FC236}">
                  <a16:creationId xmlns:a16="http://schemas.microsoft.com/office/drawing/2014/main" id="{3E83E303-12D1-E20F-86AD-76F7D7EB6C26}"/>
                </a:ext>
              </a:extLst>
            </p:cNvPr>
            <p:cNvSpPr>
              <a:spLocks noChangeArrowheads="1"/>
            </p:cNvSpPr>
            <p:nvPr/>
          </p:nvSpPr>
          <p:spPr bwMode="auto">
            <a:xfrm>
              <a:off x="4180" y="187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1" name="Oval 8">
              <a:extLst>
                <a:ext uri="{FF2B5EF4-FFF2-40B4-BE49-F238E27FC236}">
                  <a16:creationId xmlns:a16="http://schemas.microsoft.com/office/drawing/2014/main" id="{F13B9077-9806-FECC-05AB-DFDC8DBFCC76}"/>
                </a:ext>
              </a:extLst>
            </p:cNvPr>
            <p:cNvSpPr>
              <a:spLocks noChangeArrowheads="1"/>
            </p:cNvSpPr>
            <p:nvPr/>
          </p:nvSpPr>
          <p:spPr bwMode="auto">
            <a:xfrm>
              <a:off x="820" y="2404"/>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2" name="Oval 9">
              <a:extLst>
                <a:ext uri="{FF2B5EF4-FFF2-40B4-BE49-F238E27FC236}">
                  <a16:creationId xmlns:a16="http://schemas.microsoft.com/office/drawing/2014/main" id="{363E5EE2-44FA-62AF-1BAA-8BF088761955}"/>
                </a:ext>
              </a:extLst>
            </p:cNvPr>
            <p:cNvSpPr>
              <a:spLocks noChangeArrowheads="1"/>
            </p:cNvSpPr>
            <p:nvPr/>
          </p:nvSpPr>
          <p:spPr bwMode="auto">
            <a:xfrm>
              <a:off x="1924" y="2404"/>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3" name="Oval 10">
              <a:extLst>
                <a:ext uri="{FF2B5EF4-FFF2-40B4-BE49-F238E27FC236}">
                  <a16:creationId xmlns:a16="http://schemas.microsoft.com/office/drawing/2014/main" id="{C0958112-4D21-F4DC-40E6-D71BEF84ADF6}"/>
                </a:ext>
              </a:extLst>
            </p:cNvPr>
            <p:cNvSpPr>
              <a:spLocks noChangeArrowheads="1"/>
            </p:cNvSpPr>
            <p:nvPr/>
          </p:nvSpPr>
          <p:spPr bwMode="auto">
            <a:xfrm>
              <a:off x="3412" y="2404"/>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4" name="Oval 11">
              <a:extLst>
                <a:ext uri="{FF2B5EF4-FFF2-40B4-BE49-F238E27FC236}">
                  <a16:creationId xmlns:a16="http://schemas.microsoft.com/office/drawing/2014/main" id="{B640A4B3-0295-0257-76E8-C86DC7394625}"/>
                </a:ext>
              </a:extLst>
            </p:cNvPr>
            <p:cNvSpPr>
              <a:spLocks noChangeArrowheads="1"/>
            </p:cNvSpPr>
            <p:nvPr/>
          </p:nvSpPr>
          <p:spPr bwMode="auto">
            <a:xfrm>
              <a:off x="436" y="307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5" name="Oval 12">
              <a:extLst>
                <a:ext uri="{FF2B5EF4-FFF2-40B4-BE49-F238E27FC236}">
                  <a16:creationId xmlns:a16="http://schemas.microsoft.com/office/drawing/2014/main" id="{2BF3BFF3-E363-27E0-4319-ECE916433B33}"/>
                </a:ext>
              </a:extLst>
            </p:cNvPr>
            <p:cNvSpPr>
              <a:spLocks noChangeArrowheads="1"/>
            </p:cNvSpPr>
            <p:nvPr/>
          </p:nvSpPr>
          <p:spPr bwMode="auto">
            <a:xfrm>
              <a:off x="1156" y="307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36" name="Line 13">
              <a:extLst>
                <a:ext uri="{FF2B5EF4-FFF2-40B4-BE49-F238E27FC236}">
                  <a16:creationId xmlns:a16="http://schemas.microsoft.com/office/drawing/2014/main" id="{6020EF75-FDB7-3418-C614-7C2EFFC2A3B3}"/>
                </a:ext>
              </a:extLst>
            </p:cNvPr>
            <p:cNvSpPr>
              <a:spLocks noChangeShapeType="1"/>
            </p:cNvSpPr>
            <p:nvPr/>
          </p:nvSpPr>
          <p:spPr bwMode="auto">
            <a:xfrm flipH="1">
              <a:off x="1728" y="1440"/>
              <a:ext cx="1056"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37" name="Line 14">
              <a:extLst>
                <a:ext uri="{FF2B5EF4-FFF2-40B4-BE49-F238E27FC236}">
                  <a16:creationId xmlns:a16="http://schemas.microsoft.com/office/drawing/2014/main" id="{23F48A9A-5471-2A55-5607-AD3EAA7DA905}"/>
                </a:ext>
              </a:extLst>
            </p:cNvPr>
            <p:cNvSpPr>
              <a:spLocks noChangeShapeType="1"/>
            </p:cNvSpPr>
            <p:nvPr/>
          </p:nvSpPr>
          <p:spPr bwMode="auto">
            <a:xfrm>
              <a:off x="3072" y="1440"/>
              <a:ext cx="115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38" name="Line 15">
              <a:extLst>
                <a:ext uri="{FF2B5EF4-FFF2-40B4-BE49-F238E27FC236}">
                  <a16:creationId xmlns:a16="http://schemas.microsoft.com/office/drawing/2014/main" id="{DA1879D7-AE7A-F6E9-07BD-79E3DAE84BAE}"/>
                </a:ext>
              </a:extLst>
            </p:cNvPr>
            <p:cNvSpPr>
              <a:spLocks noChangeShapeType="1"/>
            </p:cNvSpPr>
            <p:nvPr/>
          </p:nvSpPr>
          <p:spPr bwMode="auto">
            <a:xfrm flipH="1">
              <a:off x="1008" y="2112"/>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39" name="Line 16">
              <a:extLst>
                <a:ext uri="{FF2B5EF4-FFF2-40B4-BE49-F238E27FC236}">
                  <a16:creationId xmlns:a16="http://schemas.microsoft.com/office/drawing/2014/main" id="{015CBDAB-55F0-E875-55D8-B991728C8F59}"/>
                </a:ext>
              </a:extLst>
            </p:cNvPr>
            <p:cNvSpPr>
              <a:spLocks noChangeShapeType="1"/>
            </p:cNvSpPr>
            <p:nvPr/>
          </p:nvSpPr>
          <p:spPr bwMode="auto">
            <a:xfrm>
              <a:off x="1680" y="2112"/>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40" name="Line 17">
              <a:extLst>
                <a:ext uri="{FF2B5EF4-FFF2-40B4-BE49-F238E27FC236}">
                  <a16:creationId xmlns:a16="http://schemas.microsoft.com/office/drawing/2014/main" id="{FB8A5A53-E757-E75A-CB11-2D9CA9192D95}"/>
                </a:ext>
              </a:extLst>
            </p:cNvPr>
            <p:cNvSpPr>
              <a:spLocks noChangeShapeType="1"/>
            </p:cNvSpPr>
            <p:nvPr/>
          </p:nvSpPr>
          <p:spPr bwMode="auto">
            <a:xfrm flipH="1">
              <a:off x="3648" y="2160"/>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41" name="Line 18">
              <a:extLst>
                <a:ext uri="{FF2B5EF4-FFF2-40B4-BE49-F238E27FC236}">
                  <a16:creationId xmlns:a16="http://schemas.microsoft.com/office/drawing/2014/main" id="{286909CA-A898-4BB8-EA1E-D7E5A6D13692}"/>
                </a:ext>
              </a:extLst>
            </p:cNvPr>
            <p:cNvSpPr>
              <a:spLocks noChangeShapeType="1"/>
            </p:cNvSpPr>
            <p:nvPr/>
          </p:nvSpPr>
          <p:spPr bwMode="auto">
            <a:xfrm flipH="1">
              <a:off x="624" y="2640"/>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42" name="Line 19">
              <a:extLst>
                <a:ext uri="{FF2B5EF4-FFF2-40B4-BE49-F238E27FC236}">
                  <a16:creationId xmlns:a16="http://schemas.microsoft.com/office/drawing/2014/main" id="{75E90BB6-6410-4511-F6E9-4B13E2105FA8}"/>
                </a:ext>
              </a:extLst>
            </p:cNvPr>
            <p:cNvSpPr>
              <a:spLocks noChangeShapeType="1"/>
            </p:cNvSpPr>
            <p:nvPr/>
          </p:nvSpPr>
          <p:spPr bwMode="auto">
            <a:xfrm>
              <a:off x="1056" y="2640"/>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43" name="Oval 20">
              <a:extLst>
                <a:ext uri="{FF2B5EF4-FFF2-40B4-BE49-F238E27FC236}">
                  <a16:creationId xmlns:a16="http://schemas.microsoft.com/office/drawing/2014/main" id="{A14391FA-FC0F-30D5-D22F-F06D395EAE18}"/>
                </a:ext>
              </a:extLst>
            </p:cNvPr>
            <p:cNvSpPr>
              <a:spLocks noChangeArrowheads="1"/>
            </p:cNvSpPr>
            <p:nvPr/>
          </p:nvSpPr>
          <p:spPr bwMode="auto">
            <a:xfrm>
              <a:off x="3076" y="302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44" name="Line 21">
              <a:extLst>
                <a:ext uri="{FF2B5EF4-FFF2-40B4-BE49-F238E27FC236}">
                  <a16:creationId xmlns:a16="http://schemas.microsoft.com/office/drawing/2014/main" id="{49BE948E-8433-4C03-8B79-E7476F700821}"/>
                </a:ext>
              </a:extLst>
            </p:cNvPr>
            <p:cNvSpPr>
              <a:spLocks noChangeShapeType="1"/>
            </p:cNvSpPr>
            <p:nvPr/>
          </p:nvSpPr>
          <p:spPr bwMode="auto">
            <a:xfrm flipH="1">
              <a:off x="3264" y="2688"/>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4845" name="Rectangle 22">
              <a:extLst>
                <a:ext uri="{FF2B5EF4-FFF2-40B4-BE49-F238E27FC236}">
                  <a16:creationId xmlns:a16="http://schemas.microsoft.com/office/drawing/2014/main" id="{6A0550AA-7C49-9991-C2FE-7AB69B875B44}"/>
                </a:ext>
              </a:extLst>
            </p:cNvPr>
            <p:cNvSpPr>
              <a:spLocks noChangeArrowheads="1"/>
            </p:cNvSpPr>
            <p:nvPr/>
          </p:nvSpPr>
          <p:spPr bwMode="auto">
            <a:xfrm>
              <a:off x="470" y="3091"/>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8</a:t>
              </a:r>
            </a:p>
          </p:txBody>
        </p:sp>
        <p:sp>
          <p:nvSpPr>
            <p:cNvPr id="34846" name="Rectangle 23">
              <a:extLst>
                <a:ext uri="{FF2B5EF4-FFF2-40B4-BE49-F238E27FC236}">
                  <a16:creationId xmlns:a16="http://schemas.microsoft.com/office/drawing/2014/main" id="{FAA8CAAF-0FCE-8CFE-306E-DC6ECE886090}"/>
                </a:ext>
              </a:extLst>
            </p:cNvPr>
            <p:cNvSpPr>
              <a:spLocks noChangeArrowheads="1"/>
            </p:cNvSpPr>
            <p:nvPr/>
          </p:nvSpPr>
          <p:spPr bwMode="auto">
            <a:xfrm>
              <a:off x="1190" y="3091"/>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6</a:t>
              </a:r>
            </a:p>
          </p:txBody>
        </p:sp>
        <p:sp>
          <p:nvSpPr>
            <p:cNvPr id="34847" name="Rectangle 24">
              <a:extLst>
                <a:ext uri="{FF2B5EF4-FFF2-40B4-BE49-F238E27FC236}">
                  <a16:creationId xmlns:a16="http://schemas.microsoft.com/office/drawing/2014/main" id="{A6270CB8-7B5B-873F-C99F-A4EA7E987702}"/>
                </a:ext>
              </a:extLst>
            </p:cNvPr>
            <p:cNvSpPr>
              <a:spLocks noChangeArrowheads="1"/>
            </p:cNvSpPr>
            <p:nvPr/>
          </p:nvSpPr>
          <p:spPr bwMode="auto">
            <a:xfrm>
              <a:off x="3110" y="3043"/>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9</a:t>
              </a:r>
            </a:p>
          </p:txBody>
        </p:sp>
        <p:sp>
          <p:nvSpPr>
            <p:cNvPr id="34848" name="Rectangle 25">
              <a:extLst>
                <a:ext uri="{FF2B5EF4-FFF2-40B4-BE49-F238E27FC236}">
                  <a16:creationId xmlns:a16="http://schemas.microsoft.com/office/drawing/2014/main" id="{CAB65A22-1322-E042-ED46-1F467F189BC0}"/>
                </a:ext>
              </a:extLst>
            </p:cNvPr>
            <p:cNvSpPr>
              <a:spLocks noChangeArrowheads="1"/>
            </p:cNvSpPr>
            <p:nvPr/>
          </p:nvSpPr>
          <p:spPr bwMode="auto">
            <a:xfrm>
              <a:off x="854" y="2419"/>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6</a:t>
              </a:r>
            </a:p>
          </p:txBody>
        </p:sp>
        <p:sp>
          <p:nvSpPr>
            <p:cNvPr id="34849" name="Rectangle 26">
              <a:extLst>
                <a:ext uri="{FF2B5EF4-FFF2-40B4-BE49-F238E27FC236}">
                  <a16:creationId xmlns:a16="http://schemas.microsoft.com/office/drawing/2014/main" id="{94C6D4F7-BD56-BBE4-7728-4C60E8DF4DBE}"/>
                </a:ext>
              </a:extLst>
            </p:cNvPr>
            <p:cNvSpPr>
              <a:spLocks noChangeArrowheads="1"/>
            </p:cNvSpPr>
            <p:nvPr/>
          </p:nvSpPr>
          <p:spPr bwMode="auto">
            <a:xfrm>
              <a:off x="1958" y="2419"/>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8</a:t>
              </a:r>
            </a:p>
          </p:txBody>
        </p:sp>
        <p:sp>
          <p:nvSpPr>
            <p:cNvPr id="34850" name="Rectangle 27">
              <a:extLst>
                <a:ext uri="{FF2B5EF4-FFF2-40B4-BE49-F238E27FC236}">
                  <a16:creationId xmlns:a16="http://schemas.microsoft.com/office/drawing/2014/main" id="{90852129-3FD7-062F-05F9-3919B4EC5864}"/>
                </a:ext>
              </a:extLst>
            </p:cNvPr>
            <p:cNvSpPr>
              <a:spLocks noChangeArrowheads="1"/>
            </p:cNvSpPr>
            <p:nvPr/>
          </p:nvSpPr>
          <p:spPr bwMode="auto">
            <a:xfrm>
              <a:off x="3446" y="2419"/>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5</a:t>
              </a:r>
            </a:p>
          </p:txBody>
        </p:sp>
        <p:sp>
          <p:nvSpPr>
            <p:cNvPr id="34851" name="Rectangle 28">
              <a:extLst>
                <a:ext uri="{FF2B5EF4-FFF2-40B4-BE49-F238E27FC236}">
                  <a16:creationId xmlns:a16="http://schemas.microsoft.com/office/drawing/2014/main" id="{B3DCF961-26FA-016B-B970-C532E25D9D31}"/>
                </a:ext>
              </a:extLst>
            </p:cNvPr>
            <p:cNvSpPr>
              <a:spLocks noChangeArrowheads="1"/>
            </p:cNvSpPr>
            <p:nvPr/>
          </p:nvSpPr>
          <p:spPr bwMode="auto">
            <a:xfrm>
              <a:off x="1478" y="1891"/>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4</a:t>
              </a:r>
            </a:p>
          </p:txBody>
        </p:sp>
        <p:sp>
          <p:nvSpPr>
            <p:cNvPr id="34852" name="Rectangle 29">
              <a:extLst>
                <a:ext uri="{FF2B5EF4-FFF2-40B4-BE49-F238E27FC236}">
                  <a16:creationId xmlns:a16="http://schemas.microsoft.com/office/drawing/2014/main" id="{6FCA1DA3-A52E-9F2F-A3F2-74C8CB4C3E89}"/>
                </a:ext>
              </a:extLst>
            </p:cNvPr>
            <p:cNvSpPr>
              <a:spLocks noChangeArrowheads="1"/>
            </p:cNvSpPr>
            <p:nvPr/>
          </p:nvSpPr>
          <p:spPr bwMode="auto">
            <a:xfrm>
              <a:off x="4262" y="1891"/>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3</a:t>
              </a:r>
            </a:p>
          </p:txBody>
        </p:sp>
        <p:sp>
          <p:nvSpPr>
            <p:cNvPr id="34853" name="Rectangle 30">
              <a:extLst>
                <a:ext uri="{FF2B5EF4-FFF2-40B4-BE49-F238E27FC236}">
                  <a16:creationId xmlns:a16="http://schemas.microsoft.com/office/drawing/2014/main" id="{300D54A0-6A33-E9DA-C248-0AC614879279}"/>
                </a:ext>
              </a:extLst>
            </p:cNvPr>
            <p:cNvSpPr>
              <a:spLocks noChangeArrowheads="1"/>
            </p:cNvSpPr>
            <p:nvPr/>
          </p:nvSpPr>
          <p:spPr bwMode="auto">
            <a:xfrm>
              <a:off x="2822" y="1267"/>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2</a:t>
              </a:r>
            </a:p>
          </p:txBody>
        </p:sp>
      </p:grpSp>
      <p:sp>
        <p:nvSpPr>
          <p:cNvPr id="374815" name="Rectangle 31">
            <a:extLst>
              <a:ext uri="{FF2B5EF4-FFF2-40B4-BE49-F238E27FC236}">
                <a16:creationId xmlns:a16="http://schemas.microsoft.com/office/drawing/2014/main" id="{7A615E40-88A3-2A9B-F41A-F6AF89443454}"/>
              </a:ext>
            </a:extLst>
          </p:cNvPr>
          <p:cNvSpPr>
            <a:spLocks noChangeArrowheads="1"/>
          </p:cNvSpPr>
          <p:nvPr/>
        </p:nvSpPr>
        <p:spPr bwMode="auto">
          <a:xfrm>
            <a:off x="1657350" y="4286251"/>
            <a:ext cx="5715000"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800" dirty="0">
                <a:cs typeface="Times New Roman" panose="02020603050405020304" pitchFamily="18" charset="0"/>
              </a:rPr>
              <a:t>Create a single node min leftist tree.</a:t>
            </a:r>
          </a:p>
        </p:txBody>
      </p:sp>
      <p:grpSp>
        <p:nvGrpSpPr>
          <p:cNvPr id="3" name="Group 32">
            <a:extLst>
              <a:ext uri="{FF2B5EF4-FFF2-40B4-BE49-F238E27FC236}">
                <a16:creationId xmlns:a16="http://schemas.microsoft.com/office/drawing/2014/main" id="{C51C1E77-E6D9-7E6C-7E83-681A959C2FB4}"/>
              </a:ext>
            </a:extLst>
          </p:cNvPr>
          <p:cNvGrpSpPr>
            <a:grpSpLocks/>
          </p:cNvGrpSpPr>
          <p:nvPr/>
        </p:nvGrpSpPr>
        <p:grpSpPr bwMode="auto">
          <a:xfrm>
            <a:off x="6691313" y="4291013"/>
            <a:ext cx="333375" cy="333375"/>
            <a:chOff x="4660" y="3604"/>
            <a:chExt cx="280" cy="280"/>
          </a:xfrm>
        </p:grpSpPr>
        <p:sp>
          <p:nvSpPr>
            <p:cNvPr id="34826" name="Oval 33">
              <a:extLst>
                <a:ext uri="{FF2B5EF4-FFF2-40B4-BE49-F238E27FC236}">
                  <a16:creationId xmlns:a16="http://schemas.microsoft.com/office/drawing/2014/main" id="{B74A0935-F453-7AEF-D2DE-8257F41E02FE}"/>
                </a:ext>
              </a:extLst>
            </p:cNvPr>
            <p:cNvSpPr>
              <a:spLocks noChangeArrowheads="1"/>
            </p:cNvSpPr>
            <p:nvPr/>
          </p:nvSpPr>
          <p:spPr bwMode="auto">
            <a:xfrm>
              <a:off x="4660" y="3604"/>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000">
                <a:cs typeface="Times New Roman" panose="02020603050405020304" pitchFamily="18" charset="0"/>
              </a:endParaRPr>
            </a:p>
          </p:txBody>
        </p:sp>
        <p:sp>
          <p:nvSpPr>
            <p:cNvPr id="34827" name="Rectangle 34">
              <a:extLst>
                <a:ext uri="{FF2B5EF4-FFF2-40B4-BE49-F238E27FC236}">
                  <a16:creationId xmlns:a16="http://schemas.microsoft.com/office/drawing/2014/main" id="{86874C4C-C7A4-E1A4-A3F9-27510B251BB7}"/>
                </a:ext>
              </a:extLst>
            </p:cNvPr>
            <p:cNvSpPr>
              <a:spLocks noChangeArrowheads="1"/>
            </p:cNvSpPr>
            <p:nvPr/>
          </p:nvSpPr>
          <p:spPr bwMode="auto">
            <a:xfrm>
              <a:off x="4742" y="3619"/>
              <a:ext cx="19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400">
                  <a:cs typeface="Times New Roman" panose="02020603050405020304" pitchFamily="18" charset="0"/>
                </a:rPr>
                <a:t>7</a:t>
              </a:r>
            </a:p>
          </p:txBody>
        </p:sp>
      </p:grpSp>
      <p:sp>
        <p:nvSpPr>
          <p:cNvPr id="374819" name="Rectangle 35">
            <a:extLst>
              <a:ext uri="{FF2B5EF4-FFF2-40B4-BE49-F238E27FC236}">
                <a16:creationId xmlns:a16="http://schemas.microsoft.com/office/drawing/2014/main" id="{5DF3C852-47A0-6850-C509-B85583074C84}"/>
              </a:ext>
            </a:extLst>
          </p:cNvPr>
          <p:cNvSpPr>
            <a:spLocks noChangeArrowheads="1"/>
          </p:cNvSpPr>
          <p:nvPr/>
        </p:nvSpPr>
        <p:spPr bwMode="auto">
          <a:xfrm>
            <a:off x="1714500" y="4612481"/>
            <a:ext cx="5715000"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1400" dirty="0">
                <a:cs typeface="Times New Roman" panose="02020603050405020304" pitchFamily="18" charset="0"/>
              </a:rPr>
              <a:t>Meld the two min leftist trees.</a:t>
            </a:r>
          </a:p>
        </p:txBody>
      </p:sp>
      <p:sp>
        <p:nvSpPr>
          <p:cNvPr id="374820" name="Freeform 36">
            <a:extLst>
              <a:ext uri="{FF2B5EF4-FFF2-40B4-BE49-F238E27FC236}">
                <a16:creationId xmlns:a16="http://schemas.microsoft.com/office/drawing/2014/main" id="{DB4A5B06-2E91-DCD0-F0A3-1F4DA52604AE}"/>
              </a:ext>
            </a:extLst>
          </p:cNvPr>
          <p:cNvSpPr>
            <a:spLocks/>
          </p:cNvSpPr>
          <p:nvPr/>
        </p:nvSpPr>
        <p:spPr bwMode="auto">
          <a:xfrm>
            <a:off x="1239441" y="1166813"/>
            <a:ext cx="6142434" cy="3173016"/>
          </a:xfrm>
          <a:custGeom>
            <a:avLst/>
            <a:gdLst>
              <a:gd name="T0" fmla="*/ 2147483646 w 5159"/>
              <a:gd name="T1" fmla="*/ 2147483646 h 2665"/>
              <a:gd name="T2" fmla="*/ 2147483646 w 5159"/>
              <a:gd name="T3" fmla="*/ 2147483646 h 2665"/>
              <a:gd name="T4" fmla="*/ 2147483646 w 5159"/>
              <a:gd name="T5" fmla="*/ 2147483646 h 2665"/>
              <a:gd name="T6" fmla="*/ 2147483646 w 5159"/>
              <a:gd name="T7" fmla="*/ 2147483646 h 2665"/>
              <a:gd name="T8" fmla="*/ 2147483646 w 5159"/>
              <a:gd name="T9" fmla="*/ 2147483646 h 2665"/>
              <a:gd name="T10" fmla="*/ 2147483646 w 5159"/>
              <a:gd name="T11" fmla="*/ 2147483646 h 2665"/>
              <a:gd name="T12" fmla="*/ 2147483646 w 5159"/>
              <a:gd name="T13" fmla="*/ 2147483646 h 2665"/>
              <a:gd name="T14" fmla="*/ 2147483646 w 5159"/>
              <a:gd name="T15" fmla="*/ 2147483646 h 2665"/>
              <a:gd name="T16" fmla="*/ 2147483646 w 5159"/>
              <a:gd name="T17" fmla="*/ 2147483646 h 2665"/>
              <a:gd name="T18" fmla="*/ 2147483646 w 5159"/>
              <a:gd name="T19" fmla="*/ 2147483646 h 2665"/>
              <a:gd name="T20" fmla="*/ 2147483646 w 5159"/>
              <a:gd name="T21" fmla="*/ 2147483646 h 2665"/>
              <a:gd name="T22" fmla="*/ 2147483646 w 5159"/>
              <a:gd name="T23" fmla="*/ 2147483646 h 2665"/>
              <a:gd name="T24" fmla="*/ 2147483646 w 5159"/>
              <a:gd name="T25" fmla="*/ 2147483646 h 2665"/>
              <a:gd name="T26" fmla="*/ 2147483646 w 5159"/>
              <a:gd name="T27" fmla="*/ 2147483646 h 2665"/>
              <a:gd name="T28" fmla="*/ 2147483646 w 5159"/>
              <a:gd name="T29" fmla="*/ 2147483646 h 2665"/>
              <a:gd name="T30" fmla="*/ 2147483646 w 5159"/>
              <a:gd name="T31" fmla="*/ 2147483646 h 2665"/>
              <a:gd name="T32" fmla="*/ 2147483646 w 5159"/>
              <a:gd name="T33" fmla="*/ 2147483646 h 2665"/>
              <a:gd name="T34" fmla="*/ 2147483646 w 5159"/>
              <a:gd name="T35" fmla="*/ 2147483646 h 2665"/>
              <a:gd name="T36" fmla="*/ 2147483646 w 5159"/>
              <a:gd name="T37" fmla="*/ 2147483646 h 2665"/>
              <a:gd name="T38" fmla="*/ 2147483646 w 5159"/>
              <a:gd name="T39" fmla="*/ 2147483646 h 2665"/>
              <a:gd name="T40" fmla="*/ 2147483646 w 5159"/>
              <a:gd name="T41" fmla="*/ 2147483646 h 2665"/>
              <a:gd name="T42" fmla="*/ 2147483646 w 5159"/>
              <a:gd name="T43" fmla="*/ 2147483646 h 2665"/>
              <a:gd name="T44" fmla="*/ 2147483646 w 5159"/>
              <a:gd name="T45" fmla="*/ 2147483646 h 2665"/>
              <a:gd name="T46" fmla="*/ 2147483646 w 5159"/>
              <a:gd name="T47" fmla="*/ 2147483646 h 2665"/>
              <a:gd name="T48" fmla="*/ 2147483646 w 5159"/>
              <a:gd name="T49" fmla="*/ 2147483646 h 2665"/>
              <a:gd name="T50" fmla="*/ 2147483646 w 5159"/>
              <a:gd name="T51" fmla="*/ 2147483646 h 2665"/>
              <a:gd name="T52" fmla="*/ 2147483646 w 5159"/>
              <a:gd name="T53" fmla="*/ 2147483646 h 2665"/>
              <a:gd name="T54" fmla="*/ 2147483646 w 5159"/>
              <a:gd name="T55" fmla="*/ 2147483646 h 2665"/>
              <a:gd name="T56" fmla="*/ 2147483646 w 5159"/>
              <a:gd name="T57" fmla="*/ 2147483646 h 2665"/>
              <a:gd name="T58" fmla="*/ 2147483646 w 5159"/>
              <a:gd name="T59" fmla="*/ 2147483646 h 2665"/>
              <a:gd name="T60" fmla="*/ 2147483646 w 5159"/>
              <a:gd name="T61" fmla="*/ 2147483646 h 2665"/>
              <a:gd name="T62" fmla="*/ 2147483646 w 5159"/>
              <a:gd name="T63" fmla="*/ 2147483646 h 26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159"/>
              <a:gd name="T97" fmla="*/ 0 h 2665"/>
              <a:gd name="T98" fmla="*/ 5159 w 5159"/>
              <a:gd name="T99" fmla="*/ 2665 h 26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159" h="2665">
                <a:moveTo>
                  <a:pt x="3771" y="37"/>
                </a:moveTo>
                <a:cubicBezTo>
                  <a:pt x="3604" y="27"/>
                  <a:pt x="3465" y="22"/>
                  <a:pt x="3294" y="28"/>
                </a:cubicBezTo>
                <a:cubicBezTo>
                  <a:pt x="3147" y="41"/>
                  <a:pt x="2999" y="36"/>
                  <a:pt x="2853" y="55"/>
                </a:cubicBezTo>
                <a:cubicBezTo>
                  <a:pt x="2730" y="71"/>
                  <a:pt x="2609" y="96"/>
                  <a:pt x="2484" y="109"/>
                </a:cubicBezTo>
                <a:cubicBezTo>
                  <a:pt x="2439" y="124"/>
                  <a:pt x="2457" y="153"/>
                  <a:pt x="2412" y="181"/>
                </a:cubicBezTo>
                <a:cubicBezTo>
                  <a:pt x="2367" y="209"/>
                  <a:pt x="2213" y="225"/>
                  <a:pt x="2169" y="235"/>
                </a:cubicBezTo>
                <a:cubicBezTo>
                  <a:pt x="2124" y="245"/>
                  <a:pt x="2080" y="264"/>
                  <a:pt x="2034" y="271"/>
                </a:cubicBezTo>
                <a:cubicBezTo>
                  <a:pt x="1935" y="287"/>
                  <a:pt x="1748" y="293"/>
                  <a:pt x="1647" y="298"/>
                </a:cubicBezTo>
                <a:cubicBezTo>
                  <a:pt x="1629" y="307"/>
                  <a:pt x="1607" y="311"/>
                  <a:pt x="1593" y="325"/>
                </a:cubicBezTo>
                <a:cubicBezTo>
                  <a:pt x="1584" y="334"/>
                  <a:pt x="1587" y="349"/>
                  <a:pt x="1584" y="361"/>
                </a:cubicBezTo>
                <a:cubicBezTo>
                  <a:pt x="1553" y="498"/>
                  <a:pt x="1593" y="463"/>
                  <a:pt x="1530" y="505"/>
                </a:cubicBezTo>
                <a:cubicBezTo>
                  <a:pt x="1518" y="523"/>
                  <a:pt x="1515" y="552"/>
                  <a:pt x="1494" y="559"/>
                </a:cubicBezTo>
                <a:cubicBezTo>
                  <a:pt x="1464" y="569"/>
                  <a:pt x="1467" y="577"/>
                  <a:pt x="1467" y="559"/>
                </a:cubicBezTo>
                <a:cubicBezTo>
                  <a:pt x="1458" y="568"/>
                  <a:pt x="1452" y="582"/>
                  <a:pt x="1440" y="586"/>
                </a:cubicBezTo>
                <a:cubicBezTo>
                  <a:pt x="1347" y="617"/>
                  <a:pt x="1231" y="617"/>
                  <a:pt x="1134" y="631"/>
                </a:cubicBezTo>
                <a:cubicBezTo>
                  <a:pt x="1015" y="688"/>
                  <a:pt x="887" y="725"/>
                  <a:pt x="774" y="793"/>
                </a:cubicBezTo>
                <a:cubicBezTo>
                  <a:pt x="721" y="825"/>
                  <a:pt x="684" y="879"/>
                  <a:pt x="630" y="910"/>
                </a:cubicBezTo>
                <a:cubicBezTo>
                  <a:pt x="554" y="954"/>
                  <a:pt x="356" y="1020"/>
                  <a:pt x="261" y="1054"/>
                </a:cubicBezTo>
                <a:cubicBezTo>
                  <a:pt x="193" y="1140"/>
                  <a:pt x="137" y="1186"/>
                  <a:pt x="45" y="1243"/>
                </a:cubicBezTo>
                <a:cubicBezTo>
                  <a:pt x="17" y="1299"/>
                  <a:pt x="26" y="1338"/>
                  <a:pt x="63" y="1387"/>
                </a:cubicBezTo>
                <a:cubicBezTo>
                  <a:pt x="57" y="1496"/>
                  <a:pt x="52" y="1605"/>
                  <a:pt x="27" y="1711"/>
                </a:cubicBezTo>
                <a:cubicBezTo>
                  <a:pt x="23" y="1727"/>
                  <a:pt x="14" y="1741"/>
                  <a:pt x="9" y="1756"/>
                </a:cubicBezTo>
                <a:cubicBezTo>
                  <a:pt x="5" y="1771"/>
                  <a:pt x="3" y="1786"/>
                  <a:pt x="0" y="1801"/>
                </a:cubicBezTo>
                <a:cubicBezTo>
                  <a:pt x="9" y="1819"/>
                  <a:pt x="15" y="1839"/>
                  <a:pt x="27" y="1855"/>
                </a:cubicBezTo>
                <a:cubicBezTo>
                  <a:pt x="33" y="1864"/>
                  <a:pt x="48" y="1864"/>
                  <a:pt x="54" y="1873"/>
                </a:cubicBezTo>
                <a:cubicBezTo>
                  <a:pt x="66" y="1891"/>
                  <a:pt x="65" y="1915"/>
                  <a:pt x="72" y="1936"/>
                </a:cubicBezTo>
                <a:cubicBezTo>
                  <a:pt x="50" y="2088"/>
                  <a:pt x="49" y="2193"/>
                  <a:pt x="0" y="2341"/>
                </a:cubicBezTo>
                <a:cubicBezTo>
                  <a:pt x="61" y="2361"/>
                  <a:pt x="81" y="2412"/>
                  <a:pt x="135" y="2449"/>
                </a:cubicBezTo>
                <a:cubicBezTo>
                  <a:pt x="160" y="2466"/>
                  <a:pt x="189" y="2478"/>
                  <a:pt x="216" y="2494"/>
                </a:cubicBezTo>
                <a:cubicBezTo>
                  <a:pt x="225" y="2499"/>
                  <a:pt x="232" y="2510"/>
                  <a:pt x="243" y="2512"/>
                </a:cubicBezTo>
                <a:cubicBezTo>
                  <a:pt x="294" y="2520"/>
                  <a:pt x="345" y="2518"/>
                  <a:pt x="396" y="2521"/>
                </a:cubicBezTo>
                <a:cubicBezTo>
                  <a:pt x="414" y="2527"/>
                  <a:pt x="435" y="2528"/>
                  <a:pt x="450" y="2539"/>
                </a:cubicBezTo>
                <a:cubicBezTo>
                  <a:pt x="462" y="2548"/>
                  <a:pt x="472" y="2562"/>
                  <a:pt x="486" y="2566"/>
                </a:cubicBezTo>
                <a:cubicBezTo>
                  <a:pt x="515" y="2574"/>
                  <a:pt x="546" y="2572"/>
                  <a:pt x="576" y="2575"/>
                </a:cubicBezTo>
                <a:cubicBezTo>
                  <a:pt x="711" y="2560"/>
                  <a:pt x="616" y="2562"/>
                  <a:pt x="792" y="2593"/>
                </a:cubicBezTo>
                <a:cubicBezTo>
                  <a:pt x="909" y="2613"/>
                  <a:pt x="1025" y="2622"/>
                  <a:pt x="1143" y="2629"/>
                </a:cubicBezTo>
                <a:cubicBezTo>
                  <a:pt x="1206" y="2637"/>
                  <a:pt x="1264" y="2641"/>
                  <a:pt x="1323" y="2665"/>
                </a:cubicBezTo>
                <a:cubicBezTo>
                  <a:pt x="1397" y="2660"/>
                  <a:pt x="1484" y="2660"/>
                  <a:pt x="1557" y="2638"/>
                </a:cubicBezTo>
                <a:cubicBezTo>
                  <a:pt x="1621" y="2619"/>
                  <a:pt x="1672" y="2582"/>
                  <a:pt x="1737" y="2566"/>
                </a:cubicBezTo>
                <a:cubicBezTo>
                  <a:pt x="1852" y="2573"/>
                  <a:pt x="1965" y="2584"/>
                  <a:pt x="2079" y="2593"/>
                </a:cubicBezTo>
                <a:cubicBezTo>
                  <a:pt x="2213" y="2626"/>
                  <a:pt x="2374" y="2611"/>
                  <a:pt x="2511" y="2611"/>
                </a:cubicBezTo>
                <a:cubicBezTo>
                  <a:pt x="2712" y="2649"/>
                  <a:pt x="2919" y="2600"/>
                  <a:pt x="3123" y="2593"/>
                </a:cubicBezTo>
                <a:cubicBezTo>
                  <a:pt x="3209" y="2581"/>
                  <a:pt x="3283" y="2545"/>
                  <a:pt x="3366" y="2521"/>
                </a:cubicBezTo>
                <a:cubicBezTo>
                  <a:pt x="3414" y="2485"/>
                  <a:pt x="3473" y="2468"/>
                  <a:pt x="3519" y="2431"/>
                </a:cubicBezTo>
                <a:cubicBezTo>
                  <a:pt x="3581" y="2382"/>
                  <a:pt x="3617" y="2311"/>
                  <a:pt x="3663" y="2251"/>
                </a:cubicBezTo>
                <a:cubicBezTo>
                  <a:pt x="3710" y="2190"/>
                  <a:pt x="3704" y="2218"/>
                  <a:pt x="3762" y="2170"/>
                </a:cubicBezTo>
                <a:cubicBezTo>
                  <a:pt x="3849" y="2098"/>
                  <a:pt x="3927" y="2015"/>
                  <a:pt x="4023" y="1954"/>
                </a:cubicBezTo>
                <a:cubicBezTo>
                  <a:pt x="4102" y="1903"/>
                  <a:pt x="4198" y="1876"/>
                  <a:pt x="4284" y="1837"/>
                </a:cubicBezTo>
                <a:cubicBezTo>
                  <a:pt x="4316" y="1823"/>
                  <a:pt x="4342" y="1796"/>
                  <a:pt x="4374" y="1783"/>
                </a:cubicBezTo>
                <a:cubicBezTo>
                  <a:pt x="4406" y="1770"/>
                  <a:pt x="4440" y="1766"/>
                  <a:pt x="4473" y="1756"/>
                </a:cubicBezTo>
                <a:cubicBezTo>
                  <a:pt x="4497" y="1748"/>
                  <a:pt x="4522" y="1739"/>
                  <a:pt x="4545" y="1729"/>
                </a:cubicBezTo>
                <a:cubicBezTo>
                  <a:pt x="4584" y="1712"/>
                  <a:pt x="4625" y="1697"/>
                  <a:pt x="4662" y="1675"/>
                </a:cubicBezTo>
                <a:cubicBezTo>
                  <a:pt x="4710" y="1646"/>
                  <a:pt x="4741" y="1617"/>
                  <a:pt x="4797" y="1603"/>
                </a:cubicBezTo>
                <a:cubicBezTo>
                  <a:pt x="4803" y="1599"/>
                  <a:pt x="4848" y="1560"/>
                  <a:pt x="4851" y="1558"/>
                </a:cubicBezTo>
                <a:cubicBezTo>
                  <a:pt x="4879" y="1539"/>
                  <a:pt x="4917" y="1539"/>
                  <a:pt x="4950" y="1531"/>
                </a:cubicBezTo>
                <a:cubicBezTo>
                  <a:pt x="5004" y="1517"/>
                  <a:pt x="5017" y="1501"/>
                  <a:pt x="5058" y="1468"/>
                </a:cubicBezTo>
                <a:cubicBezTo>
                  <a:pt x="5082" y="1428"/>
                  <a:pt x="5094" y="1406"/>
                  <a:pt x="5094" y="1360"/>
                </a:cubicBezTo>
                <a:cubicBezTo>
                  <a:pt x="5159" y="1099"/>
                  <a:pt x="5082" y="607"/>
                  <a:pt x="4842" y="415"/>
                </a:cubicBezTo>
                <a:cubicBezTo>
                  <a:pt x="4798" y="380"/>
                  <a:pt x="4737" y="363"/>
                  <a:pt x="4689" y="334"/>
                </a:cubicBezTo>
                <a:cubicBezTo>
                  <a:pt x="4668" y="306"/>
                  <a:pt x="4636" y="245"/>
                  <a:pt x="4608" y="226"/>
                </a:cubicBezTo>
                <a:cubicBezTo>
                  <a:pt x="4587" y="212"/>
                  <a:pt x="4560" y="209"/>
                  <a:pt x="4536" y="199"/>
                </a:cubicBezTo>
                <a:cubicBezTo>
                  <a:pt x="4427" y="155"/>
                  <a:pt x="4318" y="120"/>
                  <a:pt x="4203" y="91"/>
                </a:cubicBezTo>
                <a:cubicBezTo>
                  <a:pt x="4098" y="28"/>
                  <a:pt x="4082" y="51"/>
                  <a:pt x="3915" y="37"/>
                </a:cubicBezTo>
                <a:cubicBezTo>
                  <a:pt x="3876" y="28"/>
                  <a:pt x="3808" y="0"/>
                  <a:pt x="3771" y="37"/>
                </a:cubicBezTo>
                <a:close/>
              </a:path>
            </a:pathLst>
          </a:custGeom>
          <a:noFill/>
          <a:ln w="76200" cap="flat" cmpd="sng">
            <a:solidFill>
              <a:schemeClr val="hlink"/>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sp>
        <p:nvSpPr>
          <p:cNvPr id="374821" name="Freeform 37">
            <a:extLst>
              <a:ext uri="{FF2B5EF4-FFF2-40B4-BE49-F238E27FC236}">
                <a16:creationId xmlns:a16="http://schemas.microsoft.com/office/drawing/2014/main" id="{598B77F8-543E-EF8E-CDD6-AE3AE636EC13}"/>
              </a:ext>
            </a:extLst>
          </p:cNvPr>
          <p:cNvSpPr>
            <a:spLocks/>
          </p:cNvSpPr>
          <p:nvPr/>
        </p:nvSpPr>
        <p:spPr bwMode="auto">
          <a:xfrm>
            <a:off x="6376988" y="3880248"/>
            <a:ext cx="1183481" cy="1016794"/>
          </a:xfrm>
          <a:custGeom>
            <a:avLst/>
            <a:gdLst>
              <a:gd name="T0" fmla="*/ 2147483646 w 994"/>
              <a:gd name="T1" fmla="*/ 2147483646 h 854"/>
              <a:gd name="T2" fmla="*/ 2147483646 w 994"/>
              <a:gd name="T3" fmla="*/ 2147483646 h 854"/>
              <a:gd name="T4" fmla="*/ 2147483646 w 994"/>
              <a:gd name="T5" fmla="*/ 2147483646 h 854"/>
              <a:gd name="T6" fmla="*/ 2147483646 w 994"/>
              <a:gd name="T7" fmla="*/ 2147483646 h 854"/>
              <a:gd name="T8" fmla="*/ 2147483646 w 994"/>
              <a:gd name="T9" fmla="*/ 2147483646 h 854"/>
              <a:gd name="T10" fmla="*/ 2147483646 w 994"/>
              <a:gd name="T11" fmla="*/ 2147483646 h 854"/>
              <a:gd name="T12" fmla="*/ 2147483646 w 994"/>
              <a:gd name="T13" fmla="*/ 2147483646 h 854"/>
              <a:gd name="T14" fmla="*/ 2147483646 w 994"/>
              <a:gd name="T15" fmla="*/ 2147483646 h 854"/>
              <a:gd name="T16" fmla="*/ 2147483646 w 994"/>
              <a:gd name="T17" fmla="*/ 2147483646 h 854"/>
              <a:gd name="T18" fmla="*/ 2147483646 w 994"/>
              <a:gd name="T19" fmla="*/ 2147483646 h 854"/>
              <a:gd name="T20" fmla="*/ 2147483646 w 994"/>
              <a:gd name="T21" fmla="*/ 2147483646 h 854"/>
              <a:gd name="T22" fmla="*/ 2147483646 w 994"/>
              <a:gd name="T23" fmla="*/ 2147483646 h 854"/>
              <a:gd name="T24" fmla="*/ 2147483646 w 994"/>
              <a:gd name="T25" fmla="*/ 2147483646 h 854"/>
              <a:gd name="T26" fmla="*/ 2147483646 w 994"/>
              <a:gd name="T27" fmla="*/ 2147483646 h 854"/>
              <a:gd name="T28" fmla="*/ 2147483646 w 994"/>
              <a:gd name="T29" fmla="*/ 2147483646 h 854"/>
              <a:gd name="T30" fmla="*/ 2147483646 w 994"/>
              <a:gd name="T31" fmla="*/ 2147483646 h 854"/>
              <a:gd name="T32" fmla="*/ 2147483646 w 994"/>
              <a:gd name="T33" fmla="*/ 2147483646 h 854"/>
              <a:gd name="T34" fmla="*/ 2147483646 w 994"/>
              <a:gd name="T35" fmla="*/ 2147483646 h 8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94"/>
              <a:gd name="T55" fmla="*/ 0 h 854"/>
              <a:gd name="T56" fmla="*/ 994 w 994"/>
              <a:gd name="T57" fmla="*/ 854 h 8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94" h="854">
                <a:moveTo>
                  <a:pt x="914" y="53"/>
                </a:moveTo>
                <a:cubicBezTo>
                  <a:pt x="872" y="47"/>
                  <a:pt x="780" y="26"/>
                  <a:pt x="725" y="26"/>
                </a:cubicBezTo>
                <a:cubicBezTo>
                  <a:pt x="730" y="19"/>
                  <a:pt x="748" y="9"/>
                  <a:pt x="740" y="5"/>
                </a:cubicBezTo>
                <a:cubicBezTo>
                  <a:pt x="730" y="0"/>
                  <a:pt x="719" y="15"/>
                  <a:pt x="707" y="17"/>
                </a:cubicBezTo>
                <a:cubicBezTo>
                  <a:pt x="629" y="31"/>
                  <a:pt x="550" y="34"/>
                  <a:pt x="473" y="53"/>
                </a:cubicBezTo>
                <a:cubicBezTo>
                  <a:pt x="360" y="146"/>
                  <a:pt x="392" y="111"/>
                  <a:pt x="329" y="206"/>
                </a:cubicBezTo>
                <a:cubicBezTo>
                  <a:pt x="318" y="222"/>
                  <a:pt x="311" y="245"/>
                  <a:pt x="293" y="251"/>
                </a:cubicBezTo>
                <a:cubicBezTo>
                  <a:pt x="253" y="264"/>
                  <a:pt x="209" y="257"/>
                  <a:pt x="167" y="260"/>
                </a:cubicBezTo>
                <a:cubicBezTo>
                  <a:pt x="144" y="283"/>
                  <a:pt x="141" y="290"/>
                  <a:pt x="113" y="305"/>
                </a:cubicBezTo>
                <a:cubicBezTo>
                  <a:pt x="89" y="318"/>
                  <a:pt x="41" y="341"/>
                  <a:pt x="41" y="341"/>
                </a:cubicBezTo>
                <a:cubicBezTo>
                  <a:pt x="30" y="363"/>
                  <a:pt x="7" y="380"/>
                  <a:pt x="5" y="404"/>
                </a:cubicBezTo>
                <a:cubicBezTo>
                  <a:pt x="0" y="477"/>
                  <a:pt x="6" y="489"/>
                  <a:pt x="23" y="539"/>
                </a:cubicBezTo>
                <a:cubicBezTo>
                  <a:pt x="26" y="596"/>
                  <a:pt x="23" y="654"/>
                  <a:pt x="32" y="710"/>
                </a:cubicBezTo>
                <a:cubicBezTo>
                  <a:pt x="47" y="800"/>
                  <a:pt x="288" y="805"/>
                  <a:pt x="347" y="809"/>
                </a:cubicBezTo>
                <a:cubicBezTo>
                  <a:pt x="435" y="853"/>
                  <a:pt x="547" y="842"/>
                  <a:pt x="644" y="854"/>
                </a:cubicBezTo>
                <a:cubicBezTo>
                  <a:pt x="681" y="842"/>
                  <a:pt x="697" y="812"/>
                  <a:pt x="734" y="800"/>
                </a:cubicBezTo>
                <a:cubicBezTo>
                  <a:pt x="781" y="730"/>
                  <a:pt x="787" y="734"/>
                  <a:pt x="869" y="701"/>
                </a:cubicBezTo>
                <a:cubicBezTo>
                  <a:pt x="994" y="513"/>
                  <a:pt x="914" y="282"/>
                  <a:pt x="914" y="53"/>
                </a:cubicBezTo>
                <a:close/>
              </a:path>
            </a:pathLst>
          </a:custGeom>
          <a:noFill/>
          <a:ln w="76200" cap="flat" cmpd="sng">
            <a:solidFill>
              <a:srgbClr val="FFCC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sz="10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7CA406-4903-E017-B33E-398FD2CCE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0A05DE37-5B38-B447-7A87-F0FB0EC7B828}"/>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Times New Roman" pitchFamily="18" charset="0"/>
                <a:cs typeface="Times New Roman" pitchFamily="18" charset="0"/>
              </a:rPr>
              <a:t>Dr. Dattatray G. Takale, Department of  Computer engineering, VIIT, Pune-48</a:t>
            </a:r>
            <a:endParaRPr lang="en-IN" sz="1200"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74787">
                                            <p:txEl>
                                              <p:pRg st="0" end="0"/>
                                            </p:txEl>
                                          </p:spTgt>
                                        </p:tgtEl>
                                        <p:attrNameLst>
                                          <p:attrName>style.visibility</p:attrName>
                                        </p:attrNameLst>
                                      </p:cBhvr>
                                      <p:to>
                                        <p:strVal val="visible"/>
                                      </p:to>
                                    </p:set>
                                    <p:anim calcmode="lin" valueType="num">
                                      <p:cBhvr additive="base">
                                        <p:cTn id="13" dur="500" fill="hold"/>
                                        <p:tgtEl>
                                          <p:spTgt spid="3747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47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74815"/>
                                        </p:tgtEl>
                                        <p:attrNameLst>
                                          <p:attrName>style.visibility</p:attrName>
                                        </p:attrNameLst>
                                      </p:cBhvr>
                                      <p:to>
                                        <p:strVal val="visible"/>
                                      </p:to>
                                    </p:set>
                                    <p:anim calcmode="lin" valueType="num">
                                      <p:cBhvr additive="base">
                                        <p:cTn id="19" dur="500" fill="hold"/>
                                        <p:tgtEl>
                                          <p:spTgt spid="374815"/>
                                        </p:tgtEl>
                                        <p:attrNameLst>
                                          <p:attrName>ppt_x</p:attrName>
                                        </p:attrNameLst>
                                      </p:cBhvr>
                                      <p:tavLst>
                                        <p:tav tm="0">
                                          <p:val>
                                            <p:strVal val="0-#ppt_w/2"/>
                                          </p:val>
                                        </p:tav>
                                        <p:tav tm="100000">
                                          <p:val>
                                            <p:strVal val="#ppt_x"/>
                                          </p:val>
                                        </p:tav>
                                      </p:tavLst>
                                    </p:anim>
                                    <p:anim calcmode="lin" valueType="num">
                                      <p:cBhvr additive="base">
                                        <p:cTn id="20" dur="500" fill="hold"/>
                                        <p:tgtEl>
                                          <p:spTgt spid="37481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1+#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74819"/>
                                        </p:tgtEl>
                                        <p:attrNameLst>
                                          <p:attrName>style.visibility</p:attrName>
                                        </p:attrNameLst>
                                      </p:cBhvr>
                                      <p:to>
                                        <p:strVal val="visible"/>
                                      </p:to>
                                    </p:set>
                                    <p:anim calcmode="lin" valueType="num">
                                      <p:cBhvr additive="base">
                                        <p:cTn id="31" dur="500" fill="hold"/>
                                        <p:tgtEl>
                                          <p:spTgt spid="374819"/>
                                        </p:tgtEl>
                                        <p:attrNameLst>
                                          <p:attrName>ppt_x</p:attrName>
                                        </p:attrNameLst>
                                      </p:cBhvr>
                                      <p:tavLst>
                                        <p:tav tm="0">
                                          <p:val>
                                            <p:strVal val="0-#ppt_w/2"/>
                                          </p:val>
                                        </p:tav>
                                        <p:tav tm="100000">
                                          <p:val>
                                            <p:strVal val="#ppt_x"/>
                                          </p:val>
                                        </p:tav>
                                      </p:tavLst>
                                    </p:anim>
                                    <p:anim calcmode="lin" valueType="num">
                                      <p:cBhvr additive="base">
                                        <p:cTn id="32" dur="500" fill="hold"/>
                                        <p:tgtEl>
                                          <p:spTgt spid="37481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7482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374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build="p" autoUpdateAnimBg="0"/>
      <p:bldP spid="374815" grpId="0" autoUpdateAnimBg="0"/>
      <p:bldP spid="37481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3426C85-FF4A-0FC5-F590-1EDDA215AE6D}"/>
              </a:ext>
            </a:extLst>
          </p:cNvPr>
          <p:cNvSpPr>
            <a:spLocks noGrp="1" noChangeArrowheads="1"/>
          </p:cNvSpPr>
          <p:nvPr>
            <p:ph type="ctrTitle"/>
          </p:nvPr>
        </p:nvSpPr>
        <p:spPr>
          <a:xfrm>
            <a:off x="1200150" y="171450"/>
            <a:ext cx="6686550" cy="857250"/>
          </a:xfrm>
          <a:noFill/>
        </p:spPr>
        <p:txBody>
          <a:bodyPr/>
          <a:lstStyle/>
          <a:p>
            <a:r>
              <a:rPr lang="en-US" altLang="en-US"/>
              <a:t>Remove Min</a:t>
            </a:r>
          </a:p>
        </p:txBody>
      </p:sp>
      <p:sp>
        <p:nvSpPr>
          <p:cNvPr id="35843" name="Oval 3">
            <a:extLst>
              <a:ext uri="{FF2B5EF4-FFF2-40B4-BE49-F238E27FC236}">
                <a16:creationId xmlns:a16="http://schemas.microsoft.com/office/drawing/2014/main" id="{078127F0-D18F-24F7-73A3-81382CDF585A}"/>
              </a:ext>
            </a:extLst>
          </p:cNvPr>
          <p:cNvSpPr>
            <a:spLocks noChangeArrowheads="1"/>
          </p:cNvSpPr>
          <p:nvPr/>
        </p:nvSpPr>
        <p:spPr bwMode="auto">
          <a:xfrm>
            <a:off x="4291013" y="10906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4" name="Oval 4">
            <a:extLst>
              <a:ext uri="{FF2B5EF4-FFF2-40B4-BE49-F238E27FC236}">
                <a16:creationId xmlns:a16="http://schemas.microsoft.com/office/drawing/2014/main" id="{2D2D0023-9C5E-81E5-22A4-4476BF796A37}"/>
              </a:ext>
            </a:extLst>
          </p:cNvPr>
          <p:cNvSpPr>
            <a:spLocks noChangeArrowheads="1"/>
          </p:cNvSpPr>
          <p:nvPr/>
        </p:nvSpPr>
        <p:spPr bwMode="auto">
          <a:xfrm>
            <a:off x="269081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5" name="Oval 5">
            <a:extLst>
              <a:ext uri="{FF2B5EF4-FFF2-40B4-BE49-F238E27FC236}">
                <a16:creationId xmlns:a16="http://schemas.microsoft.com/office/drawing/2014/main" id="{5EAA8D3D-3EDD-F6E8-C3B9-F0E337B17FD3}"/>
              </a:ext>
            </a:extLst>
          </p:cNvPr>
          <p:cNvSpPr>
            <a:spLocks noChangeArrowheads="1"/>
          </p:cNvSpPr>
          <p:nvPr/>
        </p:nvSpPr>
        <p:spPr bwMode="auto">
          <a:xfrm>
            <a:off x="59483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6" name="Oval 6">
            <a:extLst>
              <a:ext uri="{FF2B5EF4-FFF2-40B4-BE49-F238E27FC236}">
                <a16:creationId xmlns:a16="http://schemas.microsoft.com/office/drawing/2014/main" id="{23FC0688-CA05-8B5D-9067-F9B7E21740A7}"/>
              </a:ext>
            </a:extLst>
          </p:cNvPr>
          <p:cNvSpPr>
            <a:spLocks noChangeArrowheads="1"/>
          </p:cNvSpPr>
          <p:nvPr/>
        </p:nvSpPr>
        <p:spPr bwMode="auto">
          <a:xfrm>
            <a:off x="19478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7" name="Oval 7">
            <a:extLst>
              <a:ext uri="{FF2B5EF4-FFF2-40B4-BE49-F238E27FC236}">
                <a16:creationId xmlns:a16="http://schemas.microsoft.com/office/drawing/2014/main" id="{0D5105E7-3064-BA21-023E-3402699BE4D1}"/>
              </a:ext>
            </a:extLst>
          </p:cNvPr>
          <p:cNvSpPr>
            <a:spLocks noChangeArrowheads="1"/>
          </p:cNvSpPr>
          <p:nvPr/>
        </p:nvSpPr>
        <p:spPr bwMode="auto">
          <a:xfrm>
            <a:off x="326231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8" name="Oval 8">
            <a:extLst>
              <a:ext uri="{FF2B5EF4-FFF2-40B4-BE49-F238E27FC236}">
                <a16:creationId xmlns:a16="http://schemas.microsoft.com/office/drawing/2014/main" id="{2EBC210B-6769-4BDD-BEBA-0B57C1614FD9}"/>
              </a:ext>
            </a:extLst>
          </p:cNvPr>
          <p:cNvSpPr>
            <a:spLocks noChangeArrowheads="1"/>
          </p:cNvSpPr>
          <p:nvPr/>
        </p:nvSpPr>
        <p:spPr bwMode="auto">
          <a:xfrm>
            <a:off x="5033963" y="24622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49" name="Oval 9">
            <a:extLst>
              <a:ext uri="{FF2B5EF4-FFF2-40B4-BE49-F238E27FC236}">
                <a16:creationId xmlns:a16="http://schemas.microsoft.com/office/drawing/2014/main" id="{CD408B51-22ED-CCC2-59ED-387D18926F48}"/>
              </a:ext>
            </a:extLst>
          </p:cNvPr>
          <p:cNvSpPr>
            <a:spLocks noChangeArrowheads="1"/>
          </p:cNvSpPr>
          <p:nvPr/>
        </p:nvSpPr>
        <p:spPr bwMode="auto">
          <a:xfrm>
            <a:off x="149066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50" name="Oval 10">
            <a:extLst>
              <a:ext uri="{FF2B5EF4-FFF2-40B4-BE49-F238E27FC236}">
                <a16:creationId xmlns:a16="http://schemas.microsoft.com/office/drawing/2014/main" id="{3501FAA1-11B8-F680-50BC-E22954E4F286}"/>
              </a:ext>
            </a:extLst>
          </p:cNvPr>
          <p:cNvSpPr>
            <a:spLocks noChangeArrowheads="1"/>
          </p:cNvSpPr>
          <p:nvPr/>
        </p:nvSpPr>
        <p:spPr bwMode="auto">
          <a:xfrm>
            <a:off x="2347913" y="3262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51" name="Line 11">
            <a:extLst>
              <a:ext uri="{FF2B5EF4-FFF2-40B4-BE49-F238E27FC236}">
                <a16:creationId xmlns:a16="http://schemas.microsoft.com/office/drawing/2014/main" id="{0D2679AB-8C1D-498B-84A4-40F92C3CAA39}"/>
              </a:ext>
            </a:extLst>
          </p:cNvPr>
          <p:cNvSpPr>
            <a:spLocks noChangeShapeType="1"/>
          </p:cNvSpPr>
          <p:nvPr/>
        </p:nvSpPr>
        <p:spPr bwMode="auto">
          <a:xfrm flipH="1">
            <a:off x="3028950" y="1314450"/>
            <a:ext cx="12573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2" name="Line 12">
            <a:extLst>
              <a:ext uri="{FF2B5EF4-FFF2-40B4-BE49-F238E27FC236}">
                <a16:creationId xmlns:a16="http://schemas.microsoft.com/office/drawing/2014/main" id="{95A7BD7F-2347-AB44-8D39-CE4120027D3E}"/>
              </a:ext>
            </a:extLst>
          </p:cNvPr>
          <p:cNvSpPr>
            <a:spLocks noChangeShapeType="1"/>
          </p:cNvSpPr>
          <p:nvPr/>
        </p:nvSpPr>
        <p:spPr bwMode="auto">
          <a:xfrm>
            <a:off x="4629150" y="1314450"/>
            <a:ext cx="1371600" cy="6286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3" name="Line 13">
            <a:extLst>
              <a:ext uri="{FF2B5EF4-FFF2-40B4-BE49-F238E27FC236}">
                <a16:creationId xmlns:a16="http://schemas.microsoft.com/office/drawing/2014/main" id="{325E2C7F-200C-7D0E-17F9-04FF196D0DAB}"/>
              </a:ext>
            </a:extLst>
          </p:cNvPr>
          <p:cNvSpPr>
            <a:spLocks noChangeShapeType="1"/>
          </p:cNvSpPr>
          <p:nvPr/>
        </p:nvSpPr>
        <p:spPr bwMode="auto">
          <a:xfrm flipH="1">
            <a:off x="2171700" y="21145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4" name="Line 14">
            <a:extLst>
              <a:ext uri="{FF2B5EF4-FFF2-40B4-BE49-F238E27FC236}">
                <a16:creationId xmlns:a16="http://schemas.microsoft.com/office/drawing/2014/main" id="{42CB8ED9-C1A1-27C6-E351-FD9AA6C47C21}"/>
              </a:ext>
            </a:extLst>
          </p:cNvPr>
          <p:cNvSpPr>
            <a:spLocks noChangeShapeType="1"/>
          </p:cNvSpPr>
          <p:nvPr/>
        </p:nvSpPr>
        <p:spPr bwMode="auto">
          <a:xfrm>
            <a:off x="2971800" y="21145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5" name="Line 15">
            <a:extLst>
              <a:ext uri="{FF2B5EF4-FFF2-40B4-BE49-F238E27FC236}">
                <a16:creationId xmlns:a16="http://schemas.microsoft.com/office/drawing/2014/main" id="{C68F8259-A341-89D9-9ECA-F69D7ACB50B2}"/>
              </a:ext>
            </a:extLst>
          </p:cNvPr>
          <p:cNvSpPr>
            <a:spLocks noChangeShapeType="1"/>
          </p:cNvSpPr>
          <p:nvPr/>
        </p:nvSpPr>
        <p:spPr bwMode="auto">
          <a:xfrm flipH="1">
            <a:off x="5314950" y="21717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6" name="Line 16">
            <a:extLst>
              <a:ext uri="{FF2B5EF4-FFF2-40B4-BE49-F238E27FC236}">
                <a16:creationId xmlns:a16="http://schemas.microsoft.com/office/drawing/2014/main" id="{FFCB94BD-AF2F-2B97-5B87-98E570B2393C}"/>
              </a:ext>
            </a:extLst>
          </p:cNvPr>
          <p:cNvSpPr>
            <a:spLocks noChangeShapeType="1"/>
          </p:cNvSpPr>
          <p:nvPr/>
        </p:nvSpPr>
        <p:spPr bwMode="auto">
          <a:xfrm flipH="1">
            <a:off x="1714500" y="27432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7" name="Line 17">
            <a:extLst>
              <a:ext uri="{FF2B5EF4-FFF2-40B4-BE49-F238E27FC236}">
                <a16:creationId xmlns:a16="http://schemas.microsoft.com/office/drawing/2014/main" id="{1D9012EC-B075-F9E8-009B-00C208D874BD}"/>
              </a:ext>
            </a:extLst>
          </p:cNvPr>
          <p:cNvSpPr>
            <a:spLocks noChangeShapeType="1"/>
          </p:cNvSpPr>
          <p:nvPr/>
        </p:nvSpPr>
        <p:spPr bwMode="auto">
          <a:xfrm>
            <a:off x="2228850" y="27432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58" name="Oval 18">
            <a:extLst>
              <a:ext uri="{FF2B5EF4-FFF2-40B4-BE49-F238E27FC236}">
                <a16:creationId xmlns:a16="http://schemas.microsoft.com/office/drawing/2014/main" id="{5E4E7074-00E8-EF6B-234C-2ACAAF831045}"/>
              </a:ext>
            </a:extLst>
          </p:cNvPr>
          <p:cNvSpPr>
            <a:spLocks noChangeArrowheads="1"/>
          </p:cNvSpPr>
          <p:nvPr/>
        </p:nvSpPr>
        <p:spPr bwMode="auto">
          <a:xfrm>
            <a:off x="4633913" y="32051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5859" name="Line 19">
            <a:extLst>
              <a:ext uri="{FF2B5EF4-FFF2-40B4-BE49-F238E27FC236}">
                <a16:creationId xmlns:a16="http://schemas.microsoft.com/office/drawing/2014/main" id="{51B34AA0-4899-2A08-3055-247608194842}"/>
              </a:ext>
            </a:extLst>
          </p:cNvPr>
          <p:cNvSpPr>
            <a:spLocks noChangeShapeType="1"/>
          </p:cNvSpPr>
          <p:nvPr/>
        </p:nvSpPr>
        <p:spPr bwMode="auto">
          <a:xfrm flipH="1">
            <a:off x="4857750" y="28003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5860" name="Rectangle 20">
            <a:extLst>
              <a:ext uri="{FF2B5EF4-FFF2-40B4-BE49-F238E27FC236}">
                <a16:creationId xmlns:a16="http://schemas.microsoft.com/office/drawing/2014/main" id="{914136BF-EB11-DE70-F41B-8FFA8839AD02}"/>
              </a:ext>
            </a:extLst>
          </p:cNvPr>
          <p:cNvSpPr>
            <a:spLocks noChangeArrowheads="1"/>
          </p:cNvSpPr>
          <p:nvPr/>
        </p:nvSpPr>
        <p:spPr bwMode="auto">
          <a:xfrm>
            <a:off x="153114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35861" name="Rectangle 21">
            <a:extLst>
              <a:ext uri="{FF2B5EF4-FFF2-40B4-BE49-F238E27FC236}">
                <a16:creationId xmlns:a16="http://schemas.microsoft.com/office/drawing/2014/main" id="{AEBF50D1-E6AF-4279-6835-67E0D3820E88}"/>
              </a:ext>
            </a:extLst>
          </p:cNvPr>
          <p:cNvSpPr>
            <a:spLocks noChangeArrowheads="1"/>
          </p:cNvSpPr>
          <p:nvPr/>
        </p:nvSpPr>
        <p:spPr bwMode="auto">
          <a:xfrm>
            <a:off x="2388394" y="3280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5862" name="Rectangle 22">
            <a:extLst>
              <a:ext uri="{FF2B5EF4-FFF2-40B4-BE49-F238E27FC236}">
                <a16:creationId xmlns:a16="http://schemas.microsoft.com/office/drawing/2014/main" id="{1C56819B-DB15-E34E-45C3-816DFCB81B96}"/>
              </a:ext>
            </a:extLst>
          </p:cNvPr>
          <p:cNvSpPr>
            <a:spLocks noChangeArrowheads="1"/>
          </p:cNvSpPr>
          <p:nvPr/>
        </p:nvSpPr>
        <p:spPr bwMode="auto">
          <a:xfrm>
            <a:off x="4674394" y="32230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9</a:t>
            </a:r>
          </a:p>
        </p:txBody>
      </p:sp>
      <p:sp>
        <p:nvSpPr>
          <p:cNvPr id="35863" name="Rectangle 23">
            <a:extLst>
              <a:ext uri="{FF2B5EF4-FFF2-40B4-BE49-F238E27FC236}">
                <a16:creationId xmlns:a16="http://schemas.microsoft.com/office/drawing/2014/main" id="{36B37E96-B03B-A8A1-CD93-52C7FBAA4A1A}"/>
              </a:ext>
            </a:extLst>
          </p:cNvPr>
          <p:cNvSpPr>
            <a:spLocks noChangeArrowheads="1"/>
          </p:cNvSpPr>
          <p:nvPr/>
        </p:nvSpPr>
        <p:spPr bwMode="auto">
          <a:xfrm>
            <a:off x="19883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5864" name="Rectangle 24">
            <a:extLst>
              <a:ext uri="{FF2B5EF4-FFF2-40B4-BE49-F238E27FC236}">
                <a16:creationId xmlns:a16="http://schemas.microsoft.com/office/drawing/2014/main" id="{42DA19C7-0094-E15C-CFCD-0AE5D4F2E345}"/>
              </a:ext>
            </a:extLst>
          </p:cNvPr>
          <p:cNvSpPr>
            <a:spLocks noChangeArrowheads="1"/>
          </p:cNvSpPr>
          <p:nvPr/>
        </p:nvSpPr>
        <p:spPr bwMode="auto">
          <a:xfrm>
            <a:off x="330279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35865" name="Rectangle 25">
            <a:extLst>
              <a:ext uri="{FF2B5EF4-FFF2-40B4-BE49-F238E27FC236}">
                <a16:creationId xmlns:a16="http://schemas.microsoft.com/office/drawing/2014/main" id="{66D8E630-778F-4379-12C7-F8E5E4E2F6F2}"/>
              </a:ext>
            </a:extLst>
          </p:cNvPr>
          <p:cNvSpPr>
            <a:spLocks noChangeArrowheads="1"/>
          </p:cNvSpPr>
          <p:nvPr/>
        </p:nvSpPr>
        <p:spPr bwMode="auto">
          <a:xfrm>
            <a:off x="5074444" y="24800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5</a:t>
            </a:r>
          </a:p>
        </p:txBody>
      </p:sp>
      <p:sp>
        <p:nvSpPr>
          <p:cNvPr id="35866" name="Rectangle 26">
            <a:extLst>
              <a:ext uri="{FF2B5EF4-FFF2-40B4-BE49-F238E27FC236}">
                <a16:creationId xmlns:a16="http://schemas.microsoft.com/office/drawing/2014/main" id="{D855EE22-887E-E8A9-868D-00E2EB19D0B4}"/>
              </a:ext>
            </a:extLst>
          </p:cNvPr>
          <p:cNvSpPr>
            <a:spLocks noChangeArrowheads="1"/>
          </p:cNvSpPr>
          <p:nvPr/>
        </p:nvSpPr>
        <p:spPr bwMode="auto">
          <a:xfrm>
            <a:off x="27312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35867" name="Rectangle 27">
            <a:extLst>
              <a:ext uri="{FF2B5EF4-FFF2-40B4-BE49-F238E27FC236}">
                <a16:creationId xmlns:a16="http://schemas.microsoft.com/office/drawing/2014/main" id="{E0811291-F8B2-30EF-31EE-356B9F84433F}"/>
              </a:ext>
            </a:extLst>
          </p:cNvPr>
          <p:cNvSpPr>
            <a:spLocks noChangeArrowheads="1"/>
          </p:cNvSpPr>
          <p:nvPr/>
        </p:nvSpPr>
        <p:spPr bwMode="auto">
          <a:xfrm>
            <a:off x="604599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3</a:t>
            </a:r>
          </a:p>
        </p:txBody>
      </p:sp>
      <p:sp>
        <p:nvSpPr>
          <p:cNvPr id="35868" name="Rectangle 28">
            <a:extLst>
              <a:ext uri="{FF2B5EF4-FFF2-40B4-BE49-F238E27FC236}">
                <a16:creationId xmlns:a16="http://schemas.microsoft.com/office/drawing/2014/main" id="{881300C5-110C-B932-96AB-DAC8C7C5F5CA}"/>
              </a:ext>
            </a:extLst>
          </p:cNvPr>
          <p:cNvSpPr>
            <a:spLocks noChangeArrowheads="1"/>
          </p:cNvSpPr>
          <p:nvPr/>
        </p:nvSpPr>
        <p:spPr bwMode="auto">
          <a:xfrm>
            <a:off x="433149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2</a:t>
            </a:r>
          </a:p>
        </p:txBody>
      </p:sp>
      <p:sp>
        <p:nvSpPr>
          <p:cNvPr id="375837" name="Rectangle 29">
            <a:extLst>
              <a:ext uri="{FF2B5EF4-FFF2-40B4-BE49-F238E27FC236}">
                <a16:creationId xmlns:a16="http://schemas.microsoft.com/office/drawing/2014/main" id="{09012582-AF9F-185D-80EC-EA4FB7827B64}"/>
              </a:ext>
            </a:extLst>
          </p:cNvPr>
          <p:cNvSpPr>
            <a:spLocks noChangeArrowheads="1"/>
          </p:cNvSpPr>
          <p:nvPr/>
        </p:nvSpPr>
        <p:spPr bwMode="auto">
          <a:xfrm>
            <a:off x="1485900" y="3886201"/>
            <a:ext cx="54292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a:t>Remove the root.</a:t>
            </a:r>
          </a:p>
        </p:txBody>
      </p:sp>
      <p:pic>
        <p:nvPicPr>
          <p:cNvPr id="2" name="Picture 1">
            <a:extLst>
              <a:ext uri="{FF2B5EF4-FFF2-40B4-BE49-F238E27FC236}">
                <a16:creationId xmlns:a16="http://schemas.microsoft.com/office/drawing/2014/main" id="{520BF895-B7F7-4895-7548-CDC619507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4CA13635-2353-7E34-63FC-A77053853748}"/>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75837"/>
                                        </p:tgtEl>
                                        <p:attrNameLst>
                                          <p:attrName>style.visibility</p:attrName>
                                        </p:attrNameLst>
                                      </p:cBhvr>
                                      <p:to>
                                        <p:strVal val="visible"/>
                                      </p:to>
                                    </p:set>
                                    <p:anim calcmode="lin" valueType="num">
                                      <p:cBhvr additive="base">
                                        <p:cTn id="7" dur="500" fill="hold"/>
                                        <p:tgtEl>
                                          <p:spTgt spid="375837"/>
                                        </p:tgtEl>
                                        <p:attrNameLst>
                                          <p:attrName>ppt_x</p:attrName>
                                        </p:attrNameLst>
                                      </p:cBhvr>
                                      <p:tavLst>
                                        <p:tav tm="0">
                                          <p:val>
                                            <p:strVal val="0-#ppt_w/2"/>
                                          </p:val>
                                        </p:tav>
                                        <p:tav tm="100000">
                                          <p:val>
                                            <p:strVal val="#ppt_x"/>
                                          </p:val>
                                        </p:tav>
                                      </p:tavLst>
                                    </p:anim>
                                    <p:anim calcmode="lin" valueType="num">
                                      <p:cBhvr additive="base">
                                        <p:cTn id="8" dur="500" fill="hold"/>
                                        <p:tgtEl>
                                          <p:spTgt spid="3758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3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C1B9F38-F905-47FB-4D97-4D501098D26B}"/>
              </a:ext>
            </a:extLst>
          </p:cNvPr>
          <p:cNvSpPr>
            <a:spLocks noGrp="1" noChangeArrowheads="1"/>
          </p:cNvSpPr>
          <p:nvPr>
            <p:ph type="ctrTitle"/>
          </p:nvPr>
        </p:nvSpPr>
        <p:spPr>
          <a:xfrm>
            <a:off x="1200150" y="171450"/>
            <a:ext cx="6686550" cy="857250"/>
          </a:xfrm>
          <a:noFill/>
        </p:spPr>
        <p:txBody>
          <a:bodyPr/>
          <a:lstStyle/>
          <a:p>
            <a:r>
              <a:rPr lang="en-US" altLang="en-US">
                <a:latin typeface="Times New Roman" panose="02020603050405020304" pitchFamily="18" charset="0"/>
                <a:cs typeface="Times New Roman" panose="02020603050405020304" pitchFamily="18" charset="0"/>
              </a:rPr>
              <a:t>Remove Min</a:t>
            </a:r>
          </a:p>
        </p:txBody>
      </p:sp>
      <p:grpSp>
        <p:nvGrpSpPr>
          <p:cNvPr id="37891" name="Group 3">
            <a:extLst>
              <a:ext uri="{FF2B5EF4-FFF2-40B4-BE49-F238E27FC236}">
                <a16:creationId xmlns:a16="http://schemas.microsoft.com/office/drawing/2014/main" id="{D57951AF-4FC4-1529-EDA6-BB11CA6E1F74}"/>
              </a:ext>
            </a:extLst>
          </p:cNvPr>
          <p:cNvGrpSpPr>
            <a:grpSpLocks/>
          </p:cNvGrpSpPr>
          <p:nvPr/>
        </p:nvGrpSpPr>
        <p:grpSpPr bwMode="auto">
          <a:xfrm>
            <a:off x="1490663" y="1090613"/>
            <a:ext cx="4791075" cy="2505075"/>
            <a:chOff x="292" y="916"/>
            <a:chExt cx="4024" cy="2104"/>
          </a:xfrm>
        </p:grpSpPr>
        <p:sp>
          <p:nvSpPr>
            <p:cNvPr id="37896" name="Oval 4">
              <a:extLst>
                <a:ext uri="{FF2B5EF4-FFF2-40B4-BE49-F238E27FC236}">
                  <a16:creationId xmlns:a16="http://schemas.microsoft.com/office/drawing/2014/main" id="{6A16D513-C743-3689-65FB-E6BB2F3C3320}"/>
                </a:ext>
              </a:extLst>
            </p:cNvPr>
            <p:cNvSpPr>
              <a:spLocks noChangeArrowheads="1"/>
            </p:cNvSpPr>
            <p:nvPr/>
          </p:nvSpPr>
          <p:spPr bwMode="auto">
            <a:xfrm>
              <a:off x="2644" y="91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897" name="Oval 5">
              <a:extLst>
                <a:ext uri="{FF2B5EF4-FFF2-40B4-BE49-F238E27FC236}">
                  <a16:creationId xmlns:a16="http://schemas.microsoft.com/office/drawing/2014/main" id="{B8390513-6934-6D36-F532-4345C75AF92B}"/>
                </a:ext>
              </a:extLst>
            </p:cNvPr>
            <p:cNvSpPr>
              <a:spLocks noChangeArrowheads="1"/>
            </p:cNvSpPr>
            <p:nvPr/>
          </p:nvSpPr>
          <p:spPr bwMode="auto">
            <a:xfrm>
              <a:off x="1300"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898" name="Oval 6">
              <a:extLst>
                <a:ext uri="{FF2B5EF4-FFF2-40B4-BE49-F238E27FC236}">
                  <a16:creationId xmlns:a16="http://schemas.microsoft.com/office/drawing/2014/main" id="{55A2EC60-EDBC-820E-8021-73C04E1096A5}"/>
                </a:ext>
              </a:extLst>
            </p:cNvPr>
            <p:cNvSpPr>
              <a:spLocks noChangeArrowheads="1"/>
            </p:cNvSpPr>
            <p:nvPr/>
          </p:nvSpPr>
          <p:spPr bwMode="auto">
            <a:xfrm>
              <a:off x="4036"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899" name="Oval 7">
              <a:extLst>
                <a:ext uri="{FF2B5EF4-FFF2-40B4-BE49-F238E27FC236}">
                  <a16:creationId xmlns:a16="http://schemas.microsoft.com/office/drawing/2014/main" id="{D1C8BB9A-C2E3-1386-034C-3C7D6A1E4074}"/>
                </a:ext>
              </a:extLst>
            </p:cNvPr>
            <p:cNvSpPr>
              <a:spLocks noChangeArrowheads="1"/>
            </p:cNvSpPr>
            <p:nvPr/>
          </p:nvSpPr>
          <p:spPr bwMode="auto">
            <a:xfrm>
              <a:off x="676"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00" name="Oval 8">
              <a:extLst>
                <a:ext uri="{FF2B5EF4-FFF2-40B4-BE49-F238E27FC236}">
                  <a16:creationId xmlns:a16="http://schemas.microsoft.com/office/drawing/2014/main" id="{65079766-81C8-33A6-9F27-EC615D2D6372}"/>
                </a:ext>
              </a:extLst>
            </p:cNvPr>
            <p:cNvSpPr>
              <a:spLocks noChangeArrowheads="1"/>
            </p:cNvSpPr>
            <p:nvPr/>
          </p:nvSpPr>
          <p:spPr bwMode="auto">
            <a:xfrm>
              <a:off x="1780"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01" name="Oval 9">
              <a:extLst>
                <a:ext uri="{FF2B5EF4-FFF2-40B4-BE49-F238E27FC236}">
                  <a16:creationId xmlns:a16="http://schemas.microsoft.com/office/drawing/2014/main" id="{4DDD2AEE-E13B-A503-73F5-580BE00B51D2}"/>
                </a:ext>
              </a:extLst>
            </p:cNvPr>
            <p:cNvSpPr>
              <a:spLocks noChangeArrowheads="1"/>
            </p:cNvSpPr>
            <p:nvPr/>
          </p:nvSpPr>
          <p:spPr bwMode="auto">
            <a:xfrm>
              <a:off x="3268"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02" name="Oval 10">
              <a:extLst>
                <a:ext uri="{FF2B5EF4-FFF2-40B4-BE49-F238E27FC236}">
                  <a16:creationId xmlns:a16="http://schemas.microsoft.com/office/drawing/2014/main" id="{730AA9FB-DEEF-F046-2E6B-AA26D251543D}"/>
                </a:ext>
              </a:extLst>
            </p:cNvPr>
            <p:cNvSpPr>
              <a:spLocks noChangeArrowheads="1"/>
            </p:cNvSpPr>
            <p:nvPr/>
          </p:nvSpPr>
          <p:spPr bwMode="auto">
            <a:xfrm>
              <a:off x="29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03" name="Oval 11">
              <a:extLst>
                <a:ext uri="{FF2B5EF4-FFF2-40B4-BE49-F238E27FC236}">
                  <a16:creationId xmlns:a16="http://schemas.microsoft.com/office/drawing/2014/main" id="{58109B3D-257B-EEE8-A902-B1395A3BE787}"/>
                </a:ext>
              </a:extLst>
            </p:cNvPr>
            <p:cNvSpPr>
              <a:spLocks noChangeArrowheads="1"/>
            </p:cNvSpPr>
            <p:nvPr/>
          </p:nvSpPr>
          <p:spPr bwMode="auto">
            <a:xfrm>
              <a:off x="101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04" name="Line 12">
              <a:extLst>
                <a:ext uri="{FF2B5EF4-FFF2-40B4-BE49-F238E27FC236}">
                  <a16:creationId xmlns:a16="http://schemas.microsoft.com/office/drawing/2014/main" id="{89BF3E1E-321B-0DDD-BADF-13B692ECCC9C}"/>
                </a:ext>
              </a:extLst>
            </p:cNvPr>
            <p:cNvSpPr>
              <a:spLocks noChangeShapeType="1"/>
            </p:cNvSpPr>
            <p:nvPr/>
          </p:nvSpPr>
          <p:spPr bwMode="auto">
            <a:xfrm flipH="1">
              <a:off x="864" y="1776"/>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05" name="Line 13">
              <a:extLst>
                <a:ext uri="{FF2B5EF4-FFF2-40B4-BE49-F238E27FC236}">
                  <a16:creationId xmlns:a16="http://schemas.microsoft.com/office/drawing/2014/main" id="{BD96F843-09D9-9C31-5C4A-48B6B2C0970C}"/>
                </a:ext>
              </a:extLst>
            </p:cNvPr>
            <p:cNvSpPr>
              <a:spLocks noChangeShapeType="1"/>
            </p:cNvSpPr>
            <p:nvPr/>
          </p:nvSpPr>
          <p:spPr bwMode="auto">
            <a:xfrm>
              <a:off x="1536" y="1776"/>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06" name="Line 14">
              <a:extLst>
                <a:ext uri="{FF2B5EF4-FFF2-40B4-BE49-F238E27FC236}">
                  <a16:creationId xmlns:a16="http://schemas.microsoft.com/office/drawing/2014/main" id="{FDA51E97-2CFC-151D-7FBA-7E0E9EF7017C}"/>
                </a:ext>
              </a:extLst>
            </p:cNvPr>
            <p:cNvSpPr>
              <a:spLocks noChangeShapeType="1"/>
            </p:cNvSpPr>
            <p:nvPr/>
          </p:nvSpPr>
          <p:spPr bwMode="auto">
            <a:xfrm flipH="1">
              <a:off x="3504" y="1824"/>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07" name="Line 15">
              <a:extLst>
                <a:ext uri="{FF2B5EF4-FFF2-40B4-BE49-F238E27FC236}">
                  <a16:creationId xmlns:a16="http://schemas.microsoft.com/office/drawing/2014/main" id="{A5AFEB2C-4AE9-12EE-D55B-3CE05FA49D7F}"/>
                </a:ext>
              </a:extLst>
            </p:cNvPr>
            <p:cNvSpPr>
              <a:spLocks noChangeShapeType="1"/>
            </p:cNvSpPr>
            <p:nvPr/>
          </p:nvSpPr>
          <p:spPr bwMode="auto">
            <a:xfrm flipH="1">
              <a:off x="480" y="2304"/>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08" name="Line 16">
              <a:extLst>
                <a:ext uri="{FF2B5EF4-FFF2-40B4-BE49-F238E27FC236}">
                  <a16:creationId xmlns:a16="http://schemas.microsoft.com/office/drawing/2014/main" id="{AAB370BA-7BFA-2864-B050-9AFAA1AFAFEE}"/>
                </a:ext>
              </a:extLst>
            </p:cNvPr>
            <p:cNvSpPr>
              <a:spLocks noChangeShapeType="1"/>
            </p:cNvSpPr>
            <p:nvPr/>
          </p:nvSpPr>
          <p:spPr bwMode="auto">
            <a:xfrm>
              <a:off x="912" y="2304"/>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09" name="Oval 17">
              <a:extLst>
                <a:ext uri="{FF2B5EF4-FFF2-40B4-BE49-F238E27FC236}">
                  <a16:creationId xmlns:a16="http://schemas.microsoft.com/office/drawing/2014/main" id="{BA6995E6-6998-7D63-D374-43E32A87E085}"/>
                </a:ext>
              </a:extLst>
            </p:cNvPr>
            <p:cNvSpPr>
              <a:spLocks noChangeArrowheads="1"/>
            </p:cNvSpPr>
            <p:nvPr/>
          </p:nvSpPr>
          <p:spPr bwMode="auto">
            <a:xfrm>
              <a:off x="2932" y="2692"/>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37910" name="Line 18">
              <a:extLst>
                <a:ext uri="{FF2B5EF4-FFF2-40B4-BE49-F238E27FC236}">
                  <a16:creationId xmlns:a16="http://schemas.microsoft.com/office/drawing/2014/main" id="{2689628E-8883-842D-C5D0-7674CC91FD38}"/>
                </a:ext>
              </a:extLst>
            </p:cNvPr>
            <p:cNvSpPr>
              <a:spLocks noChangeShapeType="1"/>
            </p:cNvSpPr>
            <p:nvPr/>
          </p:nvSpPr>
          <p:spPr bwMode="auto">
            <a:xfrm flipH="1">
              <a:off x="3120" y="2352"/>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911" name="Rectangle 19">
              <a:extLst>
                <a:ext uri="{FF2B5EF4-FFF2-40B4-BE49-F238E27FC236}">
                  <a16:creationId xmlns:a16="http://schemas.microsoft.com/office/drawing/2014/main" id="{1C50F511-48F0-D857-BBE9-66055B0C760A}"/>
                </a:ext>
              </a:extLst>
            </p:cNvPr>
            <p:cNvSpPr>
              <a:spLocks noChangeArrowheads="1"/>
            </p:cNvSpPr>
            <p:nvPr/>
          </p:nvSpPr>
          <p:spPr bwMode="auto">
            <a:xfrm>
              <a:off x="326" y="27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8</a:t>
              </a:r>
            </a:p>
          </p:txBody>
        </p:sp>
        <p:sp>
          <p:nvSpPr>
            <p:cNvPr id="37912" name="Rectangle 20">
              <a:extLst>
                <a:ext uri="{FF2B5EF4-FFF2-40B4-BE49-F238E27FC236}">
                  <a16:creationId xmlns:a16="http://schemas.microsoft.com/office/drawing/2014/main" id="{6684060E-3F89-C626-15F2-3B33E7D9DEBF}"/>
                </a:ext>
              </a:extLst>
            </p:cNvPr>
            <p:cNvSpPr>
              <a:spLocks noChangeArrowheads="1"/>
            </p:cNvSpPr>
            <p:nvPr/>
          </p:nvSpPr>
          <p:spPr bwMode="auto">
            <a:xfrm>
              <a:off x="1046" y="27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6</a:t>
              </a:r>
            </a:p>
          </p:txBody>
        </p:sp>
        <p:sp>
          <p:nvSpPr>
            <p:cNvPr id="37913" name="Rectangle 21">
              <a:extLst>
                <a:ext uri="{FF2B5EF4-FFF2-40B4-BE49-F238E27FC236}">
                  <a16:creationId xmlns:a16="http://schemas.microsoft.com/office/drawing/2014/main" id="{E4CA7D02-E342-B12C-8D6A-7662B59DC887}"/>
                </a:ext>
              </a:extLst>
            </p:cNvPr>
            <p:cNvSpPr>
              <a:spLocks noChangeArrowheads="1"/>
            </p:cNvSpPr>
            <p:nvPr/>
          </p:nvSpPr>
          <p:spPr bwMode="auto">
            <a:xfrm>
              <a:off x="2966" y="270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9</a:t>
              </a:r>
            </a:p>
          </p:txBody>
        </p:sp>
        <p:sp>
          <p:nvSpPr>
            <p:cNvPr id="37914" name="Rectangle 22">
              <a:extLst>
                <a:ext uri="{FF2B5EF4-FFF2-40B4-BE49-F238E27FC236}">
                  <a16:creationId xmlns:a16="http://schemas.microsoft.com/office/drawing/2014/main" id="{D64985F4-4A07-2122-EEF7-FBCCA416DCA0}"/>
                </a:ext>
              </a:extLst>
            </p:cNvPr>
            <p:cNvSpPr>
              <a:spLocks noChangeArrowheads="1"/>
            </p:cNvSpPr>
            <p:nvPr/>
          </p:nvSpPr>
          <p:spPr bwMode="auto">
            <a:xfrm>
              <a:off x="710"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6</a:t>
              </a:r>
            </a:p>
          </p:txBody>
        </p:sp>
        <p:sp>
          <p:nvSpPr>
            <p:cNvPr id="37915" name="Rectangle 23">
              <a:extLst>
                <a:ext uri="{FF2B5EF4-FFF2-40B4-BE49-F238E27FC236}">
                  <a16:creationId xmlns:a16="http://schemas.microsoft.com/office/drawing/2014/main" id="{00794693-D1E3-BA83-96C0-F101C25F9639}"/>
                </a:ext>
              </a:extLst>
            </p:cNvPr>
            <p:cNvSpPr>
              <a:spLocks noChangeArrowheads="1"/>
            </p:cNvSpPr>
            <p:nvPr/>
          </p:nvSpPr>
          <p:spPr bwMode="auto">
            <a:xfrm>
              <a:off x="1814"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8</a:t>
              </a:r>
            </a:p>
          </p:txBody>
        </p:sp>
        <p:sp>
          <p:nvSpPr>
            <p:cNvPr id="37916" name="Rectangle 24">
              <a:extLst>
                <a:ext uri="{FF2B5EF4-FFF2-40B4-BE49-F238E27FC236}">
                  <a16:creationId xmlns:a16="http://schemas.microsoft.com/office/drawing/2014/main" id="{E7C6AB96-42A5-4CFF-AACA-EC51D9E03D92}"/>
                </a:ext>
              </a:extLst>
            </p:cNvPr>
            <p:cNvSpPr>
              <a:spLocks noChangeArrowheads="1"/>
            </p:cNvSpPr>
            <p:nvPr/>
          </p:nvSpPr>
          <p:spPr bwMode="auto">
            <a:xfrm>
              <a:off x="3302"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5</a:t>
              </a:r>
            </a:p>
          </p:txBody>
        </p:sp>
        <p:sp>
          <p:nvSpPr>
            <p:cNvPr id="37917" name="Rectangle 25">
              <a:extLst>
                <a:ext uri="{FF2B5EF4-FFF2-40B4-BE49-F238E27FC236}">
                  <a16:creationId xmlns:a16="http://schemas.microsoft.com/office/drawing/2014/main" id="{3AC6A72D-3AB9-3685-6B20-BD385C5C9D5B}"/>
                </a:ext>
              </a:extLst>
            </p:cNvPr>
            <p:cNvSpPr>
              <a:spLocks noChangeArrowheads="1"/>
            </p:cNvSpPr>
            <p:nvPr/>
          </p:nvSpPr>
          <p:spPr bwMode="auto">
            <a:xfrm>
              <a:off x="1334" y="15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4</a:t>
              </a:r>
            </a:p>
          </p:txBody>
        </p:sp>
        <p:sp>
          <p:nvSpPr>
            <p:cNvPr id="37918" name="Rectangle 26">
              <a:extLst>
                <a:ext uri="{FF2B5EF4-FFF2-40B4-BE49-F238E27FC236}">
                  <a16:creationId xmlns:a16="http://schemas.microsoft.com/office/drawing/2014/main" id="{FD2B8BDD-6D27-29FD-DF2D-D79CC1B3A563}"/>
                </a:ext>
              </a:extLst>
            </p:cNvPr>
            <p:cNvSpPr>
              <a:spLocks noChangeArrowheads="1"/>
            </p:cNvSpPr>
            <p:nvPr/>
          </p:nvSpPr>
          <p:spPr bwMode="auto">
            <a:xfrm>
              <a:off x="4118" y="15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3</a:t>
              </a:r>
            </a:p>
          </p:txBody>
        </p:sp>
        <p:sp>
          <p:nvSpPr>
            <p:cNvPr id="37919" name="Rectangle 27">
              <a:extLst>
                <a:ext uri="{FF2B5EF4-FFF2-40B4-BE49-F238E27FC236}">
                  <a16:creationId xmlns:a16="http://schemas.microsoft.com/office/drawing/2014/main" id="{7A3B33BF-8440-D0C0-D676-4CF8DAF88581}"/>
                </a:ext>
              </a:extLst>
            </p:cNvPr>
            <p:cNvSpPr>
              <a:spLocks noChangeArrowheads="1"/>
            </p:cNvSpPr>
            <p:nvPr/>
          </p:nvSpPr>
          <p:spPr bwMode="auto">
            <a:xfrm>
              <a:off x="2678" y="931"/>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2</a:t>
              </a:r>
            </a:p>
          </p:txBody>
        </p:sp>
      </p:grpSp>
      <p:sp>
        <p:nvSpPr>
          <p:cNvPr id="37892" name="Rectangle 28">
            <a:extLst>
              <a:ext uri="{FF2B5EF4-FFF2-40B4-BE49-F238E27FC236}">
                <a16:creationId xmlns:a16="http://schemas.microsoft.com/office/drawing/2014/main" id="{A13E2306-8B48-AFDC-7630-9A05E31B7402}"/>
              </a:ext>
            </a:extLst>
          </p:cNvPr>
          <p:cNvSpPr>
            <a:spLocks noChangeArrowheads="1"/>
          </p:cNvSpPr>
          <p:nvPr/>
        </p:nvSpPr>
        <p:spPr bwMode="auto">
          <a:xfrm>
            <a:off x="1485900" y="3886201"/>
            <a:ext cx="54292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a:cs typeface="Times New Roman" panose="02020603050405020304" pitchFamily="18" charset="0"/>
              </a:rPr>
              <a:t>Remove the root.</a:t>
            </a:r>
          </a:p>
        </p:txBody>
      </p:sp>
      <p:sp>
        <p:nvSpPr>
          <p:cNvPr id="377885" name="Rectangle 29">
            <a:extLst>
              <a:ext uri="{FF2B5EF4-FFF2-40B4-BE49-F238E27FC236}">
                <a16:creationId xmlns:a16="http://schemas.microsoft.com/office/drawing/2014/main" id="{53CF66E1-7B8C-32A2-79A1-145E14164B66}"/>
              </a:ext>
            </a:extLst>
          </p:cNvPr>
          <p:cNvSpPr>
            <a:spLocks noChangeArrowheads="1"/>
          </p:cNvSpPr>
          <p:nvPr/>
        </p:nvSpPr>
        <p:spPr bwMode="auto">
          <a:xfrm>
            <a:off x="1485900" y="4400551"/>
            <a:ext cx="5429250"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400" dirty="0">
                <a:cs typeface="Times New Roman" panose="02020603050405020304" pitchFamily="18" charset="0"/>
              </a:rPr>
              <a:t>Meld the two subtrees.</a:t>
            </a:r>
          </a:p>
        </p:txBody>
      </p:sp>
      <p:sp>
        <p:nvSpPr>
          <p:cNvPr id="377886" name="Freeform 30">
            <a:extLst>
              <a:ext uri="{FF2B5EF4-FFF2-40B4-BE49-F238E27FC236}">
                <a16:creationId xmlns:a16="http://schemas.microsoft.com/office/drawing/2014/main" id="{8990FED2-0D15-9F2E-F477-2304ED8EE99D}"/>
              </a:ext>
            </a:extLst>
          </p:cNvPr>
          <p:cNvSpPr>
            <a:spLocks/>
          </p:cNvSpPr>
          <p:nvPr/>
        </p:nvSpPr>
        <p:spPr bwMode="auto">
          <a:xfrm>
            <a:off x="1254919" y="1531144"/>
            <a:ext cx="2449116" cy="2403872"/>
          </a:xfrm>
          <a:custGeom>
            <a:avLst/>
            <a:gdLst>
              <a:gd name="T0" fmla="*/ 2147483646 w 2057"/>
              <a:gd name="T1" fmla="*/ 2147483646 h 2019"/>
              <a:gd name="T2" fmla="*/ 2147483646 w 2057"/>
              <a:gd name="T3" fmla="*/ 2147483646 h 2019"/>
              <a:gd name="T4" fmla="*/ 2147483646 w 2057"/>
              <a:gd name="T5" fmla="*/ 2147483646 h 2019"/>
              <a:gd name="T6" fmla="*/ 2147483646 w 2057"/>
              <a:gd name="T7" fmla="*/ 2147483646 h 2019"/>
              <a:gd name="T8" fmla="*/ 2147483646 w 2057"/>
              <a:gd name="T9" fmla="*/ 2147483646 h 2019"/>
              <a:gd name="T10" fmla="*/ 2147483646 w 2057"/>
              <a:gd name="T11" fmla="*/ 2147483646 h 2019"/>
              <a:gd name="T12" fmla="*/ 2147483646 w 2057"/>
              <a:gd name="T13" fmla="*/ 2147483646 h 2019"/>
              <a:gd name="T14" fmla="*/ 2147483646 w 2057"/>
              <a:gd name="T15" fmla="*/ 2147483646 h 2019"/>
              <a:gd name="T16" fmla="*/ 2147483646 w 2057"/>
              <a:gd name="T17" fmla="*/ 2147483646 h 2019"/>
              <a:gd name="T18" fmla="*/ 2147483646 w 2057"/>
              <a:gd name="T19" fmla="*/ 2147483646 h 2019"/>
              <a:gd name="T20" fmla="*/ 2147483646 w 2057"/>
              <a:gd name="T21" fmla="*/ 2147483646 h 2019"/>
              <a:gd name="T22" fmla="*/ 2147483646 w 2057"/>
              <a:gd name="T23" fmla="*/ 2147483646 h 2019"/>
              <a:gd name="T24" fmla="*/ 2147483646 w 2057"/>
              <a:gd name="T25" fmla="*/ 2147483646 h 2019"/>
              <a:gd name="T26" fmla="*/ 2147483646 w 2057"/>
              <a:gd name="T27" fmla="*/ 2147483646 h 2019"/>
              <a:gd name="T28" fmla="*/ 2147483646 w 2057"/>
              <a:gd name="T29" fmla="*/ 2147483646 h 2019"/>
              <a:gd name="T30" fmla="*/ 2147483646 w 2057"/>
              <a:gd name="T31" fmla="*/ 2147483646 h 2019"/>
              <a:gd name="T32" fmla="*/ 2147483646 w 2057"/>
              <a:gd name="T33" fmla="*/ 2147483646 h 2019"/>
              <a:gd name="T34" fmla="*/ 2147483646 w 2057"/>
              <a:gd name="T35" fmla="*/ 2147483646 h 2019"/>
              <a:gd name="T36" fmla="*/ 2147483646 w 2057"/>
              <a:gd name="T37" fmla="*/ 2147483646 h 2019"/>
              <a:gd name="T38" fmla="*/ 2147483646 w 2057"/>
              <a:gd name="T39" fmla="*/ 2147483646 h 2019"/>
              <a:gd name="T40" fmla="*/ 2147483646 w 2057"/>
              <a:gd name="T41" fmla="*/ 2147483646 h 2019"/>
              <a:gd name="T42" fmla="*/ 2147483646 w 2057"/>
              <a:gd name="T43" fmla="*/ 2147483646 h 2019"/>
              <a:gd name="T44" fmla="*/ 2147483646 w 2057"/>
              <a:gd name="T45" fmla="*/ 2147483646 h 2019"/>
              <a:gd name="T46" fmla="*/ 2147483646 w 2057"/>
              <a:gd name="T47" fmla="*/ 2147483646 h 2019"/>
              <a:gd name="T48" fmla="*/ 2147483646 w 2057"/>
              <a:gd name="T49" fmla="*/ 2147483646 h 2019"/>
              <a:gd name="T50" fmla="*/ 2147483646 w 2057"/>
              <a:gd name="T51" fmla="*/ 2147483646 h 2019"/>
              <a:gd name="T52" fmla="*/ 2147483646 w 2057"/>
              <a:gd name="T53" fmla="*/ 2147483646 h 2019"/>
              <a:gd name="T54" fmla="*/ 2147483646 w 2057"/>
              <a:gd name="T55" fmla="*/ 2147483646 h 2019"/>
              <a:gd name="T56" fmla="*/ 2147483646 w 2057"/>
              <a:gd name="T57" fmla="*/ 2147483646 h 2019"/>
              <a:gd name="T58" fmla="*/ 2147483646 w 2057"/>
              <a:gd name="T59" fmla="*/ 2147483646 h 2019"/>
              <a:gd name="T60" fmla="*/ 2147483646 w 2057"/>
              <a:gd name="T61" fmla="*/ 2147483646 h 2019"/>
              <a:gd name="T62" fmla="*/ 2147483646 w 2057"/>
              <a:gd name="T63" fmla="*/ 2147483646 h 2019"/>
              <a:gd name="T64" fmla="*/ 2147483646 w 2057"/>
              <a:gd name="T65" fmla="*/ 2147483646 h 2019"/>
              <a:gd name="T66" fmla="*/ 2147483646 w 2057"/>
              <a:gd name="T67" fmla="*/ 2147483646 h 2019"/>
              <a:gd name="T68" fmla="*/ 2147483646 w 2057"/>
              <a:gd name="T69" fmla="*/ 2147483646 h 2019"/>
              <a:gd name="T70" fmla="*/ 2147483646 w 2057"/>
              <a:gd name="T71" fmla="*/ 2147483646 h 2019"/>
              <a:gd name="T72" fmla="*/ 2147483646 w 2057"/>
              <a:gd name="T73" fmla="*/ 2147483646 h 2019"/>
              <a:gd name="T74" fmla="*/ 2147483646 w 2057"/>
              <a:gd name="T75" fmla="*/ 2147483646 h 2019"/>
              <a:gd name="T76" fmla="*/ 2147483646 w 2057"/>
              <a:gd name="T77" fmla="*/ 2147483646 h 2019"/>
              <a:gd name="T78" fmla="*/ 2147483646 w 2057"/>
              <a:gd name="T79" fmla="*/ 2147483646 h 201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057"/>
              <a:gd name="T121" fmla="*/ 0 h 2019"/>
              <a:gd name="T122" fmla="*/ 2057 w 2057"/>
              <a:gd name="T123" fmla="*/ 2019 h 201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057" h="2019">
                <a:moveTo>
                  <a:pt x="1607" y="19"/>
                </a:moveTo>
                <a:cubicBezTo>
                  <a:pt x="1419" y="6"/>
                  <a:pt x="1233" y="0"/>
                  <a:pt x="1049" y="46"/>
                </a:cubicBezTo>
                <a:cubicBezTo>
                  <a:pt x="1019" y="91"/>
                  <a:pt x="988" y="135"/>
                  <a:pt x="959" y="181"/>
                </a:cubicBezTo>
                <a:cubicBezTo>
                  <a:pt x="947" y="199"/>
                  <a:pt x="945" y="233"/>
                  <a:pt x="923" y="235"/>
                </a:cubicBezTo>
                <a:cubicBezTo>
                  <a:pt x="893" y="238"/>
                  <a:pt x="863" y="241"/>
                  <a:pt x="833" y="244"/>
                </a:cubicBezTo>
                <a:cubicBezTo>
                  <a:pt x="813" y="251"/>
                  <a:pt x="743" y="270"/>
                  <a:pt x="716" y="289"/>
                </a:cubicBezTo>
                <a:cubicBezTo>
                  <a:pt x="686" y="311"/>
                  <a:pt x="675" y="340"/>
                  <a:pt x="644" y="361"/>
                </a:cubicBezTo>
                <a:cubicBezTo>
                  <a:pt x="613" y="454"/>
                  <a:pt x="549" y="508"/>
                  <a:pt x="455" y="532"/>
                </a:cubicBezTo>
                <a:cubicBezTo>
                  <a:pt x="424" y="563"/>
                  <a:pt x="414" y="584"/>
                  <a:pt x="374" y="604"/>
                </a:cubicBezTo>
                <a:cubicBezTo>
                  <a:pt x="357" y="629"/>
                  <a:pt x="335" y="650"/>
                  <a:pt x="320" y="676"/>
                </a:cubicBezTo>
                <a:cubicBezTo>
                  <a:pt x="314" y="687"/>
                  <a:pt x="320" y="704"/>
                  <a:pt x="311" y="712"/>
                </a:cubicBezTo>
                <a:cubicBezTo>
                  <a:pt x="287" y="733"/>
                  <a:pt x="245" y="746"/>
                  <a:pt x="212" y="757"/>
                </a:cubicBezTo>
                <a:cubicBezTo>
                  <a:pt x="181" y="849"/>
                  <a:pt x="200" y="949"/>
                  <a:pt x="176" y="1045"/>
                </a:cubicBezTo>
                <a:cubicBezTo>
                  <a:pt x="173" y="1057"/>
                  <a:pt x="177" y="1074"/>
                  <a:pt x="167" y="1081"/>
                </a:cubicBezTo>
                <a:cubicBezTo>
                  <a:pt x="112" y="1118"/>
                  <a:pt x="53" y="1197"/>
                  <a:pt x="32" y="1261"/>
                </a:cubicBezTo>
                <a:cubicBezTo>
                  <a:pt x="29" y="1348"/>
                  <a:pt x="23" y="1435"/>
                  <a:pt x="23" y="1522"/>
                </a:cubicBezTo>
                <a:cubicBezTo>
                  <a:pt x="23" y="1579"/>
                  <a:pt x="32" y="1693"/>
                  <a:pt x="32" y="1693"/>
                </a:cubicBezTo>
                <a:cubicBezTo>
                  <a:pt x="22" y="1708"/>
                  <a:pt x="0" y="1720"/>
                  <a:pt x="2" y="1738"/>
                </a:cubicBezTo>
                <a:cubicBezTo>
                  <a:pt x="4" y="1754"/>
                  <a:pt x="30" y="1754"/>
                  <a:pt x="41" y="1765"/>
                </a:cubicBezTo>
                <a:cubicBezTo>
                  <a:pt x="49" y="1772"/>
                  <a:pt x="51" y="1784"/>
                  <a:pt x="59" y="1792"/>
                </a:cubicBezTo>
                <a:cubicBezTo>
                  <a:pt x="111" y="1844"/>
                  <a:pt x="76" y="1802"/>
                  <a:pt x="122" y="1828"/>
                </a:cubicBezTo>
                <a:cubicBezTo>
                  <a:pt x="150" y="1844"/>
                  <a:pt x="172" y="1872"/>
                  <a:pt x="203" y="1882"/>
                </a:cubicBezTo>
                <a:cubicBezTo>
                  <a:pt x="268" y="1904"/>
                  <a:pt x="342" y="1917"/>
                  <a:pt x="410" y="1927"/>
                </a:cubicBezTo>
                <a:cubicBezTo>
                  <a:pt x="473" y="1948"/>
                  <a:pt x="517" y="1948"/>
                  <a:pt x="590" y="1954"/>
                </a:cubicBezTo>
                <a:cubicBezTo>
                  <a:pt x="657" y="1967"/>
                  <a:pt x="713" y="2000"/>
                  <a:pt x="779" y="2017"/>
                </a:cubicBezTo>
                <a:cubicBezTo>
                  <a:pt x="893" y="2014"/>
                  <a:pt x="1007" y="2019"/>
                  <a:pt x="1121" y="2008"/>
                </a:cubicBezTo>
                <a:cubicBezTo>
                  <a:pt x="1145" y="2006"/>
                  <a:pt x="1203" y="1922"/>
                  <a:pt x="1238" y="1909"/>
                </a:cubicBezTo>
                <a:cubicBezTo>
                  <a:pt x="1258" y="1902"/>
                  <a:pt x="1280" y="1904"/>
                  <a:pt x="1301" y="1900"/>
                </a:cubicBezTo>
                <a:cubicBezTo>
                  <a:pt x="1366" y="1888"/>
                  <a:pt x="1424" y="1864"/>
                  <a:pt x="1490" y="1855"/>
                </a:cubicBezTo>
                <a:cubicBezTo>
                  <a:pt x="1511" y="1841"/>
                  <a:pt x="1530" y="1823"/>
                  <a:pt x="1553" y="1810"/>
                </a:cubicBezTo>
                <a:cubicBezTo>
                  <a:pt x="1588" y="1791"/>
                  <a:pt x="1627" y="1779"/>
                  <a:pt x="1661" y="1756"/>
                </a:cubicBezTo>
                <a:cubicBezTo>
                  <a:pt x="1760" y="1690"/>
                  <a:pt x="1847" y="1610"/>
                  <a:pt x="1949" y="1549"/>
                </a:cubicBezTo>
                <a:cubicBezTo>
                  <a:pt x="2050" y="1415"/>
                  <a:pt x="2042" y="1224"/>
                  <a:pt x="2057" y="1063"/>
                </a:cubicBezTo>
                <a:cubicBezTo>
                  <a:pt x="2054" y="829"/>
                  <a:pt x="2057" y="595"/>
                  <a:pt x="2048" y="361"/>
                </a:cubicBezTo>
                <a:cubicBezTo>
                  <a:pt x="2046" y="320"/>
                  <a:pt x="2000" y="295"/>
                  <a:pt x="1976" y="262"/>
                </a:cubicBezTo>
                <a:cubicBezTo>
                  <a:pt x="1967" y="250"/>
                  <a:pt x="1949" y="226"/>
                  <a:pt x="1949" y="226"/>
                </a:cubicBezTo>
                <a:cubicBezTo>
                  <a:pt x="1946" y="217"/>
                  <a:pt x="1948" y="204"/>
                  <a:pt x="1940" y="199"/>
                </a:cubicBezTo>
                <a:cubicBezTo>
                  <a:pt x="1898" y="175"/>
                  <a:pt x="1773" y="175"/>
                  <a:pt x="1742" y="172"/>
                </a:cubicBezTo>
                <a:cubicBezTo>
                  <a:pt x="1718" y="170"/>
                  <a:pt x="1694" y="166"/>
                  <a:pt x="1670" y="163"/>
                </a:cubicBezTo>
                <a:cubicBezTo>
                  <a:pt x="1580" y="133"/>
                  <a:pt x="1664" y="76"/>
                  <a:pt x="1607" y="19"/>
                </a:cubicBezTo>
                <a:close/>
              </a:path>
            </a:pathLst>
          </a:custGeom>
          <a:noFill/>
          <a:ln w="76200" cap="flat" cmpd="sng">
            <a:solidFill>
              <a:schemeClr val="hlink"/>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77887" name="Freeform 31">
            <a:extLst>
              <a:ext uri="{FF2B5EF4-FFF2-40B4-BE49-F238E27FC236}">
                <a16:creationId xmlns:a16="http://schemas.microsoft.com/office/drawing/2014/main" id="{E2979A65-F747-20D1-DD2C-DE80C0427C92}"/>
              </a:ext>
            </a:extLst>
          </p:cNvPr>
          <p:cNvSpPr>
            <a:spLocks/>
          </p:cNvSpPr>
          <p:nvPr/>
        </p:nvSpPr>
        <p:spPr bwMode="auto">
          <a:xfrm>
            <a:off x="4314825" y="1528763"/>
            <a:ext cx="2333625" cy="2436019"/>
          </a:xfrm>
          <a:custGeom>
            <a:avLst/>
            <a:gdLst>
              <a:gd name="T0" fmla="*/ 2147483646 w 1960"/>
              <a:gd name="T1" fmla="*/ 2147483646 h 2046"/>
              <a:gd name="T2" fmla="*/ 2147483646 w 1960"/>
              <a:gd name="T3" fmla="*/ 2147483646 h 2046"/>
              <a:gd name="T4" fmla="*/ 2147483646 w 1960"/>
              <a:gd name="T5" fmla="*/ 2147483646 h 2046"/>
              <a:gd name="T6" fmla="*/ 2147483646 w 1960"/>
              <a:gd name="T7" fmla="*/ 2147483646 h 2046"/>
              <a:gd name="T8" fmla="*/ 2147483646 w 1960"/>
              <a:gd name="T9" fmla="*/ 2147483646 h 2046"/>
              <a:gd name="T10" fmla="*/ 2147483646 w 1960"/>
              <a:gd name="T11" fmla="*/ 2147483646 h 2046"/>
              <a:gd name="T12" fmla="*/ 2147483646 w 1960"/>
              <a:gd name="T13" fmla="*/ 2147483646 h 2046"/>
              <a:gd name="T14" fmla="*/ 2147483646 w 1960"/>
              <a:gd name="T15" fmla="*/ 2147483646 h 2046"/>
              <a:gd name="T16" fmla="*/ 2147483646 w 1960"/>
              <a:gd name="T17" fmla="*/ 2147483646 h 2046"/>
              <a:gd name="T18" fmla="*/ 2147483646 w 1960"/>
              <a:gd name="T19" fmla="*/ 2147483646 h 2046"/>
              <a:gd name="T20" fmla="*/ 2147483646 w 1960"/>
              <a:gd name="T21" fmla="*/ 2147483646 h 2046"/>
              <a:gd name="T22" fmla="*/ 2147483646 w 1960"/>
              <a:gd name="T23" fmla="*/ 2147483646 h 2046"/>
              <a:gd name="T24" fmla="*/ 2147483646 w 1960"/>
              <a:gd name="T25" fmla="*/ 2147483646 h 2046"/>
              <a:gd name="T26" fmla="*/ 2147483646 w 1960"/>
              <a:gd name="T27" fmla="*/ 2147483646 h 2046"/>
              <a:gd name="T28" fmla="*/ 2147483646 w 1960"/>
              <a:gd name="T29" fmla="*/ 2147483646 h 2046"/>
              <a:gd name="T30" fmla="*/ 2147483646 w 1960"/>
              <a:gd name="T31" fmla="*/ 2147483646 h 2046"/>
              <a:gd name="T32" fmla="*/ 0 w 1960"/>
              <a:gd name="T33" fmla="*/ 2147483646 h 2046"/>
              <a:gd name="T34" fmla="*/ 2147483646 w 1960"/>
              <a:gd name="T35" fmla="*/ 2147483646 h 2046"/>
              <a:gd name="T36" fmla="*/ 2147483646 w 1960"/>
              <a:gd name="T37" fmla="*/ 2147483646 h 2046"/>
              <a:gd name="T38" fmla="*/ 2147483646 w 1960"/>
              <a:gd name="T39" fmla="*/ 2147483646 h 2046"/>
              <a:gd name="T40" fmla="*/ 2147483646 w 1960"/>
              <a:gd name="T41" fmla="*/ 2147483646 h 2046"/>
              <a:gd name="T42" fmla="*/ 2147483646 w 1960"/>
              <a:gd name="T43" fmla="*/ 2147483646 h 2046"/>
              <a:gd name="T44" fmla="*/ 2147483646 w 1960"/>
              <a:gd name="T45" fmla="*/ 2147483646 h 2046"/>
              <a:gd name="T46" fmla="*/ 2147483646 w 1960"/>
              <a:gd name="T47" fmla="*/ 2147483646 h 2046"/>
              <a:gd name="T48" fmla="*/ 2147483646 w 1960"/>
              <a:gd name="T49" fmla="*/ 2147483646 h 2046"/>
              <a:gd name="T50" fmla="*/ 2147483646 w 1960"/>
              <a:gd name="T51" fmla="*/ 2147483646 h 2046"/>
              <a:gd name="T52" fmla="*/ 2147483646 w 1960"/>
              <a:gd name="T53" fmla="*/ 2147483646 h 2046"/>
              <a:gd name="T54" fmla="*/ 2147483646 w 1960"/>
              <a:gd name="T55" fmla="*/ 2147483646 h 2046"/>
              <a:gd name="T56" fmla="*/ 2147483646 w 1960"/>
              <a:gd name="T57" fmla="*/ 2147483646 h 2046"/>
              <a:gd name="T58" fmla="*/ 2147483646 w 1960"/>
              <a:gd name="T59" fmla="*/ 2147483646 h 2046"/>
              <a:gd name="T60" fmla="*/ 2147483646 w 1960"/>
              <a:gd name="T61" fmla="*/ 2147483646 h 2046"/>
              <a:gd name="T62" fmla="*/ 2147483646 w 1960"/>
              <a:gd name="T63" fmla="*/ 2147483646 h 2046"/>
              <a:gd name="T64" fmla="*/ 2147483646 w 1960"/>
              <a:gd name="T65" fmla="*/ 2147483646 h 20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0"/>
              <a:gd name="T100" fmla="*/ 0 h 2046"/>
              <a:gd name="T101" fmla="*/ 1960 w 1960"/>
              <a:gd name="T102" fmla="*/ 2046 h 204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0" h="2046">
                <a:moveTo>
                  <a:pt x="1935" y="12"/>
                </a:moveTo>
                <a:cubicBezTo>
                  <a:pt x="1791" y="15"/>
                  <a:pt x="1646" y="0"/>
                  <a:pt x="1503" y="21"/>
                </a:cubicBezTo>
                <a:cubicBezTo>
                  <a:pt x="1474" y="25"/>
                  <a:pt x="1461" y="63"/>
                  <a:pt x="1440" y="84"/>
                </a:cubicBezTo>
                <a:cubicBezTo>
                  <a:pt x="1404" y="120"/>
                  <a:pt x="1373" y="153"/>
                  <a:pt x="1332" y="183"/>
                </a:cubicBezTo>
                <a:cubicBezTo>
                  <a:pt x="1260" y="236"/>
                  <a:pt x="1155" y="238"/>
                  <a:pt x="1071" y="246"/>
                </a:cubicBezTo>
                <a:cubicBezTo>
                  <a:pt x="1027" y="261"/>
                  <a:pt x="987" y="273"/>
                  <a:pt x="954" y="309"/>
                </a:cubicBezTo>
                <a:cubicBezTo>
                  <a:pt x="931" y="334"/>
                  <a:pt x="918" y="369"/>
                  <a:pt x="891" y="390"/>
                </a:cubicBezTo>
                <a:cubicBezTo>
                  <a:pt x="809" y="455"/>
                  <a:pt x="863" y="417"/>
                  <a:pt x="720" y="489"/>
                </a:cubicBezTo>
                <a:cubicBezTo>
                  <a:pt x="708" y="495"/>
                  <a:pt x="693" y="498"/>
                  <a:pt x="684" y="507"/>
                </a:cubicBezTo>
                <a:cubicBezTo>
                  <a:pt x="648" y="543"/>
                  <a:pt x="625" y="567"/>
                  <a:pt x="576" y="579"/>
                </a:cubicBezTo>
                <a:cubicBezTo>
                  <a:pt x="545" y="599"/>
                  <a:pt x="522" y="606"/>
                  <a:pt x="486" y="615"/>
                </a:cubicBezTo>
                <a:cubicBezTo>
                  <a:pt x="452" y="661"/>
                  <a:pt x="414" y="717"/>
                  <a:pt x="360" y="741"/>
                </a:cubicBezTo>
                <a:cubicBezTo>
                  <a:pt x="216" y="805"/>
                  <a:pt x="408" y="701"/>
                  <a:pt x="243" y="795"/>
                </a:cubicBezTo>
                <a:cubicBezTo>
                  <a:pt x="228" y="813"/>
                  <a:pt x="209" y="828"/>
                  <a:pt x="198" y="849"/>
                </a:cubicBezTo>
                <a:cubicBezTo>
                  <a:pt x="179" y="884"/>
                  <a:pt x="175" y="936"/>
                  <a:pt x="162" y="975"/>
                </a:cubicBezTo>
                <a:cubicBezTo>
                  <a:pt x="152" y="1090"/>
                  <a:pt x="165" y="1084"/>
                  <a:pt x="72" y="1137"/>
                </a:cubicBezTo>
                <a:cubicBezTo>
                  <a:pt x="35" y="1183"/>
                  <a:pt x="19" y="1225"/>
                  <a:pt x="0" y="1281"/>
                </a:cubicBezTo>
                <a:cubicBezTo>
                  <a:pt x="5" y="1411"/>
                  <a:pt x="13" y="1566"/>
                  <a:pt x="45" y="1695"/>
                </a:cubicBezTo>
                <a:cubicBezTo>
                  <a:pt x="48" y="1770"/>
                  <a:pt x="44" y="1846"/>
                  <a:pt x="54" y="1920"/>
                </a:cubicBezTo>
                <a:cubicBezTo>
                  <a:pt x="65" y="2003"/>
                  <a:pt x="167" y="2033"/>
                  <a:pt x="234" y="2046"/>
                </a:cubicBezTo>
                <a:cubicBezTo>
                  <a:pt x="318" y="2040"/>
                  <a:pt x="403" y="2041"/>
                  <a:pt x="486" y="2028"/>
                </a:cubicBezTo>
                <a:cubicBezTo>
                  <a:pt x="572" y="2015"/>
                  <a:pt x="653" y="1982"/>
                  <a:pt x="738" y="1965"/>
                </a:cubicBezTo>
                <a:cubicBezTo>
                  <a:pt x="762" y="1894"/>
                  <a:pt x="758" y="1809"/>
                  <a:pt x="819" y="1758"/>
                </a:cubicBezTo>
                <a:cubicBezTo>
                  <a:pt x="876" y="1710"/>
                  <a:pt x="956" y="1702"/>
                  <a:pt x="1008" y="1650"/>
                </a:cubicBezTo>
                <a:cubicBezTo>
                  <a:pt x="1086" y="1572"/>
                  <a:pt x="1148" y="1472"/>
                  <a:pt x="1206" y="1380"/>
                </a:cubicBezTo>
                <a:cubicBezTo>
                  <a:pt x="1245" y="1318"/>
                  <a:pt x="1326" y="1263"/>
                  <a:pt x="1386" y="1218"/>
                </a:cubicBezTo>
                <a:cubicBezTo>
                  <a:pt x="1401" y="1206"/>
                  <a:pt x="1409" y="1187"/>
                  <a:pt x="1422" y="1173"/>
                </a:cubicBezTo>
                <a:cubicBezTo>
                  <a:pt x="1448" y="1145"/>
                  <a:pt x="1480" y="1123"/>
                  <a:pt x="1503" y="1092"/>
                </a:cubicBezTo>
                <a:cubicBezTo>
                  <a:pt x="1562" y="1014"/>
                  <a:pt x="1623" y="935"/>
                  <a:pt x="1719" y="903"/>
                </a:cubicBezTo>
                <a:cubicBezTo>
                  <a:pt x="1778" y="859"/>
                  <a:pt x="1800" y="801"/>
                  <a:pt x="1836" y="741"/>
                </a:cubicBezTo>
                <a:cubicBezTo>
                  <a:pt x="1846" y="725"/>
                  <a:pt x="1862" y="713"/>
                  <a:pt x="1872" y="696"/>
                </a:cubicBezTo>
                <a:cubicBezTo>
                  <a:pt x="1907" y="637"/>
                  <a:pt x="1925" y="564"/>
                  <a:pt x="1944" y="498"/>
                </a:cubicBezTo>
                <a:cubicBezTo>
                  <a:pt x="1960" y="336"/>
                  <a:pt x="1945" y="174"/>
                  <a:pt x="1935" y="12"/>
                </a:cubicBezTo>
                <a:close/>
              </a:path>
            </a:pathLst>
          </a:custGeom>
          <a:noFill/>
          <a:ln w="76200" cap="flat" cmpd="sng">
            <a:solidFill>
              <a:srgbClr val="FFCC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688E66E-14CA-BD8B-5606-17DC5AB6AA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73FEE40-DA9F-BFAA-EEB0-169DD26F16F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77885"/>
                                        </p:tgtEl>
                                        <p:attrNameLst>
                                          <p:attrName>style.visibility</p:attrName>
                                        </p:attrNameLst>
                                      </p:cBhvr>
                                      <p:to>
                                        <p:strVal val="visible"/>
                                      </p:to>
                                    </p:set>
                                    <p:anim calcmode="lin" valueType="num">
                                      <p:cBhvr additive="base">
                                        <p:cTn id="7" dur="500" fill="hold"/>
                                        <p:tgtEl>
                                          <p:spTgt spid="377885"/>
                                        </p:tgtEl>
                                        <p:attrNameLst>
                                          <p:attrName>ppt_x</p:attrName>
                                        </p:attrNameLst>
                                      </p:cBhvr>
                                      <p:tavLst>
                                        <p:tav tm="0">
                                          <p:val>
                                            <p:strVal val="0-#ppt_w/2"/>
                                          </p:val>
                                        </p:tav>
                                        <p:tav tm="100000">
                                          <p:val>
                                            <p:strVal val="#ppt_x"/>
                                          </p:val>
                                        </p:tav>
                                      </p:tavLst>
                                    </p:anim>
                                    <p:anim calcmode="lin" valueType="num">
                                      <p:cBhvr additive="base">
                                        <p:cTn id="8" dur="500" fill="hold"/>
                                        <p:tgtEl>
                                          <p:spTgt spid="3778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37788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77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8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6EE31DD-6B15-79B9-4AB5-969E25F0B160}"/>
              </a:ext>
            </a:extLst>
          </p:cNvPr>
          <p:cNvSpPr>
            <a:spLocks noGrp="1" noChangeArrowheads="1"/>
          </p:cNvSpPr>
          <p:nvPr>
            <p:ph type="ctrTitle"/>
          </p:nvPr>
        </p:nvSpPr>
        <p:spPr>
          <a:xfrm>
            <a:off x="1200150" y="171450"/>
            <a:ext cx="6686550" cy="857250"/>
          </a:xfrm>
          <a:noFill/>
        </p:spPr>
        <p:txBody>
          <a:bodyPr/>
          <a:lstStyle/>
          <a:p>
            <a:r>
              <a:rPr lang="en-US" altLang="en-US"/>
              <a:t>Meld Two Min Leftist Trees</a:t>
            </a:r>
          </a:p>
        </p:txBody>
      </p:sp>
      <p:grpSp>
        <p:nvGrpSpPr>
          <p:cNvPr id="2" name="Group 3">
            <a:extLst>
              <a:ext uri="{FF2B5EF4-FFF2-40B4-BE49-F238E27FC236}">
                <a16:creationId xmlns:a16="http://schemas.microsoft.com/office/drawing/2014/main" id="{E1158A9C-0D2B-FC76-3365-15025007BA88}"/>
              </a:ext>
            </a:extLst>
          </p:cNvPr>
          <p:cNvGrpSpPr>
            <a:grpSpLocks/>
          </p:cNvGrpSpPr>
          <p:nvPr/>
        </p:nvGrpSpPr>
        <p:grpSpPr bwMode="auto">
          <a:xfrm>
            <a:off x="1490663" y="1833563"/>
            <a:ext cx="5705475" cy="1762125"/>
            <a:chOff x="292" y="1540"/>
            <a:chExt cx="4792" cy="1480"/>
          </a:xfrm>
        </p:grpSpPr>
        <p:sp>
          <p:nvSpPr>
            <p:cNvPr id="39941" name="Oval 4">
              <a:extLst>
                <a:ext uri="{FF2B5EF4-FFF2-40B4-BE49-F238E27FC236}">
                  <a16:creationId xmlns:a16="http://schemas.microsoft.com/office/drawing/2014/main" id="{6763F00D-F826-8A83-F411-22E0578125D5}"/>
                </a:ext>
              </a:extLst>
            </p:cNvPr>
            <p:cNvSpPr>
              <a:spLocks noChangeArrowheads="1"/>
            </p:cNvSpPr>
            <p:nvPr/>
          </p:nvSpPr>
          <p:spPr bwMode="auto">
            <a:xfrm>
              <a:off x="1300"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2" name="Oval 5">
              <a:extLst>
                <a:ext uri="{FF2B5EF4-FFF2-40B4-BE49-F238E27FC236}">
                  <a16:creationId xmlns:a16="http://schemas.microsoft.com/office/drawing/2014/main" id="{9977D3F0-1344-0188-EF40-33FC18414ACB}"/>
                </a:ext>
              </a:extLst>
            </p:cNvPr>
            <p:cNvSpPr>
              <a:spLocks noChangeArrowheads="1"/>
            </p:cNvSpPr>
            <p:nvPr/>
          </p:nvSpPr>
          <p:spPr bwMode="auto">
            <a:xfrm>
              <a:off x="4036" y="15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3" name="Oval 6">
              <a:extLst>
                <a:ext uri="{FF2B5EF4-FFF2-40B4-BE49-F238E27FC236}">
                  <a16:creationId xmlns:a16="http://schemas.microsoft.com/office/drawing/2014/main" id="{3925A2DD-3D35-567C-DB5C-C9E7188B6D6D}"/>
                </a:ext>
              </a:extLst>
            </p:cNvPr>
            <p:cNvSpPr>
              <a:spLocks noChangeArrowheads="1"/>
            </p:cNvSpPr>
            <p:nvPr/>
          </p:nvSpPr>
          <p:spPr bwMode="auto">
            <a:xfrm>
              <a:off x="676"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4" name="Oval 7">
              <a:extLst>
                <a:ext uri="{FF2B5EF4-FFF2-40B4-BE49-F238E27FC236}">
                  <a16:creationId xmlns:a16="http://schemas.microsoft.com/office/drawing/2014/main" id="{56960EE5-DBF0-8476-AE7C-58D74AAEF571}"/>
                </a:ext>
              </a:extLst>
            </p:cNvPr>
            <p:cNvSpPr>
              <a:spLocks noChangeArrowheads="1"/>
            </p:cNvSpPr>
            <p:nvPr/>
          </p:nvSpPr>
          <p:spPr bwMode="auto">
            <a:xfrm>
              <a:off x="1780"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5" name="Oval 8">
              <a:extLst>
                <a:ext uri="{FF2B5EF4-FFF2-40B4-BE49-F238E27FC236}">
                  <a16:creationId xmlns:a16="http://schemas.microsoft.com/office/drawing/2014/main" id="{C8655277-AE9F-8D16-FB6F-E045BAC5B182}"/>
                </a:ext>
              </a:extLst>
            </p:cNvPr>
            <p:cNvSpPr>
              <a:spLocks noChangeArrowheads="1"/>
            </p:cNvSpPr>
            <p:nvPr/>
          </p:nvSpPr>
          <p:spPr bwMode="auto">
            <a:xfrm>
              <a:off x="3268"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6" name="Oval 9">
              <a:extLst>
                <a:ext uri="{FF2B5EF4-FFF2-40B4-BE49-F238E27FC236}">
                  <a16:creationId xmlns:a16="http://schemas.microsoft.com/office/drawing/2014/main" id="{081E7C59-6AD3-9851-6D5A-6E538EE43291}"/>
                </a:ext>
              </a:extLst>
            </p:cNvPr>
            <p:cNvSpPr>
              <a:spLocks noChangeArrowheads="1"/>
            </p:cNvSpPr>
            <p:nvPr/>
          </p:nvSpPr>
          <p:spPr bwMode="auto">
            <a:xfrm>
              <a:off x="29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7" name="Oval 10">
              <a:extLst>
                <a:ext uri="{FF2B5EF4-FFF2-40B4-BE49-F238E27FC236}">
                  <a16:creationId xmlns:a16="http://schemas.microsoft.com/office/drawing/2014/main" id="{734E4F23-7AC3-1527-353D-FC984471AFF3}"/>
                </a:ext>
              </a:extLst>
            </p:cNvPr>
            <p:cNvSpPr>
              <a:spLocks noChangeArrowheads="1"/>
            </p:cNvSpPr>
            <p:nvPr/>
          </p:nvSpPr>
          <p:spPr bwMode="auto">
            <a:xfrm>
              <a:off x="1012" y="274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48" name="Line 11">
              <a:extLst>
                <a:ext uri="{FF2B5EF4-FFF2-40B4-BE49-F238E27FC236}">
                  <a16:creationId xmlns:a16="http://schemas.microsoft.com/office/drawing/2014/main" id="{A5865ABF-DB54-ABAF-4450-2F5A7628A6CE}"/>
                </a:ext>
              </a:extLst>
            </p:cNvPr>
            <p:cNvSpPr>
              <a:spLocks noChangeShapeType="1"/>
            </p:cNvSpPr>
            <p:nvPr/>
          </p:nvSpPr>
          <p:spPr bwMode="auto">
            <a:xfrm flipH="1">
              <a:off x="864" y="1776"/>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49" name="Line 12">
              <a:extLst>
                <a:ext uri="{FF2B5EF4-FFF2-40B4-BE49-F238E27FC236}">
                  <a16:creationId xmlns:a16="http://schemas.microsoft.com/office/drawing/2014/main" id="{9E4018DF-0CBD-557E-653B-3467EB1E60C4}"/>
                </a:ext>
              </a:extLst>
            </p:cNvPr>
            <p:cNvSpPr>
              <a:spLocks noChangeShapeType="1"/>
            </p:cNvSpPr>
            <p:nvPr/>
          </p:nvSpPr>
          <p:spPr bwMode="auto">
            <a:xfrm>
              <a:off x="1536" y="1776"/>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50" name="Line 13">
              <a:extLst>
                <a:ext uri="{FF2B5EF4-FFF2-40B4-BE49-F238E27FC236}">
                  <a16:creationId xmlns:a16="http://schemas.microsoft.com/office/drawing/2014/main" id="{8966A2FA-B259-B36D-0864-B7F1B1C6B0D8}"/>
                </a:ext>
              </a:extLst>
            </p:cNvPr>
            <p:cNvSpPr>
              <a:spLocks noChangeShapeType="1"/>
            </p:cNvSpPr>
            <p:nvPr/>
          </p:nvSpPr>
          <p:spPr bwMode="auto">
            <a:xfrm flipH="1">
              <a:off x="3504" y="1824"/>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51" name="Line 14">
              <a:extLst>
                <a:ext uri="{FF2B5EF4-FFF2-40B4-BE49-F238E27FC236}">
                  <a16:creationId xmlns:a16="http://schemas.microsoft.com/office/drawing/2014/main" id="{69875208-8878-AD22-AA1B-C67F994780FD}"/>
                </a:ext>
              </a:extLst>
            </p:cNvPr>
            <p:cNvSpPr>
              <a:spLocks noChangeShapeType="1"/>
            </p:cNvSpPr>
            <p:nvPr/>
          </p:nvSpPr>
          <p:spPr bwMode="auto">
            <a:xfrm flipH="1">
              <a:off x="480" y="2304"/>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52" name="Line 15">
              <a:extLst>
                <a:ext uri="{FF2B5EF4-FFF2-40B4-BE49-F238E27FC236}">
                  <a16:creationId xmlns:a16="http://schemas.microsoft.com/office/drawing/2014/main" id="{4B2A3CC4-CCB3-815D-3263-1E5F6E315B85}"/>
                </a:ext>
              </a:extLst>
            </p:cNvPr>
            <p:cNvSpPr>
              <a:spLocks noChangeShapeType="1"/>
            </p:cNvSpPr>
            <p:nvPr/>
          </p:nvSpPr>
          <p:spPr bwMode="auto">
            <a:xfrm>
              <a:off x="912" y="2304"/>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53" name="Oval 16">
              <a:extLst>
                <a:ext uri="{FF2B5EF4-FFF2-40B4-BE49-F238E27FC236}">
                  <a16:creationId xmlns:a16="http://schemas.microsoft.com/office/drawing/2014/main" id="{6EDD0B10-C84F-CFF1-D312-DA0C91DA21EF}"/>
                </a:ext>
              </a:extLst>
            </p:cNvPr>
            <p:cNvSpPr>
              <a:spLocks noChangeArrowheads="1"/>
            </p:cNvSpPr>
            <p:nvPr/>
          </p:nvSpPr>
          <p:spPr bwMode="auto">
            <a:xfrm>
              <a:off x="2932" y="2692"/>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54" name="Line 17">
              <a:extLst>
                <a:ext uri="{FF2B5EF4-FFF2-40B4-BE49-F238E27FC236}">
                  <a16:creationId xmlns:a16="http://schemas.microsoft.com/office/drawing/2014/main" id="{2C0EFDD9-F4D5-1A13-06BC-753E4E56FADC}"/>
                </a:ext>
              </a:extLst>
            </p:cNvPr>
            <p:cNvSpPr>
              <a:spLocks noChangeShapeType="1"/>
            </p:cNvSpPr>
            <p:nvPr/>
          </p:nvSpPr>
          <p:spPr bwMode="auto">
            <a:xfrm flipH="1">
              <a:off x="3120" y="2352"/>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39955" name="Rectangle 18">
              <a:extLst>
                <a:ext uri="{FF2B5EF4-FFF2-40B4-BE49-F238E27FC236}">
                  <a16:creationId xmlns:a16="http://schemas.microsoft.com/office/drawing/2014/main" id="{8D4C78A5-2737-D548-2140-9578AFBAD872}"/>
                </a:ext>
              </a:extLst>
            </p:cNvPr>
            <p:cNvSpPr>
              <a:spLocks noChangeArrowheads="1"/>
            </p:cNvSpPr>
            <p:nvPr/>
          </p:nvSpPr>
          <p:spPr bwMode="auto">
            <a:xfrm>
              <a:off x="326" y="27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39956" name="Rectangle 19">
              <a:extLst>
                <a:ext uri="{FF2B5EF4-FFF2-40B4-BE49-F238E27FC236}">
                  <a16:creationId xmlns:a16="http://schemas.microsoft.com/office/drawing/2014/main" id="{0B9555B7-B4FA-B2B6-40F3-4F59D13A9750}"/>
                </a:ext>
              </a:extLst>
            </p:cNvPr>
            <p:cNvSpPr>
              <a:spLocks noChangeArrowheads="1"/>
            </p:cNvSpPr>
            <p:nvPr/>
          </p:nvSpPr>
          <p:spPr bwMode="auto">
            <a:xfrm>
              <a:off x="1046" y="27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9957" name="Rectangle 20">
              <a:extLst>
                <a:ext uri="{FF2B5EF4-FFF2-40B4-BE49-F238E27FC236}">
                  <a16:creationId xmlns:a16="http://schemas.microsoft.com/office/drawing/2014/main" id="{974CF427-00DA-9528-2FD2-9CCBE9671C41}"/>
                </a:ext>
              </a:extLst>
            </p:cNvPr>
            <p:cNvSpPr>
              <a:spLocks noChangeArrowheads="1"/>
            </p:cNvSpPr>
            <p:nvPr/>
          </p:nvSpPr>
          <p:spPr bwMode="auto">
            <a:xfrm>
              <a:off x="2966" y="270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9</a:t>
              </a:r>
            </a:p>
          </p:txBody>
        </p:sp>
        <p:sp>
          <p:nvSpPr>
            <p:cNvPr id="39958" name="Rectangle 21">
              <a:extLst>
                <a:ext uri="{FF2B5EF4-FFF2-40B4-BE49-F238E27FC236}">
                  <a16:creationId xmlns:a16="http://schemas.microsoft.com/office/drawing/2014/main" id="{B6546613-7D14-FC76-890B-3D14A0BABCBA}"/>
                </a:ext>
              </a:extLst>
            </p:cNvPr>
            <p:cNvSpPr>
              <a:spLocks noChangeArrowheads="1"/>
            </p:cNvSpPr>
            <p:nvPr/>
          </p:nvSpPr>
          <p:spPr bwMode="auto">
            <a:xfrm>
              <a:off x="710"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9959" name="Rectangle 22">
              <a:extLst>
                <a:ext uri="{FF2B5EF4-FFF2-40B4-BE49-F238E27FC236}">
                  <a16:creationId xmlns:a16="http://schemas.microsoft.com/office/drawing/2014/main" id="{9CB67B06-6563-8110-7DAA-A13E09D2796E}"/>
                </a:ext>
              </a:extLst>
            </p:cNvPr>
            <p:cNvSpPr>
              <a:spLocks noChangeArrowheads="1"/>
            </p:cNvSpPr>
            <p:nvPr/>
          </p:nvSpPr>
          <p:spPr bwMode="auto">
            <a:xfrm>
              <a:off x="1814"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39960" name="Rectangle 23">
              <a:extLst>
                <a:ext uri="{FF2B5EF4-FFF2-40B4-BE49-F238E27FC236}">
                  <a16:creationId xmlns:a16="http://schemas.microsoft.com/office/drawing/2014/main" id="{752D16A4-7BDA-9305-DC09-D055C558061D}"/>
                </a:ext>
              </a:extLst>
            </p:cNvPr>
            <p:cNvSpPr>
              <a:spLocks noChangeArrowheads="1"/>
            </p:cNvSpPr>
            <p:nvPr/>
          </p:nvSpPr>
          <p:spPr bwMode="auto">
            <a:xfrm>
              <a:off x="3302"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5</a:t>
              </a:r>
            </a:p>
          </p:txBody>
        </p:sp>
        <p:sp>
          <p:nvSpPr>
            <p:cNvPr id="39961" name="Rectangle 24">
              <a:extLst>
                <a:ext uri="{FF2B5EF4-FFF2-40B4-BE49-F238E27FC236}">
                  <a16:creationId xmlns:a16="http://schemas.microsoft.com/office/drawing/2014/main" id="{339DE65C-012C-CCB0-75C8-752D129DA7BB}"/>
                </a:ext>
              </a:extLst>
            </p:cNvPr>
            <p:cNvSpPr>
              <a:spLocks noChangeArrowheads="1"/>
            </p:cNvSpPr>
            <p:nvPr/>
          </p:nvSpPr>
          <p:spPr bwMode="auto">
            <a:xfrm>
              <a:off x="1334" y="15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39962" name="Rectangle 25">
              <a:extLst>
                <a:ext uri="{FF2B5EF4-FFF2-40B4-BE49-F238E27FC236}">
                  <a16:creationId xmlns:a16="http://schemas.microsoft.com/office/drawing/2014/main" id="{79F9025B-9419-F524-5F1A-9A89335E376D}"/>
                </a:ext>
              </a:extLst>
            </p:cNvPr>
            <p:cNvSpPr>
              <a:spLocks noChangeArrowheads="1"/>
            </p:cNvSpPr>
            <p:nvPr/>
          </p:nvSpPr>
          <p:spPr bwMode="auto">
            <a:xfrm>
              <a:off x="4118" y="155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3</a:t>
              </a:r>
            </a:p>
          </p:txBody>
        </p:sp>
        <p:sp>
          <p:nvSpPr>
            <p:cNvPr id="39963" name="Oval 26">
              <a:extLst>
                <a:ext uri="{FF2B5EF4-FFF2-40B4-BE49-F238E27FC236}">
                  <a16:creationId xmlns:a16="http://schemas.microsoft.com/office/drawing/2014/main" id="{7EE52B54-91FF-3EFD-E590-01AA47F7E189}"/>
                </a:ext>
              </a:extLst>
            </p:cNvPr>
            <p:cNvSpPr>
              <a:spLocks noChangeArrowheads="1"/>
            </p:cNvSpPr>
            <p:nvPr/>
          </p:nvSpPr>
          <p:spPr bwMode="auto">
            <a:xfrm>
              <a:off x="4804" y="20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39964" name="Rectangle 27">
              <a:extLst>
                <a:ext uri="{FF2B5EF4-FFF2-40B4-BE49-F238E27FC236}">
                  <a16:creationId xmlns:a16="http://schemas.microsoft.com/office/drawing/2014/main" id="{7BE74216-07EC-0DAA-9000-B630C7398102}"/>
                </a:ext>
              </a:extLst>
            </p:cNvPr>
            <p:cNvSpPr>
              <a:spLocks noChangeArrowheads="1"/>
            </p:cNvSpPr>
            <p:nvPr/>
          </p:nvSpPr>
          <p:spPr bwMode="auto">
            <a:xfrm>
              <a:off x="4838"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9965" name="Line 28">
              <a:extLst>
                <a:ext uri="{FF2B5EF4-FFF2-40B4-BE49-F238E27FC236}">
                  <a16:creationId xmlns:a16="http://schemas.microsoft.com/office/drawing/2014/main" id="{49FCFAC1-1502-5678-A610-8E067EEEC9B6}"/>
                </a:ext>
              </a:extLst>
            </p:cNvPr>
            <p:cNvSpPr>
              <a:spLocks noChangeShapeType="1"/>
            </p:cNvSpPr>
            <p:nvPr/>
          </p:nvSpPr>
          <p:spPr bwMode="auto">
            <a:xfrm>
              <a:off x="4272" y="1776"/>
              <a:ext cx="624"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sp>
        <p:nvSpPr>
          <p:cNvPr id="379933" name="Rectangle 29">
            <a:extLst>
              <a:ext uri="{FF2B5EF4-FFF2-40B4-BE49-F238E27FC236}">
                <a16:creationId xmlns:a16="http://schemas.microsoft.com/office/drawing/2014/main" id="{3001C6F5-913D-2B4A-7A03-EDBE1B08ED4D}"/>
              </a:ext>
            </a:extLst>
          </p:cNvPr>
          <p:cNvSpPr>
            <a:spLocks noChangeArrowheads="1"/>
          </p:cNvSpPr>
          <p:nvPr/>
        </p:nvSpPr>
        <p:spPr bwMode="auto">
          <a:xfrm>
            <a:off x="682247" y="4057651"/>
            <a:ext cx="7864787" cy="377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000" dirty="0"/>
              <a:t>Traverse only the rightmost paths so as to get logarithmic performance.</a:t>
            </a:r>
          </a:p>
        </p:txBody>
      </p:sp>
      <p:pic>
        <p:nvPicPr>
          <p:cNvPr id="3" name="Picture 2">
            <a:extLst>
              <a:ext uri="{FF2B5EF4-FFF2-40B4-BE49-F238E27FC236}">
                <a16:creationId xmlns:a16="http://schemas.microsoft.com/office/drawing/2014/main" id="{D238F1E0-0BDE-36D9-6362-C222F97C0A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6C11C995-116A-9382-3866-BF1CF7599D5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3799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3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A404974-1802-6239-4325-AC7AD5359B43}"/>
              </a:ext>
            </a:extLst>
          </p:cNvPr>
          <p:cNvSpPr>
            <a:spLocks noGrp="1" noChangeArrowheads="1"/>
          </p:cNvSpPr>
          <p:nvPr>
            <p:ph type="ctrTitle"/>
          </p:nvPr>
        </p:nvSpPr>
        <p:spPr>
          <a:xfrm>
            <a:off x="1200150" y="171450"/>
            <a:ext cx="6686550" cy="857250"/>
          </a:xfrm>
          <a:noFill/>
        </p:spPr>
        <p:txBody>
          <a:bodyPr/>
          <a:lstStyle/>
          <a:p>
            <a:r>
              <a:rPr lang="en-US" altLang="en-US">
                <a:latin typeface="Times New Roman" panose="02020603050405020304" pitchFamily="18" charset="0"/>
                <a:cs typeface="Times New Roman" panose="02020603050405020304" pitchFamily="18" charset="0"/>
              </a:rPr>
              <a:t>Meld Two Min Leftist Trees</a:t>
            </a:r>
          </a:p>
        </p:txBody>
      </p:sp>
      <p:sp>
        <p:nvSpPr>
          <p:cNvPr id="41987" name="Oval 3">
            <a:extLst>
              <a:ext uri="{FF2B5EF4-FFF2-40B4-BE49-F238E27FC236}">
                <a16:creationId xmlns:a16="http://schemas.microsoft.com/office/drawing/2014/main" id="{428C5B89-5838-6EF6-F3BC-004B34205A70}"/>
              </a:ext>
            </a:extLst>
          </p:cNvPr>
          <p:cNvSpPr>
            <a:spLocks noChangeArrowheads="1"/>
          </p:cNvSpPr>
          <p:nvPr/>
        </p:nvSpPr>
        <p:spPr bwMode="auto">
          <a:xfrm>
            <a:off x="2690813" y="976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88" name="Oval 4">
            <a:extLst>
              <a:ext uri="{FF2B5EF4-FFF2-40B4-BE49-F238E27FC236}">
                <a16:creationId xmlns:a16="http://schemas.microsoft.com/office/drawing/2014/main" id="{E139D6D6-1320-4C5B-0680-6134B9AE9D5A}"/>
              </a:ext>
            </a:extLst>
          </p:cNvPr>
          <p:cNvSpPr>
            <a:spLocks noChangeArrowheads="1"/>
          </p:cNvSpPr>
          <p:nvPr/>
        </p:nvSpPr>
        <p:spPr bwMode="auto">
          <a:xfrm>
            <a:off x="5948363" y="9763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89" name="Oval 5">
            <a:extLst>
              <a:ext uri="{FF2B5EF4-FFF2-40B4-BE49-F238E27FC236}">
                <a16:creationId xmlns:a16="http://schemas.microsoft.com/office/drawing/2014/main" id="{9C72E756-5064-E3CC-A038-D744425BEF25}"/>
              </a:ext>
            </a:extLst>
          </p:cNvPr>
          <p:cNvSpPr>
            <a:spLocks noChangeArrowheads="1"/>
          </p:cNvSpPr>
          <p:nvPr/>
        </p:nvSpPr>
        <p:spPr bwMode="auto">
          <a:xfrm>
            <a:off x="1947863" y="16049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90" name="Oval 6">
            <a:extLst>
              <a:ext uri="{FF2B5EF4-FFF2-40B4-BE49-F238E27FC236}">
                <a16:creationId xmlns:a16="http://schemas.microsoft.com/office/drawing/2014/main" id="{C7384051-0202-75C3-4ED6-809EBB2AE584}"/>
              </a:ext>
            </a:extLst>
          </p:cNvPr>
          <p:cNvSpPr>
            <a:spLocks noChangeArrowheads="1"/>
          </p:cNvSpPr>
          <p:nvPr/>
        </p:nvSpPr>
        <p:spPr bwMode="auto">
          <a:xfrm>
            <a:off x="3262313" y="16049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91" name="Oval 7">
            <a:extLst>
              <a:ext uri="{FF2B5EF4-FFF2-40B4-BE49-F238E27FC236}">
                <a16:creationId xmlns:a16="http://schemas.microsoft.com/office/drawing/2014/main" id="{3FE1B014-CBF3-A33F-6028-6EF6FD29B65F}"/>
              </a:ext>
            </a:extLst>
          </p:cNvPr>
          <p:cNvSpPr>
            <a:spLocks noChangeArrowheads="1"/>
          </p:cNvSpPr>
          <p:nvPr/>
        </p:nvSpPr>
        <p:spPr bwMode="auto">
          <a:xfrm>
            <a:off x="5033963" y="16049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92" name="Oval 8">
            <a:extLst>
              <a:ext uri="{FF2B5EF4-FFF2-40B4-BE49-F238E27FC236}">
                <a16:creationId xmlns:a16="http://schemas.microsoft.com/office/drawing/2014/main" id="{964C093E-30E6-B9F4-4726-C5D11F11209A}"/>
              </a:ext>
            </a:extLst>
          </p:cNvPr>
          <p:cNvSpPr>
            <a:spLocks noChangeArrowheads="1"/>
          </p:cNvSpPr>
          <p:nvPr/>
        </p:nvSpPr>
        <p:spPr bwMode="auto">
          <a:xfrm>
            <a:off x="1490663" y="24050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93" name="Oval 9">
            <a:extLst>
              <a:ext uri="{FF2B5EF4-FFF2-40B4-BE49-F238E27FC236}">
                <a16:creationId xmlns:a16="http://schemas.microsoft.com/office/drawing/2014/main" id="{6967EA0E-3E19-0838-DB32-50992F1F0F9B}"/>
              </a:ext>
            </a:extLst>
          </p:cNvPr>
          <p:cNvSpPr>
            <a:spLocks noChangeArrowheads="1"/>
          </p:cNvSpPr>
          <p:nvPr/>
        </p:nvSpPr>
        <p:spPr bwMode="auto">
          <a:xfrm>
            <a:off x="2347913" y="24050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1994" name="Line 10">
            <a:extLst>
              <a:ext uri="{FF2B5EF4-FFF2-40B4-BE49-F238E27FC236}">
                <a16:creationId xmlns:a16="http://schemas.microsoft.com/office/drawing/2014/main" id="{DADDF0F9-4AF6-E620-CB9F-8AC1A9A2075E}"/>
              </a:ext>
            </a:extLst>
          </p:cNvPr>
          <p:cNvSpPr>
            <a:spLocks noChangeShapeType="1"/>
          </p:cNvSpPr>
          <p:nvPr/>
        </p:nvSpPr>
        <p:spPr bwMode="auto">
          <a:xfrm flipH="1">
            <a:off x="2171700" y="125730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1995" name="Line 11">
            <a:extLst>
              <a:ext uri="{FF2B5EF4-FFF2-40B4-BE49-F238E27FC236}">
                <a16:creationId xmlns:a16="http://schemas.microsoft.com/office/drawing/2014/main" id="{93599CEB-EC15-0C4A-25CA-1EF9E5899C88}"/>
              </a:ext>
            </a:extLst>
          </p:cNvPr>
          <p:cNvSpPr>
            <a:spLocks noChangeShapeType="1"/>
          </p:cNvSpPr>
          <p:nvPr/>
        </p:nvSpPr>
        <p:spPr bwMode="auto">
          <a:xfrm>
            <a:off x="2971800" y="125730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1996" name="Line 12">
            <a:extLst>
              <a:ext uri="{FF2B5EF4-FFF2-40B4-BE49-F238E27FC236}">
                <a16:creationId xmlns:a16="http://schemas.microsoft.com/office/drawing/2014/main" id="{4C6996AD-A3A7-3B56-9857-59BE2BA7E046}"/>
              </a:ext>
            </a:extLst>
          </p:cNvPr>
          <p:cNvSpPr>
            <a:spLocks noChangeShapeType="1"/>
          </p:cNvSpPr>
          <p:nvPr/>
        </p:nvSpPr>
        <p:spPr bwMode="auto">
          <a:xfrm flipH="1">
            <a:off x="5314950" y="131445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1997" name="Line 13">
            <a:extLst>
              <a:ext uri="{FF2B5EF4-FFF2-40B4-BE49-F238E27FC236}">
                <a16:creationId xmlns:a16="http://schemas.microsoft.com/office/drawing/2014/main" id="{53441B2A-9E8D-D76C-62F3-CD968B854817}"/>
              </a:ext>
            </a:extLst>
          </p:cNvPr>
          <p:cNvSpPr>
            <a:spLocks noChangeShapeType="1"/>
          </p:cNvSpPr>
          <p:nvPr/>
        </p:nvSpPr>
        <p:spPr bwMode="auto">
          <a:xfrm flipH="1">
            <a:off x="1714500" y="188595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1998" name="Line 14">
            <a:extLst>
              <a:ext uri="{FF2B5EF4-FFF2-40B4-BE49-F238E27FC236}">
                <a16:creationId xmlns:a16="http://schemas.microsoft.com/office/drawing/2014/main" id="{41709DE6-22C9-FFF5-3B7F-5A524C90D5E0}"/>
              </a:ext>
            </a:extLst>
          </p:cNvPr>
          <p:cNvSpPr>
            <a:spLocks noChangeShapeType="1"/>
          </p:cNvSpPr>
          <p:nvPr/>
        </p:nvSpPr>
        <p:spPr bwMode="auto">
          <a:xfrm>
            <a:off x="2228850" y="188595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1999" name="Oval 15">
            <a:extLst>
              <a:ext uri="{FF2B5EF4-FFF2-40B4-BE49-F238E27FC236}">
                <a16:creationId xmlns:a16="http://schemas.microsoft.com/office/drawing/2014/main" id="{73DF7788-1496-2E4C-1416-8887AC1F60EC}"/>
              </a:ext>
            </a:extLst>
          </p:cNvPr>
          <p:cNvSpPr>
            <a:spLocks noChangeArrowheads="1"/>
          </p:cNvSpPr>
          <p:nvPr/>
        </p:nvSpPr>
        <p:spPr bwMode="auto">
          <a:xfrm>
            <a:off x="4633913" y="23479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2000" name="Line 16">
            <a:extLst>
              <a:ext uri="{FF2B5EF4-FFF2-40B4-BE49-F238E27FC236}">
                <a16:creationId xmlns:a16="http://schemas.microsoft.com/office/drawing/2014/main" id="{F59E3E24-0BE4-4F58-9783-F37DB86B9C3C}"/>
              </a:ext>
            </a:extLst>
          </p:cNvPr>
          <p:cNvSpPr>
            <a:spLocks noChangeShapeType="1"/>
          </p:cNvSpPr>
          <p:nvPr/>
        </p:nvSpPr>
        <p:spPr bwMode="auto">
          <a:xfrm flipH="1">
            <a:off x="4857750" y="194310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42001" name="Rectangle 17">
            <a:extLst>
              <a:ext uri="{FF2B5EF4-FFF2-40B4-BE49-F238E27FC236}">
                <a16:creationId xmlns:a16="http://schemas.microsoft.com/office/drawing/2014/main" id="{21BAF71C-EB30-7C36-BD7D-56E0952A213B}"/>
              </a:ext>
            </a:extLst>
          </p:cNvPr>
          <p:cNvSpPr>
            <a:spLocks noChangeArrowheads="1"/>
          </p:cNvSpPr>
          <p:nvPr/>
        </p:nvSpPr>
        <p:spPr bwMode="auto">
          <a:xfrm>
            <a:off x="1531144" y="24229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8</a:t>
            </a:r>
          </a:p>
        </p:txBody>
      </p:sp>
      <p:sp>
        <p:nvSpPr>
          <p:cNvPr id="42002" name="Rectangle 18">
            <a:extLst>
              <a:ext uri="{FF2B5EF4-FFF2-40B4-BE49-F238E27FC236}">
                <a16:creationId xmlns:a16="http://schemas.microsoft.com/office/drawing/2014/main" id="{A772E32B-0459-7C50-7C8E-0DA5CCB0B9B8}"/>
              </a:ext>
            </a:extLst>
          </p:cNvPr>
          <p:cNvSpPr>
            <a:spLocks noChangeArrowheads="1"/>
          </p:cNvSpPr>
          <p:nvPr/>
        </p:nvSpPr>
        <p:spPr bwMode="auto">
          <a:xfrm>
            <a:off x="2388394" y="24229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6</a:t>
            </a:r>
          </a:p>
        </p:txBody>
      </p:sp>
      <p:sp>
        <p:nvSpPr>
          <p:cNvPr id="42003" name="Rectangle 19">
            <a:extLst>
              <a:ext uri="{FF2B5EF4-FFF2-40B4-BE49-F238E27FC236}">
                <a16:creationId xmlns:a16="http://schemas.microsoft.com/office/drawing/2014/main" id="{2AD6B793-8AEE-0649-BAA7-FFE9AA4475CA}"/>
              </a:ext>
            </a:extLst>
          </p:cNvPr>
          <p:cNvSpPr>
            <a:spLocks noChangeArrowheads="1"/>
          </p:cNvSpPr>
          <p:nvPr/>
        </p:nvSpPr>
        <p:spPr bwMode="auto">
          <a:xfrm>
            <a:off x="4674394" y="23657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9</a:t>
            </a:r>
          </a:p>
        </p:txBody>
      </p:sp>
      <p:sp>
        <p:nvSpPr>
          <p:cNvPr id="42004" name="Rectangle 20">
            <a:extLst>
              <a:ext uri="{FF2B5EF4-FFF2-40B4-BE49-F238E27FC236}">
                <a16:creationId xmlns:a16="http://schemas.microsoft.com/office/drawing/2014/main" id="{559F4097-B8BF-AEF6-449E-6297DBF55342}"/>
              </a:ext>
            </a:extLst>
          </p:cNvPr>
          <p:cNvSpPr>
            <a:spLocks noChangeArrowheads="1"/>
          </p:cNvSpPr>
          <p:nvPr/>
        </p:nvSpPr>
        <p:spPr bwMode="auto">
          <a:xfrm>
            <a:off x="1988344" y="1622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6</a:t>
            </a:r>
          </a:p>
        </p:txBody>
      </p:sp>
      <p:sp>
        <p:nvSpPr>
          <p:cNvPr id="42005" name="Rectangle 21">
            <a:extLst>
              <a:ext uri="{FF2B5EF4-FFF2-40B4-BE49-F238E27FC236}">
                <a16:creationId xmlns:a16="http://schemas.microsoft.com/office/drawing/2014/main" id="{558C3476-0DE3-BC42-EA9E-2056F8CE1D02}"/>
              </a:ext>
            </a:extLst>
          </p:cNvPr>
          <p:cNvSpPr>
            <a:spLocks noChangeArrowheads="1"/>
          </p:cNvSpPr>
          <p:nvPr/>
        </p:nvSpPr>
        <p:spPr bwMode="auto">
          <a:xfrm>
            <a:off x="3302794" y="1622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8</a:t>
            </a:r>
          </a:p>
        </p:txBody>
      </p:sp>
      <p:sp>
        <p:nvSpPr>
          <p:cNvPr id="42006" name="Rectangle 22">
            <a:extLst>
              <a:ext uri="{FF2B5EF4-FFF2-40B4-BE49-F238E27FC236}">
                <a16:creationId xmlns:a16="http://schemas.microsoft.com/office/drawing/2014/main" id="{4E453526-FC91-63A2-A6ED-866CD82B1B99}"/>
              </a:ext>
            </a:extLst>
          </p:cNvPr>
          <p:cNvSpPr>
            <a:spLocks noChangeArrowheads="1"/>
          </p:cNvSpPr>
          <p:nvPr/>
        </p:nvSpPr>
        <p:spPr bwMode="auto">
          <a:xfrm>
            <a:off x="5074444" y="1622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5</a:t>
            </a:r>
          </a:p>
        </p:txBody>
      </p:sp>
      <p:sp>
        <p:nvSpPr>
          <p:cNvPr id="42007" name="Rectangle 23">
            <a:extLst>
              <a:ext uri="{FF2B5EF4-FFF2-40B4-BE49-F238E27FC236}">
                <a16:creationId xmlns:a16="http://schemas.microsoft.com/office/drawing/2014/main" id="{512150EF-101C-E63C-0199-314179FC231A}"/>
              </a:ext>
            </a:extLst>
          </p:cNvPr>
          <p:cNvSpPr>
            <a:spLocks noChangeArrowheads="1"/>
          </p:cNvSpPr>
          <p:nvPr/>
        </p:nvSpPr>
        <p:spPr bwMode="auto">
          <a:xfrm>
            <a:off x="2731294" y="994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4</a:t>
            </a:r>
          </a:p>
        </p:txBody>
      </p:sp>
      <p:sp>
        <p:nvSpPr>
          <p:cNvPr id="42008" name="Rectangle 24">
            <a:extLst>
              <a:ext uri="{FF2B5EF4-FFF2-40B4-BE49-F238E27FC236}">
                <a16:creationId xmlns:a16="http://schemas.microsoft.com/office/drawing/2014/main" id="{15DC6587-2BA5-B9E6-AF0A-2BF1C5399C3F}"/>
              </a:ext>
            </a:extLst>
          </p:cNvPr>
          <p:cNvSpPr>
            <a:spLocks noChangeArrowheads="1"/>
          </p:cNvSpPr>
          <p:nvPr/>
        </p:nvSpPr>
        <p:spPr bwMode="auto">
          <a:xfrm>
            <a:off x="6045994" y="9941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3</a:t>
            </a:r>
          </a:p>
        </p:txBody>
      </p:sp>
      <p:sp>
        <p:nvSpPr>
          <p:cNvPr id="42009" name="Oval 25">
            <a:extLst>
              <a:ext uri="{FF2B5EF4-FFF2-40B4-BE49-F238E27FC236}">
                <a16:creationId xmlns:a16="http://schemas.microsoft.com/office/drawing/2014/main" id="{77F09C19-50A7-C753-C674-863C1590923C}"/>
              </a:ext>
            </a:extLst>
          </p:cNvPr>
          <p:cNvSpPr>
            <a:spLocks noChangeArrowheads="1"/>
          </p:cNvSpPr>
          <p:nvPr/>
        </p:nvSpPr>
        <p:spPr bwMode="auto">
          <a:xfrm>
            <a:off x="6862763" y="16049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cs typeface="Times New Roman" panose="02020603050405020304" pitchFamily="18" charset="0"/>
            </a:endParaRPr>
          </a:p>
        </p:txBody>
      </p:sp>
      <p:sp>
        <p:nvSpPr>
          <p:cNvPr id="42010" name="Rectangle 26">
            <a:extLst>
              <a:ext uri="{FF2B5EF4-FFF2-40B4-BE49-F238E27FC236}">
                <a16:creationId xmlns:a16="http://schemas.microsoft.com/office/drawing/2014/main" id="{0177F0FD-714B-19D0-208A-8C2BBF0F0EE7}"/>
              </a:ext>
            </a:extLst>
          </p:cNvPr>
          <p:cNvSpPr>
            <a:spLocks noChangeArrowheads="1"/>
          </p:cNvSpPr>
          <p:nvPr/>
        </p:nvSpPr>
        <p:spPr bwMode="auto">
          <a:xfrm>
            <a:off x="6903244" y="1622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cs typeface="Times New Roman" panose="02020603050405020304" pitchFamily="18" charset="0"/>
              </a:rPr>
              <a:t>6</a:t>
            </a:r>
          </a:p>
        </p:txBody>
      </p:sp>
      <p:sp>
        <p:nvSpPr>
          <p:cNvPr id="42011" name="Line 27">
            <a:extLst>
              <a:ext uri="{FF2B5EF4-FFF2-40B4-BE49-F238E27FC236}">
                <a16:creationId xmlns:a16="http://schemas.microsoft.com/office/drawing/2014/main" id="{3B975B47-1A9E-DBE6-B4F3-A86BC7FF4E38}"/>
              </a:ext>
            </a:extLst>
          </p:cNvPr>
          <p:cNvSpPr>
            <a:spLocks noChangeShapeType="1"/>
          </p:cNvSpPr>
          <p:nvPr/>
        </p:nvSpPr>
        <p:spPr bwMode="auto">
          <a:xfrm>
            <a:off x="6229350" y="1257300"/>
            <a:ext cx="7429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latin typeface="Times New Roman" panose="02020603050405020304" pitchFamily="18" charset="0"/>
              <a:cs typeface="Times New Roman" panose="02020603050405020304" pitchFamily="18" charset="0"/>
            </a:endParaRPr>
          </a:p>
        </p:txBody>
      </p:sp>
      <p:sp>
        <p:nvSpPr>
          <p:cNvPr id="381980" name="Rectangle 28">
            <a:extLst>
              <a:ext uri="{FF2B5EF4-FFF2-40B4-BE49-F238E27FC236}">
                <a16:creationId xmlns:a16="http://schemas.microsoft.com/office/drawing/2014/main" id="{9566495C-1DF1-42A0-E845-0E6EAA352EC9}"/>
              </a:ext>
            </a:extLst>
          </p:cNvPr>
          <p:cNvSpPr>
            <a:spLocks noChangeArrowheads="1"/>
          </p:cNvSpPr>
          <p:nvPr/>
        </p:nvSpPr>
        <p:spPr bwMode="auto">
          <a:xfrm>
            <a:off x="606441" y="2869407"/>
            <a:ext cx="7931117" cy="130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000" dirty="0">
                <a:cs typeface="Times New Roman" panose="02020603050405020304" pitchFamily="18" charset="0"/>
              </a:rPr>
              <a:t>Meld right subtree of tree with smaller root and all of other tree.</a:t>
            </a:r>
          </a:p>
          <a:p>
            <a:pPr>
              <a:spcBef>
                <a:spcPct val="50000"/>
              </a:spcBef>
              <a:buClrTx/>
              <a:buFontTx/>
              <a:buNone/>
            </a:pPr>
            <a:r>
              <a:rPr lang="en-US" altLang="en-US" sz="2000" dirty="0">
                <a:cs typeface="Times New Roman" panose="02020603050405020304" pitchFamily="18" charset="0"/>
              </a:rPr>
              <a:t>Make the result the new right subtree of the smaller root.</a:t>
            </a:r>
          </a:p>
          <a:p>
            <a:pPr>
              <a:spcBef>
                <a:spcPct val="50000"/>
              </a:spcBef>
              <a:buClrTx/>
              <a:buFontTx/>
              <a:buNone/>
            </a:pPr>
            <a:r>
              <a:rPr lang="en-US" altLang="en-US" sz="2000" dirty="0">
                <a:cs typeface="Times New Roman" panose="02020603050405020304" pitchFamily="18" charset="0"/>
              </a:rPr>
              <a:t>Swap left and right subtrees if needed.</a:t>
            </a:r>
          </a:p>
        </p:txBody>
      </p:sp>
      <p:pic>
        <p:nvPicPr>
          <p:cNvPr id="2" name="Picture 1">
            <a:extLst>
              <a:ext uri="{FF2B5EF4-FFF2-40B4-BE49-F238E27FC236}">
                <a16:creationId xmlns:a16="http://schemas.microsoft.com/office/drawing/2014/main" id="{2760AEA5-BB06-9871-AA9E-B937636BC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770C9DE-84D4-43A6-DAA7-710607FE7FF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19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819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8198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80"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62E1A29-9BF0-2914-5898-631D265CD0EB}"/>
              </a:ext>
            </a:extLst>
          </p:cNvPr>
          <p:cNvSpPr>
            <a:spLocks noGrp="1" noChangeArrowheads="1"/>
          </p:cNvSpPr>
          <p:nvPr>
            <p:ph type="ctrTitle"/>
          </p:nvPr>
        </p:nvSpPr>
        <p:spPr>
          <a:xfrm>
            <a:off x="1200150" y="171450"/>
            <a:ext cx="6686550" cy="857250"/>
          </a:xfrm>
          <a:noFill/>
        </p:spPr>
        <p:txBody>
          <a:bodyPr/>
          <a:lstStyle/>
          <a:p>
            <a:r>
              <a:rPr lang="en-US" altLang="en-US"/>
              <a:t>Meld Two Min Leftist Trees</a:t>
            </a:r>
          </a:p>
        </p:txBody>
      </p:sp>
      <p:sp>
        <p:nvSpPr>
          <p:cNvPr id="44035" name="Oval 3">
            <a:extLst>
              <a:ext uri="{FF2B5EF4-FFF2-40B4-BE49-F238E27FC236}">
                <a16:creationId xmlns:a16="http://schemas.microsoft.com/office/drawing/2014/main" id="{116B6D5D-9B36-E113-6B78-B604E4E62047}"/>
              </a:ext>
            </a:extLst>
          </p:cNvPr>
          <p:cNvSpPr>
            <a:spLocks noChangeArrowheads="1"/>
          </p:cNvSpPr>
          <p:nvPr/>
        </p:nvSpPr>
        <p:spPr bwMode="auto">
          <a:xfrm>
            <a:off x="2690813" y="114776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36" name="Oval 4">
            <a:extLst>
              <a:ext uri="{FF2B5EF4-FFF2-40B4-BE49-F238E27FC236}">
                <a16:creationId xmlns:a16="http://schemas.microsoft.com/office/drawing/2014/main" id="{58DC2FD3-6A52-FCD2-F35A-448E29776A72}"/>
              </a:ext>
            </a:extLst>
          </p:cNvPr>
          <p:cNvSpPr>
            <a:spLocks noChangeArrowheads="1"/>
          </p:cNvSpPr>
          <p:nvPr/>
        </p:nvSpPr>
        <p:spPr bwMode="auto">
          <a:xfrm>
            <a:off x="5948363" y="11477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37" name="Oval 5">
            <a:extLst>
              <a:ext uri="{FF2B5EF4-FFF2-40B4-BE49-F238E27FC236}">
                <a16:creationId xmlns:a16="http://schemas.microsoft.com/office/drawing/2014/main" id="{1B0F0F9D-341E-2ED6-A76E-BDFC8E082C29}"/>
              </a:ext>
            </a:extLst>
          </p:cNvPr>
          <p:cNvSpPr>
            <a:spLocks noChangeArrowheads="1"/>
          </p:cNvSpPr>
          <p:nvPr/>
        </p:nvSpPr>
        <p:spPr bwMode="auto">
          <a:xfrm>
            <a:off x="1947863" y="17764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38" name="Oval 6">
            <a:extLst>
              <a:ext uri="{FF2B5EF4-FFF2-40B4-BE49-F238E27FC236}">
                <a16:creationId xmlns:a16="http://schemas.microsoft.com/office/drawing/2014/main" id="{A2F07B7A-F768-F56F-CF05-37AD9CDA72E2}"/>
              </a:ext>
            </a:extLst>
          </p:cNvPr>
          <p:cNvSpPr>
            <a:spLocks noChangeArrowheads="1"/>
          </p:cNvSpPr>
          <p:nvPr/>
        </p:nvSpPr>
        <p:spPr bwMode="auto">
          <a:xfrm>
            <a:off x="3262313" y="17764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39" name="Oval 7">
            <a:extLst>
              <a:ext uri="{FF2B5EF4-FFF2-40B4-BE49-F238E27FC236}">
                <a16:creationId xmlns:a16="http://schemas.microsoft.com/office/drawing/2014/main" id="{297120DE-D5B1-C09D-BD7A-EBEDBF0A3C41}"/>
              </a:ext>
            </a:extLst>
          </p:cNvPr>
          <p:cNvSpPr>
            <a:spLocks noChangeArrowheads="1"/>
          </p:cNvSpPr>
          <p:nvPr/>
        </p:nvSpPr>
        <p:spPr bwMode="auto">
          <a:xfrm>
            <a:off x="5033963" y="17764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40" name="Oval 8">
            <a:extLst>
              <a:ext uri="{FF2B5EF4-FFF2-40B4-BE49-F238E27FC236}">
                <a16:creationId xmlns:a16="http://schemas.microsoft.com/office/drawing/2014/main" id="{51BB564B-5607-D9BB-C7BF-A8D0B2AA4C3B}"/>
              </a:ext>
            </a:extLst>
          </p:cNvPr>
          <p:cNvSpPr>
            <a:spLocks noChangeArrowheads="1"/>
          </p:cNvSpPr>
          <p:nvPr/>
        </p:nvSpPr>
        <p:spPr bwMode="auto">
          <a:xfrm>
            <a:off x="1490663" y="25765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41" name="Oval 9">
            <a:extLst>
              <a:ext uri="{FF2B5EF4-FFF2-40B4-BE49-F238E27FC236}">
                <a16:creationId xmlns:a16="http://schemas.microsoft.com/office/drawing/2014/main" id="{FB649CED-AF23-8413-ED1F-A8B67D01521A}"/>
              </a:ext>
            </a:extLst>
          </p:cNvPr>
          <p:cNvSpPr>
            <a:spLocks noChangeArrowheads="1"/>
          </p:cNvSpPr>
          <p:nvPr/>
        </p:nvSpPr>
        <p:spPr bwMode="auto">
          <a:xfrm>
            <a:off x="2347913" y="25765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42" name="Line 10">
            <a:extLst>
              <a:ext uri="{FF2B5EF4-FFF2-40B4-BE49-F238E27FC236}">
                <a16:creationId xmlns:a16="http://schemas.microsoft.com/office/drawing/2014/main" id="{CF766DE5-4C1C-43B2-4A55-A221462E5EEF}"/>
              </a:ext>
            </a:extLst>
          </p:cNvPr>
          <p:cNvSpPr>
            <a:spLocks noChangeShapeType="1"/>
          </p:cNvSpPr>
          <p:nvPr/>
        </p:nvSpPr>
        <p:spPr bwMode="auto">
          <a:xfrm flipH="1">
            <a:off x="2171700" y="14287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3" name="Line 11">
            <a:extLst>
              <a:ext uri="{FF2B5EF4-FFF2-40B4-BE49-F238E27FC236}">
                <a16:creationId xmlns:a16="http://schemas.microsoft.com/office/drawing/2014/main" id="{E5E5D454-F0D6-56B4-B5CA-DABA4C497D6D}"/>
              </a:ext>
            </a:extLst>
          </p:cNvPr>
          <p:cNvSpPr>
            <a:spLocks noChangeShapeType="1"/>
          </p:cNvSpPr>
          <p:nvPr/>
        </p:nvSpPr>
        <p:spPr bwMode="auto">
          <a:xfrm>
            <a:off x="2971800" y="14287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4" name="Line 12">
            <a:extLst>
              <a:ext uri="{FF2B5EF4-FFF2-40B4-BE49-F238E27FC236}">
                <a16:creationId xmlns:a16="http://schemas.microsoft.com/office/drawing/2014/main" id="{D804048C-C87C-0505-7186-C0D228F0881C}"/>
              </a:ext>
            </a:extLst>
          </p:cNvPr>
          <p:cNvSpPr>
            <a:spLocks noChangeShapeType="1"/>
          </p:cNvSpPr>
          <p:nvPr/>
        </p:nvSpPr>
        <p:spPr bwMode="auto">
          <a:xfrm flipH="1">
            <a:off x="5314950" y="14859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5" name="Line 13">
            <a:extLst>
              <a:ext uri="{FF2B5EF4-FFF2-40B4-BE49-F238E27FC236}">
                <a16:creationId xmlns:a16="http://schemas.microsoft.com/office/drawing/2014/main" id="{A963A6D5-177D-7E5E-1CD8-11FD5B13C4FB}"/>
              </a:ext>
            </a:extLst>
          </p:cNvPr>
          <p:cNvSpPr>
            <a:spLocks noChangeShapeType="1"/>
          </p:cNvSpPr>
          <p:nvPr/>
        </p:nvSpPr>
        <p:spPr bwMode="auto">
          <a:xfrm flipH="1">
            <a:off x="1714500" y="20574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6" name="Line 14">
            <a:extLst>
              <a:ext uri="{FF2B5EF4-FFF2-40B4-BE49-F238E27FC236}">
                <a16:creationId xmlns:a16="http://schemas.microsoft.com/office/drawing/2014/main" id="{951338ED-A604-0F48-6DBA-DFBA4534D84C}"/>
              </a:ext>
            </a:extLst>
          </p:cNvPr>
          <p:cNvSpPr>
            <a:spLocks noChangeShapeType="1"/>
          </p:cNvSpPr>
          <p:nvPr/>
        </p:nvSpPr>
        <p:spPr bwMode="auto">
          <a:xfrm>
            <a:off x="2228850" y="20574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7" name="Oval 15">
            <a:extLst>
              <a:ext uri="{FF2B5EF4-FFF2-40B4-BE49-F238E27FC236}">
                <a16:creationId xmlns:a16="http://schemas.microsoft.com/office/drawing/2014/main" id="{3353ED01-3AFA-EEBA-59F7-FF6FDB59D5A0}"/>
              </a:ext>
            </a:extLst>
          </p:cNvPr>
          <p:cNvSpPr>
            <a:spLocks noChangeArrowheads="1"/>
          </p:cNvSpPr>
          <p:nvPr/>
        </p:nvSpPr>
        <p:spPr bwMode="auto">
          <a:xfrm>
            <a:off x="4633913" y="25193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48" name="Line 16">
            <a:extLst>
              <a:ext uri="{FF2B5EF4-FFF2-40B4-BE49-F238E27FC236}">
                <a16:creationId xmlns:a16="http://schemas.microsoft.com/office/drawing/2014/main" id="{DB7FBEBA-73E7-BE70-6A79-E350078F242C}"/>
              </a:ext>
            </a:extLst>
          </p:cNvPr>
          <p:cNvSpPr>
            <a:spLocks noChangeShapeType="1"/>
          </p:cNvSpPr>
          <p:nvPr/>
        </p:nvSpPr>
        <p:spPr bwMode="auto">
          <a:xfrm flipH="1">
            <a:off x="4857750" y="211455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4049" name="Rectangle 17">
            <a:extLst>
              <a:ext uri="{FF2B5EF4-FFF2-40B4-BE49-F238E27FC236}">
                <a16:creationId xmlns:a16="http://schemas.microsoft.com/office/drawing/2014/main" id="{0B5593BB-8E66-C1B0-BE87-E190A81B61BF}"/>
              </a:ext>
            </a:extLst>
          </p:cNvPr>
          <p:cNvSpPr>
            <a:spLocks noChangeArrowheads="1"/>
          </p:cNvSpPr>
          <p:nvPr/>
        </p:nvSpPr>
        <p:spPr bwMode="auto">
          <a:xfrm>
            <a:off x="1531144" y="25943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44050" name="Rectangle 18">
            <a:extLst>
              <a:ext uri="{FF2B5EF4-FFF2-40B4-BE49-F238E27FC236}">
                <a16:creationId xmlns:a16="http://schemas.microsoft.com/office/drawing/2014/main" id="{9DF37F77-E8C9-95E7-3C14-0A2F0BE1BF29}"/>
              </a:ext>
            </a:extLst>
          </p:cNvPr>
          <p:cNvSpPr>
            <a:spLocks noChangeArrowheads="1"/>
          </p:cNvSpPr>
          <p:nvPr/>
        </p:nvSpPr>
        <p:spPr bwMode="auto">
          <a:xfrm>
            <a:off x="2388394" y="25943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44051" name="Rectangle 19">
            <a:extLst>
              <a:ext uri="{FF2B5EF4-FFF2-40B4-BE49-F238E27FC236}">
                <a16:creationId xmlns:a16="http://schemas.microsoft.com/office/drawing/2014/main" id="{95F3F59A-7483-48C4-AB62-889862286C59}"/>
              </a:ext>
            </a:extLst>
          </p:cNvPr>
          <p:cNvSpPr>
            <a:spLocks noChangeArrowheads="1"/>
          </p:cNvSpPr>
          <p:nvPr/>
        </p:nvSpPr>
        <p:spPr bwMode="auto">
          <a:xfrm>
            <a:off x="4674394" y="25372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9</a:t>
            </a:r>
          </a:p>
        </p:txBody>
      </p:sp>
      <p:sp>
        <p:nvSpPr>
          <p:cNvPr id="44052" name="Rectangle 20">
            <a:extLst>
              <a:ext uri="{FF2B5EF4-FFF2-40B4-BE49-F238E27FC236}">
                <a16:creationId xmlns:a16="http://schemas.microsoft.com/office/drawing/2014/main" id="{4C98A8AA-FCFD-0630-1BFF-A6DF92016906}"/>
              </a:ext>
            </a:extLst>
          </p:cNvPr>
          <p:cNvSpPr>
            <a:spLocks noChangeArrowheads="1"/>
          </p:cNvSpPr>
          <p:nvPr/>
        </p:nvSpPr>
        <p:spPr bwMode="auto">
          <a:xfrm>
            <a:off x="198834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44053" name="Rectangle 21">
            <a:extLst>
              <a:ext uri="{FF2B5EF4-FFF2-40B4-BE49-F238E27FC236}">
                <a16:creationId xmlns:a16="http://schemas.microsoft.com/office/drawing/2014/main" id="{36215BAA-0A66-3501-DE25-BBB5F3DDDEFA}"/>
              </a:ext>
            </a:extLst>
          </p:cNvPr>
          <p:cNvSpPr>
            <a:spLocks noChangeArrowheads="1"/>
          </p:cNvSpPr>
          <p:nvPr/>
        </p:nvSpPr>
        <p:spPr bwMode="auto">
          <a:xfrm>
            <a:off x="330279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44054" name="Rectangle 22">
            <a:extLst>
              <a:ext uri="{FF2B5EF4-FFF2-40B4-BE49-F238E27FC236}">
                <a16:creationId xmlns:a16="http://schemas.microsoft.com/office/drawing/2014/main" id="{67415701-B7B7-B0CC-810E-A8B50B1C73CB}"/>
              </a:ext>
            </a:extLst>
          </p:cNvPr>
          <p:cNvSpPr>
            <a:spLocks noChangeArrowheads="1"/>
          </p:cNvSpPr>
          <p:nvPr/>
        </p:nvSpPr>
        <p:spPr bwMode="auto">
          <a:xfrm>
            <a:off x="507444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5</a:t>
            </a:r>
          </a:p>
        </p:txBody>
      </p:sp>
      <p:sp>
        <p:nvSpPr>
          <p:cNvPr id="44055" name="Rectangle 23">
            <a:extLst>
              <a:ext uri="{FF2B5EF4-FFF2-40B4-BE49-F238E27FC236}">
                <a16:creationId xmlns:a16="http://schemas.microsoft.com/office/drawing/2014/main" id="{0839B9F5-CDDF-F02C-B33E-2025481E0724}"/>
              </a:ext>
            </a:extLst>
          </p:cNvPr>
          <p:cNvSpPr>
            <a:spLocks noChangeArrowheads="1"/>
          </p:cNvSpPr>
          <p:nvPr/>
        </p:nvSpPr>
        <p:spPr bwMode="auto">
          <a:xfrm>
            <a:off x="2731294" y="11656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44056" name="Rectangle 24">
            <a:extLst>
              <a:ext uri="{FF2B5EF4-FFF2-40B4-BE49-F238E27FC236}">
                <a16:creationId xmlns:a16="http://schemas.microsoft.com/office/drawing/2014/main" id="{CF3438AE-604B-E218-D5A4-A6573DF40527}"/>
              </a:ext>
            </a:extLst>
          </p:cNvPr>
          <p:cNvSpPr>
            <a:spLocks noChangeArrowheads="1"/>
          </p:cNvSpPr>
          <p:nvPr/>
        </p:nvSpPr>
        <p:spPr bwMode="auto">
          <a:xfrm>
            <a:off x="6045994" y="11656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3</a:t>
            </a:r>
          </a:p>
        </p:txBody>
      </p:sp>
      <p:sp>
        <p:nvSpPr>
          <p:cNvPr id="44057" name="Oval 25">
            <a:extLst>
              <a:ext uri="{FF2B5EF4-FFF2-40B4-BE49-F238E27FC236}">
                <a16:creationId xmlns:a16="http://schemas.microsoft.com/office/drawing/2014/main" id="{7F1FD420-BA58-14D3-AC41-6585004B85B0}"/>
              </a:ext>
            </a:extLst>
          </p:cNvPr>
          <p:cNvSpPr>
            <a:spLocks noChangeArrowheads="1"/>
          </p:cNvSpPr>
          <p:nvPr/>
        </p:nvSpPr>
        <p:spPr bwMode="auto">
          <a:xfrm>
            <a:off x="6862763" y="17764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4058" name="Rectangle 26">
            <a:extLst>
              <a:ext uri="{FF2B5EF4-FFF2-40B4-BE49-F238E27FC236}">
                <a16:creationId xmlns:a16="http://schemas.microsoft.com/office/drawing/2014/main" id="{5028D632-2350-8E5A-B4B9-1730E299602A}"/>
              </a:ext>
            </a:extLst>
          </p:cNvPr>
          <p:cNvSpPr>
            <a:spLocks noChangeArrowheads="1"/>
          </p:cNvSpPr>
          <p:nvPr/>
        </p:nvSpPr>
        <p:spPr bwMode="auto">
          <a:xfrm>
            <a:off x="690324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44059" name="Rectangle 27">
            <a:extLst>
              <a:ext uri="{FF2B5EF4-FFF2-40B4-BE49-F238E27FC236}">
                <a16:creationId xmlns:a16="http://schemas.microsoft.com/office/drawing/2014/main" id="{8A87D15C-95FC-C853-896E-1788CD8EFA0A}"/>
              </a:ext>
            </a:extLst>
          </p:cNvPr>
          <p:cNvSpPr>
            <a:spLocks noChangeArrowheads="1"/>
          </p:cNvSpPr>
          <p:nvPr/>
        </p:nvSpPr>
        <p:spPr bwMode="auto">
          <a:xfrm>
            <a:off x="1314450" y="3257550"/>
            <a:ext cx="7085712" cy="377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000" dirty="0"/>
              <a:t>Meld right subtree of tree with smaller root and all of other tree.</a:t>
            </a:r>
          </a:p>
        </p:txBody>
      </p:sp>
      <p:pic>
        <p:nvPicPr>
          <p:cNvPr id="2" name="Picture 1">
            <a:extLst>
              <a:ext uri="{FF2B5EF4-FFF2-40B4-BE49-F238E27FC236}">
                <a16:creationId xmlns:a16="http://schemas.microsoft.com/office/drawing/2014/main" id="{EAD2C9EA-C3CF-D2BE-285F-489572C9F2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55A3C11-B4E6-772F-01E0-4A7980E899F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D98664B-B693-6FFA-6874-2A7B1F3777EA}"/>
              </a:ext>
            </a:extLst>
          </p:cNvPr>
          <p:cNvSpPr>
            <a:spLocks noGrp="1" noChangeArrowheads="1"/>
          </p:cNvSpPr>
          <p:nvPr>
            <p:ph type="ctrTitle"/>
          </p:nvPr>
        </p:nvSpPr>
        <p:spPr>
          <a:xfrm>
            <a:off x="1200150" y="171450"/>
            <a:ext cx="6686550" cy="857250"/>
          </a:xfrm>
          <a:noFill/>
        </p:spPr>
        <p:txBody>
          <a:bodyPr/>
          <a:lstStyle/>
          <a:p>
            <a:r>
              <a:rPr lang="en-US" altLang="en-US"/>
              <a:t>Meld Two Min Leftist Trees</a:t>
            </a:r>
          </a:p>
        </p:txBody>
      </p:sp>
      <p:sp>
        <p:nvSpPr>
          <p:cNvPr id="46083" name="Oval 3">
            <a:extLst>
              <a:ext uri="{FF2B5EF4-FFF2-40B4-BE49-F238E27FC236}">
                <a16:creationId xmlns:a16="http://schemas.microsoft.com/office/drawing/2014/main" id="{E96D6650-55AF-1134-A29B-DB19C2326AC4}"/>
              </a:ext>
            </a:extLst>
          </p:cNvPr>
          <p:cNvSpPr>
            <a:spLocks noChangeArrowheads="1"/>
          </p:cNvSpPr>
          <p:nvPr/>
        </p:nvSpPr>
        <p:spPr bwMode="auto">
          <a:xfrm>
            <a:off x="2690813" y="114776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84" name="Oval 4">
            <a:extLst>
              <a:ext uri="{FF2B5EF4-FFF2-40B4-BE49-F238E27FC236}">
                <a16:creationId xmlns:a16="http://schemas.microsoft.com/office/drawing/2014/main" id="{84648A15-8D1C-F089-B3F1-E3B861D0723F}"/>
              </a:ext>
            </a:extLst>
          </p:cNvPr>
          <p:cNvSpPr>
            <a:spLocks noChangeArrowheads="1"/>
          </p:cNvSpPr>
          <p:nvPr/>
        </p:nvSpPr>
        <p:spPr bwMode="auto">
          <a:xfrm>
            <a:off x="1947863" y="17764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85" name="Oval 5">
            <a:extLst>
              <a:ext uri="{FF2B5EF4-FFF2-40B4-BE49-F238E27FC236}">
                <a16:creationId xmlns:a16="http://schemas.microsoft.com/office/drawing/2014/main" id="{5BE9B336-8D61-55C4-B109-7E68921D0D2A}"/>
              </a:ext>
            </a:extLst>
          </p:cNvPr>
          <p:cNvSpPr>
            <a:spLocks noChangeArrowheads="1"/>
          </p:cNvSpPr>
          <p:nvPr/>
        </p:nvSpPr>
        <p:spPr bwMode="auto">
          <a:xfrm>
            <a:off x="3262313" y="17764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86" name="Oval 6">
            <a:extLst>
              <a:ext uri="{FF2B5EF4-FFF2-40B4-BE49-F238E27FC236}">
                <a16:creationId xmlns:a16="http://schemas.microsoft.com/office/drawing/2014/main" id="{7828BE0D-5025-D832-9355-C642B8066FEE}"/>
              </a:ext>
            </a:extLst>
          </p:cNvPr>
          <p:cNvSpPr>
            <a:spLocks noChangeArrowheads="1"/>
          </p:cNvSpPr>
          <p:nvPr/>
        </p:nvSpPr>
        <p:spPr bwMode="auto">
          <a:xfrm>
            <a:off x="1490663" y="25765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87" name="Oval 7">
            <a:extLst>
              <a:ext uri="{FF2B5EF4-FFF2-40B4-BE49-F238E27FC236}">
                <a16:creationId xmlns:a16="http://schemas.microsoft.com/office/drawing/2014/main" id="{039BC388-2548-5E20-5DB1-6398336886E9}"/>
              </a:ext>
            </a:extLst>
          </p:cNvPr>
          <p:cNvSpPr>
            <a:spLocks noChangeArrowheads="1"/>
          </p:cNvSpPr>
          <p:nvPr/>
        </p:nvSpPr>
        <p:spPr bwMode="auto">
          <a:xfrm>
            <a:off x="2347913" y="25765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88" name="Line 8">
            <a:extLst>
              <a:ext uri="{FF2B5EF4-FFF2-40B4-BE49-F238E27FC236}">
                <a16:creationId xmlns:a16="http://schemas.microsoft.com/office/drawing/2014/main" id="{7495EBC9-D72E-A52B-BF9D-3C9AF009B633}"/>
              </a:ext>
            </a:extLst>
          </p:cNvPr>
          <p:cNvSpPr>
            <a:spLocks noChangeShapeType="1"/>
          </p:cNvSpPr>
          <p:nvPr/>
        </p:nvSpPr>
        <p:spPr bwMode="auto">
          <a:xfrm flipH="1">
            <a:off x="2171700" y="14287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6089" name="Line 9">
            <a:extLst>
              <a:ext uri="{FF2B5EF4-FFF2-40B4-BE49-F238E27FC236}">
                <a16:creationId xmlns:a16="http://schemas.microsoft.com/office/drawing/2014/main" id="{6CD5952D-F593-E0AE-D84F-E232018A39F2}"/>
              </a:ext>
            </a:extLst>
          </p:cNvPr>
          <p:cNvSpPr>
            <a:spLocks noChangeShapeType="1"/>
          </p:cNvSpPr>
          <p:nvPr/>
        </p:nvSpPr>
        <p:spPr bwMode="auto">
          <a:xfrm flipH="1">
            <a:off x="1714500" y="20574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6090" name="Line 10">
            <a:extLst>
              <a:ext uri="{FF2B5EF4-FFF2-40B4-BE49-F238E27FC236}">
                <a16:creationId xmlns:a16="http://schemas.microsoft.com/office/drawing/2014/main" id="{107B6023-9248-D860-E8DD-E40951332F07}"/>
              </a:ext>
            </a:extLst>
          </p:cNvPr>
          <p:cNvSpPr>
            <a:spLocks noChangeShapeType="1"/>
          </p:cNvSpPr>
          <p:nvPr/>
        </p:nvSpPr>
        <p:spPr bwMode="auto">
          <a:xfrm>
            <a:off x="2228850" y="20574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46091" name="Rectangle 11">
            <a:extLst>
              <a:ext uri="{FF2B5EF4-FFF2-40B4-BE49-F238E27FC236}">
                <a16:creationId xmlns:a16="http://schemas.microsoft.com/office/drawing/2014/main" id="{E6060481-A5BF-53E3-BDC3-120AC7B205F0}"/>
              </a:ext>
            </a:extLst>
          </p:cNvPr>
          <p:cNvSpPr>
            <a:spLocks noChangeArrowheads="1"/>
          </p:cNvSpPr>
          <p:nvPr/>
        </p:nvSpPr>
        <p:spPr bwMode="auto">
          <a:xfrm>
            <a:off x="1531144" y="25943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46092" name="Rectangle 12">
            <a:extLst>
              <a:ext uri="{FF2B5EF4-FFF2-40B4-BE49-F238E27FC236}">
                <a16:creationId xmlns:a16="http://schemas.microsoft.com/office/drawing/2014/main" id="{5585F8AD-1FBF-5136-34F7-FB5428584C32}"/>
              </a:ext>
            </a:extLst>
          </p:cNvPr>
          <p:cNvSpPr>
            <a:spLocks noChangeArrowheads="1"/>
          </p:cNvSpPr>
          <p:nvPr/>
        </p:nvSpPr>
        <p:spPr bwMode="auto">
          <a:xfrm>
            <a:off x="2388394" y="25943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46093" name="Rectangle 13">
            <a:extLst>
              <a:ext uri="{FF2B5EF4-FFF2-40B4-BE49-F238E27FC236}">
                <a16:creationId xmlns:a16="http://schemas.microsoft.com/office/drawing/2014/main" id="{718797CF-B328-C6D2-C1E7-AF117ABC78D4}"/>
              </a:ext>
            </a:extLst>
          </p:cNvPr>
          <p:cNvSpPr>
            <a:spLocks noChangeArrowheads="1"/>
          </p:cNvSpPr>
          <p:nvPr/>
        </p:nvSpPr>
        <p:spPr bwMode="auto">
          <a:xfrm>
            <a:off x="198834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46094" name="Rectangle 14">
            <a:extLst>
              <a:ext uri="{FF2B5EF4-FFF2-40B4-BE49-F238E27FC236}">
                <a16:creationId xmlns:a16="http://schemas.microsoft.com/office/drawing/2014/main" id="{69EEDEA1-19EB-0CD3-5EF5-451859926961}"/>
              </a:ext>
            </a:extLst>
          </p:cNvPr>
          <p:cNvSpPr>
            <a:spLocks noChangeArrowheads="1"/>
          </p:cNvSpPr>
          <p:nvPr/>
        </p:nvSpPr>
        <p:spPr bwMode="auto">
          <a:xfrm>
            <a:off x="3302794" y="17942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46095" name="Rectangle 15">
            <a:extLst>
              <a:ext uri="{FF2B5EF4-FFF2-40B4-BE49-F238E27FC236}">
                <a16:creationId xmlns:a16="http://schemas.microsoft.com/office/drawing/2014/main" id="{39A992D7-5D0D-B791-F06E-01CE7E0965E5}"/>
              </a:ext>
            </a:extLst>
          </p:cNvPr>
          <p:cNvSpPr>
            <a:spLocks noChangeArrowheads="1"/>
          </p:cNvSpPr>
          <p:nvPr/>
        </p:nvSpPr>
        <p:spPr bwMode="auto">
          <a:xfrm>
            <a:off x="2731294" y="11656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46096" name="Oval 16">
            <a:extLst>
              <a:ext uri="{FF2B5EF4-FFF2-40B4-BE49-F238E27FC236}">
                <a16:creationId xmlns:a16="http://schemas.microsoft.com/office/drawing/2014/main" id="{500E1CFC-291F-58AD-F9BF-5D05E638B7B9}"/>
              </a:ext>
            </a:extLst>
          </p:cNvPr>
          <p:cNvSpPr>
            <a:spLocks noChangeArrowheads="1"/>
          </p:cNvSpPr>
          <p:nvPr/>
        </p:nvSpPr>
        <p:spPr bwMode="auto">
          <a:xfrm>
            <a:off x="3890963" y="10906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6097" name="Rectangle 17">
            <a:extLst>
              <a:ext uri="{FF2B5EF4-FFF2-40B4-BE49-F238E27FC236}">
                <a16:creationId xmlns:a16="http://schemas.microsoft.com/office/drawing/2014/main" id="{1B366E6C-668E-7403-A8F0-E68AC758651B}"/>
              </a:ext>
            </a:extLst>
          </p:cNvPr>
          <p:cNvSpPr>
            <a:spLocks noChangeArrowheads="1"/>
          </p:cNvSpPr>
          <p:nvPr/>
        </p:nvSpPr>
        <p:spPr bwMode="auto">
          <a:xfrm>
            <a:off x="393144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86066" name="Rectangle 18">
            <a:extLst>
              <a:ext uri="{FF2B5EF4-FFF2-40B4-BE49-F238E27FC236}">
                <a16:creationId xmlns:a16="http://schemas.microsoft.com/office/drawing/2014/main" id="{BEBBF07E-8B79-6FBF-2886-8F80A5FFB93B}"/>
              </a:ext>
            </a:extLst>
          </p:cNvPr>
          <p:cNvSpPr>
            <a:spLocks noChangeArrowheads="1"/>
          </p:cNvSpPr>
          <p:nvPr/>
        </p:nvSpPr>
        <p:spPr bwMode="auto">
          <a:xfrm>
            <a:off x="1314450" y="3257550"/>
            <a:ext cx="6000750" cy="7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Meld right subtree of tree with smaller root and all of other tree.</a:t>
            </a:r>
          </a:p>
        </p:txBody>
      </p:sp>
      <p:sp>
        <p:nvSpPr>
          <p:cNvPr id="46099" name="Line 19">
            <a:extLst>
              <a:ext uri="{FF2B5EF4-FFF2-40B4-BE49-F238E27FC236}">
                <a16:creationId xmlns:a16="http://schemas.microsoft.com/office/drawing/2014/main" id="{559621DE-3D5E-2F46-5346-BDB1BDD515DE}"/>
              </a:ext>
            </a:extLst>
          </p:cNvPr>
          <p:cNvSpPr>
            <a:spLocks noChangeShapeType="1"/>
          </p:cNvSpPr>
          <p:nvPr/>
        </p:nvSpPr>
        <p:spPr bwMode="auto">
          <a:xfrm>
            <a:off x="2971800" y="14287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pic>
        <p:nvPicPr>
          <p:cNvPr id="2" name="Picture 1">
            <a:extLst>
              <a:ext uri="{FF2B5EF4-FFF2-40B4-BE49-F238E27FC236}">
                <a16:creationId xmlns:a16="http://schemas.microsoft.com/office/drawing/2014/main" id="{5153A55A-CAD8-6990-AA3D-3D8A8FA48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8F6D6AF5-B07C-8F5C-95EC-1F480245A6A4}"/>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6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6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78FD520-0D06-E04E-3A21-9F20BED7FBB5}"/>
              </a:ext>
            </a:extLst>
          </p:cNvPr>
          <p:cNvSpPr>
            <a:spLocks noGrp="1" noChangeArrowheads="1"/>
          </p:cNvSpPr>
          <p:nvPr>
            <p:ph type="ctrTitle"/>
          </p:nvPr>
        </p:nvSpPr>
        <p:spPr>
          <a:xfrm>
            <a:off x="1200150" y="171450"/>
            <a:ext cx="6686550" cy="857250"/>
          </a:xfrm>
          <a:noFill/>
        </p:spPr>
        <p:txBody>
          <a:bodyPr/>
          <a:lstStyle/>
          <a:p>
            <a:r>
              <a:rPr lang="en-US" altLang="en-US"/>
              <a:t>Meld Two Min Leftist Trees</a:t>
            </a:r>
          </a:p>
        </p:txBody>
      </p:sp>
      <p:sp>
        <p:nvSpPr>
          <p:cNvPr id="48131" name="Oval 3">
            <a:extLst>
              <a:ext uri="{FF2B5EF4-FFF2-40B4-BE49-F238E27FC236}">
                <a16:creationId xmlns:a16="http://schemas.microsoft.com/office/drawing/2014/main" id="{3D9B365A-C037-9CD7-A4BD-0955164E8B39}"/>
              </a:ext>
            </a:extLst>
          </p:cNvPr>
          <p:cNvSpPr>
            <a:spLocks noChangeArrowheads="1"/>
          </p:cNvSpPr>
          <p:nvPr/>
        </p:nvSpPr>
        <p:spPr bwMode="auto">
          <a:xfrm>
            <a:off x="2690813" y="114776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8132" name="Rectangle 4">
            <a:extLst>
              <a:ext uri="{FF2B5EF4-FFF2-40B4-BE49-F238E27FC236}">
                <a16:creationId xmlns:a16="http://schemas.microsoft.com/office/drawing/2014/main" id="{ECDC3D57-053F-E487-EE3E-ED277C8EE6D7}"/>
              </a:ext>
            </a:extLst>
          </p:cNvPr>
          <p:cNvSpPr>
            <a:spLocks noChangeArrowheads="1"/>
          </p:cNvSpPr>
          <p:nvPr/>
        </p:nvSpPr>
        <p:spPr bwMode="auto">
          <a:xfrm>
            <a:off x="2731294" y="11656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48133" name="Oval 5">
            <a:extLst>
              <a:ext uri="{FF2B5EF4-FFF2-40B4-BE49-F238E27FC236}">
                <a16:creationId xmlns:a16="http://schemas.microsoft.com/office/drawing/2014/main" id="{3B9141A2-5DCC-8C07-35C1-4B73E79F6D5E}"/>
              </a:ext>
            </a:extLst>
          </p:cNvPr>
          <p:cNvSpPr>
            <a:spLocks noChangeArrowheads="1"/>
          </p:cNvSpPr>
          <p:nvPr/>
        </p:nvSpPr>
        <p:spPr bwMode="auto">
          <a:xfrm>
            <a:off x="3890963" y="10906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48134" name="Rectangle 6">
            <a:extLst>
              <a:ext uri="{FF2B5EF4-FFF2-40B4-BE49-F238E27FC236}">
                <a16:creationId xmlns:a16="http://schemas.microsoft.com/office/drawing/2014/main" id="{20390CA1-0EE1-D2D4-8DFD-DAFD448C9976}"/>
              </a:ext>
            </a:extLst>
          </p:cNvPr>
          <p:cNvSpPr>
            <a:spLocks noChangeArrowheads="1"/>
          </p:cNvSpPr>
          <p:nvPr/>
        </p:nvSpPr>
        <p:spPr bwMode="auto">
          <a:xfrm>
            <a:off x="393144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388103" name="Rectangle 7">
            <a:extLst>
              <a:ext uri="{FF2B5EF4-FFF2-40B4-BE49-F238E27FC236}">
                <a16:creationId xmlns:a16="http://schemas.microsoft.com/office/drawing/2014/main" id="{13D0B5F9-E017-E81A-DFA9-6D7D8B2D652C}"/>
              </a:ext>
            </a:extLst>
          </p:cNvPr>
          <p:cNvSpPr>
            <a:spLocks noChangeArrowheads="1"/>
          </p:cNvSpPr>
          <p:nvPr/>
        </p:nvSpPr>
        <p:spPr bwMode="auto">
          <a:xfrm>
            <a:off x="1314450" y="3257550"/>
            <a:ext cx="6000750" cy="1847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Meld right subtree of tree with smaller root and all of other tree.</a:t>
            </a:r>
          </a:p>
          <a:p>
            <a:pPr>
              <a:spcBef>
                <a:spcPct val="50000"/>
              </a:spcBef>
              <a:buClrTx/>
              <a:buFontTx/>
              <a:buNone/>
            </a:pPr>
            <a:r>
              <a:rPr lang="en-US" altLang="en-US" sz="2100"/>
              <a:t>Right subtree of 6 is empty. So, result of melding right subtree of tree with smaller root and other tree is the other tree.</a:t>
            </a:r>
          </a:p>
        </p:txBody>
      </p:sp>
      <p:pic>
        <p:nvPicPr>
          <p:cNvPr id="2" name="Picture 1">
            <a:extLst>
              <a:ext uri="{FF2B5EF4-FFF2-40B4-BE49-F238E27FC236}">
                <a16:creationId xmlns:a16="http://schemas.microsoft.com/office/drawing/2014/main" id="{AD430AAE-34FC-BEBA-7127-69E41FC78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7A6A9FE-3423-1897-981F-3FBDD8022DDF}"/>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81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881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1687B94-80EF-2A23-07CA-BFAF73C0A840}"/>
              </a:ext>
            </a:extLst>
          </p:cNvPr>
          <p:cNvSpPr>
            <a:spLocks noGrp="1" noChangeArrowheads="1"/>
          </p:cNvSpPr>
          <p:nvPr>
            <p:ph type="ctrTitle"/>
          </p:nvPr>
        </p:nvSpPr>
        <p:spPr>
          <a:xfrm>
            <a:off x="1143000" y="0"/>
            <a:ext cx="6686550" cy="857250"/>
          </a:xfrm>
          <a:noFill/>
        </p:spPr>
        <p:txBody>
          <a:bodyPr/>
          <a:lstStyle/>
          <a:p>
            <a:r>
              <a:rPr lang="en-US" altLang="en-US"/>
              <a:t>Meld Two Min Leftist Trees</a:t>
            </a:r>
          </a:p>
        </p:txBody>
      </p:sp>
      <p:sp>
        <p:nvSpPr>
          <p:cNvPr id="390147" name="Rectangle 3">
            <a:extLst>
              <a:ext uri="{FF2B5EF4-FFF2-40B4-BE49-F238E27FC236}">
                <a16:creationId xmlns:a16="http://schemas.microsoft.com/office/drawing/2014/main" id="{9FFDE1E2-2254-D7BD-C8EC-1F9B1A5E3836}"/>
              </a:ext>
            </a:extLst>
          </p:cNvPr>
          <p:cNvSpPr>
            <a:spLocks noChangeArrowheads="1"/>
          </p:cNvSpPr>
          <p:nvPr/>
        </p:nvSpPr>
        <p:spPr bwMode="auto">
          <a:xfrm>
            <a:off x="1143000" y="3657600"/>
            <a:ext cx="5600700"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Swap left and right subtrees if s(left) &lt; s(right).</a:t>
            </a:r>
          </a:p>
        </p:txBody>
      </p:sp>
      <p:sp>
        <p:nvSpPr>
          <p:cNvPr id="390148" name="Rectangle 4">
            <a:extLst>
              <a:ext uri="{FF2B5EF4-FFF2-40B4-BE49-F238E27FC236}">
                <a16:creationId xmlns:a16="http://schemas.microsoft.com/office/drawing/2014/main" id="{C2648742-2D16-5E3A-414A-6E92303327D3}"/>
              </a:ext>
            </a:extLst>
          </p:cNvPr>
          <p:cNvSpPr>
            <a:spLocks noChangeArrowheads="1"/>
          </p:cNvSpPr>
          <p:nvPr/>
        </p:nvSpPr>
        <p:spPr bwMode="auto">
          <a:xfrm>
            <a:off x="1143000" y="1771650"/>
            <a:ext cx="6000750"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Make melded subtree right subtree of smaller root.</a:t>
            </a:r>
          </a:p>
        </p:txBody>
      </p:sp>
      <p:sp>
        <p:nvSpPr>
          <p:cNvPr id="50181" name="Oval 5">
            <a:extLst>
              <a:ext uri="{FF2B5EF4-FFF2-40B4-BE49-F238E27FC236}">
                <a16:creationId xmlns:a16="http://schemas.microsoft.com/office/drawing/2014/main" id="{23BD5F35-8E5F-595B-6782-855C6A79A6FE}"/>
              </a:ext>
            </a:extLst>
          </p:cNvPr>
          <p:cNvSpPr>
            <a:spLocks noChangeArrowheads="1"/>
          </p:cNvSpPr>
          <p:nvPr/>
        </p:nvSpPr>
        <p:spPr bwMode="auto">
          <a:xfrm>
            <a:off x="2690813" y="11477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82" name="Rectangle 6">
            <a:extLst>
              <a:ext uri="{FF2B5EF4-FFF2-40B4-BE49-F238E27FC236}">
                <a16:creationId xmlns:a16="http://schemas.microsoft.com/office/drawing/2014/main" id="{99FE2764-415A-57B5-4FAA-475A1124E004}"/>
              </a:ext>
            </a:extLst>
          </p:cNvPr>
          <p:cNvSpPr>
            <a:spLocks noChangeArrowheads="1"/>
          </p:cNvSpPr>
          <p:nvPr/>
        </p:nvSpPr>
        <p:spPr bwMode="auto">
          <a:xfrm>
            <a:off x="2731294" y="11656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0183" name="Oval 7">
            <a:extLst>
              <a:ext uri="{FF2B5EF4-FFF2-40B4-BE49-F238E27FC236}">
                <a16:creationId xmlns:a16="http://schemas.microsoft.com/office/drawing/2014/main" id="{8D380F2F-717D-BDD4-C800-DE1E1EA2A887}"/>
              </a:ext>
            </a:extLst>
          </p:cNvPr>
          <p:cNvSpPr>
            <a:spLocks noChangeArrowheads="1"/>
          </p:cNvSpPr>
          <p:nvPr/>
        </p:nvSpPr>
        <p:spPr bwMode="auto">
          <a:xfrm>
            <a:off x="3890963" y="1090613"/>
            <a:ext cx="333375" cy="333375"/>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84" name="Rectangle 8">
            <a:extLst>
              <a:ext uri="{FF2B5EF4-FFF2-40B4-BE49-F238E27FC236}">
                <a16:creationId xmlns:a16="http://schemas.microsoft.com/office/drawing/2014/main" id="{D9B460FA-23B9-A40D-D6E3-72F1FF788F1B}"/>
              </a:ext>
            </a:extLst>
          </p:cNvPr>
          <p:cNvSpPr>
            <a:spLocks noChangeArrowheads="1"/>
          </p:cNvSpPr>
          <p:nvPr/>
        </p:nvSpPr>
        <p:spPr bwMode="auto">
          <a:xfrm>
            <a:off x="3931444" y="1108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grpSp>
        <p:nvGrpSpPr>
          <p:cNvPr id="2" name="Group 9">
            <a:extLst>
              <a:ext uri="{FF2B5EF4-FFF2-40B4-BE49-F238E27FC236}">
                <a16:creationId xmlns:a16="http://schemas.microsoft.com/office/drawing/2014/main" id="{ED12F3D6-D0D7-1796-486F-B792B720C663}"/>
              </a:ext>
            </a:extLst>
          </p:cNvPr>
          <p:cNvGrpSpPr>
            <a:grpSpLocks/>
          </p:cNvGrpSpPr>
          <p:nvPr/>
        </p:nvGrpSpPr>
        <p:grpSpPr bwMode="auto">
          <a:xfrm>
            <a:off x="3433762" y="2347912"/>
            <a:ext cx="785813" cy="1128713"/>
            <a:chOff x="1924" y="1972"/>
            <a:chExt cx="660" cy="948"/>
          </a:xfrm>
        </p:grpSpPr>
        <p:sp>
          <p:nvSpPr>
            <p:cNvPr id="50192" name="Oval 10">
              <a:extLst>
                <a:ext uri="{FF2B5EF4-FFF2-40B4-BE49-F238E27FC236}">
                  <a16:creationId xmlns:a16="http://schemas.microsoft.com/office/drawing/2014/main" id="{D5F94F23-D1E9-14CF-08D8-0BC15C2C8BEC}"/>
                </a:ext>
              </a:extLst>
            </p:cNvPr>
            <p:cNvSpPr>
              <a:spLocks noChangeArrowheads="1"/>
            </p:cNvSpPr>
            <p:nvPr/>
          </p:nvSpPr>
          <p:spPr bwMode="auto">
            <a:xfrm>
              <a:off x="1924" y="1972"/>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93" name="Rectangle 11">
              <a:extLst>
                <a:ext uri="{FF2B5EF4-FFF2-40B4-BE49-F238E27FC236}">
                  <a16:creationId xmlns:a16="http://schemas.microsoft.com/office/drawing/2014/main" id="{4D00D99F-7492-74C7-B74A-F274521E2F79}"/>
                </a:ext>
              </a:extLst>
            </p:cNvPr>
            <p:cNvSpPr>
              <a:spLocks noChangeArrowheads="1"/>
            </p:cNvSpPr>
            <p:nvPr/>
          </p:nvSpPr>
          <p:spPr bwMode="auto">
            <a:xfrm>
              <a:off x="1958" y="198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0194" name="Oval 12">
              <a:extLst>
                <a:ext uri="{FF2B5EF4-FFF2-40B4-BE49-F238E27FC236}">
                  <a16:creationId xmlns:a16="http://schemas.microsoft.com/office/drawing/2014/main" id="{4C561E8B-B684-BD3D-13E9-F9A3BDDB49BA}"/>
                </a:ext>
              </a:extLst>
            </p:cNvPr>
            <p:cNvSpPr>
              <a:spLocks noChangeArrowheads="1"/>
            </p:cNvSpPr>
            <p:nvPr/>
          </p:nvSpPr>
          <p:spPr bwMode="auto">
            <a:xfrm>
              <a:off x="2304" y="2640"/>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95" name="Rectangle 13">
              <a:extLst>
                <a:ext uri="{FF2B5EF4-FFF2-40B4-BE49-F238E27FC236}">
                  <a16:creationId xmlns:a16="http://schemas.microsoft.com/office/drawing/2014/main" id="{FFAA49CD-83E3-8582-F601-3B794D947F2F}"/>
                </a:ext>
              </a:extLst>
            </p:cNvPr>
            <p:cNvSpPr>
              <a:spLocks noChangeArrowheads="1"/>
            </p:cNvSpPr>
            <p:nvPr/>
          </p:nvSpPr>
          <p:spPr bwMode="auto">
            <a:xfrm>
              <a:off x="2352" y="2640"/>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0196" name="Line 14">
              <a:extLst>
                <a:ext uri="{FF2B5EF4-FFF2-40B4-BE49-F238E27FC236}">
                  <a16:creationId xmlns:a16="http://schemas.microsoft.com/office/drawing/2014/main" id="{86D8444E-E005-49AE-2CC7-97B027628521}"/>
                </a:ext>
              </a:extLst>
            </p:cNvPr>
            <p:cNvSpPr>
              <a:spLocks noChangeShapeType="1"/>
            </p:cNvSpPr>
            <p:nvPr/>
          </p:nvSpPr>
          <p:spPr bwMode="auto">
            <a:xfrm>
              <a:off x="2064" y="2256"/>
              <a:ext cx="384"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grpSp>
        <p:nvGrpSpPr>
          <p:cNvPr id="3" name="Group 15">
            <a:extLst>
              <a:ext uri="{FF2B5EF4-FFF2-40B4-BE49-F238E27FC236}">
                <a16:creationId xmlns:a16="http://schemas.microsoft.com/office/drawing/2014/main" id="{B510170E-59C0-732B-E6D1-8654C4D27D23}"/>
              </a:ext>
            </a:extLst>
          </p:cNvPr>
          <p:cNvGrpSpPr>
            <a:grpSpLocks/>
          </p:cNvGrpSpPr>
          <p:nvPr/>
        </p:nvGrpSpPr>
        <p:grpSpPr bwMode="auto">
          <a:xfrm>
            <a:off x="6577013" y="3833813"/>
            <a:ext cx="561975" cy="1133475"/>
            <a:chOff x="4564" y="3220"/>
            <a:chExt cx="472" cy="952"/>
          </a:xfrm>
        </p:grpSpPr>
        <p:sp>
          <p:nvSpPr>
            <p:cNvPr id="50187" name="Oval 16">
              <a:extLst>
                <a:ext uri="{FF2B5EF4-FFF2-40B4-BE49-F238E27FC236}">
                  <a16:creationId xmlns:a16="http://schemas.microsoft.com/office/drawing/2014/main" id="{6BCDCF74-6E3C-5E4A-DA06-4CBC8E87811C}"/>
                </a:ext>
              </a:extLst>
            </p:cNvPr>
            <p:cNvSpPr>
              <a:spLocks noChangeArrowheads="1"/>
            </p:cNvSpPr>
            <p:nvPr/>
          </p:nvSpPr>
          <p:spPr bwMode="auto">
            <a:xfrm>
              <a:off x="4756" y="3220"/>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88" name="Rectangle 17">
              <a:extLst>
                <a:ext uri="{FF2B5EF4-FFF2-40B4-BE49-F238E27FC236}">
                  <a16:creationId xmlns:a16="http://schemas.microsoft.com/office/drawing/2014/main" id="{4381DECE-5E65-BDFE-9FA6-D87480551F4E}"/>
                </a:ext>
              </a:extLst>
            </p:cNvPr>
            <p:cNvSpPr>
              <a:spLocks noChangeArrowheads="1"/>
            </p:cNvSpPr>
            <p:nvPr/>
          </p:nvSpPr>
          <p:spPr bwMode="auto">
            <a:xfrm>
              <a:off x="4790" y="323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0189" name="Oval 18">
              <a:extLst>
                <a:ext uri="{FF2B5EF4-FFF2-40B4-BE49-F238E27FC236}">
                  <a16:creationId xmlns:a16="http://schemas.microsoft.com/office/drawing/2014/main" id="{0DD40FF7-A2B8-5D46-64FC-C385C0A31B9B}"/>
                </a:ext>
              </a:extLst>
            </p:cNvPr>
            <p:cNvSpPr>
              <a:spLocks noChangeArrowheads="1"/>
            </p:cNvSpPr>
            <p:nvPr/>
          </p:nvSpPr>
          <p:spPr bwMode="auto">
            <a:xfrm>
              <a:off x="4564" y="3892"/>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0190" name="Rectangle 19">
              <a:extLst>
                <a:ext uri="{FF2B5EF4-FFF2-40B4-BE49-F238E27FC236}">
                  <a16:creationId xmlns:a16="http://schemas.microsoft.com/office/drawing/2014/main" id="{07B5532C-A3CB-AEA6-303F-DA0811A93BBA}"/>
                </a:ext>
              </a:extLst>
            </p:cNvPr>
            <p:cNvSpPr>
              <a:spLocks noChangeArrowheads="1"/>
            </p:cNvSpPr>
            <p:nvPr/>
          </p:nvSpPr>
          <p:spPr bwMode="auto">
            <a:xfrm>
              <a:off x="4598" y="390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0191" name="Line 20">
              <a:extLst>
                <a:ext uri="{FF2B5EF4-FFF2-40B4-BE49-F238E27FC236}">
                  <a16:creationId xmlns:a16="http://schemas.microsoft.com/office/drawing/2014/main" id="{360AFA6E-FBBD-9665-E39D-6160D19F4340}"/>
                </a:ext>
              </a:extLst>
            </p:cNvPr>
            <p:cNvSpPr>
              <a:spLocks noChangeShapeType="1"/>
            </p:cNvSpPr>
            <p:nvPr/>
          </p:nvSpPr>
          <p:spPr bwMode="auto">
            <a:xfrm flipH="1">
              <a:off x="4704" y="3504"/>
              <a:ext cx="144"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pic>
        <p:nvPicPr>
          <p:cNvPr id="4" name="Picture 3">
            <a:extLst>
              <a:ext uri="{FF2B5EF4-FFF2-40B4-BE49-F238E27FC236}">
                <a16:creationId xmlns:a16="http://schemas.microsoft.com/office/drawing/2014/main" id="{F79FEE27-2A21-B9A8-720D-501BBD44AB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8A7A7E09-3CF4-8A60-7F5D-37E89D06A5D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01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90147">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uild="p" autoUpdateAnimBg="0"/>
      <p:bldP spid="39014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476B7B1-3262-5E98-B763-2BD79491D1BD}"/>
              </a:ext>
            </a:extLst>
          </p:cNvPr>
          <p:cNvSpPr>
            <a:spLocks noGrp="1" noChangeArrowheads="1"/>
          </p:cNvSpPr>
          <p:nvPr>
            <p:ph type="ctrTitle"/>
          </p:nvPr>
        </p:nvSpPr>
        <p:spPr>
          <a:xfrm>
            <a:off x="1143000" y="0"/>
            <a:ext cx="6686550" cy="857250"/>
          </a:xfrm>
          <a:noFill/>
        </p:spPr>
        <p:txBody>
          <a:bodyPr/>
          <a:lstStyle/>
          <a:p>
            <a:r>
              <a:rPr lang="en-US" altLang="en-US"/>
              <a:t>Meld Two Min Leftist Trees</a:t>
            </a:r>
          </a:p>
        </p:txBody>
      </p:sp>
      <p:grpSp>
        <p:nvGrpSpPr>
          <p:cNvPr id="2" name="Group 3">
            <a:extLst>
              <a:ext uri="{FF2B5EF4-FFF2-40B4-BE49-F238E27FC236}">
                <a16:creationId xmlns:a16="http://schemas.microsoft.com/office/drawing/2014/main" id="{3975130E-4830-32AA-D470-F576045DCAE3}"/>
              </a:ext>
            </a:extLst>
          </p:cNvPr>
          <p:cNvGrpSpPr>
            <a:grpSpLocks/>
          </p:cNvGrpSpPr>
          <p:nvPr/>
        </p:nvGrpSpPr>
        <p:grpSpPr bwMode="auto">
          <a:xfrm>
            <a:off x="5205413" y="1033463"/>
            <a:ext cx="2105025" cy="1762125"/>
            <a:chOff x="3412" y="868"/>
            <a:chExt cx="1768" cy="1480"/>
          </a:xfrm>
        </p:grpSpPr>
        <p:sp>
          <p:nvSpPr>
            <p:cNvPr id="52247" name="Oval 4">
              <a:extLst>
                <a:ext uri="{FF2B5EF4-FFF2-40B4-BE49-F238E27FC236}">
                  <a16:creationId xmlns:a16="http://schemas.microsoft.com/office/drawing/2014/main" id="{33122B9C-5D04-3705-D1AF-3484408B5A76}"/>
                </a:ext>
              </a:extLst>
            </p:cNvPr>
            <p:cNvSpPr>
              <a:spLocks noChangeArrowheads="1"/>
            </p:cNvSpPr>
            <p:nvPr/>
          </p:nvSpPr>
          <p:spPr bwMode="auto">
            <a:xfrm>
              <a:off x="4420" y="868"/>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48" name="Oval 5">
              <a:extLst>
                <a:ext uri="{FF2B5EF4-FFF2-40B4-BE49-F238E27FC236}">
                  <a16:creationId xmlns:a16="http://schemas.microsoft.com/office/drawing/2014/main" id="{D16B5EA1-0252-2BB0-80DF-CEDA828D1AB4}"/>
                </a:ext>
              </a:extLst>
            </p:cNvPr>
            <p:cNvSpPr>
              <a:spLocks noChangeArrowheads="1"/>
            </p:cNvSpPr>
            <p:nvPr/>
          </p:nvSpPr>
          <p:spPr bwMode="auto">
            <a:xfrm>
              <a:off x="3796" y="1396"/>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49" name="Oval 6">
              <a:extLst>
                <a:ext uri="{FF2B5EF4-FFF2-40B4-BE49-F238E27FC236}">
                  <a16:creationId xmlns:a16="http://schemas.microsoft.com/office/drawing/2014/main" id="{15561E02-0062-DC2D-1C22-2D2BA2B0D7E1}"/>
                </a:ext>
              </a:extLst>
            </p:cNvPr>
            <p:cNvSpPr>
              <a:spLocks noChangeArrowheads="1"/>
            </p:cNvSpPr>
            <p:nvPr/>
          </p:nvSpPr>
          <p:spPr bwMode="auto">
            <a:xfrm>
              <a:off x="4900" y="1396"/>
              <a:ext cx="280" cy="280"/>
            </a:xfrm>
            <a:prstGeom prst="ellipse">
              <a:avLst/>
            </a:prstGeom>
            <a:solidFill>
              <a:srgbClr val="FFCCFF"/>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50" name="Oval 7">
              <a:extLst>
                <a:ext uri="{FF2B5EF4-FFF2-40B4-BE49-F238E27FC236}">
                  <a16:creationId xmlns:a16="http://schemas.microsoft.com/office/drawing/2014/main" id="{A69C787B-C418-CBBF-BDD6-74F54A993220}"/>
                </a:ext>
              </a:extLst>
            </p:cNvPr>
            <p:cNvSpPr>
              <a:spLocks noChangeArrowheads="1"/>
            </p:cNvSpPr>
            <p:nvPr/>
          </p:nvSpPr>
          <p:spPr bwMode="auto">
            <a:xfrm>
              <a:off x="3412" y="2068"/>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51" name="Oval 8">
              <a:extLst>
                <a:ext uri="{FF2B5EF4-FFF2-40B4-BE49-F238E27FC236}">
                  <a16:creationId xmlns:a16="http://schemas.microsoft.com/office/drawing/2014/main" id="{2E13EDB1-E8B0-AB38-1597-7321DE4288AC}"/>
                </a:ext>
              </a:extLst>
            </p:cNvPr>
            <p:cNvSpPr>
              <a:spLocks noChangeArrowheads="1"/>
            </p:cNvSpPr>
            <p:nvPr/>
          </p:nvSpPr>
          <p:spPr bwMode="auto">
            <a:xfrm>
              <a:off x="4132" y="2068"/>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52" name="Line 9">
              <a:extLst>
                <a:ext uri="{FF2B5EF4-FFF2-40B4-BE49-F238E27FC236}">
                  <a16:creationId xmlns:a16="http://schemas.microsoft.com/office/drawing/2014/main" id="{241219B3-4769-5140-82A4-EC74270D29DE}"/>
                </a:ext>
              </a:extLst>
            </p:cNvPr>
            <p:cNvSpPr>
              <a:spLocks noChangeShapeType="1"/>
            </p:cNvSpPr>
            <p:nvPr/>
          </p:nvSpPr>
          <p:spPr bwMode="auto">
            <a:xfrm flipH="1">
              <a:off x="3984" y="1104"/>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53" name="Line 10">
              <a:extLst>
                <a:ext uri="{FF2B5EF4-FFF2-40B4-BE49-F238E27FC236}">
                  <a16:creationId xmlns:a16="http://schemas.microsoft.com/office/drawing/2014/main" id="{572AA4DD-FBBF-2009-A3F7-CDAD9A1EA512}"/>
                </a:ext>
              </a:extLst>
            </p:cNvPr>
            <p:cNvSpPr>
              <a:spLocks noChangeShapeType="1"/>
            </p:cNvSpPr>
            <p:nvPr/>
          </p:nvSpPr>
          <p:spPr bwMode="auto">
            <a:xfrm>
              <a:off x="4656" y="1104"/>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54" name="Line 11">
              <a:extLst>
                <a:ext uri="{FF2B5EF4-FFF2-40B4-BE49-F238E27FC236}">
                  <a16:creationId xmlns:a16="http://schemas.microsoft.com/office/drawing/2014/main" id="{2110E4A0-7C5B-5948-07F8-A341678E229E}"/>
                </a:ext>
              </a:extLst>
            </p:cNvPr>
            <p:cNvSpPr>
              <a:spLocks noChangeShapeType="1"/>
            </p:cNvSpPr>
            <p:nvPr/>
          </p:nvSpPr>
          <p:spPr bwMode="auto">
            <a:xfrm flipH="1">
              <a:off x="3600" y="1632"/>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55" name="Line 12">
              <a:extLst>
                <a:ext uri="{FF2B5EF4-FFF2-40B4-BE49-F238E27FC236}">
                  <a16:creationId xmlns:a16="http://schemas.microsoft.com/office/drawing/2014/main" id="{C6A7B6BB-E682-3ED9-CB51-4D50918FFB4A}"/>
                </a:ext>
              </a:extLst>
            </p:cNvPr>
            <p:cNvSpPr>
              <a:spLocks noChangeShapeType="1"/>
            </p:cNvSpPr>
            <p:nvPr/>
          </p:nvSpPr>
          <p:spPr bwMode="auto">
            <a:xfrm>
              <a:off x="4032" y="1632"/>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56" name="Rectangle 13">
              <a:extLst>
                <a:ext uri="{FF2B5EF4-FFF2-40B4-BE49-F238E27FC236}">
                  <a16:creationId xmlns:a16="http://schemas.microsoft.com/office/drawing/2014/main" id="{66123CB4-E98F-3773-84AD-7935CC89D78F}"/>
                </a:ext>
              </a:extLst>
            </p:cNvPr>
            <p:cNvSpPr>
              <a:spLocks noChangeArrowheads="1"/>
            </p:cNvSpPr>
            <p:nvPr/>
          </p:nvSpPr>
          <p:spPr bwMode="auto">
            <a:xfrm>
              <a:off x="3446"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2257" name="Rectangle 14">
              <a:extLst>
                <a:ext uri="{FF2B5EF4-FFF2-40B4-BE49-F238E27FC236}">
                  <a16:creationId xmlns:a16="http://schemas.microsoft.com/office/drawing/2014/main" id="{6A2FFAAD-FFD6-E9FD-90F0-415474DED021}"/>
                </a:ext>
              </a:extLst>
            </p:cNvPr>
            <p:cNvSpPr>
              <a:spLocks noChangeArrowheads="1"/>
            </p:cNvSpPr>
            <p:nvPr/>
          </p:nvSpPr>
          <p:spPr bwMode="auto">
            <a:xfrm>
              <a:off x="4166"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58" name="Rectangle 15">
              <a:extLst>
                <a:ext uri="{FF2B5EF4-FFF2-40B4-BE49-F238E27FC236}">
                  <a16:creationId xmlns:a16="http://schemas.microsoft.com/office/drawing/2014/main" id="{4EA73079-7509-7DE9-611E-E9D4DE226E41}"/>
                </a:ext>
              </a:extLst>
            </p:cNvPr>
            <p:cNvSpPr>
              <a:spLocks noChangeArrowheads="1"/>
            </p:cNvSpPr>
            <p:nvPr/>
          </p:nvSpPr>
          <p:spPr bwMode="auto">
            <a:xfrm>
              <a:off x="3830" y="1411"/>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59" name="Rectangle 16">
              <a:extLst>
                <a:ext uri="{FF2B5EF4-FFF2-40B4-BE49-F238E27FC236}">
                  <a16:creationId xmlns:a16="http://schemas.microsoft.com/office/drawing/2014/main" id="{516A1887-C6F9-5230-D0DD-FA0D7B8499C4}"/>
                </a:ext>
              </a:extLst>
            </p:cNvPr>
            <p:cNvSpPr>
              <a:spLocks noChangeArrowheads="1"/>
            </p:cNvSpPr>
            <p:nvPr/>
          </p:nvSpPr>
          <p:spPr bwMode="auto">
            <a:xfrm>
              <a:off x="4934" y="1411"/>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60" name="Rectangle 17">
              <a:extLst>
                <a:ext uri="{FF2B5EF4-FFF2-40B4-BE49-F238E27FC236}">
                  <a16:creationId xmlns:a16="http://schemas.microsoft.com/office/drawing/2014/main" id="{FBAF1942-64E7-D90E-4329-ACEE4871CB6B}"/>
                </a:ext>
              </a:extLst>
            </p:cNvPr>
            <p:cNvSpPr>
              <a:spLocks noChangeArrowheads="1"/>
            </p:cNvSpPr>
            <p:nvPr/>
          </p:nvSpPr>
          <p:spPr bwMode="auto">
            <a:xfrm>
              <a:off x="4454" y="8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52261" name="Oval 18">
              <a:extLst>
                <a:ext uri="{FF2B5EF4-FFF2-40B4-BE49-F238E27FC236}">
                  <a16:creationId xmlns:a16="http://schemas.microsoft.com/office/drawing/2014/main" id="{5C13F708-5B44-E2CD-350D-09436FB6C64D}"/>
                </a:ext>
              </a:extLst>
            </p:cNvPr>
            <p:cNvSpPr>
              <a:spLocks noChangeArrowheads="1"/>
            </p:cNvSpPr>
            <p:nvPr/>
          </p:nvSpPr>
          <p:spPr bwMode="auto">
            <a:xfrm>
              <a:off x="4708" y="2068"/>
              <a:ext cx="280" cy="280"/>
            </a:xfrm>
            <a:prstGeom prst="ellipse">
              <a:avLst/>
            </a:prstGeom>
            <a:solidFill>
              <a:srgbClr val="FFCCFF"/>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62" name="Rectangle 19">
              <a:extLst>
                <a:ext uri="{FF2B5EF4-FFF2-40B4-BE49-F238E27FC236}">
                  <a16:creationId xmlns:a16="http://schemas.microsoft.com/office/drawing/2014/main" id="{210B14DD-BD8D-3DEB-5064-8A87D353A62D}"/>
                </a:ext>
              </a:extLst>
            </p:cNvPr>
            <p:cNvSpPr>
              <a:spLocks noChangeArrowheads="1"/>
            </p:cNvSpPr>
            <p:nvPr/>
          </p:nvSpPr>
          <p:spPr bwMode="auto">
            <a:xfrm>
              <a:off x="4742" y="20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2263" name="Line 20">
              <a:extLst>
                <a:ext uri="{FF2B5EF4-FFF2-40B4-BE49-F238E27FC236}">
                  <a16:creationId xmlns:a16="http://schemas.microsoft.com/office/drawing/2014/main" id="{21E8654C-3402-614B-7A5D-7EEACAD4CDC3}"/>
                </a:ext>
              </a:extLst>
            </p:cNvPr>
            <p:cNvSpPr>
              <a:spLocks noChangeShapeType="1"/>
            </p:cNvSpPr>
            <p:nvPr/>
          </p:nvSpPr>
          <p:spPr bwMode="auto">
            <a:xfrm flipH="1">
              <a:off x="4848" y="1680"/>
              <a:ext cx="144"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grpSp>
        <p:nvGrpSpPr>
          <p:cNvPr id="3" name="Group 21">
            <a:extLst>
              <a:ext uri="{FF2B5EF4-FFF2-40B4-BE49-F238E27FC236}">
                <a16:creationId xmlns:a16="http://schemas.microsoft.com/office/drawing/2014/main" id="{B43B91B5-A9C4-7100-F266-7C5C6808A48A}"/>
              </a:ext>
            </a:extLst>
          </p:cNvPr>
          <p:cNvGrpSpPr>
            <a:grpSpLocks/>
          </p:cNvGrpSpPr>
          <p:nvPr/>
        </p:nvGrpSpPr>
        <p:grpSpPr bwMode="auto">
          <a:xfrm>
            <a:off x="1490663" y="1147763"/>
            <a:ext cx="2676525" cy="1762125"/>
            <a:chOff x="292" y="964"/>
            <a:chExt cx="2248" cy="1480"/>
          </a:xfrm>
        </p:grpSpPr>
        <p:sp>
          <p:nvSpPr>
            <p:cNvPr id="52231" name="Oval 22">
              <a:extLst>
                <a:ext uri="{FF2B5EF4-FFF2-40B4-BE49-F238E27FC236}">
                  <a16:creationId xmlns:a16="http://schemas.microsoft.com/office/drawing/2014/main" id="{2032003D-178C-E8A0-66CE-CBE20C62A518}"/>
                </a:ext>
              </a:extLst>
            </p:cNvPr>
            <p:cNvSpPr>
              <a:spLocks noChangeArrowheads="1"/>
            </p:cNvSpPr>
            <p:nvPr/>
          </p:nvSpPr>
          <p:spPr bwMode="auto">
            <a:xfrm>
              <a:off x="1300" y="964"/>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32" name="Oval 23">
              <a:extLst>
                <a:ext uri="{FF2B5EF4-FFF2-40B4-BE49-F238E27FC236}">
                  <a16:creationId xmlns:a16="http://schemas.microsoft.com/office/drawing/2014/main" id="{8C33267F-703E-2D67-87DF-528C3454E0F9}"/>
                </a:ext>
              </a:extLst>
            </p:cNvPr>
            <p:cNvSpPr>
              <a:spLocks noChangeArrowheads="1"/>
            </p:cNvSpPr>
            <p:nvPr/>
          </p:nvSpPr>
          <p:spPr bwMode="auto">
            <a:xfrm>
              <a:off x="676" y="1492"/>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33" name="Oval 24">
              <a:extLst>
                <a:ext uri="{FF2B5EF4-FFF2-40B4-BE49-F238E27FC236}">
                  <a16:creationId xmlns:a16="http://schemas.microsoft.com/office/drawing/2014/main" id="{E623FBAF-0C6A-9E0C-E30D-BFE310C8D2BB}"/>
                </a:ext>
              </a:extLst>
            </p:cNvPr>
            <p:cNvSpPr>
              <a:spLocks noChangeArrowheads="1"/>
            </p:cNvSpPr>
            <p:nvPr/>
          </p:nvSpPr>
          <p:spPr bwMode="auto">
            <a:xfrm>
              <a:off x="292" y="2164"/>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34" name="Oval 25">
              <a:extLst>
                <a:ext uri="{FF2B5EF4-FFF2-40B4-BE49-F238E27FC236}">
                  <a16:creationId xmlns:a16="http://schemas.microsoft.com/office/drawing/2014/main" id="{BDAFED18-D08E-98DB-DFA6-685304D1FA91}"/>
                </a:ext>
              </a:extLst>
            </p:cNvPr>
            <p:cNvSpPr>
              <a:spLocks noChangeArrowheads="1"/>
            </p:cNvSpPr>
            <p:nvPr/>
          </p:nvSpPr>
          <p:spPr bwMode="auto">
            <a:xfrm>
              <a:off x="1012" y="2164"/>
              <a:ext cx="280" cy="280"/>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35" name="Line 26">
              <a:extLst>
                <a:ext uri="{FF2B5EF4-FFF2-40B4-BE49-F238E27FC236}">
                  <a16:creationId xmlns:a16="http://schemas.microsoft.com/office/drawing/2014/main" id="{12C92E3D-EF44-85F7-D404-A76464708ACD}"/>
                </a:ext>
              </a:extLst>
            </p:cNvPr>
            <p:cNvSpPr>
              <a:spLocks noChangeShapeType="1"/>
            </p:cNvSpPr>
            <p:nvPr/>
          </p:nvSpPr>
          <p:spPr bwMode="auto">
            <a:xfrm flipH="1">
              <a:off x="864" y="1200"/>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36" name="Line 27">
              <a:extLst>
                <a:ext uri="{FF2B5EF4-FFF2-40B4-BE49-F238E27FC236}">
                  <a16:creationId xmlns:a16="http://schemas.microsoft.com/office/drawing/2014/main" id="{846904C0-C128-52B8-1F32-9845C787FC89}"/>
                </a:ext>
              </a:extLst>
            </p:cNvPr>
            <p:cNvSpPr>
              <a:spLocks noChangeShapeType="1"/>
            </p:cNvSpPr>
            <p:nvPr/>
          </p:nvSpPr>
          <p:spPr bwMode="auto">
            <a:xfrm flipH="1">
              <a:off x="480" y="172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37" name="Line 28">
              <a:extLst>
                <a:ext uri="{FF2B5EF4-FFF2-40B4-BE49-F238E27FC236}">
                  <a16:creationId xmlns:a16="http://schemas.microsoft.com/office/drawing/2014/main" id="{067F7267-8554-F8D8-6FA6-B7022C6DB834}"/>
                </a:ext>
              </a:extLst>
            </p:cNvPr>
            <p:cNvSpPr>
              <a:spLocks noChangeShapeType="1"/>
            </p:cNvSpPr>
            <p:nvPr/>
          </p:nvSpPr>
          <p:spPr bwMode="auto">
            <a:xfrm>
              <a:off x="912" y="172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2238" name="Rectangle 29">
              <a:extLst>
                <a:ext uri="{FF2B5EF4-FFF2-40B4-BE49-F238E27FC236}">
                  <a16:creationId xmlns:a16="http://schemas.microsoft.com/office/drawing/2014/main" id="{3C9BADD0-92A8-5CBE-1CD1-20A8A1C23940}"/>
                </a:ext>
              </a:extLst>
            </p:cNvPr>
            <p:cNvSpPr>
              <a:spLocks noChangeArrowheads="1"/>
            </p:cNvSpPr>
            <p:nvPr/>
          </p:nvSpPr>
          <p:spPr bwMode="auto">
            <a:xfrm>
              <a:off x="326" y="217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2239" name="Rectangle 30">
              <a:extLst>
                <a:ext uri="{FF2B5EF4-FFF2-40B4-BE49-F238E27FC236}">
                  <a16:creationId xmlns:a16="http://schemas.microsoft.com/office/drawing/2014/main" id="{0DAD1028-DFFF-AC1D-E04B-A3B5056C8668}"/>
                </a:ext>
              </a:extLst>
            </p:cNvPr>
            <p:cNvSpPr>
              <a:spLocks noChangeArrowheads="1"/>
            </p:cNvSpPr>
            <p:nvPr/>
          </p:nvSpPr>
          <p:spPr bwMode="auto">
            <a:xfrm>
              <a:off x="1046" y="217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40" name="Rectangle 31">
              <a:extLst>
                <a:ext uri="{FF2B5EF4-FFF2-40B4-BE49-F238E27FC236}">
                  <a16:creationId xmlns:a16="http://schemas.microsoft.com/office/drawing/2014/main" id="{002B41FD-AA76-5E17-07DF-3A654202707F}"/>
                </a:ext>
              </a:extLst>
            </p:cNvPr>
            <p:cNvSpPr>
              <a:spLocks noChangeArrowheads="1"/>
            </p:cNvSpPr>
            <p:nvPr/>
          </p:nvSpPr>
          <p:spPr bwMode="auto">
            <a:xfrm>
              <a:off x="710" y="150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41" name="Rectangle 32">
              <a:extLst>
                <a:ext uri="{FF2B5EF4-FFF2-40B4-BE49-F238E27FC236}">
                  <a16:creationId xmlns:a16="http://schemas.microsoft.com/office/drawing/2014/main" id="{C78EB7D4-B1E4-F82A-B651-71FAC95C3006}"/>
                </a:ext>
              </a:extLst>
            </p:cNvPr>
            <p:cNvSpPr>
              <a:spLocks noChangeArrowheads="1"/>
            </p:cNvSpPr>
            <p:nvPr/>
          </p:nvSpPr>
          <p:spPr bwMode="auto">
            <a:xfrm>
              <a:off x="1334" y="97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52242" name="Oval 33">
              <a:extLst>
                <a:ext uri="{FF2B5EF4-FFF2-40B4-BE49-F238E27FC236}">
                  <a16:creationId xmlns:a16="http://schemas.microsoft.com/office/drawing/2014/main" id="{20E97D97-29F0-254E-7B71-64C6E4F60664}"/>
                </a:ext>
              </a:extLst>
            </p:cNvPr>
            <p:cNvSpPr>
              <a:spLocks noChangeArrowheads="1"/>
            </p:cNvSpPr>
            <p:nvPr/>
          </p:nvSpPr>
          <p:spPr bwMode="auto">
            <a:xfrm>
              <a:off x="2260" y="1060"/>
              <a:ext cx="280" cy="280"/>
            </a:xfrm>
            <a:prstGeom prst="ellipse">
              <a:avLst/>
            </a:prstGeom>
            <a:solidFill>
              <a:srgbClr val="FFCCFF"/>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43" name="Rectangle 34">
              <a:extLst>
                <a:ext uri="{FF2B5EF4-FFF2-40B4-BE49-F238E27FC236}">
                  <a16:creationId xmlns:a16="http://schemas.microsoft.com/office/drawing/2014/main" id="{A99B05AD-C711-209F-8269-9981EFB4388D}"/>
                </a:ext>
              </a:extLst>
            </p:cNvPr>
            <p:cNvSpPr>
              <a:spLocks noChangeArrowheads="1"/>
            </p:cNvSpPr>
            <p:nvPr/>
          </p:nvSpPr>
          <p:spPr bwMode="auto">
            <a:xfrm>
              <a:off x="2294" y="107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2244" name="Oval 35">
              <a:extLst>
                <a:ext uri="{FF2B5EF4-FFF2-40B4-BE49-F238E27FC236}">
                  <a16:creationId xmlns:a16="http://schemas.microsoft.com/office/drawing/2014/main" id="{C3772B0F-A07B-2728-1B8B-CC3B1F0728E9}"/>
                </a:ext>
              </a:extLst>
            </p:cNvPr>
            <p:cNvSpPr>
              <a:spLocks noChangeArrowheads="1"/>
            </p:cNvSpPr>
            <p:nvPr/>
          </p:nvSpPr>
          <p:spPr bwMode="auto">
            <a:xfrm>
              <a:off x="2068" y="1732"/>
              <a:ext cx="280" cy="280"/>
            </a:xfrm>
            <a:prstGeom prst="ellipse">
              <a:avLst/>
            </a:prstGeom>
            <a:solidFill>
              <a:srgbClr val="FFCCFF"/>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2245" name="Rectangle 36">
              <a:extLst>
                <a:ext uri="{FF2B5EF4-FFF2-40B4-BE49-F238E27FC236}">
                  <a16:creationId xmlns:a16="http://schemas.microsoft.com/office/drawing/2014/main" id="{9ADC7820-FA3B-8A64-B974-D5CADB24D8A1}"/>
                </a:ext>
              </a:extLst>
            </p:cNvPr>
            <p:cNvSpPr>
              <a:spLocks noChangeArrowheads="1"/>
            </p:cNvSpPr>
            <p:nvPr/>
          </p:nvSpPr>
          <p:spPr bwMode="auto">
            <a:xfrm>
              <a:off x="2102" y="174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2246" name="Line 37">
              <a:extLst>
                <a:ext uri="{FF2B5EF4-FFF2-40B4-BE49-F238E27FC236}">
                  <a16:creationId xmlns:a16="http://schemas.microsoft.com/office/drawing/2014/main" id="{D56995B2-E8F9-8240-2D7E-1F3A6A5AB24F}"/>
                </a:ext>
              </a:extLst>
            </p:cNvPr>
            <p:cNvSpPr>
              <a:spLocks noChangeShapeType="1"/>
            </p:cNvSpPr>
            <p:nvPr/>
          </p:nvSpPr>
          <p:spPr bwMode="auto">
            <a:xfrm flipH="1">
              <a:off x="2208" y="1344"/>
              <a:ext cx="144"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sp>
        <p:nvSpPr>
          <p:cNvPr id="392230" name="Rectangle 38">
            <a:extLst>
              <a:ext uri="{FF2B5EF4-FFF2-40B4-BE49-F238E27FC236}">
                <a16:creationId xmlns:a16="http://schemas.microsoft.com/office/drawing/2014/main" id="{39B70963-DB43-194D-FACF-8CD9CD898D8D}"/>
              </a:ext>
            </a:extLst>
          </p:cNvPr>
          <p:cNvSpPr>
            <a:spLocks noChangeArrowheads="1"/>
          </p:cNvSpPr>
          <p:nvPr/>
        </p:nvSpPr>
        <p:spPr bwMode="auto">
          <a:xfrm>
            <a:off x="1143000" y="3429000"/>
            <a:ext cx="6000750"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Make melded subtree right subtree of smaller root.</a:t>
            </a:r>
          </a:p>
        </p:txBody>
      </p:sp>
      <p:sp>
        <p:nvSpPr>
          <p:cNvPr id="392231" name="Rectangle 39">
            <a:extLst>
              <a:ext uri="{FF2B5EF4-FFF2-40B4-BE49-F238E27FC236}">
                <a16:creationId xmlns:a16="http://schemas.microsoft.com/office/drawing/2014/main" id="{EDEA6EBF-BEF1-EC06-0270-1551EABBCD25}"/>
              </a:ext>
            </a:extLst>
          </p:cNvPr>
          <p:cNvSpPr>
            <a:spLocks noChangeArrowheads="1"/>
          </p:cNvSpPr>
          <p:nvPr/>
        </p:nvSpPr>
        <p:spPr bwMode="auto">
          <a:xfrm>
            <a:off x="1143000" y="4400550"/>
            <a:ext cx="51828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Swap left and right subtree if s(left) &lt; s(right).</a:t>
            </a:r>
          </a:p>
        </p:txBody>
      </p:sp>
      <p:pic>
        <p:nvPicPr>
          <p:cNvPr id="4" name="Picture 3">
            <a:extLst>
              <a:ext uri="{FF2B5EF4-FFF2-40B4-BE49-F238E27FC236}">
                <a16:creationId xmlns:a16="http://schemas.microsoft.com/office/drawing/2014/main" id="{9E494981-820C-A624-C0C1-14D6DCA91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73D83DAC-F077-3DD0-BB99-64C470D7E885}"/>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39223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92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30" grpId="0" autoUpdateAnimBg="0"/>
      <p:bldP spid="39223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23F1EE0-414E-8BFE-C1B7-FED2D70F5994}"/>
              </a:ext>
            </a:extLst>
          </p:cNvPr>
          <p:cNvSpPr>
            <a:spLocks noGrp="1" noChangeArrowheads="1"/>
          </p:cNvSpPr>
          <p:nvPr>
            <p:ph type="ctrTitle"/>
          </p:nvPr>
        </p:nvSpPr>
        <p:spPr>
          <a:xfrm>
            <a:off x="1143000" y="0"/>
            <a:ext cx="6686550" cy="857250"/>
          </a:xfrm>
          <a:noFill/>
        </p:spPr>
        <p:txBody>
          <a:bodyPr/>
          <a:lstStyle/>
          <a:p>
            <a:r>
              <a:rPr lang="en-US" altLang="en-US"/>
              <a:t>Meld Two Min Leftist Trees</a:t>
            </a:r>
          </a:p>
        </p:txBody>
      </p:sp>
      <p:grpSp>
        <p:nvGrpSpPr>
          <p:cNvPr id="2" name="Group 3">
            <a:extLst>
              <a:ext uri="{FF2B5EF4-FFF2-40B4-BE49-F238E27FC236}">
                <a16:creationId xmlns:a16="http://schemas.microsoft.com/office/drawing/2014/main" id="{A24A4823-9D76-AE8F-E74C-A5F25313FDC3}"/>
              </a:ext>
            </a:extLst>
          </p:cNvPr>
          <p:cNvGrpSpPr>
            <a:grpSpLocks/>
          </p:cNvGrpSpPr>
          <p:nvPr/>
        </p:nvGrpSpPr>
        <p:grpSpPr bwMode="auto">
          <a:xfrm>
            <a:off x="2690813" y="1033463"/>
            <a:ext cx="1647825" cy="1704975"/>
            <a:chOff x="1300" y="868"/>
            <a:chExt cx="1384" cy="1432"/>
          </a:xfrm>
        </p:grpSpPr>
        <p:sp>
          <p:nvSpPr>
            <p:cNvPr id="54297" name="Oval 4">
              <a:extLst>
                <a:ext uri="{FF2B5EF4-FFF2-40B4-BE49-F238E27FC236}">
                  <a16:creationId xmlns:a16="http://schemas.microsoft.com/office/drawing/2014/main" id="{3C970B08-81EE-A714-6D11-AD2E92C706DF}"/>
                </a:ext>
              </a:extLst>
            </p:cNvPr>
            <p:cNvSpPr>
              <a:spLocks noChangeArrowheads="1"/>
            </p:cNvSpPr>
            <p:nvPr/>
          </p:nvSpPr>
          <p:spPr bwMode="auto">
            <a:xfrm>
              <a:off x="2404" y="868"/>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98" name="Oval 5">
              <a:extLst>
                <a:ext uri="{FF2B5EF4-FFF2-40B4-BE49-F238E27FC236}">
                  <a16:creationId xmlns:a16="http://schemas.microsoft.com/office/drawing/2014/main" id="{15CAD736-24FB-51B1-79A9-55526992F651}"/>
                </a:ext>
              </a:extLst>
            </p:cNvPr>
            <p:cNvSpPr>
              <a:spLocks noChangeArrowheads="1"/>
            </p:cNvSpPr>
            <p:nvPr/>
          </p:nvSpPr>
          <p:spPr bwMode="auto">
            <a:xfrm>
              <a:off x="1636" y="1396"/>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99" name="Line 6">
              <a:extLst>
                <a:ext uri="{FF2B5EF4-FFF2-40B4-BE49-F238E27FC236}">
                  <a16:creationId xmlns:a16="http://schemas.microsoft.com/office/drawing/2014/main" id="{7685E9C2-4617-CB17-4FAE-5849F6FAF5D9}"/>
                </a:ext>
              </a:extLst>
            </p:cNvPr>
            <p:cNvSpPr>
              <a:spLocks noChangeShapeType="1"/>
            </p:cNvSpPr>
            <p:nvPr/>
          </p:nvSpPr>
          <p:spPr bwMode="auto">
            <a:xfrm flipH="1">
              <a:off x="1872" y="1152"/>
              <a:ext cx="576"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300" name="Oval 7">
              <a:extLst>
                <a:ext uri="{FF2B5EF4-FFF2-40B4-BE49-F238E27FC236}">
                  <a16:creationId xmlns:a16="http://schemas.microsoft.com/office/drawing/2014/main" id="{55C51604-FE3B-1922-FF2F-13C2FD4BF132}"/>
                </a:ext>
              </a:extLst>
            </p:cNvPr>
            <p:cNvSpPr>
              <a:spLocks noChangeArrowheads="1"/>
            </p:cNvSpPr>
            <p:nvPr/>
          </p:nvSpPr>
          <p:spPr bwMode="auto">
            <a:xfrm>
              <a:off x="1300" y="2020"/>
              <a:ext cx="280" cy="28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301" name="Line 8">
              <a:extLst>
                <a:ext uri="{FF2B5EF4-FFF2-40B4-BE49-F238E27FC236}">
                  <a16:creationId xmlns:a16="http://schemas.microsoft.com/office/drawing/2014/main" id="{147C809A-0410-A185-48C6-FB5C11A7EA41}"/>
                </a:ext>
              </a:extLst>
            </p:cNvPr>
            <p:cNvSpPr>
              <a:spLocks noChangeShapeType="1"/>
            </p:cNvSpPr>
            <p:nvPr/>
          </p:nvSpPr>
          <p:spPr bwMode="auto">
            <a:xfrm flipH="1">
              <a:off x="1488" y="1680"/>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302" name="Rectangle 9">
              <a:extLst>
                <a:ext uri="{FF2B5EF4-FFF2-40B4-BE49-F238E27FC236}">
                  <a16:creationId xmlns:a16="http://schemas.microsoft.com/office/drawing/2014/main" id="{ED6599BF-2C92-B78D-5890-9C78C09557FC}"/>
                </a:ext>
              </a:extLst>
            </p:cNvPr>
            <p:cNvSpPr>
              <a:spLocks noChangeArrowheads="1"/>
            </p:cNvSpPr>
            <p:nvPr/>
          </p:nvSpPr>
          <p:spPr bwMode="auto">
            <a:xfrm>
              <a:off x="1334" y="2035"/>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9</a:t>
              </a:r>
            </a:p>
          </p:txBody>
        </p:sp>
        <p:sp>
          <p:nvSpPr>
            <p:cNvPr id="54303" name="Rectangle 10">
              <a:extLst>
                <a:ext uri="{FF2B5EF4-FFF2-40B4-BE49-F238E27FC236}">
                  <a16:creationId xmlns:a16="http://schemas.microsoft.com/office/drawing/2014/main" id="{AA052899-7B9D-00E6-0108-7DCB22E5C752}"/>
                </a:ext>
              </a:extLst>
            </p:cNvPr>
            <p:cNvSpPr>
              <a:spLocks noChangeArrowheads="1"/>
            </p:cNvSpPr>
            <p:nvPr/>
          </p:nvSpPr>
          <p:spPr bwMode="auto">
            <a:xfrm>
              <a:off x="1670" y="1411"/>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5</a:t>
              </a:r>
            </a:p>
          </p:txBody>
        </p:sp>
        <p:sp>
          <p:nvSpPr>
            <p:cNvPr id="54304" name="Rectangle 11">
              <a:extLst>
                <a:ext uri="{FF2B5EF4-FFF2-40B4-BE49-F238E27FC236}">
                  <a16:creationId xmlns:a16="http://schemas.microsoft.com/office/drawing/2014/main" id="{5500A262-1B47-736C-44D8-7651FBD8C35C}"/>
                </a:ext>
              </a:extLst>
            </p:cNvPr>
            <p:cNvSpPr>
              <a:spLocks noChangeArrowheads="1"/>
            </p:cNvSpPr>
            <p:nvPr/>
          </p:nvSpPr>
          <p:spPr bwMode="auto">
            <a:xfrm>
              <a:off x="2486" y="88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3</a:t>
              </a:r>
            </a:p>
          </p:txBody>
        </p:sp>
      </p:grpSp>
      <p:sp>
        <p:nvSpPr>
          <p:cNvPr id="394252" name="Rectangle 12">
            <a:extLst>
              <a:ext uri="{FF2B5EF4-FFF2-40B4-BE49-F238E27FC236}">
                <a16:creationId xmlns:a16="http://schemas.microsoft.com/office/drawing/2014/main" id="{CD21A37C-6B4D-ABA6-F082-C0661BA7A622}"/>
              </a:ext>
            </a:extLst>
          </p:cNvPr>
          <p:cNvSpPr>
            <a:spLocks noChangeArrowheads="1"/>
          </p:cNvSpPr>
          <p:nvPr/>
        </p:nvSpPr>
        <p:spPr bwMode="auto">
          <a:xfrm>
            <a:off x="1257300" y="4629150"/>
            <a:ext cx="5600700"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Swap left and right subtree if s(left) &lt; s(right).</a:t>
            </a:r>
          </a:p>
        </p:txBody>
      </p:sp>
      <p:sp>
        <p:nvSpPr>
          <p:cNvPr id="394253" name="Rectangle 13">
            <a:extLst>
              <a:ext uri="{FF2B5EF4-FFF2-40B4-BE49-F238E27FC236}">
                <a16:creationId xmlns:a16="http://schemas.microsoft.com/office/drawing/2014/main" id="{635867A0-E7A4-DAC0-1CE3-6FB8FC52C01B}"/>
              </a:ext>
            </a:extLst>
          </p:cNvPr>
          <p:cNvSpPr>
            <a:spLocks noChangeArrowheads="1"/>
          </p:cNvSpPr>
          <p:nvPr/>
        </p:nvSpPr>
        <p:spPr bwMode="auto">
          <a:xfrm>
            <a:off x="1257300" y="3943350"/>
            <a:ext cx="6000750"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FontTx/>
              <a:buNone/>
            </a:pPr>
            <a:r>
              <a:rPr lang="en-US" altLang="en-US" sz="2100"/>
              <a:t>Make melded subtree right subtree of smaller root.</a:t>
            </a:r>
          </a:p>
        </p:txBody>
      </p:sp>
      <p:grpSp>
        <p:nvGrpSpPr>
          <p:cNvPr id="3" name="Group 14">
            <a:extLst>
              <a:ext uri="{FF2B5EF4-FFF2-40B4-BE49-F238E27FC236}">
                <a16:creationId xmlns:a16="http://schemas.microsoft.com/office/drawing/2014/main" id="{5FE4526F-C8C7-0EF8-8DB5-0D1E866C9CA6}"/>
              </a:ext>
            </a:extLst>
          </p:cNvPr>
          <p:cNvGrpSpPr>
            <a:grpSpLocks/>
          </p:cNvGrpSpPr>
          <p:nvPr/>
        </p:nvGrpSpPr>
        <p:grpSpPr bwMode="auto">
          <a:xfrm>
            <a:off x="4348163" y="1719263"/>
            <a:ext cx="2105025" cy="1762125"/>
            <a:chOff x="2692" y="1444"/>
            <a:chExt cx="1768" cy="1480"/>
          </a:xfrm>
        </p:grpSpPr>
        <p:sp>
          <p:nvSpPr>
            <p:cNvPr id="54280" name="Oval 15">
              <a:extLst>
                <a:ext uri="{FF2B5EF4-FFF2-40B4-BE49-F238E27FC236}">
                  <a16:creationId xmlns:a16="http://schemas.microsoft.com/office/drawing/2014/main" id="{0B61BE61-9E7C-1DE2-9F74-CFA5CE58142C}"/>
                </a:ext>
              </a:extLst>
            </p:cNvPr>
            <p:cNvSpPr>
              <a:spLocks noChangeArrowheads="1"/>
            </p:cNvSpPr>
            <p:nvPr/>
          </p:nvSpPr>
          <p:spPr bwMode="auto">
            <a:xfrm>
              <a:off x="3700" y="1444"/>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81" name="Oval 16">
              <a:extLst>
                <a:ext uri="{FF2B5EF4-FFF2-40B4-BE49-F238E27FC236}">
                  <a16:creationId xmlns:a16="http://schemas.microsoft.com/office/drawing/2014/main" id="{CA05C4AB-06A5-862C-640C-C6CE85373748}"/>
                </a:ext>
              </a:extLst>
            </p:cNvPr>
            <p:cNvSpPr>
              <a:spLocks noChangeArrowheads="1"/>
            </p:cNvSpPr>
            <p:nvPr/>
          </p:nvSpPr>
          <p:spPr bwMode="auto">
            <a:xfrm>
              <a:off x="3076" y="1972"/>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82" name="Oval 17">
              <a:extLst>
                <a:ext uri="{FF2B5EF4-FFF2-40B4-BE49-F238E27FC236}">
                  <a16:creationId xmlns:a16="http://schemas.microsoft.com/office/drawing/2014/main" id="{BDD455BF-07BA-27A7-353C-18611303296F}"/>
                </a:ext>
              </a:extLst>
            </p:cNvPr>
            <p:cNvSpPr>
              <a:spLocks noChangeArrowheads="1"/>
            </p:cNvSpPr>
            <p:nvPr/>
          </p:nvSpPr>
          <p:spPr bwMode="auto">
            <a:xfrm>
              <a:off x="4180" y="1972"/>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83" name="Oval 18">
              <a:extLst>
                <a:ext uri="{FF2B5EF4-FFF2-40B4-BE49-F238E27FC236}">
                  <a16:creationId xmlns:a16="http://schemas.microsoft.com/office/drawing/2014/main" id="{34AF158D-EC95-64F8-F40F-2AF567187AAF}"/>
                </a:ext>
              </a:extLst>
            </p:cNvPr>
            <p:cNvSpPr>
              <a:spLocks noChangeArrowheads="1"/>
            </p:cNvSpPr>
            <p:nvPr/>
          </p:nvSpPr>
          <p:spPr bwMode="auto">
            <a:xfrm>
              <a:off x="2692" y="2644"/>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84" name="Oval 19">
              <a:extLst>
                <a:ext uri="{FF2B5EF4-FFF2-40B4-BE49-F238E27FC236}">
                  <a16:creationId xmlns:a16="http://schemas.microsoft.com/office/drawing/2014/main" id="{821F9443-48D1-5B1D-03E6-ACE70FC65D13}"/>
                </a:ext>
              </a:extLst>
            </p:cNvPr>
            <p:cNvSpPr>
              <a:spLocks noChangeArrowheads="1"/>
            </p:cNvSpPr>
            <p:nvPr/>
          </p:nvSpPr>
          <p:spPr bwMode="auto">
            <a:xfrm>
              <a:off x="3412" y="2644"/>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85" name="Line 20">
              <a:extLst>
                <a:ext uri="{FF2B5EF4-FFF2-40B4-BE49-F238E27FC236}">
                  <a16:creationId xmlns:a16="http://schemas.microsoft.com/office/drawing/2014/main" id="{4353F441-58D4-3053-1D53-738E4AED40EE}"/>
                </a:ext>
              </a:extLst>
            </p:cNvPr>
            <p:cNvSpPr>
              <a:spLocks noChangeShapeType="1"/>
            </p:cNvSpPr>
            <p:nvPr/>
          </p:nvSpPr>
          <p:spPr bwMode="auto">
            <a:xfrm flipH="1">
              <a:off x="3264" y="1680"/>
              <a:ext cx="48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286" name="Line 21">
              <a:extLst>
                <a:ext uri="{FF2B5EF4-FFF2-40B4-BE49-F238E27FC236}">
                  <a16:creationId xmlns:a16="http://schemas.microsoft.com/office/drawing/2014/main" id="{C3DB692C-AB3D-AA5F-CF7A-4C7C9734D5DE}"/>
                </a:ext>
              </a:extLst>
            </p:cNvPr>
            <p:cNvSpPr>
              <a:spLocks noChangeShapeType="1"/>
            </p:cNvSpPr>
            <p:nvPr/>
          </p:nvSpPr>
          <p:spPr bwMode="auto">
            <a:xfrm>
              <a:off x="3936" y="1680"/>
              <a:ext cx="336"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287" name="Line 22">
              <a:extLst>
                <a:ext uri="{FF2B5EF4-FFF2-40B4-BE49-F238E27FC236}">
                  <a16:creationId xmlns:a16="http://schemas.microsoft.com/office/drawing/2014/main" id="{A5A78C75-655A-2A54-9B27-8DBB9A3FE08F}"/>
                </a:ext>
              </a:extLst>
            </p:cNvPr>
            <p:cNvSpPr>
              <a:spLocks noChangeShapeType="1"/>
            </p:cNvSpPr>
            <p:nvPr/>
          </p:nvSpPr>
          <p:spPr bwMode="auto">
            <a:xfrm flipH="1">
              <a:off x="2880" y="2208"/>
              <a:ext cx="24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288" name="Line 23">
              <a:extLst>
                <a:ext uri="{FF2B5EF4-FFF2-40B4-BE49-F238E27FC236}">
                  <a16:creationId xmlns:a16="http://schemas.microsoft.com/office/drawing/2014/main" id="{AFBE3499-6F1E-8248-37D7-E533AAFCDB9A}"/>
                </a:ext>
              </a:extLst>
            </p:cNvPr>
            <p:cNvSpPr>
              <a:spLocks noChangeShapeType="1"/>
            </p:cNvSpPr>
            <p:nvPr/>
          </p:nvSpPr>
          <p:spPr bwMode="auto">
            <a:xfrm>
              <a:off x="3312" y="2208"/>
              <a:ext cx="192"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4289" name="Rectangle 24">
              <a:extLst>
                <a:ext uri="{FF2B5EF4-FFF2-40B4-BE49-F238E27FC236}">
                  <a16:creationId xmlns:a16="http://schemas.microsoft.com/office/drawing/2014/main" id="{7B584266-13A2-E34B-C2D3-6144AABC1EC5}"/>
                </a:ext>
              </a:extLst>
            </p:cNvPr>
            <p:cNvSpPr>
              <a:spLocks noChangeArrowheads="1"/>
            </p:cNvSpPr>
            <p:nvPr/>
          </p:nvSpPr>
          <p:spPr bwMode="auto">
            <a:xfrm>
              <a:off x="2726" y="265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4290" name="Rectangle 25">
              <a:extLst>
                <a:ext uri="{FF2B5EF4-FFF2-40B4-BE49-F238E27FC236}">
                  <a16:creationId xmlns:a16="http://schemas.microsoft.com/office/drawing/2014/main" id="{11427F85-980B-C0F0-6413-CF781A2F306D}"/>
                </a:ext>
              </a:extLst>
            </p:cNvPr>
            <p:cNvSpPr>
              <a:spLocks noChangeArrowheads="1"/>
            </p:cNvSpPr>
            <p:nvPr/>
          </p:nvSpPr>
          <p:spPr bwMode="auto">
            <a:xfrm>
              <a:off x="3446" y="265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4291" name="Rectangle 26">
              <a:extLst>
                <a:ext uri="{FF2B5EF4-FFF2-40B4-BE49-F238E27FC236}">
                  <a16:creationId xmlns:a16="http://schemas.microsoft.com/office/drawing/2014/main" id="{4408CD90-FE02-A610-807D-0844A1BF822A}"/>
                </a:ext>
              </a:extLst>
            </p:cNvPr>
            <p:cNvSpPr>
              <a:spLocks noChangeArrowheads="1"/>
            </p:cNvSpPr>
            <p:nvPr/>
          </p:nvSpPr>
          <p:spPr bwMode="auto">
            <a:xfrm>
              <a:off x="3110" y="198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4292" name="Rectangle 27">
              <a:extLst>
                <a:ext uri="{FF2B5EF4-FFF2-40B4-BE49-F238E27FC236}">
                  <a16:creationId xmlns:a16="http://schemas.microsoft.com/office/drawing/2014/main" id="{F26C7FE9-4CD0-19CD-30B3-F0E568D61012}"/>
                </a:ext>
              </a:extLst>
            </p:cNvPr>
            <p:cNvSpPr>
              <a:spLocks noChangeArrowheads="1"/>
            </p:cNvSpPr>
            <p:nvPr/>
          </p:nvSpPr>
          <p:spPr bwMode="auto">
            <a:xfrm>
              <a:off x="4214" y="1987"/>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6</a:t>
              </a:r>
            </a:p>
          </p:txBody>
        </p:sp>
        <p:sp>
          <p:nvSpPr>
            <p:cNvPr id="54293" name="Rectangle 28">
              <a:extLst>
                <a:ext uri="{FF2B5EF4-FFF2-40B4-BE49-F238E27FC236}">
                  <a16:creationId xmlns:a16="http://schemas.microsoft.com/office/drawing/2014/main" id="{5151404A-348D-2A3D-3DC4-AF3A8C0789C3}"/>
                </a:ext>
              </a:extLst>
            </p:cNvPr>
            <p:cNvSpPr>
              <a:spLocks noChangeArrowheads="1"/>
            </p:cNvSpPr>
            <p:nvPr/>
          </p:nvSpPr>
          <p:spPr bwMode="auto">
            <a:xfrm>
              <a:off x="3734" y="145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4</a:t>
              </a:r>
            </a:p>
          </p:txBody>
        </p:sp>
        <p:sp>
          <p:nvSpPr>
            <p:cNvPr id="54294" name="Oval 29">
              <a:extLst>
                <a:ext uri="{FF2B5EF4-FFF2-40B4-BE49-F238E27FC236}">
                  <a16:creationId xmlns:a16="http://schemas.microsoft.com/office/drawing/2014/main" id="{6735BC2D-721B-6541-3DF6-E7174A15C652}"/>
                </a:ext>
              </a:extLst>
            </p:cNvPr>
            <p:cNvSpPr>
              <a:spLocks noChangeArrowheads="1"/>
            </p:cNvSpPr>
            <p:nvPr/>
          </p:nvSpPr>
          <p:spPr bwMode="auto">
            <a:xfrm>
              <a:off x="3988" y="2644"/>
              <a:ext cx="280" cy="280"/>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p>
          </p:txBody>
        </p:sp>
        <p:sp>
          <p:nvSpPr>
            <p:cNvPr id="54295" name="Rectangle 30">
              <a:extLst>
                <a:ext uri="{FF2B5EF4-FFF2-40B4-BE49-F238E27FC236}">
                  <a16:creationId xmlns:a16="http://schemas.microsoft.com/office/drawing/2014/main" id="{4957B40A-68D8-0ADE-A170-473C96D00F35}"/>
                </a:ext>
              </a:extLst>
            </p:cNvPr>
            <p:cNvSpPr>
              <a:spLocks noChangeArrowheads="1"/>
            </p:cNvSpPr>
            <p:nvPr/>
          </p:nvSpPr>
          <p:spPr bwMode="auto">
            <a:xfrm>
              <a:off x="4022" y="265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t>8</a:t>
              </a:r>
            </a:p>
          </p:txBody>
        </p:sp>
        <p:sp>
          <p:nvSpPr>
            <p:cNvPr id="54296" name="Line 31">
              <a:extLst>
                <a:ext uri="{FF2B5EF4-FFF2-40B4-BE49-F238E27FC236}">
                  <a16:creationId xmlns:a16="http://schemas.microsoft.com/office/drawing/2014/main" id="{164B8D1E-4181-03C9-4F25-17FB14A0B1D1}"/>
                </a:ext>
              </a:extLst>
            </p:cNvPr>
            <p:cNvSpPr>
              <a:spLocks noChangeShapeType="1"/>
            </p:cNvSpPr>
            <p:nvPr/>
          </p:nvSpPr>
          <p:spPr bwMode="auto">
            <a:xfrm flipH="1">
              <a:off x="4128" y="2256"/>
              <a:ext cx="144"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grpSp>
      <p:sp>
        <p:nvSpPr>
          <p:cNvPr id="394272" name="Line 32">
            <a:extLst>
              <a:ext uri="{FF2B5EF4-FFF2-40B4-BE49-F238E27FC236}">
                <a16:creationId xmlns:a16="http://schemas.microsoft.com/office/drawing/2014/main" id="{706FB8D9-B1A5-CAEE-0B36-FD467051E350}"/>
              </a:ext>
            </a:extLst>
          </p:cNvPr>
          <p:cNvSpPr>
            <a:spLocks noChangeShapeType="1"/>
          </p:cNvSpPr>
          <p:nvPr/>
        </p:nvSpPr>
        <p:spPr bwMode="auto">
          <a:xfrm>
            <a:off x="4286250" y="1314450"/>
            <a:ext cx="12573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pic>
        <p:nvPicPr>
          <p:cNvPr id="4" name="Picture 3">
            <a:extLst>
              <a:ext uri="{FF2B5EF4-FFF2-40B4-BE49-F238E27FC236}">
                <a16:creationId xmlns:a16="http://schemas.microsoft.com/office/drawing/2014/main" id="{5AE47D71-5BBE-7BF3-D66D-6D2A53CCA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9EC75826-5BC1-8DAF-7568-D81816D2C477}"/>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9425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394272"/>
                                        </p:tgtEl>
                                        <p:attrNameLst>
                                          <p:attrName>style.visibility</p:attrName>
                                        </p:attrNameLst>
                                      </p:cBhvr>
                                      <p:to>
                                        <p:strVal val="visible"/>
                                      </p:to>
                                    </p:set>
                                    <p:anim calcmode="lin" valueType="num">
                                      <p:cBhvr additive="base">
                                        <p:cTn id="23" dur="500" fill="hold"/>
                                        <p:tgtEl>
                                          <p:spTgt spid="394272"/>
                                        </p:tgtEl>
                                        <p:attrNameLst>
                                          <p:attrName>ppt_x</p:attrName>
                                        </p:attrNameLst>
                                      </p:cBhvr>
                                      <p:tavLst>
                                        <p:tav tm="0">
                                          <p:val>
                                            <p:strVal val="0-#ppt_w/2"/>
                                          </p:val>
                                        </p:tav>
                                        <p:tav tm="100000">
                                          <p:val>
                                            <p:strVal val="#ppt_x"/>
                                          </p:val>
                                        </p:tav>
                                      </p:tavLst>
                                    </p:anim>
                                    <p:anim calcmode="lin" valueType="num">
                                      <p:cBhvr additive="base">
                                        <p:cTn id="24" dur="500" fill="hold"/>
                                        <p:tgtEl>
                                          <p:spTgt spid="39427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39425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52" grpId="0" build="p" autoUpdateAnimBg="0"/>
      <p:bldP spid="39425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A64F21D-5781-85C6-3306-74F1A4337E62}"/>
              </a:ext>
            </a:extLst>
          </p:cNvPr>
          <p:cNvSpPr>
            <a:spLocks noGrp="1" noChangeArrowheads="1"/>
          </p:cNvSpPr>
          <p:nvPr>
            <p:ph type="ctrTitle"/>
          </p:nvPr>
        </p:nvSpPr>
        <p:spPr>
          <a:xfrm>
            <a:off x="1200150" y="171450"/>
            <a:ext cx="6686550" cy="857250"/>
          </a:xfrm>
          <a:noFill/>
        </p:spPr>
        <p:txBody>
          <a:bodyPr/>
          <a:lstStyle/>
          <a:p>
            <a:r>
              <a:rPr lang="en-US" altLang="en-US"/>
              <a:t>Meld Two Min Leftist Trees</a:t>
            </a:r>
          </a:p>
        </p:txBody>
      </p:sp>
      <p:sp>
        <p:nvSpPr>
          <p:cNvPr id="56323" name="Oval 3">
            <a:extLst>
              <a:ext uri="{FF2B5EF4-FFF2-40B4-BE49-F238E27FC236}">
                <a16:creationId xmlns:a16="http://schemas.microsoft.com/office/drawing/2014/main" id="{F86709B4-6EF8-22B3-9135-FFB3338A41D6}"/>
              </a:ext>
            </a:extLst>
          </p:cNvPr>
          <p:cNvSpPr>
            <a:spLocks noChangeArrowheads="1"/>
          </p:cNvSpPr>
          <p:nvPr/>
        </p:nvSpPr>
        <p:spPr bwMode="auto">
          <a:xfrm>
            <a:off x="4005263" y="10334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24" name="Oval 4">
            <a:extLst>
              <a:ext uri="{FF2B5EF4-FFF2-40B4-BE49-F238E27FC236}">
                <a16:creationId xmlns:a16="http://schemas.microsoft.com/office/drawing/2014/main" id="{8D8EA740-6868-E1BE-8112-860DFDA5A9B9}"/>
              </a:ext>
            </a:extLst>
          </p:cNvPr>
          <p:cNvSpPr>
            <a:spLocks noChangeArrowheads="1"/>
          </p:cNvSpPr>
          <p:nvPr/>
        </p:nvSpPr>
        <p:spPr bwMode="auto">
          <a:xfrm>
            <a:off x="5376863" y="183356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25" name="Line 5">
            <a:extLst>
              <a:ext uri="{FF2B5EF4-FFF2-40B4-BE49-F238E27FC236}">
                <a16:creationId xmlns:a16="http://schemas.microsoft.com/office/drawing/2014/main" id="{2DC7334C-B6E8-E840-6535-252DBA198072}"/>
              </a:ext>
            </a:extLst>
          </p:cNvPr>
          <p:cNvSpPr>
            <a:spLocks noChangeShapeType="1"/>
          </p:cNvSpPr>
          <p:nvPr/>
        </p:nvSpPr>
        <p:spPr bwMode="auto">
          <a:xfrm flipH="1">
            <a:off x="3371850" y="1371600"/>
            <a:ext cx="685800" cy="285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26" name="Oval 6">
            <a:extLst>
              <a:ext uri="{FF2B5EF4-FFF2-40B4-BE49-F238E27FC236}">
                <a16:creationId xmlns:a16="http://schemas.microsoft.com/office/drawing/2014/main" id="{B82CF6B5-71E6-291E-E872-D4D5B09F1F00}"/>
              </a:ext>
            </a:extLst>
          </p:cNvPr>
          <p:cNvSpPr>
            <a:spLocks noChangeArrowheads="1"/>
          </p:cNvSpPr>
          <p:nvPr/>
        </p:nvSpPr>
        <p:spPr bwMode="auto">
          <a:xfrm>
            <a:off x="4976813" y="2576513"/>
            <a:ext cx="333375" cy="333375"/>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27" name="Line 7">
            <a:extLst>
              <a:ext uri="{FF2B5EF4-FFF2-40B4-BE49-F238E27FC236}">
                <a16:creationId xmlns:a16="http://schemas.microsoft.com/office/drawing/2014/main" id="{00A7F4A5-EB1E-EA8D-3191-651F328A867E}"/>
              </a:ext>
            </a:extLst>
          </p:cNvPr>
          <p:cNvSpPr>
            <a:spLocks noChangeShapeType="1"/>
          </p:cNvSpPr>
          <p:nvPr/>
        </p:nvSpPr>
        <p:spPr bwMode="auto">
          <a:xfrm flipH="1">
            <a:off x="5200650" y="2171700"/>
            <a:ext cx="2857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28" name="Rectangle 8">
            <a:extLst>
              <a:ext uri="{FF2B5EF4-FFF2-40B4-BE49-F238E27FC236}">
                <a16:creationId xmlns:a16="http://schemas.microsoft.com/office/drawing/2014/main" id="{6340BF85-C54B-72CB-C330-549315B92800}"/>
              </a:ext>
            </a:extLst>
          </p:cNvPr>
          <p:cNvSpPr>
            <a:spLocks noChangeArrowheads="1"/>
          </p:cNvSpPr>
          <p:nvPr/>
        </p:nvSpPr>
        <p:spPr bwMode="auto">
          <a:xfrm>
            <a:off x="5017294" y="25943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9</a:t>
            </a:r>
          </a:p>
        </p:txBody>
      </p:sp>
      <p:sp>
        <p:nvSpPr>
          <p:cNvPr id="56329" name="Rectangle 9">
            <a:extLst>
              <a:ext uri="{FF2B5EF4-FFF2-40B4-BE49-F238E27FC236}">
                <a16:creationId xmlns:a16="http://schemas.microsoft.com/office/drawing/2014/main" id="{9DD8C824-776E-91D6-3396-16F10726BF23}"/>
              </a:ext>
            </a:extLst>
          </p:cNvPr>
          <p:cNvSpPr>
            <a:spLocks noChangeArrowheads="1"/>
          </p:cNvSpPr>
          <p:nvPr/>
        </p:nvSpPr>
        <p:spPr bwMode="auto">
          <a:xfrm>
            <a:off x="5417344" y="18514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5</a:t>
            </a:r>
          </a:p>
        </p:txBody>
      </p:sp>
      <p:sp>
        <p:nvSpPr>
          <p:cNvPr id="56330" name="Rectangle 10">
            <a:extLst>
              <a:ext uri="{FF2B5EF4-FFF2-40B4-BE49-F238E27FC236}">
                <a16:creationId xmlns:a16="http://schemas.microsoft.com/office/drawing/2014/main" id="{58AD7509-10DC-2EDD-6952-25129FA6BE7D}"/>
              </a:ext>
            </a:extLst>
          </p:cNvPr>
          <p:cNvSpPr>
            <a:spLocks noChangeArrowheads="1"/>
          </p:cNvSpPr>
          <p:nvPr/>
        </p:nvSpPr>
        <p:spPr bwMode="auto">
          <a:xfrm>
            <a:off x="4102894" y="10513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3</a:t>
            </a:r>
          </a:p>
        </p:txBody>
      </p:sp>
      <p:sp>
        <p:nvSpPr>
          <p:cNvPr id="56331" name="Oval 11">
            <a:extLst>
              <a:ext uri="{FF2B5EF4-FFF2-40B4-BE49-F238E27FC236}">
                <a16:creationId xmlns:a16="http://schemas.microsoft.com/office/drawing/2014/main" id="{2DE9C4F8-26E0-7058-907B-3F29544B3C8D}"/>
              </a:ext>
            </a:extLst>
          </p:cNvPr>
          <p:cNvSpPr>
            <a:spLocks noChangeArrowheads="1"/>
          </p:cNvSpPr>
          <p:nvPr/>
        </p:nvSpPr>
        <p:spPr bwMode="auto">
          <a:xfrm>
            <a:off x="3148013" y="160496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32" name="Oval 12">
            <a:extLst>
              <a:ext uri="{FF2B5EF4-FFF2-40B4-BE49-F238E27FC236}">
                <a16:creationId xmlns:a16="http://schemas.microsoft.com/office/drawing/2014/main" id="{2CBDCD5B-951E-2572-33A8-8BCA1385E05E}"/>
              </a:ext>
            </a:extLst>
          </p:cNvPr>
          <p:cNvSpPr>
            <a:spLocks noChangeArrowheads="1"/>
          </p:cNvSpPr>
          <p:nvPr/>
        </p:nvSpPr>
        <p:spPr bwMode="auto">
          <a:xfrm>
            <a:off x="2405063" y="223361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33" name="Oval 13">
            <a:extLst>
              <a:ext uri="{FF2B5EF4-FFF2-40B4-BE49-F238E27FC236}">
                <a16:creationId xmlns:a16="http://schemas.microsoft.com/office/drawing/2014/main" id="{2658E9B9-19CC-64D7-20CD-92242994E9DE}"/>
              </a:ext>
            </a:extLst>
          </p:cNvPr>
          <p:cNvSpPr>
            <a:spLocks noChangeArrowheads="1"/>
          </p:cNvSpPr>
          <p:nvPr/>
        </p:nvSpPr>
        <p:spPr bwMode="auto">
          <a:xfrm>
            <a:off x="3719513" y="223361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34" name="Oval 14">
            <a:extLst>
              <a:ext uri="{FF2B5EF4-FFF2-40B4-BE49-F238E27FC236}">
                <a16:creationId xmlns:a16="http://schemas.microsoft.com/office/drawing/2014/main" id="{EA8DFD88-19C3-3C8C-787A-3669EB3CE282}"/>
              </a:ext>
            </a:extLst>
          </p:cNvPr>
          <p:cNvSpPr>
            <a:spLocks noChangeArrowheads="1"/>
          </p:cNvSpPr>
          <p:nvPr/>
        </p:nvSpPr>
        <p:spPr bwMode="auto">
          <a:xfrm>
            <a:off x="1947863" y="303371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35" name="Oval 15">
            <a:extLst>
              <a:ext uri="{FF2B5EF4-FFF2-40B4-BE49-F238E27FC236}">
                <a16:creationId xmlns:a16="http://schemas.microsoft.com/office/drawing/2014/main" id="{57F53ABA-5CF2-914B-C121-48F16251B0A2}"/>
              </a:ext>
            </a:extLst>
          </p:cNvPr>
          <p:cNvSpPr>
            <a:spLocks noChangeArrowheads="1"/>
          </p:cNvSpPr>
          <p:nvPr/>
        </p:nvSpPr>
        <p:spPr bwMode="auto">
          <a:xfrm>
            <a:off x="2805113" y="303371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36" name="Line 16">
            <a:extLst>
              <a:ext uri="{FF2B5EF4-FFF2-40B4-BE49-F238E27FC236}">
                <a16:creationId xmlns:a16="http://schemas.microsoft.com/office/drawing/2014/main" id="{171FE72C-D2D7-C9A8-4593-3FE58D61E808}"/>
              </a:ext>
            </a:extLst>
          </p:cNvPr>
          <p:cNvSpPr>
            <a:spLocks noChangeShapeType="1"/>
          </p:cNvSpPr>
          <p:nvPr/>
        </p:nvSpPr>
        <p:spPr bwMode="auto">
          <a:xfrm flipH="1">
            <a:off x="2628900" y="1885950"/>
            <a:ext cx="57150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37" name="Line 17">
            <a:extLst>
              <a:ext uri="{FF2B5EF4-FFF2-40B4-BE49-F238E27FC236}">
                <a16:creationId xmlns:a16="http://schemas.microsoft.com/office/drawing/2014/main" id="{22A13F2E-DB78-541F-6148-B734154A4458}"/>
              </a:ext>
            </a:extLst>
          </p:cNvPr>
          <p:cNvSpPr>
            <a:spLocks noChangeShapeType="1"/>
          </p:cNvSpPr>
          <p:nvPr/>
        </p:nvSpPr>
        <p:spPr bwMode="auto">
          <a:xfrm>
            <a:off x="3429000" y="1885950"/>
            <a:ext cx="400050" cy="400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38" name="Line 18">
            <a:extLst>
              <a:ext uri="{FF2B5EF4-FFF2-40B4-BE49-F238E27FC236}">
                <a16:creationId xmlns:a16="http://schemas.microsoft.com/office/drawing/2014/main" id="{E1936DD4-3CE6-DB0D-7A21-9E36A72DD947}"/>
              </a:ext>
            </a:extLst>
          </p:cNvPr>
          <p:cNvSpPr>
            <a:spLocks noChangeShapeType="1"/>
          </p:cNvSpPr>
          <p:nvPr/>
        </p:nvSpPr>
        <p:spPr bwMode="auto">
          <a:xfrm flipH="1">
            <a:off x="2171700" y="2514600"/>
            <a:ext cx="2857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39" name="Line 19">
            <a:extLst>
              <a:ext uri="{FF2B5EF4-FFF2-40B4-BE49-F238E27FC236}">
                <a16:creationId xmlns:a16="http://schemas.microsoft.com/office/drawing/2014/main" id="{C28433ED-D554-62BB-1195-8561EB61BB40}"/>
              </a:ext>
            </a:extLst>
          </p:cNvPr>
          <p:cNvSpPr>
            <a:spLocks noChangeShapeType="1"/>
          </p:cNvSpPr>
          <p:nvPr/>
        </p:nvSpPr>
        <p:spPr bwMode="auto">
          <a:xfrm>
            <a:off x="2686050" y="2514600"/>
            <a:ext cx="2286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40" name="Rectangle 20">
            <a:extLst>
              <a:ext uri="{FF2B5EF4-FFF2-40B4-BE49-F238E27FC236}">
                <a16:creationId xmlns:a16="http://schemas.microsoft.com/office/drawing/2014/main" id="{B50F336F-E552-FC8D-364C-68A69F8DC710}"/>
              </a:ext>
            </a:extLst>
          </p:cNvPr>
          <p:cNvSpPr>
            <a:spLocks noChangeArrowheads="1"/>
          </p:cNvSpPr>
          <p:nvPr/>
        </p:nvSpPr>
        <p:spPr bwMode="auto">
          <a:xfrm>
            <a:off x="1988344" y="30515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8</a:t>
            </a:r>
          </a:p>
        </p:txBody>
      </p:sp>
      <p:sp>
        <p:nvSpPr>
          <p:cNvPr id="56341" name="Rectangle 21">
            <a:extLst>
              <a:ext uri="{FF2B5EF4-FFF2-40B4-BE49-F238E27FC236}">
                <a16:creationId xmlns:a16="http://schemas.microsoft.com/office/drawing/2014/main" id="{3F2684A0-8866-783C-D49A-15AAAE5EF4BA}"/>
              </a:ext>
            </a:extLst>
          </p:cNvPr>
          <p:cNvSpPr>
            <a:spLocks noChangeArrowheads="1"/>
          </p:cNvSpPr>
          <p:nvPr/>
        </p:nvSpPr>
        <p:spPr bwMode="auto">
          <a:xfrm>
            <a:off x="2845594" y="30515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6</a:t>
            </a:r>
          </a:p>
        </p:txBody>
      </p:sp>
      <p:sp>
        <p:nvSpPr>
          <p:cNvPr id="56342" name="Rectangle 22">
            <a:extLst>
              <a:ext uri="{FF2B5EF4-FFF2-40B4-BE49-F238E27FC236}">
                <a16:creationId xmlns:a16="http://schemas.microsoft.com/office/drawing/2014/main" id="{0A1120BC-E5ED-3DBB-2981-D99E70F4DFB6}"/>
              </a:ext>
            </a:extLst>
          </p:cNvPr>
          <p:cNvSpPr>
            <a:spLocks noChangeArrowheads="1"/>
          </p:cNvSpPr>
          <p:nvPr/>
        </p:nvSpPr>
        <p:spPr bwMode="auto">
          <a:xfrm>
            <a:off x="2445544" y="2251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6</a:t>
            </a:r>
          </a:p>
        </p:txBody>
      </p:sp>
      <p:sp>
        <p:nvSpPr>
          <p:cNvPr id="56343" name="Rectangle 23">
            <a:extLst>
              <a:ext uri="{FF2B5EF4-FFF2-40B4-BE49-F238E27FC236}">
                <a16:creationId xmlns:a16="http://schemas.microsoft.com/office/drawing/2014/main" id="{7656676D-834C-56D6-0289-71A2A0598607}"/>
              </a:ext>
            </a:extLst>
          </p:cNvPr>
          <p:cNvSpPr>
            <a:spLocks noChangeArrowheads="1"/>
          </p:cNvSpPr>
          <p:nvPr/>
        </p:nvSpPr>
        <p:spPr bwMode="auto">
          <a:xfrm>
            <a:off x="3759994" y="22514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6</a:t>
            </a:r>
          </a:p>
        </p:txBody>
      </p:sp>
      <p:sp>
        <p:nvSpPr>
          <p:cNvPr id="56344" name="Rectangle 24">
            <a:extLst>
              <a:ext uri="{FF2B5EF4-FFF2-40B4-BE49-F238E27FC236}">
                <a16:creationId xmlns:a16="http://schemas.microsoft.com/office/drawing/2014/main" id="{DDECC3CB-ECD3-D713-9E79-21819AA87253}"/>
              </a:ext>
            </a:extLst>
          </p:cNvPr>
          <p:cNvSpPr>
            <a:spLocks noChangeArrowheads="1"/>
          </p:cNvSpPr>
          <p:nvPr/>
        </p:nvSpPr>
        <p:spPr bwMode="auto">
          <a:xfrm>
            <a:off x="3188494" y="162282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4</a:t>
            </a:r>
          </a:p>
        </p:txBody>
      </p:sp>
      <p:sp>
        <p:nvSpPr>
          <p:cNvPr id="56345" name="Oval 25">
            <a:extLst>
              <a:ext uri="{FF2B5EF4-FFF2-40B4-BE49-F238E27FC236}">
                <a16:creationId xmlns:a16="http://schemas.microsoft.com/office/drawing/2014/main" id="{B79346B5-3658-DFB6-C9CF-DDDC56585A1C}"/>
              </a:ext>
            </a:extLst>
          </p:cNvPr>
          <p:cNvSpPr>
            <a:spLocks noChangeArrowheads="1"/>
          </p:cNvSpPr>
          <p:nvPr/>
        </p:nvSpPr>
        <p:spPr bwMode="auto">
          <a:xfrm>
            <a:off x="3490913" y="3033713"/>
            <a:ext cx="333375" cy="333375"/>
          </a:xfrm>
          <a:prstGeom prst="ellipse">
            <a:avLst/>
          </a:prstGeom>
          <a:solidFill>
            <a:srgbClr val="FFCC00"/>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endParaRPr lang="en-US" altLang="en-US" sz="2400">
              <a:solidFill>
                <a:srgbClr val="FFFF00"/>
              </a:solidFill>
            </a:endParaRPr>
          </a:p>
        </p:txBody>
      </p:sp>
      <p:sp>
        <p:nvSpPr>
          <p:cNvPr id="56346" name="Rectangle 26">
            <a:extLst>
              <a:ext uri="{FF2B5EF4-FFF2-40B4-BE49-F238E27FC236}">
                <a16:creationId xmlns:a16="http://schemas.microsoft.com/office/drawing/2014/main" id="{3BE8D640-2514-E4F1-9A35-9FC249F5DB21}"/>
              </a:ext>
            </a:extLst>
          </p:cNvPr>
          <p:cNvSpPr>
            <a:spLocks noChangeArrowheads="1"/>
          </p:cNvSpPr>
          <p:nvPr/>
        </p:nvSpPr>
        <p:spPr bwMode="auto">
          <a:xfrm>
            <a:off x="3531394" y="3051572"/>
            <a:ext cx="235641"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tx2"/>
              </a:buClr>
              <a:buChar char="•"/>
              <a:defRPr sz="3200">
                <a:solidFill>
                  <a:schemeClr val="tx1"/>
                </a:solidFill>
                <a:latin typeface="Times New Roman" panose="02020603050405020304" pitchFamily="18" charset="0"/>
              </a:defRPr>
            </a:lvl1pPr>
            <a:lvl2pPr marL="742950" indent="-285750">
              <a:spcBef>
                <a:spcPct val="20000"/>
              </a:spcBef>
              <a:buClr>
                <a:schemeClr val="hlink"/>
              </a:buClr>
              <a:buFont typeface="Wingdings" panose="05000000000000000000" pitchFamily="2" charset="2"/>
              <a:buChar char="§"/>
              <a:defRPr sz="2800">
                <a:solidFill>
                  <a:schemeClr val="tx1"/>
                </a:solidFill>
                <a:latin typeface="Times New Roman" panose="02020603050405020304" pitchFamily="18" charset="0"/>
              </a:defRPr>
            </a:lvl2pPr>
            <a:lvl3pPr marL="1143000" indent="-228600">
              <a:spcBef>
                <a:spcPct val="20000"/>
              </a:spcBef>
              <a:buClr>
                <a:schemeClr val="folHlink"/>
              </a:buClr>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FontTx/>
              <a:buNone/>
            </a:pPr>
            <a:r>
              <a:rPr lang="en-US" altLang="en-US" sz="1500">
                <a:solidFill>
                  <a:schemeClr val="bg2"/>
                </a:solidFill>
              </a:rPr>
              <a:t>8</a:t>
            </a:r>
          </a:p>
        </p:txBody>
      </p:sp>
      <p:sp>
        <p:nvSpPr>
          <p:cNvPr id="56347" name="Line 27">
            <a:extLst>
              <a:ext uri="{FF2B5EF4-FFF2-40B4-BE49-F238E27FC236}">
                <a16:creationId xmlns:a16="http://schemas.microsoft.com/office/drawing/2014/main" id="{B937EA3D-AE35-AE86-1336-67DC01151D69}"/>
              </a:ext>
            </a:extLst>
          </p:cNvPr>
          <p:cNvSpPr>
            <a:spLocks noChangeShapeType="1"/>
          </p:cNvSpPr>
          <p:nvPr/>
        </p:nvSpPr>
        <p:spPr bwMode="auto">
          <a:xfrm flipH="1">
            <a:off x="3657600" y="2571750"/>
            <a:ext cx="17145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sp>
        <p:nvSpPr>
          <p:cNvPr id="56348" name="Line 28">
            <a:extLst>
              <a:ext uri="{FF2B5EF4-FFF2-40B4-BE49-F238E27FC236}">
                <a16:creationId xmlns:a16="http://schemas.microsoft.com/office/drawing/2014/main" id="{83A40A41-FA69-B8EC-B953-CC084F2FCC03}"/>
              </a:ext>
            </a:extLst>
          </p:cNvPr>
          <p:cNvSpPr>
            <a:spLocks noChangeShapeType="1"/>
          </p:cNvSpPr>
          <p:nvPr/>
        </p:nvSpPr>
        <p:spPr bwMode="auto">
          <a:xfrm>
            <a:off x="4286250" y="1314450"/>
            <a:ext cx="12573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IN" sz="1050"/>
          </a:p>
        </p:txBody>
      </p:sp>
      <p:pic>
        <p:nvPicPr>
          <p:cNvPr id="2" name="Picture 1">
            <a:extLst>
              <a:ext uri="{FF2B5EF4-FFF2-40B4-BE49-F238E27FC236}">
                <a16:creationId xmlns:a16="http://schemas.microsoft.com/office/drawing/2014/main" id="{BF0ECC43-C876-3AB8-747D-4C347B29C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B4338B9C-6AD0-D6DE-61C7-A8AC63510AD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781563B-53CD-DCCB-48F6-EF276882974F}"/>
              </a:ext>
            </a:extLst>
          </p:cNvPr>
          <p:cNvSpPr>
            <a:spLocks noGrp="1" noChangeArrowheads="1"/>
          </p:cNvSpPr>
          <p:nvPr>
            <p:ph type="ctrTitle"/>
          </p:nvPr>
        </p:nvSpPr>
        <p:spPr>
          <a:xfrm>
            <a:off x="1600200" y="114300"/>
            <a:ext cx="5829300" cy="857250"/>
          </a:xfrm>
          <a:noFill/>
        </p:spPr>
        <p:txBody>
          <a:bodyPr/>
          <a:lstStyle/>
          <a:p>
            <a:r>
              <a:rPr lang="en-US" altLang="en-US"/>
              <a:t>Initializing In O(n) Time</a:t>
            </a:r>
          </a:p>
        </p:txBody>
      </p:sp>
      <p:sp>
        <p:nvSpPr>
          <p:cNvPr id="398339" name="Rectangle 3">
            <a:extLst>
              <a:ext uri="{FF2B5EF4-FFF2-40B4-BE49-F238E27FC236}">
                <a16:creationId xmlns:a16="http://schemas.microsoft.com/office/drawing/2014/main" id="{8B01D232-96CF-8991-E58D-2AC0578434AF}"/>
              </a:ext>
            </a:extLst>
          </p:cNvPr>
          <p:cNvSpPr>
            <a:spLocks noGrp="1" noChangeArrowheads="1"/>
          </p:cNvSpPr>
          <p:nvPr>
            <p:ph type="subTitle" idx="1"/>
          </p:nvPr>
        </p:nvSpPr>
        <p:spPr>
          <a:xfrm>
            <a:off x="1543050" y="914400"/>
            <a:ext cx="6115050" cy="4000500"/>
          </a:xfrm>
          <a:noFill/>
        </p:spPr>
        <p:txBody>
          <a:bodyPr/>
          <a:lstStyle/>
          <a:p>
            <a:pPr marL="257175" indent="-257175" algn="l">
              <a:buFontTx/>
              <a:buChar char="•"/>
            </a:pPr>
            <a:r>
              <a:rPr lang="en-US" altLang="en-US" dirty="0"/>
              <a:t>Create n single-node min leftist trees and place them in a FIFO queue.</a:t>
            </a:r>
          </a:p>
          <a:p>
            <a:pPr marL="257175" indent="-257175" algn="l">
              <a:buFontTx/>
              <a:buChar char="•"/>
            </a:pPr>
            <a:r>
              <a:rPr lang="en-US" altLang="en-US" dirty="0"/>
              <a:t>Repeatedly remove two min leftist trees from the FIFO queue, meld them, and put the resulting min leftist tree into the FIFO queue.</a:t>
            </a:r>
          </a:p>
          <a:p>
            <a:pPr marL="257175" indent="-257175" algn="l">
              <a:buFontTx/>
              <a:buChar char="•"/>
            </a:pPr>
            <a:r>
              <a:rPr lang="en-US" altLang="en-US" dirty="0"/>
              <a:t>The process terminates when only 1 min leftist tree remains in the FIFO queue.</a:t>
            </a:r>
          </a:p>
          <a:p>
            <a:pPr marL="257175" indent="-257175" algn="l">
              <a:buFontTx/>
              <a:buChar char="•"/>
            </a:pPr>
            <a:r>
              <a:rPr lang="en-US" altLang="en-US" dirty="0"/>
              <a:t>Analysis is the same as for heap initialization.       </a:t>
            </a:r>
          </a:p>
        </p:txBody>
      </p:sp>
      <p:pic>
        <p:nvPicPr>
          <p:cNvPr id="2" name="Picture 1">
            <a:extLst>
              <a:ext uri="{FF2B5EF4-FFF2-40B4-BE49-F238E27FC236}">
                <a16:creationId xmlns:a16="http://schemas.microsoft.com/office/drawing/2014/main" id="{E8721577-1306-CA26-ED6E-B75A72765E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00186C8-819D-103F-D414-D625B8C69A7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8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98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983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70F4801-37BA-1E1D-C878-579237B600DC}"/>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0CBEF1A5-B46E-3696-FF75-6E8F86EA9B7B}"/>
              </a:ext>
            </a:extLst>
          </p:cNvPr>
          <p:cNvSpPr>
            <a:spLocks noGrp="1" noChangeArrowheads="1"/>
          </p:cNvSpPr>
          <p:nvPr>
            <p:ph type="ctrTitle"/>
          </p:nvPr>
        </p:nvSpPr>
        <p:spPr>
          <a:xfrm>
            <a:off x="914401" y="114300"/>
            <a:ext cx="7680058" cy="857250"/>
          </a:xfrm>
          <a:noFill/>
        </p:spPr>
        <p:txBody>
          <a:bodyPr/>
          <a:lstStyle/>
          <a:p>
            <a:r>
              <a:rPr lang="en-IN" dirty="0">
                <a:latin typeface="Times New Roman" panose="02020603050405020304" pitchFamily="18" charset="0"/>
                <a:cs typeface="Times New Roman" panose="02020603050405020304" pitchFamily="18" charset="0"/>
              </a:rPr>
              <a:t>Fibonacci 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58A9FF5-7849-0AFC-3E3F-D58C11644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44DB56F5-D238-6D44-AE1C-E80727A7A9D6}"/>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386674FB-7800-7AF0-396B-AF921B3DC007}"/>
              </a:ext>
            </a:extLst>
          </p:cNvPr>
          <p:cNvGraphicFramePr>
            <a:graphicFrameLocks noGrp="1"/>
          </p:cNvGraphicFramePr>
          <p:nvPr>
            <p:extLst>
              <p:ext uri="{D42A27DB-BD31-4B8C-83A1-F6EECF244321}">
                <p14:modId xmlns:p14="http://schemas.microsoft.com/office/powerpoint/2010/main" val="1698608872"/>
              </p:ext>
            </p:extLst>
          </p:nvPr>
        </p:nvGraphicFramePr>
        <p:xfrm>
          <a:off x="613894" y="1086118"/>
          <a:ext cx="7349543" cy="3155328"/>
        </p:xfrm>
        <a:graphic>
          <a:graphicData uri="http://schemas.openxmlformats.org/drawingml/2006/table">
            <a:tbl>
              <a:tblPr firstRow="1" firstCol="1" bandRow="1">
                <a:tableStyleId>{5C22544A-7EE6-4342-B048-85BDC9FD1C3A}</a:tableStyleId>
              </a:tblPr>
              <a:tblGrid>
                <a:gridCol w="1597542">
                  <a:extLst>
                    <a:ext uri="{9D8B030D-6E8A-4147-A177-3AD203B41FA5}">
                      <a16:colId xmlns:a16="http://schemas.microsoft.com/office/drawing/2014/main" val="1767342684"/>
                    </a:ext>
                  </a:extLst>
                </a:gridCol>
                <a:gridCol w="2077227">
                  <a:extLst>
                    <a:ext uri="{9D8B030D-6E8A-4147-A177-3AD203B41FA5}">
                      <a16:colId xmlns:a16="http://schemas.microsoft.com/office/drawing/2014/main" val="3805383824"/>
                    </a:ext>
                  </a:extLst>
                </a:gridCol>
                <a:gridCol w="1837387">
                  <a:extLst>
                    <a:ext uri="{9D8B030D-6E8A-4147-A177-3AD203B41FA5}">
                      <a16:colId xmlns:a16="http://schemas.microsoft.com/office/drawing/2014/main" val="1323212937"/>
                    </a:ext>
                  </a:extLst>
                </a:gridCol>
                <a:gridCol w="1837387">
                  <a:extLst>
                    <a:ext uri="{9D8B030D-6E8A-4147-A177-3AD203B41FA5}">
                      <a16:colId xmlns:a16="http://schemas.microsoft.com/office/drawing/2014/main" val="3456256070"/>
                    </a:ext>
                  </a:extLst>
                </a:gridCol>
              </a:tblGrid>
              <a:tr h="394416">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Procedure</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Binary Heap</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Binomial Heap</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Fibonacci Heap</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45926541"/>
                  </a:ext>
                </a:extLst>
              </a:tr>
              <a:tr h="394416">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Make Heap</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Θ(1)</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50529235"/>
                  </a:ext>
                </a:extLst>
              </a:tr>
              <a:tr h="394416">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Insert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Θ(log 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Θ(1)</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37148226"/>
                  </a:ext>
                </a:extLst>
              </a:tr>
              <a:tr h="394416">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Min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Θ(1)</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42135601"/>
                  </a:ext>
                </a:extLst>
              </a:tr>
              <a:tr h="394416">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Extract Min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Θ(log 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55603561"/>
                  </a:ext>
                </a:extLst>
              </a:tr>
              <a:tr h="394416">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Union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00288257"/>
                  </a:ext>
                </a:extLst>
              </a:tr>
              <a:tr h="394416">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Decrease Key</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31730525"/>
                  </a:ext>
                </a:extLst>
              </a:tr>
              <a:tr h="394416">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Delete</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a:effectLst/>
                          <a:latin typeface="Times New Roman" panose="02020603050405020304" pitchFamily="18" charset="0"/>
                          <a:cs typeface="Times New Roman" panose="02020603050405020304" pitchFamily="18" charset="0"/>
                        </a:rPr>
                        <a:t>Θ(log n)</a:t>
                      </a:r>
                      <a:endParaRPr lang="en-IN" sz="11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100" dirty="0">
                          <a:effectLst/>
                          <a:latin typeface="Times New Roman" panose="02020603050405020304" pitchFamily="18" charset="0"/>
                          <a:cs typeface="Times New Roman" panose="02020603050405020304" pitchFamily="18" charset="0"/>
                        </a:rPr>
                        <a:t>Θ(log n)</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77896533"/>
                  </a:ext>
                </a:extLst>
              </a:tr>
            </a:tbl>
          </a:graphicData>
        </a:graphic>
      </p:graphicFrame>
    </p:spTree>
    <p:extLst>
      <p:ext uri="{BB962C8B-B14F-4D97-AF65-F5344CB8AC3E}">
        <p14:creationId xmlns:p14="http://schemas.microsoft.com/office/powerpoint/2010/main" val="887549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E2A39B2-DB6A-534F-104E-D3A98419CD13}"/>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6FD04899-DE2E-D6B1-FF2D-4073312B8C63}"/>
              </a:ext>
            </a:extLst>
          </p:cNvPr>
          <p:cNvSpPr>
            <a:spLocks noGrp="1" noChangeArrowheads="1"/>
          </p:cNvSpPr>
          <p:nvPr>
            <p:ph type="ctrTitle"/>
          </p:nvPr>
        </p:nvSpPr>
        <p:spPr>
          <a:xfrm>
            <a:off x="914401" y="114300"/>
            <a:ext cx="7680058" cy="857250"/>
          </a:xfrm>
          <a:noFill/>
        </p:spPr>
        <p:txBody>
          <a:bodyPr/>
          <a:lstStyle/>
          <a:p>
            <a:r>
              <a:rPr lang="en-IN" dirty="0">
                <a:latin typeface="Times New Roman" panose="02020603050405020304" pitchFamily="18" charset="0"/>
                <a:cs typeface="Times New Roman" panose="02020603050405020304" pitchFamily="18" charset="0"/>
              </a:rPr>
              <a:t>Fibonacci 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2EFC5B5-C077-0AB5-8E80-09E77A84E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C5D191CC-59DB-916C-D7BC-082C1B20AA7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475458CF-B167-2957-2E9E-A5A7C64001C7}"/>
              </a:ext>
            </a:extLst>
          </p:cNvPr>
          <p:cNvSpPr txBox="1"/>
          <p:nvPr/>
        </p:nvSpPr>
        <p:spPr>
          <a:xfrm>
            <a:off x="648237" y="1013139"/>
            <a:ext cx="6508123" cy="4120167"/>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Collection of trees with each tree following the heap ordering property.</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Trees may be in any order in the root list (unlike Binomial Heaps).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pointer to the minimum element of the heap is always maintained (min(H)).</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Siblings are connected through a circular doubly linked list.</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child points to its parent.</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parent points to any one child.</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Degree(x):</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Number of children of the root of a tree.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mark(x):</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1</a:t>
            </a:r>
            <a:r>
              <a:rPr lang="en-US" dirty="0">
                <a:latin typeface="Times New Roman" panose="02020603050405020304" pitchFamily="18" charset="0"/>
                <a:cs typeface="Times New Roman" panose="02020603050405020304" pitchFamily="18" charset="0"/>
              </a:rPr>
              <a:t> → Lost one of its children</a:t>
            </a:r>
          </a:p>
          <a:p>
            <a:r>
              <a:rPr lang="en-US" b="1" dirty="0">
                <a:latin typeface="Times New Roman" panose="02020603050405020304" pitchFamily="18" charset="0"/>
                <a:cs typeface="Times New Roman" panose="02020603050405020304" pitchFamily="18" charset="0"/>
              </a:rPr>
              <a:t>            0</a:t>
            </a:r>
            <a:r>
              <a:rPr lang="en-US" dirty="0">
                <a:latin typeface="Times New Roman" panose="02020603050405020304" pitchFamily="18" charset="0"/>
                <a:cs typeface="Times New Roman" panose="02020603050405020304" pitchFamily="18" charset="0"/>
              </a:rPr>
              <a:t> → Lost no child</a:t>
            </a:r>
          </a:p>
          <a:p>
            <a:pPr marL="285750" indent="-285750">
              <a:lnSpc>
                <a:spcPct val="20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3C66DB9-8C7E-195D-1D2A-1F139DCCF069}"/>
              </a:ext>
            </a:extLst>
          </p:cNvPr>
          <p:cNvPicPr>
            <a:picLocks noChangeAspect="1"/>
          </p:cNvPicPr>
          <p:nvPr/>
        </p:nvPicPr>
        <p:blipFill>
          <a:blip r:embed="rId4"/>
          <a:srcRect t="8833" b="9933"/>
          <a:stretch>
            <a:fillRect/>
          </a:stretch>
        </p:blipFill>
        <p:spPr>
          <a:xfrm>
            <a:off x="5160134" y="3000776"/>
            <a:ext cx="3859369" cy="1618447"/>
          </a:xfrm>
          <a:prstGeom prst="rect">
            <a:avLst/>
          </a:prstGeom>
        </p:spPr>
      </p:pic>
    </p:spTree>
    <p:extLst>
      <p:ext uri="{BB962C8B-B14F-4D97-AF65-F5344CB8AC3E}">
        <p14:creationId xmlns:p14="http://schemas.microsoft.com/office/powerpoint/2010/main" val="16017720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2D84E2E-C3FE-FC58-ED72-93A8FD60F5EA}"/>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BA19D99A-A47C-1BC0-CC59-B5A976157593}"/>
              </a:ext>
            </a:extLst>
          </p:cNvPr>
          <p:cNvSpPr>
            <a:spLocks noGrp="1" noChangeArrowheads="1"/>
          </p:cNvSpPr>
          <p:nvPr>
            <p:ph type="ctrTitle"/>
          </p:nvPr>
        </p:nvSpPr>
        <p:spPr>
          <a:xfrm>
            <a:off x="914401" y="114300"/>
            <a:ext cx="7680058" cy="857250"/>
          </a:xfrm>
          <a:noFill/>
        </p:spPr>
        <p:txBody>
          <a:bodyPr/>
          <a:lstStyle/>
          <a:p>
            <a:r>
              <a:rPr lang="en-IN" dirty="0">
                <a:latin typeface="Times New Roman" panose="02020603050405020304" pitchFamily="18" charset="0"/>
                <a:cs typeface="Times New Roman" panose="02020603050405020304" pitchFamily="18" charset="0"/>
              </a:rPr>
              <a:t>Skew 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0E796CC-C117-4569-12C0-3A3DF6395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37B2AED5-C56A-68F0-47D2-C86C10E6548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E4CA0CE9-B12F-7BC0-A47D-45BE403F42A1}"/>
              </a:ext>
            </a:extLst>
          </p:cNvPr>
          <p:cNvSpPr txBox="1"/>
          <p:nvPr/>
        </p:nvSpPr>
        <p:spPr>
          <a:xfrm>
            <a:off x="390659" y="971550"/>
            <a:ext cx="8474299" cy="3754874"/>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Skew Heap is a self-adjusting heap used to implement priority queues.</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is similar to:</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Leftist Heap</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Binary Heap</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But unlike Leftist Heap, it does not store Null Path Length (NPL).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Instead, it maintains balance automatically during merge operations.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Skew Heap is mainly designed to make merge operations efficient.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Skew Heap is a heap-ordered binary tree where the left and right children of every node are swapped during merge operations to maintain balance.</a:t>
            </a:r>
          </a:p>
          <a:p>
            <a:endParaRPr lang="en-US" dirty="0">
              <a:latin typeface="Times New Roman" panose="02020603050405020304" pitchFamily="18" charset="0"/>
              <a:cs typeface="Times New Roman" panose="02020603050405020304" pitchFamily="18" charset="0"/>
            </a:endParaRPr>
          </a:p>
          <a:p>
            <a:pPr>
              <a:buNone/>
            </a:pPr>
            <a:endParaRPr lang="en-US" dirty="0"/>
          </a:p>
        </p:txBody>
      </p:sp>
    </p:spTree>
    <p:extLst>
      <p:ext uri="{BB962C8B-B14F-4D97-AF65-F5344CB8AC3E}">
        <p14:creationId xmlns:p14="http://schemas.microsoft.com/office/powerpoint/2010/main" val="2977487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2D517F2-380A-640F-FCC2-72DAF9104A3A}"/>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71F534B5-DFC3-F08E-FF65-5F7F2D509DEB}"/>
              </a:ext>
            </a:extLst>
          </p:cNvPr>
          <p:cNvSpPr>
            <a:spLocks noGrp="1" noChangeArrowheads="1"/>
          </p:cNvSpPr>
          <p:nvPr>
            <p:ph type="ctrTitle"/>
          </p:nvPr>
        </p:nvSpPr>
        <p:spPr>
          <a:xfrm>
            <a:off x="914401" y="114300"/>
            <a:ext cx="7680058" cy="857250"/>
          </a:xfrm>
          <a:noFill/>
        </p:spPr>
        <p:txBody>
          <a:bodyPr/>
          <a:lstStyle/>
          <a:p>
            <a:r>
              <a:rPr lang="en-IN" dirty="0">
                <a:latin typeface="Times New Roman" panose="02020603050405020304" pitchFamily="18" charset="0"/>
                <a:cs typeface="Times New Roman" panose="02020603050405020304" pitchFamily="18" charset="0"/>
              </a:rPr>
              <a:t>Skew 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4AF4A99-9BB2-C003-6FEB-5E8B72839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26997BCD-8F93-8460-6ABA-8017465AE22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ED814785-0E2D-91D5-7599-4E8F87905BBD}"/>
              </a:ext>
            </a:extLst>
          </p:cNvPr>
          <p:cNvSpPr txBox="1"/>
          <p:nvPr/>
        </p:nvSpPr>
        <p:spPr>
          <a:xfrm>
            <a:off x="362311" y="799023"/>
            <a:ext cx="8474299" cy="738664"/>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Properties of Skew Heaps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13CA889-755A-6381-A330-C1DA21AF2333}"/>
              </a:ext>
            </a:extLst>
          </p:cNvPr>
          <p:cNvPicPr>
            <a:picLocks noChangeAspect="1"/>
          </p:cNvPicPr>
          <p:nvPr/>
        </p:nvPicPr>
        <p:blipFill>
          <a:blip r:embed="rId4"/>
          <a:srcRect l="6867" t="2118" r="30629"/>
          <a:stretch>
            <a:fillRect/>
          </a:stretch>
        </p:blipFill>
        <p:spPr>
          <a:xfrm>
            <a:off x="445018" y="1065111"/>
            <a:ext cx="2481331" cy="3666186"/>
          </a:xfrm>
          <a:prstGeom prst="rect">
            <a:avLst/>
          </a:prstGeom>
        </p:spPr>
      </p:pic>
      <p:pic>
        <p:nvPicPr>
          <p:cNvPr id="8" name="Picture 7">
            <a:extLst>
              <a:ext uri="{FF2B5EF4-FFF2-40B4-BE49-F238E27FC236}">
                <a16:creationId xmlns:a16="http://schemas.microsoft.com/office/drawing/2014/main" id="{0E2766A7-39B0-C17F-8004-BCDD43E76135}"/>
              </a:ext>
            </a:extLst>
          </p:cNvPr>
          <p:cNvPicPr>
            <a:picLocks noChangeAspect="1"/>
          </p:cNvPicPr>
          <p:nvPr/>
        </p:nvPicPr>
        <p:blipFill>
          <a:blip r:embed="rId5"/>
          <a:stretch>
            <a:fillRect/>
          </a:stretch>
        </p:blipFill>
        <p:spPr>
          <a:xfrm>
            <a:off x="3897698" y="971550"/>
            <a:ext cx="3125888" cy="3666186"/>
          </a:xfrm>
          <a:prstGeom prst="rect">
            <a:avLst/>
          </a:prstGeom>
        </p:spPr>
      </p:pic>
    </p:spTree>
    <p:extLst>
      <p:ext uri="{BB962C8B-B14F-4D97-AF65-F5344CB8AC3E}">
        <p14:creationId xmlns:p14="http://schemas.microsoft.com/office/powerpoint/2010/main" val="35751243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9EAD781-99FD-8044-FFB2-8A9C61682EA1}"/>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3C22B6A5-F0D7-833B-7E93-D97757DA5E6D}"/>
              </a:ext>
            </a:extLst>
          </p:cNvPr>
          <p:cNvSpPr>
            <a:spLocks noGrp="1" noChangeArrowheads="1"/>
          </p:cNvSpPr>
          <p:nvPr>
            <p:ph type="ctrTitle"/>
          </p:nvPr>
        </p:nvSpPr>
        <p:spPr>
          <a:xfrm>
            <a:off x="914401" y="114300"/>
            <a:ext cx="7680058" cy="857250"/>
          </a:xfrm>
          <a:noFill/>
        </p:spPr>
        <p:txBody>
          <a:bodyPr/>
          <a:lstStyle/>
          <a:p>
            <a:r>
              <a:rPr lang="en-IN" dirty="0">
                <a:latin typeface="Times New Roman" panose="02020603050405020304" pitchFamily="18" charset="0"/>
                <a:cs typeface="Times New Roman" panose="02020603050405020304" pitchFamily="18" charset="0"/>
              </a:rPr>
              <a:t>Skew 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BA5596D-0CB4-4BDC-F884-04664639DF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227A72C2-4FC5-BDE8-5007-79154CFAC69F}"/>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2EF075AF-B395-8B54-BD12-7AEC166D339A}"/>
              </a:ext>
            </a:extLst>
          </p:cNvPr>
          <p:cNvSpPr txBox="1"/>
          <p:nvPr/>
        </p:nvSpPr>
        <p:spPr>
          <a:xfrm>
            <a:off x="362311" y="799023"/>
            <a:ext cx="8474299" cy="397031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Algorithms of Skew Heaps</a:t>
            </a:r>
          </a:p>
          <a:p>
            <a:pPr>
              <a:buNone/>
            </a:pPr>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Recursive Merge Process :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merge(h1, h2) </a:t>
            </a:r>
          </a:p>
          <a:p>
            <a:pPr marL="285750" indent="-285750"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Let h1 and h2 be the two min skew heaps to be merged. Let h1's root be smaller than h2's root (If not smaller, we can swap to get the same).</a:t>
            </a:r>
          </a:p>
          <a:p>
            <a:pPr marL="285750" indent="-285750"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swap h1-&gt;left and h1-&gt;right.</a:t>
            </a:r>
          </a:p>
          <a:p>
            <a:pPr marL="285750" indent="-285750"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h1-&gt;left = merge(h2, h1-&gt;left)</a:t>
            </a: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Skew heaps have the advantage that no extra space is required to maintain path lengths and no tests are required to determine when to swap children.</a:t>
            </a:r>
          </a:p>
          <a:p>
            <a:r>
              <a:rPr lang="en-US" dirty="0">
                <a:latin typeface="Times New Roman" panose="02020603050405020304" pitchFamily="18" charset="0"/>
                <a:cs typeface="Times New Roman" panose="02020603050405020304" pitchFamily="18" charset="0"/>
              </a:rPr>
              <a:t>•     It is an open problem to determine precisely the expected right path length of both leftist and skew heaps.</a:t>
            </a:r>
          </a:p>
          <a:p>
            <a:pPr marL="285750" indent="-285750"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F4A2AFA-822C-A5AF-9547-36551DD08B1D}"/>
              </a:ext>
            </a:extLst>
          </p:cNvPr>
          <p:cNvPicPr>
            <a:picLocks noChangeAspect="1"/>
          </p:cNvPicPr>
          <p:nvPr/>
        </p:nvPicPr>
        <p:blipFill>
          <a:blip r:embed="rId4"/>
          <a:stretch>
            <a:fillRect/>
          </a:stretch>
        </p:blipFill>
        <p:spPr>
          <a:xfrm>
            <a:off x="4785829" y="2013248"/>
            <a:ext cx="3848128" cy="1685937"/>
          </a:xfrm>
          <a:prstGeom prst="rect">
            <a:avLst/>
          </a:prstGeom>
        </p:spPr>
      </p:pic>
    </p:spTree>
    <p:extLst>
      <p:ext uri="{BB962C8B-B14F-4D97-AF65-F5344CB8AC3E}">
        <p14:creationId xmlns:p14="http://schemas.microsoft.com/office/powerpoint/2010/main" val="18208367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616BC58-42D0-BEEF-020D-1ED99D811128}"/>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00CF90BE-B091-A2A2-1D14-EC9CA5235BAD}"/>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EC39073-1C1D-5020-CFC8-52DE5EAC3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179FD444-6A59-462F-3C55-58BEDACE687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9986690B-DA0B-BE81-057E-09F8159945C1}"/>
              </a:ext>
            </a:extLst>
          </p:cNvPr>
          <p:cNvSpPr txBox="1"/>
          <p:nvPr/>
        </p:nvSpPr>
        <p:spPr>
          <a:xfrm>
            <a:off x="362311" y="799023"/>
            <a:ext cx="8474299" cy="4185761"/>
          </a:xfrm>
          <a:prstGeom prst="rect">
            <a:avLst/>
          </a:prstGeom>
          <a:noFill/>
        </p:spPr>
        <p:txBody>
          <a:bodyPr wrap="square">
            <a:spAutoFit/>
          </a:bodyPr>
          <a:lstStyle/>
          <a:p>
            <a:pPr>
              <a:lnSpc>
                <a:spcPct val="200000"/>
              </a:lnSpc>
              <a:buNone/>
            </a:pPr>
            <a:r>
              <a:rPr lang="en-US" dirty="0">
                <a:latin typeface="Times New Roman" panose="02020603050405020304" pitchFamily="18" charset="0"/>
                <a:cs typeface="Times New Roman" panose="02020603050405020304" pitchFamily="18" charset="0"/>
              </a:rPr>
              <a:t>Pairing Heap is like a simplified form </a:t>
            </a:r>
            <a:r>
              <a:rPr lang="en-US" b="1" u="sng"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Fibonacci Heap</a:t>
            </a:r>
            <a:r>
              <a:rPr lang="en-US" b="1" u="sng" dirty="0">
                <a:latin typeface="Times New Roman" panose="02020603050405020304" pitchFamily="18" charset="0"/>
                <a:cs typeface="Times New Roman" panose="02020603050405020304" pitchFamily="18" charset="0"/>
              </a:rPr>
              <a:t>. </a:t>
            </a:r>
          </a:p>
          <a:p>
            <a:pPr>
              <a:lnSpc>
                <a:spcPct val="200000"/>
              </a:lnSpc>
              <a:buNone/>
            </a:pPr>
            <a:r>
              <a:rPr lang="en-US" dirty="0">
                <a:latin typeface="Times New Roman" panose="02020603050405020304" pitchFamily="18" charset="0"/>
                <a:cs typeface="Times New Roman" panose="02020603050405020304" pitchFamily="18" charset="0"/>
              </a:rPr>
              <a:t>It also maintains the property of </a:t>
            </a:r>
            <a:r>
              <a:rPr lang="en-US" b="1"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min heap</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which is parent value is less than its child nodes value. </a:t>
            </a:r>
          </a:p>
          <a:p>
            <a:pPr>
              <a:lnSpc>
                <a:spcPct val="200000"/>
              </a:lnSpc>
              <a:buNone/>
            </a:pPr>
            <a:r>
              <a:rPr lang="en-US" dirty="0">
                <a:latin typeface="Times New Roman" panose="02020603050405020304" pitchFamily="18" charset="0"/>
                <a:cs typeface="Times New Roman" panose="02020603050405020304" pitchFamily="18" charset="0"/>
              </a:rPr>
              <a:t>It can be considered as a self-adjusting binomial heap.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Each node has a pointer towards the left child and left child points towards the next sibling of the child.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Pairing Heap is a heap-ordered tree used to implement priority queues.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is similar to:</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Fibonacci Heap</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Skew Heap</a:t>
            </a:r>
          </a:p>
          <a:p>
            <a:r>
              <a:rPr lang="en-US" dirty="0">
                <a:latin typeface="Times New Roman" panose="02020603050405020304" pitchFamily="18" charset="0"/>
                <a:cs typeface="Times New Roman" panose="02020603050405020304" pitchFamily="18" charset="0"/>
              </a:rPr>
              <a:t>But it is simpler to implement and performs very well in practice.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Pairing Heap is considered a practical alternative to Fibonacci Heap.</a:t>
            </a: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Example of Pairing Heap is given below: </a:t>
            </a:r>
          </a:p>
        </p:txBody>
      </p:sp>
      <p:pic>
        <p:nvPicPr>
          <p:cNvPr id="1026" name="Picture 2">
            <a:extLst>
              <a:ext uri="{FF2B5EF4-FFF2-40B4-BE49-F238E27FC236}">
                <a16:creationId xmlns:a16="http://schemas.microsoft.com/office/drawing/2014/main" id="{76A431A2-B625-1FAA-D4BC-2A51584837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01" y="2891903"/>
            <a:ext cx="2546704" cy="1872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532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60C8F2B-B157-BAC1-74AB-D512B3090BBA}"/>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E72B0C5F-8B0D-00F3-E9A3-A3783410C6E4}"/>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A26B9C1-C008-826E-3797-C4C7CA2DF2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DD76144A-9E5B-7CC8-A56A-0625C7D9234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5CBE5E6C-1D5D-7362-BDDD-C018516AF176}"/>
              </a:ext>
            </a:extLst>
          </p:cNvPr>
          <p:cNvSpPr txBox="1"/>
          <p:nvPr/>
        </p:nvSpPr>
        <p:spPr>
          <a:xfrm>
            <a:off x="362311" y="799023"/>
            <a:ext cx="8474299" cy="457626"/>
          </a:xfrm>
          <a:prstGeom prst="rect">
            <a:avLst/>
          </a:prstGeom>
          <a:noFill/>
        </p:spPr>
        <p:txBody>
          <a:bodyPr wrap="square">
            <a:spAutoFit/>
          </a:bodyPr>
          <a:lstStyle/>
          <a:p>
            <a:pPr>
              <a:lnSpc>
                <a:spcPct val="200000"/>
              </a:lnSpc>
              <a:buNone/>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67C8132-0DA0-93B5-4609-2FAD9E9E9467}"/>
              </a:ext>
            </a:extLst>
          </p:cNvPr>
          <p:cNvSpPr txBox="1"/>
          <p:nvPr/>
        </p:nvSpPr>
        <p:spPr>
          <a:xfrm>
            <a:off x="515155" y="971550"/>
            <a:ext cx="8388439" cy="3754874"/>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Pairing Heap</a:t>
            </a:r>
            <a:r>
              <a:rPr lang="en-US" dirty="0">
                <a:latin typeface="Times New Roman" panose="02020603050405020304" pitchFamily="18" charset="0"/>
                <a:cs typeface="Times New Roman" panose="02020603050405020304" pitchFamily="18" charset="0"/>
              </a:rPr>
              <a:t> is a </a:t>
            </a:r>
            <a:r>
              <a:rPr lang="en-US" b="1" dirty="0">
                <a:latin typeface="Times New Roman" panose="02020603050405020304" pitchFamily="18" charset="0"/>
                <a:cs typeface="Times New Roman" panose="02020603050405020304" pitchFamily="18" charset="0"/>
              </a:rPr>
              <a:t>heap-ordered multiway tree</a:t>
            </a:r>
            <a:r>
              <a:rPr lang="en-US" dirty="0">
                <a:latin typeface="Times New Roman" panose="02020603050405020304" pitchFamily="18" charset="0"/>
                <a:cs typeface="Times New Roman" panose="02020603050405020304" pitchFamily="18" charset="0"/>
              </a:rPr>
              <a:t> where each node may have </a:t>
            </a:r>
            <a:r>
              <a:rPr lang="en-US" b="1" dirty="0">
                <a:latin typeface="Times New Roman" panose="02020603050405020304" pitchFamily="18" charset="0"/>
                <a:cs typeface="Times New Roman" panose="02020603050405020304" pitchFamily="18" charset="0"/>
              </a:rPr>
              <a:t>multiple children</a:t>
            </a:r>
            <a:r>
              <a:rPr lang="en-US" dirty="0">
                <a:latin typeface="Times New Roman" panose="02020603050405020304" pitchFamily="18" charset="0"/>
                <a:cs typeface="Times New Roman" panose="02020603050405020304" pitchFamily="18" charset="0"/>
              </a:rPr>
              <a:t>, and heap operations are performed using a </a:t>
            </a:r>
            <a:r>
              <a:rPr lang="en-US" b="1" dirty="0">
                <a:latin typeface="Times New Roman" panose="02020603050405020304" pitchFamily="18" charset="0"/>
                <a:cs typeface="Times New Roman" panose="02020603050405020304" pitchFamily="18" charset="0"/>
              </a:rPr>
              <a:t>pairing (merge) strategy</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Key Property</a:t>
            </a:r>
          </a:p>
          <a:p>
            <a:r>
              <a:rPr lang="en-US" dirty="0">
                <a:latin typeface="Times New Roman" panose="02020603050405020304" pitchFamily="18" charset="0"/>
                <a:cs typeface="Times New Roman" panose="02020603050405020304" pitchFamily="18" charset="0"/>
              </a:rPr>
              <a:t>Pairing Heap follows the </a:t>
            </a:r>
            <a:r>
              <a:rPr lang="en-US" b="1" dirty="0">
                <a:latin typeface="Times New Roman" panose="02020603050405020304" pitchFamily="18" charset="0"/>
                <a:cs typeface="Times New Roman" panose="02020603050405020304" pitchFamily="18" charset="0"/>
              </a:rPr>
              <a:t>Heap Order Property</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For </a:t>
            </a:r>
            <a:r>
              <a:rPr lang="en-IN" b="1" dirty="0">
                <a:latin typeface="Times New Roman" panose="02020603050405020304" pitchFamily="18" charset="0"/>
                <a:cs typeface="Times New Roman" panose="02020603050405020304" pitchFamily="18" charset="0"/>
              </a:rPr>
              <a:t>Min Heap</a:t>
            </a:r>
            <a:r>
              <a:rPr lang="en-IN"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Parent ≤ Children</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Structure of Pairing Heap</a:t>
            </a:r>
          </a:p>
          <a:p>
            <a:r>
              <a:rPr lang="en-US" dirty="0">
                <a:latin typeface="Times New Roman" panose="02020603050405020304" pitchFamily="18" charset="0"/>
                <a:cs typeface="Times New Roman" panose="02020603050405020304" pitchFamily="18" charset="0"/>
              </a:rPr>
              <a:t>Each node contains: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 value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Pointer to first child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Pointer to next sibling</a:t>
            </a:r>
          </a:p>
          <a:p>
            <a:pPr>
              <a:buNone/>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898B674-051F-69C4-6865-B2180537282C}"/>
              </a:ext>
            </a:extLst>
          </p:cNvPr>
          <p:cNvSpPr txBox="1"/>
          <p:nvPr/>
        </p:nvSpPr>
        <p:spPr>
          <a:xfrm>
            <a:off x="5818660" y="1423313"/>
            <a:ext cx="3017950" cy="181588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Basic Operations</a:t>
            </a:r>
          </a:p>
          <a:p>
            <a:r>
              <a:rPr lang="en-US" dirty="0">
                <a:latin typeface="Times New Roman" panose="02020603050405020304" pitchFamily="18" charset="0"/>
                <a:cs typeface="Times New Roman" panose="02020603050405020304" pitchFamily="18" charset="0"/>
              </a:rPr>
              <a:t>Pairing Heap supports: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Insert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 Min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Delete Min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Merge (Meld)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Decrease Key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3757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4B7A997-E05A-B4C6-D73C-C9329043F935}"/>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609E1D13-AF8B-D07E-9FF5-8446B46F63CD}"/>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33FBFAA-23D6-FF1C-D052-FFEC6E09F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8A9EBD41-49AD-899A-B730-1012592A25CF}"/>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74B05122-5284-3973-0CB8-22BBC56B59BD}"/>
              </a:ext>
            </a:extLst>
          </p:cNvPr>
          <p:cNvSpPr txBox="1"/>
          <p:nvPr/>
        </p:nvSpPr>
        <p:spPr>
          <a:xfrm>
            <a:off x="362311" y="799023"/>
            <a:ext cx="8474299" cy="2181175"/>
          </a:xfrm>
          <a:prstGeom prst="rect">
            <a:avLst/>
          </a:prstGeom>
          <a:noFill/>
        </p:spPr>
        <p:txBody>
          <a:bodyPr wrap="square">
            <a:spAutoFit/>
          </a:bodyPr>
          <a:lstStyle/>
          <a:p>
            <a:pPr>
              <a:lnSpc>
                <a:spcPct val="200000"/>
              </a:lnSpc>
              <a:buNone/>
            </a:pPr>
            <a:r>
              <a:rPr lang="en-US" b="1" dirty="0">
                <a:latin typeface="Times New Roman" panose="02020603050405020304" pitchFamily="18" charset="0"/>
                <a:cs typeface="Times New Roman" panose="02020603050405020304" pitchFamily="18" charset="0"/>
              </a:rPr>
              <a:t>Merge in Pairing Heap</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join the two heap, first, we compare the root node of the heap if the root node of the first heap is smaller than the root node of the second heap then root node of the second heap becomes a left child of the root node of the first heap otherwise vice-versa. The time complexity of this process is O(1).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Example of Merge is given Below:</a:t>
            </a:r>
          </a:p>
        </p:txBody>
      </p:sp>
      <p:pic>
        <p:nvPicPr>
          <p:cNvPr id="2050" name="Picture 2" descr="Merge">
            <a:extLst>
              <a:ext uri="{FF2B5EF4-FFF2-40B4-BE49-F238E27FC236}">
                <a16:creationId xmlns:a16="http://schemas.microsoft.com/office/drawing/2014/main" id="{062E3FA4-2D91-4C4E-2708-2F279A8996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0743" y="2755139"/>
            <a:ext cx="3585358" cy="2068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9531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0C4F3F2-1D52-3CA8-3F3F-48255E0DD930}"/>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4CAE319D-3A51-3201-5CBF-CD38336072E3}"/>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2BE4FDB-9054-D3BE-5CF3-4756E1B0A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2123BCC1-5C60-B78A-85D4-E9680AE5F91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43D920D2-033D-CA4B-A1A8-60DAE4203486}"/>
              </a:ext>
            </a:extLst>
          </p:cNvPr>
          <p:cNvSpPr txBox="1"/>
          <p:nvPr/>
        </p:nvSpPr>
        <p:spPr>
          <a:xfrm>
            <a:off x="362311" y="799024"/>
            <a:ext cx="8270827" cy="1750287"/>
          </a:xfrm>
          <a:prstGeom prst="rect">
            <a:avLst/>
          </a:prstGeom>
          <a:noFill/>
        </p:spPr>
        <p:txBody>
          <a:bodyPr wrap="square">
            <a:spAutoFit/>
          </a:bodyPr>
          <a:lstStyle/>
          <a:p>
            <a:pPr>
              <a:lnSpc>
                <a:spcPct val="200000"/>
              </a:lnSpc>
              <a:buNone/>
            </a:pPr>
            <a:r>
              <a:rPr lang="en-US" b="1" dirty="0">
                <a:latin typeface="Times New Roman" panose="02020603050405020304" pitchFamily="18" charset="0"/>
                <a:cs typeface="Times New Roman" panose="02020603050405020304" pitchFamily="18" charset="0"/>
              </a:rPr>
              <a:t>Insertion in Pairing Heap</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insert a new node in heap, create a new node and Merge it with existing heap as explained above. Therefore, the time complexity of this function is O(1).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Example of Merge is given Below:</a:t>
            </a:r>
          </a:p>
        </p:txBody>
      </p:sp>
      <p:pic>
        <p:nvPicPr>
          <p:cNvPr id="3074" name="Picture 2" descr="insertion">
            <a:extLst>
              <a:ext uri="{FF2B5EF4-FFF2-40B4-BE49-F238E27FC236}">
                <a16:creationId xmlns:a16="http://schemas.microsoft.com/office/drawing/2014/main" id="{10043964-C22E-1596-33D9-4A261E3909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3582" y="1836437"/>
            <a:ext cx="4678251" cy="2859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3428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7150321-8E3A-AE90-1AFA-A5E23408431E}"/>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1D155B1F-B84E-B6F7-3EC1-8820BC9BC0CB}"/>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C07924C-A223-F58C-E048-CA04A7F472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56B541F3-2AC0-A1ED-ACD7-D9B109E520C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D34CA334-E8CF-ED2C-4556-FA219267C6A7}"/>
              </a:ext>
            </a:extLst>
          </p:cNvPr>
          <p:cNvSpPr txBox="1"/>
          <p:nvPr/>
        </p:nvSpPr>
        <p:spPr>
          <a:xfrm>
            <a:off x="362311" y="799024"/>
            <a:ext cx="8270827" cy="175028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Delete Minimum</a:t>
            </a:r>
          </a:p>
          <a:p>
            <a:r>
              <a:rPr lang="en-US" dirty="0">
                <a:latin typeface="Times New Roman" panose="02020603050405020304" pitchFamily="18" charset="0"/>
                <a:cs typeface="Times New Roman" panose="02020603050405020304" pitchFamily="18" charset="0"/>
              </a:rPr>
              <a:t>Steps: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 root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Pair children from left to right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Merge pairs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Merge results again</a:t>
            </a:r>
          </a:p>
          <a:p>
            <a:pPr>
              <a:lnSpc>
                <a:spcPct val="200000"/>
              </a:lnSpc>
              <a:buNone/>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60C44E4-D601-0134-459C-6C327F05E297}"/>
              </a:ext>
            </a:extLst>
          </p:cNvPr>
          <p:cNvPicPr>
            <a:picLocks noChangeAspect="1"/>
          </p:cNvPicPr>
          <p:nvPr/>
        </p:nvPicPr>
        <p:blipFill>
          <a:blip r:embed="rId4"/>
          <a:stretch>
            <a:fillRect/>
          </a:stretch>
        </p:blipFill>
        <p:spPr>
          <a:xfrm>
            <a:off x="3803561" y="917737"/>
            <a:ext cx="3748230" cy="3873204"/>
          </a:xfrm>
          <a:prstGeom prst="rect">
            <a:avLst/>
          </a:prstGeom>
        </p:spPr>
      </p:pic>
    </p:spTree>
    <p:extLst>
      <p:ext uri="{BB962C8B-B14F-4D97-AF65-F5344CB8AC3E}">
        <p14:creationId xmlns:p14="http://schemas.microsoft.com/office/powerpoint/2010/main" val="17868999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8C73EB5-4239-7524-F762-F17905F01B63}"/>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082FDB59-3D52-4B05-A576-EE42F0C682DE}"/>
              </a:ext>
            </a:extLst>
          </p:cNvPr>
          <p:cNvSpPr>
            <a:spLocks noGrp="1" noChangeArrowheads="1"/>
          </p:cNvSpPr>
          <p:nvPr>
            <p:ph type="ctrTitle"/>
          </p:nvPr>
        </p:nvSpPr>
        <p:spPr>
          <a:xfrm>
            <a:off x="914401" y="114300"/>
            <a:ext cx="7680058" cy="857250"/>
          </a:xfrm>
          <a:noFill/>
        </p:spPr>
        <p:txBody>
          <a:bodyPr>
            <a:normAutofit/>
          </a:bodyPr>
          <a:lstStyle/>
          <a:p>
            <a:r>
              <a:rPr lang="en-IN" sz="4600" dirty="0">
                <a:latin typeface="Times New Roman" panose="02020603050405020304" pitchFamily="18" charset="0"/>
                <a:cs typeface="Times New Roman" panose="02020603050405020304" pitchFamily="18" charset="0"/>
              </a:rPr>
              <a:t>Pairing</a:t>
            </a:r>
            <a:r>
              <a:rPr lang="en-IN" b="1" dirty="0"/>
              <a:t> </a:t>
            </a:r>
            <a:r>
              <a:rPr lang="en-IN" dirty="0">
                <a:latin typeface="Times New Roman" panose="02020603050405020304" pitchFamily="18" charset="0"/>
                <a:cs typeface="Times New Roman" panose="02020603050405020304" pitchFamily="18" charset="0"/>
              </a:rPr>
              <a:t>Heaps </a:t>
            </a:r>
            <a:endParaRPr lang="en-US" altLang="en-US"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1B7870-38BF-1796-0939-A843BA660E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C4E925DC-E53B-AEBB-7704-9B4D2DF3E4C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642A5A36-6370-51D9-91D8-DA826D92D90A}"/>
              </a:ext>
            </a:extLst>
          </p:cNvPr>
          <p:cNvPicPr>
            <a:picLocks noChangeAspect="1"/>
          </p:cNvPicPr>
          <p:nvPr/>
        </p:nvPicPr>
        <p:blipFill>
          <a:blip r:embed="rId4"/>
          <a:stretch>
            <a:fillRect/>
          </a:stretch>
        </p:blipFill>
        <p:spPr>
          <a:xfrm>
            <a:off x="181698" y="971550"/>
            <a:ext cx="4238656" cy="2009790"/>
          </a:xfrm>
          <a:prstGeom prst="rect">
            <a:avLst/>
          </a:prstGeom>
        </p:spPr>
      </p:pic>
      <p:pic>
        <p:nvPicPr>
          <p:cNvPr id="9" name="Picture 8">
            <a:extLst>
              <a:ext uri="{FF2B5EF4-FFF2-40B4-BE49-F238E27FC236}">
                <a16:creationId xmlns:a16="http://schemas.microsoft.com/office/drawing/2014/main" id="{B496B0CF-BA28-6220-B532-2BC0C67C1E74}"/>
              </a:ext>
            </a:extLst>
          </p:cNvPr>
          <p:cNvPicPr>
            <a:picLocks noChangeAspect="1"/>
          </p:cNvPicPr>
          <p:nvPr/>
        </p:nvPicPr>
        <p:blipFill>
          <a:blip r:embed="rId5"/>
          <a:stretch>
            <a:fillRect/>
          </a:stretch>
        </p:blipFill>
        <p:spPr>
          <a:xfrm>
            <a:off x="4572000" y="932152"/>
            <a:ext cx="4421645" cy="2049187"/>
          </a:xfrm>
          <a:prstGeom prst="rect">
            <a:avLst/>
          </a:prstGeom>
        </p:spPr>
      </p:pic>
      <p:sp>
        <p:nvSpPr>
          <p:cNvPr id="13" name="TextBox 12">
            <a:extLst>
              <a:ext uri="{FF2B5EF4-FFF2-40B4-BE49-F238E27FC236}">
                <a16:creationId xmlns:a16="http://schemas.microsoft.com/office/drawing/2014/main" id="{019B5924-680E-5095-8C26-1B47ECEC32B6}"/>
              </a:ext>
            </a:extLst>
          </p:cNvPr>
          <p:cNvSpPr txBox="1"/>
          <p:nvPr/>
        </p:nvSpPr>
        <p:spPr>
          <a:xfrm>
            <a:off x="362311" y="3257241"/>
            <a:ext cx="3273824" cy="95410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Advantages</a:t>
            </a:r>
          </a:p>
          <a:p>
            <a:pPr>
              <a:buNone/>
            </a:pPr>
            <a:r>
              <a:rPr lang="en-US" dirty="0">
                <a:latin typeface="Times New Roman" panose="02020603050405020304" pitchFamily="18" charset="0"/>
                <a:cs typeface="Times New Roman" panose="02020603050405020304" pitchFamily="18" charset="0"/>
              </a:rPr>
              <a:t>✔ Simple implementation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Efficient in practice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Good alternative to Fibonacci Heap</a:t>
            </a:r>
          </a:p>
        </p:txBody>
      </p:sp>
      <p:sp>
        <p:nvSpPr>
          <p:cNvPr id="17" name="TextBox 16">
            <a:extLst>
              <a:ext uri="{FF2B5EF4-FFF2-40B4-BE49-F238E27FC236}">
                <a16:creationId xmlns:a16="http://schemas.microsoft.com/office/drawing/2014/main" id="{7C678198-C6FC-4688-5693-D43E7B51DAE7}"/>
              </a:ext>
            </a:extLst>
          </p:cNvPr>
          <p:cNvSpPr txBox="1"/>
          <p:nvPr/>
        </p:nvSpPr>
        <p:spPr>
          <a:xfrm>
            <a:off x="3308719" y="3364962"/>
            <a:ext cx="3414053" cy="95410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Disadvantages</a:t>
            </a:r>
          </a:p>
          <a:p>
            <a:pPr>
              <a:buNone/>
            </a:pPr>
            <a:r>
              <a:rPr lang="en-US" dirty="0">
                <a:latin typeface="Times New Roman" panose="02020603050405020304" pitchFamily="18" charset="0"/>
                <a:cs typeface="Times New Roman" panose="02020603050405020304" pitchFamily="18" charset="0"/>
              </a:rPr>
              <a:t>❌ Theoretical analysis is complex</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Worst case performance not fully understood</a:t>
            </a:r>
          </a:p>
        </p:txBody>
      </p:sp>
      <p:sp>
        <p:nvSpPr>
          <p:cNvPr id="21" name="TextBox 20">
            <a:extLst>
              <a:ext uri="{FF2B5EF4-FFF2-40B4-BE49-F238E27FC236}">
                <a16:creationId xmlns:a16="http://schemas.microsoft.com/office/drawing/2014/main" id="{FC6BDBA2-FDE9-AA28-7A6E-E970E1F2B0CB}"/>
              </a:ext>
            </a:extLst>
          </p:cNvPr>
          <p:cNvSpPr txBox="1"/>
          <p:nvPr/>
        </p:nvSpPr>
        <p:spPr>
          <a:xfrm>
            <a:off x="6364309" y="3175060"/>
            <a:ext cx="2669069" cy="160043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Applications</a:t>
            </a:r>
          </a:p>
          <a:p>
            <a:pPr>
              <a:buNone/>
            </a:pPr>
            <a:r>
              <a:rPr lang="en-US" dirty="0">
                <a:latin typeface="Times New Roman" panose="02020603050405020304" pitchFamily="18" charset="0"/>
                <a:cs typeface="Times New Roman" panose="02020603050405020304" pitchFamily="18" charset="0"/>
              </a:rPr>
              <a:t>Pairing Heap is used in: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Priority queue implementation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Graph algorithms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Event simulation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Network optimization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Scheduling systems</a:t>
            </a:r>
          </a:p>
        </p:txBody>
      </p:sp>
    </p:spTree>
    <p:extLst>
      <p:ext uri="{BB962C8B-B14F-4D97-AF65-F5344CB8AC3E}">
        <p14:creationId xmlns:p14="http://schemas.microsoft.com/office/powerpoint/2010/main" val="1160704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97182</TotalTime>
  <Words>4847</Words>
  <Application>Microsoft Office PowerPoint</Application>
  <PresentationFormat>On-screen Show (16:9)</PresentationFormat>
  <Paragraphs>900</Paragraphs>
  <Slides>63</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Calibri</vt:lpstr>
      <vt:lpstr>Calibri Light</vt:lpstr>
      <vt:lpstr>Nunito</vt:lpstr>
      <vt:lpstr>Sitka Small</vt:lpstr>
      <vt:lpstr>Times New Roman</vt:lpstr>
      <vt:lpstr>Wingdings</vt:lpstr>
      <vt:lpstr>Office Theme</vt:lpstr>
      <vt:lpstr>        Priority Queues and Heaps   Data Structures-II </vt:lpstr>
      <vt:lpstr>Unit -2  :Contents</vt:lpstr>
      <vt:lpstr>Objectives of this session </vt:lpstr>
      <vt:lpstr>Unit -2  :Contents</vt:lpstr>
      <vt:lpstr>PowerPoint Presentation</vt:lpstr>
      <vt:lpstr>Operation on Queue </vt:lpstr>
      <vt:lpstr>Application on Queue </vt:lpstr>
      <vt:lpstr>Types of Queue </vt:lpstr>
      <vt:lpstr>Priority Queue</vt:lpstr>
      <vt:lpstr>Priority Queue</vt:lpstr>
      <vt:lpstr>Priority Queue</vt:lpstr>
      <vt:lpstr>Double ended Queue</vt:lpstr>
      <vt:lpstr>Double ended Queue</vt:lpstr>
      <vt:lpstr>Double ended Queue</vt:lpstr>
      <vt:lpstr> Single- and Double-Ended Priority Queues</vt:lpstr>
      <vt:lpstr> Single- and Double-Ended Priority Queues</vt:lpstr>
      <vt:lpstr> Single- and Double-Ended Priority Queues</vt:lpstr>
      <vt:lpstr>Heap Tree: Min Heap, Max Heap, Heap Sort  </vt:lpstr>
      <vt:lpstr>Heap Tree: Min Heap, Max Heap Introduction Heap</vt:lpstr>
      <vt:lpstr>Limitations of Binary Heap</vt:lpstr>
      <vt:lpstr>Leftist Tree</vt:lpstr>
      <vt:lpstr>Leftist Tree</vt:lpstr>
      <vt:lpstr>The Function s()</vt:lpstr>
      <vt:lpstr>Leftist Trees</vt:lpstr>
      <vt:lpstr>The Function s()</vt:lpstr>
      <vt:lpstr>s() Values Example</vt:lpstr>
      <vt:lpstr>s() Values Example</vt:lpstr>
      <vt:lpstr>Properties Of s()</vt:lpstr>
      <vt:lpstr>(Height Biased) Leftist Trees</vt:lpstr>
      <vt:lpstr>A Leftist Tree</vt:lpstr>
      <vt:lpstr>Leftist Trees – Property 1</vt:lpstr>
      <vt:lpstr>A Leftist Tree</vt:lpstr>
      <vt:lpstr>Leftist Trees—Property 2</vt:lpstr>
      <vt:lpstr>A Leftist Tree</vt:lpstr>
      <vt:lpstr>Leftist Trees—Property 3</vt:lpstr>
      <vt:lpstr>Leftist Trees As Priority Queues</vt:lpstr>
      <vt:lpstr>Leftist Trees As Priority Queues</vt:lpstr>
      <vt:lpstr>A Min Leftist Tree</vt:lpstr>
      <vt:lpstr>Some Min Leftist Tree Operations</vt:lpstr>
      <vt:lpstr>Put Operation</vt:lpstr>
      <vt:lpstr>Remove Min</vt:lpstr>
      <vt:lpstr>Remove Min</vt:lpstr>
      <vt:lpstr>Meld Two Min Leftist Trees</vt:lpstr>
      <vt:lpstr>Meld Two Min Leftist Trees</vt:lpstr>
      <vt:lpstr>Meld Two Min Leftist Trees</vt:lpstr>
      <vt:lpstr>Meld Two Min Leftist Trees</vt:lpstr>
      <vt:lpstr>Meld Two Min Leftist Trees</vt:lpstr>
      <vt:lpstr>Meld Two Min Leftist Trees</vt:lpstr>
      <vt:lpstr>Meld Two Min Leftist Trees</vt:lpstr>
      <vt:lpstr>Meld Two Min Leftist Trees</vt:lpstr>
      <vt:lpstr>Meld Two Min Leftist Trees</vt:lpstr>
      <vt:lpstr>Initializing In O(n) Time</vt:lpstr>
      <vt:lpstr>Fibonacci Heaps </vt:lpstr>
      <vt:lpstr>Fibonacci Heaps </vt:lpstr>
      <vt:lpstr>Skew Heaps </vt:lpstr>
      <vt:lpstr>Skew Heaps </vt:lpstr>
      <vt:lpstr>Skew Heaps </vt:lpstr>
      <vt:lpstr>Pairing Heaps </vt:lpstr>
      <vt:lpstr>Pairing Heaps </vt:lpstr>
      <vt:lpstr>Pairing Heaps </vt:lpstr>
      <vt:lpstr>Pairing Heaps </vt:lpstr>
      <vt:lpstr>Pairing Heaps </vt:lpstr>
      <vt:lpstr>Pairing Heaps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Standard Practices for Engineers</dc:title>
  <dc:creator>Viit Viit</dc:creator>
  <cp:lastModifiedBy>Dattatray Takale</cp:lastModifiedBy>
  <cp:revision>618</cp:revision>
  <dcterms:created xsi:type="dcterms:W3CDTF">2020-04-02T16:05:06Z</dcterms:created>
  <dcterms:modified xsi:type="dcterms:W3CDTF">2026-03-24T08:02:23Z</dcterms:modified>
</cp:coreProperties>
</file>