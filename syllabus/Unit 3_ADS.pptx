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1"/>
  </p:sldMasterIdLst>
  <p:notesMasterIdLst>
    <p:notesMasterId r:id="rId58"/>
  </p:notesMasterIdLst>
  <p:sldIdLst>
    <p:sldId id="275" r:id="rId2"/>
    <p:sldId id="257" r:id="rId3"/>
    <p:sldId id="673" r:id="rId4"/>
    <p:sldId id="674" r:id="rId5"/>
    <p:sldId id="675" r:id="rId6"/>
    <p:sldId id="384" r:id="rId7"/>
    <p:sldId id="669" r:id="rId8"/>
    <p:sldId id="670" r:id="rId9"/>
    <p:sldId id="671" r:id="rId10"/>
    <p:sldId id="672" r:id="rId11"/>
    <p:sldId id="676" r:id="rId12"/>
    <p:sldId id="677" r:id="rId13"/>
    <p:sldId id="678" r:id="rId14"/>
    <p:sldId id="679" r:id="rId15"/>
    <p:sldId id="680" r:id="rId16"/>
    <p:sldId id="681" r:id="rId17"/>
    <p:sldId id="682" r:id="rId18"/>
    <p:sldId id="683" r:id="rId19"/>
    <p:sldId id="684" r:id="rId20"/>
    <p:sldId id="685" r:id="rId21"/>
    <p:sldId id="362" r:id="rId22"/>
    <p:sldId id="365" r:id="rId23"/>
    <p:sldId id="360" r:id="rId24"/>
    <p:sldId id="366" r:id="rId25"/>
    <p:sldId id="367" r:id="rId26"/>
    <p:sldId id="368" r:id="rId27"/>
    <p:sldId id="369" r:id="rId28"/>
    <p:sldId id="370" r:id="rId29"/>
    <p:sldId id="375" r:id="rId30"/>
    <p:sldId id="371" r:id="rId31"/>
    <p:sldId id="361" r:id="rId32"/>
    <p:sldId id="372" r:id="rId33"/>
    <p:sldId id="373" r:id="rId34"/>
    <p:sldId id="374" r:id="rId35"/>
    <p:sldId id="686" r:id="rId36"/>
    <p:sldId id="376" r:id="rId37"/>
    <p:sldId id="378" r:id="rId38"/>
    <p:sldId id="380" r:id="rId39"/>
    <p:sldId id="377" r:id="rId40"/>
    <p:sldId id="379" r:id="rId41"/>
    <p:sldId id="381" r:id="rId42"/>
    <p:sldId id="382" r:id="rId43"/>
    <p:sldId id="383" r:id="rId44"/>
    <p:sldId id="687" r:id="rId45"/>
    <p:sldId id="385" r:id="rId46"/>
    <p:sldId id="256" r:id="rId47"/>
    <p:sldId id="258" r:id="rId48"/>
    <p:sldId id="259" r:id="rId49"/>
    <p:sldId id="260" r:id="rId50"/>
    <p:sldId id="261" r:id="rId51"/>
    <p:sldId id="262" r:id="rId52"/>
    <p:sldId id="263" r:id="rId53"/>
    <p:sldId id="265" r:id="rId54"/>
    <p:sldId id="266" r:id="rId55"/>
    <p:sldId id="267" r:id="rId56"/>
    <p:sldId id="271" r:id="rId5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 Viit" initials="VV" lastIdx="2" clrIdx="0">
    <p:extLst>
      <p:ext uri="{19B8F6BF-5375-455C-9EA6-DF929625EA0E}">
        <p15:presenceInfo xmlns:p15="http://schemas.microsoft.com/office/powerpoint/2012/main" userId="Viit Vi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EFF"/>
    <a:srgbClr val="25A2FF"/>
    <a:srgbClr val="189CDE"/>
    <a:srgbClr val="0996FF"/>
    <a:srgbClr val="0192FF"/>
    <a:srgbClr val="0594FF"/>
    <a:srgbClr val="008FFA"/>
    <a:srgbClr val="008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5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B592-AEF7-4F19-89CE-62E2656F1C5E}" type="datetimeFigureOut">
              <a:rPr lang="en-IN" smtClean="0"/>
              <a:pPr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559C-9A1D-465C-BD22-C64000BBBB1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75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7B5F7AB-5B48-E1AD-1AEA-E4A660F7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8F93E44-A7E2-A01A-AAC0-4CFEC866C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DD0E9ED-6864-7FD4-202B-D16869733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6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7D146213-6C76-1E7E-1ADB-4E07FF71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CE8DD60-D49A-A840-DB53-80DD82572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D6420D8-9449-0D0C-7741-60D3E6CA88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471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9A70C23D-3932-2258-D282-7CF6BD99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BFB298B-830C-E2DA-E1E7-0321CFE61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CA3401DD-2134-4B8D-1522-38806D9BBF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92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468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5246AD90-E7D4-DB1E-0378-1A50B78D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AD184A13-4E57-E070-1D9C-19BC605AB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7C48DB6E-5644-7449-C0BA-43B3768174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2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06B7BB3D-4654-724F-7FAB-BFDD1018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94F8B2E2-06D7-B313-B26C-AE3D38DA1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BD2140D-3D46-DCAA-149B-B1121CC99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71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49E699B4-3C35-1634-DBF7-85EC0BCB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56AC39BB-0E3C-C6C4-9F77-01DE26C931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F258D86-939A-2222-40B3-CF6DFC3D3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8072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1454654B-CC22-B876-58FD-334A2DCD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16E9837D-76D6-9ADF-8795-E57C98CCC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AE01BBB0-09CC-7FDC-C79A-1468B1196E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11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96D32AB-6079-377A-947A-D9E9D35E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55A8DA7E-53FC-AF7E-8497-846ED5C122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82F9432-6BDB-63E3-C9F4-2A2A44542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192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595C04C9-3D7B-1D8E-AF71-8112B171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9FF5AE84-53B9-9293-6EB4-EF5AC99F68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0FC808BD-0EC7-B46B-6095-AE2CA89C4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47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6EEF06C7-7B31-2863-2E40-73B64B8DD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22618634-BD64-8CF4-4511-7F0DE7B4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D35708C-4286-61AC-7E15-D91D71D63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28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03692C7C-A164-05BF-6888-B59C7A95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90961CF6-791F-97A3-0E71-BAD89781C6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A899F22-82E0-3E5F-B69A-95423B1CB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277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4434BB18-CFF1-9CC4-258A-BB7FDF312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F44B6794-7769-0BBA-6BD1-550F55B4B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0F003A35-4FB9-7B3E-2DD1-BDC5C98DD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671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8C5B3F3B-552D-4803-08FE-73E7704D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2FE8C36D-3138-5827-CDF1-A9F902EBB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564C8F4C-DC68-1119-D993-43A7C7023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20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F2E1F01B-9570-32E6-4309-90881C66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6F7B0762-1D42-E1DB-198E-2C5724D43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928994BE-C3CD-6380-308E-4446FE6AD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544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00B6561-5E86-83FB-CFD2-CA14B05E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C40667E7-E971-092A-6DA5-CC1C565D6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F161942C-4B13-B611-192A-95C3D618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697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4051F62-07CA-EFD1-FA18-5A1E3FE7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7F379696-7E8E-7EEE-732E-BECCCAF28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69FC1600-F087-0279-BC24-5F9363F27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42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3F21874D-1023-BF4E-8088-CCEB8107C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9429998F-8C70-F65C-BD7E-5BCF935CA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E513D23C-D167-791A-1A0C-41384D8851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46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9C4-19AC-4D01-81DA-E140B97A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CA5E5-3A78-455F-A1D5-145EA9173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8103-6802-402E-8A9C-2FB10C13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E19A-DC0A-4D53-A4FB-E883E93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09EA-FF5B-4648-B17D-3689B515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BEFC-853B-4E71-90C0-35BD8D1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4BB9-BDA4-4C04-BA11-57AE021A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86A-60FA-47B2-80EA-B781B0D0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E884-2704-4762-B1F7-A390B52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61B4-73E9-4628-92E8-74939F9E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6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89E-9D4B-44E6-BF11-C075A062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9-9067-4135-A992-6FB9ECE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58BF-DC88-48A8-8054-8760C54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900E-11FD-4ACA-8E87-4EC87F1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7084-87E6-4F73-9995-37B9D5DA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2823-44FC-4F0E-988B-2ACF3A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5ADA-214B-4BFF-9D95-4AACAA67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0DDFE-CE85-4487-A2F7-D43D9AD9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E3102-E054-4C70-8672-73C06D7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A228-140D-4F9B-A2FE-74BFB21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789-8D8D-4D5C-A015-00F074C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AFB0-2CA1-458E-8D17-13C9D16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8FFF-DC4E-46B0-93F5-FAB67A7D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4111-7E13-4A52-A9E1-956A87C87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4A28-7BD2-4B06-ABF5-89A47C156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6BDF0-5B29-4A2F-8CC0-14E57446D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1CA3A-A01B-4B5C-A4F8-C14D8EC4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CAA6B-C991-48DE-B578-AE2A9961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9A6-E7CF-4D3D-9193-F5CCF04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9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AF43-78DB-4D57-9B2D-80B50C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1968-C016-4D62-894F-92EC2098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C0E1-975B-4302-8CF3-C520CED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AC7F-9355-4792-84EA-A4C808E3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6E9C9-69F5-4D64-AFCA-189935E7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B54D1-AD89-4CA0-8134-5D2BAF33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8272-E3A3-4683-B86E-79218886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ADB3-F3C8-4862-AF7F-04DDE9A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89C0-5D66-43A0-995C-51CDB2B8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A2F6-A867-42FE-8C9C-0CD7E665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24A67-3315-4540-9790-4166A5A8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C2BE8-6B25-4D6D-A216-0288779C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3A18-5A76-4536-926B-E6B3828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3C2C-789D-4AF3-A6E0-0AE7144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586BE-F0E8-46DC-B95E-EBCA67996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20C7-39DD-4D17-B93E-E92481C7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E00D-6FB3-4F93-91B6-3385B36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EE8-F875-4115-8DB6-6E4C5A4D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66B0-CAEE-4D99-8704-EBC2029A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BA33-3BCA-4D04-8B42-26F6BB17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3B614-80E5-43E5-ACC0-10C094878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C068-F4B8-4482-BCC2-F12B8405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C726-B8F7-46D8-A302-A3C69CB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2F82-7742-49B4-9D22-A703AE78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4F4A-84CD-42EC-A311-E7DDDE5B9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F8A3-D97A-477F-8A9F-5D2D8FC9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056D-23ED-4173-85A0-B789F940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BBEB-F29D-4181-968D-AF3F415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3474-7DC7-49B8-A4C4-B10099ED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4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35254-BA2C-4834-85C4-C01A1408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206B-E85F-4151-9F6F-B42BD4F2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75DC-D9A3-4246-8E04-359C1E241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12CA-D198-4AFA-9ADD-37508EAD6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25125-6F41-48E5-B98E-9C500B8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305" y="317048"/>
            <a:ext cx="7516836" cy="902154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 and Heaps </a:t>
            </a:r>
            <a:br>
              <a:rPr lang="en-IN" sz="2700" dirty="0"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IN" sz="14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Structures-II </a:t>
            </a:r>
            <a:endParaRPr lang="en-IN" sz="18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616" y="1448162"/>
            <a:ext cx="7214214" cy="9847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Dr. Dattatray G. Takale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Dattatray.takale@viit.ac.in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Department of Data Science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249210" y="4021068"/>
            <a:ext cx="8645581" cy="420461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BRACT’S, Vishwakarma Institute of Information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05" y="2521468"/>
            <a:ext cx="1326236" cy="1499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052" y="4427922"/>
            <a:ext cx="834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(NBA and NAAC accredited, ISO 9001:2015 certified) 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-3 :Contents</a:t>
            </a:r>
            <a:endParaRPr lang="en-IN" sz="27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0B0E-ED9E-4B65-820F-8F489061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02" y="493335"/>
            <a:ext cx="8499507" cy="4111830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15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Structures for Strings 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Searching: preliminaries, the DAWG, the position Heaps, tries and compressed tries, Suffix Trees and suffix arrays, Dictionaries Allowing Errors in Queries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1" y="-91341"/>
            <a:ext cx="724623" cy="8193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Dattatray G Takale, Department of Computer Engineering, VIT, Pune-37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75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E11404B-C255-4211-5B2B-18174240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BCF2A6E-C354-CEF6-59BA-D3B9006806AB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B08967-6422-2189-ED3A-A5B43E61ED3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83400-22AD-6169-D438-AB843706BBD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CF9F0-255F-C70C-1E6E-FEA6A8938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20AFC-BC5A-BC98-2CA7-6792A6C6E051}"/>
              </a:ext>
            </a:extLst>
          </p:cNvPr>
          <p:cNvSpPr txBox="1"/>
          <p:nvPr/>
        </p:nvSpPr>
        <p:spPr>
          <a:xfrm>
            <a:off x="673993" y="854298"/>
            <a:ext cx="801280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 are the basic concepts and definitions of strings required to understand string searching algorithms and data structures.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Alphabet (Σ):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finite set of characters used to form strings.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{A, B, C}, {0,1}, {A, C, G, T}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of characters from an alphabet.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DATA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String: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characters in the string.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|DATA| = 4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 String: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with no characters, denoted by ε.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07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3AA7F72-7478-4845-A3B2-4171AC01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D60988DD-2400-A4F0-2463-A4F64858E719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98FC1-1CFD-E4F6-5B36-34504059780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DFD31-0656-7C10-F1B6-DB43BA5CCE26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Prefix, Suffix, and Substring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F7BA0-55EF-8486-5B8A-C5B9E3248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F05A9-1473-92EF-DC1F-9294032FDE6F}"/>
              </a:ext>
            </a:extLst>
          </p:cNvPr>
          <p:cNvSpPr txBox="1"/>
          <p:nvPr/>
        </p:nvSpPr>
        <p:spPr>
          <a:xfrm>
            <a:off x="673993" y="854298"/>
            <a:ext cx="801280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Starting part of a string.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SEARCH → S, SE, SEA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Ending part of a string.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SEARCH → H, CH, ARCH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Substring: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Continuous sequence of characters inside a string.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COMPUTER → PUT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Characters in order but not necessarily continuous.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ABCD → AC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33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9032A8C-CD9E-0C74-9997-B6A2DB2F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8ABF3534-3B7D-3CBF-A0B9-BA72A25BD9AD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B0650-3DD9-5B57-B951-6FE8B963BBD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2631A-CC10-3656-3CD9-0DBEF533FBD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Prefix, Suffix, and Substring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F69F99-3ADE-BB54-8CE1-7C806CA0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034D25-1FA7-3207-1B25-2B1B742BA427}"/>
              </a:ext>
            </a:extLst>
          </p:cNvPr>
          <p:cNvSpPr txBox="1"/>
          <p:nvPr/>
        </p:nvSpPr>
        <p:spPr>
          <a:xfrm>
            <a:off x="673993" y="854298"/>
            <a:ext cx="80128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Joining two strings.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 DATA + BASE = DATABASE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Process of finding pattern P in text T.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Text: DATASTRUCTURE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Pattern: DATA</a:t>
            </a:r>
          </a:p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Search engines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Spell checkers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DNA sequence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Text editors and data processing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639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/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83BF7-9FAA-DC0B-4116-84AD9804FFE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A7C14-F1F5-4750-4ABD-1F3E3A47130B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D7CC0-9CCC-35DA-B406-53C26A5AD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AF9BC-258B-9BAA-93B2-7B525ED92522}"/>
              </a:ext>
            </a:extLst>
          </p:cNvPr>
          <p:cNvSpPr txBox="1"/>
          <p:nvPr/>
        </p:nvSpPr>
        <p:spPr>
          <a:xfrm>
            <a:off x="628650" y="728003"/>
            <a:ext cx="81828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Strings are used for storing text/characters.</a:t>
            </a:r>
          </a:p>
          <a:p>
            <a:pPr algn="l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"Hello World" is a string.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string variable contains a collection of characters surrounded by double quotes (""):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greeting = "Hello";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BE3CCE-585E-0365-8EBF-0EB9B5F45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908" y="2662774"/>
            <a:ext cx="2924196" cy="187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135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7C96CE6-E478-FCEA-F186-02363EFE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7CB4D64B-93AC-5848-F2BB-21F2F0BD3F25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FD66F-74D4-24E0-3A59-7B38AC3A184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FB22E-8388-4A2D-B921-45318970A0E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4F7AC-7FD7-B908-7C49-C3A0FD8A3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20767C-6086-70D3-B227-B62B75966A06}"/>
              </a:ext>
            </a:extLst>
          </p:cNvPr>
          <p:cNvSpPr txBox="1"/>
          <p:nvPr/>
        </p:nvSpPr>
        <p:spPr>
          <a:xfrm>
            <a:off x="628650" y="728003"/>
            <a:ext cx="83542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Concatenation</a:t>
            </a:r>
          </a:p>
          <a:p>
            <a:pPr algn="just"/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+ operator can be used between strings to add them together to make a new string. This is called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in C++ is actually an object, which contain functions that can perform certain operations on strings. For example, you can also concatenate strings with the append() function: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E29CE-82A2-2ABA-1BAD-8627E114D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28" y="1695378"/>
            <a:ext cx="3600476" cy="1057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7873B-7B46-040D-33CF-3DFB9717D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772" y="3795138"/>
            <a:ext cx="4419632" cy="105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9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7A946204-83D2-28D8-0E89-C7C0BDD8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EC9B22A9-21A9-8366-5F73-ABB25562334E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4E7C8-8F12-0D9C-731E-F6EFD6D2F81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31CC9-4BDB-F3D2-F46E-6A42F2AB7C31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47F47-10D9-51B4-9220-0FD770521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66FFF-7430-2F34-D68E-D419C11C5D27}"/>
              </a:ext>
            </a:extLst>
          </p:cNvPr>
          <p:cNvSpPr txBox="1"/>
          <p:nvPr/>
        </p:nvSpPr>
        <p:spPr>
          <a:xfrm>
            <a:off x="628650" y="728003"/>
            <a:ext cx="835429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Length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string, use the length() function: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Strings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access the characters in a string by referring to its index number inside square brackets [].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prints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character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myString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659C64-7155-1EC4-8F6C-4233EE307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106" y="1604341"/>
            <a:ext cx="5038762" cy="657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CD21D4-29A8-6AFE-7EE2-DB36CA330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572" y="3313330"/>
            <a:ext cx="2305067" cy="8763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E102EA-0116-EC50-5CF6-0DC5B3317C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421" y="3269069"/>
            <a:ext cx="2419368" cy="91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3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CF7E5656-5F33-5185-EAF8-2E09D1895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4C8AA1EA-06B5-1BFF-5894-6CF748C43F54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BE0E9-942F-CCFE-9111-CE8FAC3357D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F164B-662C-6B8B-8821-C18A59C3B416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A3BF3-3E46-EF59-54B9-41C8BC292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F7AAA0-F5DE-55F8-2924-AE75004093A2}"/>
              </a:ext>
            </a:extLst>
          </p:cNvPr>
          <p:cNvSpPr txBox="1"/>
          <p:nvPr/>
        </p:nvSpPr>
        <p:spPr>
          <a:xfrm>
            <a:off x="628650" y="728003"/>
            <a:ext cx="835429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String Characters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the value of a specific character in a string, refer to the index number, and use single quotes: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at() function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&lt;string&gt; library also has an at() function that can be used to access characters in a string: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8EAE8-76EC-2916-5ABF-6B40EB9D4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392" y="1616161"/>
            <a:ext cx="3000397" cy="1009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4D8485-02EC-915E-6ADE-5635D6335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859" y="3194828"/>
            <a:ext cx="4297873" cy="161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23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D67FED5-1D62-D852-74B8-E0670E1F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59328E71-2393-72A6-9552-5641EDFB92F0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C0EBB8-03AC-BDD7-B6FA-B5AAAE35622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519568-FB53-BEAC-FB47-418A4BF0B1AA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String </a:t>
            </a:r>
            <a:endParaRPr lang="en-IN" sz="27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CF80F-343E-EE4A-13EE-B8D1B39A8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D91B4-6D2B-D4F0-503E-AC04F3468A02}"/>
              </a:ext>
            </a:extLst>
          </p:cNvPr>
          <p:cNvSpPr txBox="1"/>
          <p:nvPr/>
        </p:nvSpPr>
        <p:spPr>
          <a:xfrm>
            <a:off x="628650" y="728003"/>
            <a:ext cx="83542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Strings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use the extraction operator &gt;&gt; on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store a string entered by a user: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602AD-3B0C-F295-6B7A-D8DB5470A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162" y="1453093"/>
            <a:ext cx="4714909" cy="170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1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3C58FA02-3AD1-E553-D710-77E42235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3B461981-565B-FC5B-1AEC-293D75A0CBF8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60D43-ADA6-9463-AD20-456422005DE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84E10-8148-FB8F-F8E6-0E2BBCF20BBF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47FA8-0937-108D-76DB-D8FCE16C42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39ABBD-2567-6649-A547-8DE60BA2FE8D}"/>
              </a:ext>
            </a:extLst>
          </p:cNvPr>
          <p:cNvSpPr txBox="1"/>
          <p:nvPr/>
        </p:nvSpPr>
        <p:spPr>
          <a:xfrm>
            <a:off x="218941" y="728003"/>
            <a:ext cx="87639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Trie is a tree-based data structure used to be store and search strings efficiently. It is also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represents a character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path from root represents a string or prefix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prefixes are stored only once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words: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CAT, CAR, DOG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1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7169D06C-BF2A-F906-7198-FB5DE5E1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AD689198-A957-4304-7081-9F33F89342E5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C2B51-4B4F-38BC-468F-BC12C7C8825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D832B2-ED76-01FB-D66E-E3449FD7FE3F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050B2-B722-BCC5-49BE-EDBA0900F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9EDE73-449F-1A3E-0918-4130A1AC72C8}"/>
              </a:ext>
            </a:extLst>
          </p:cNvPr>
          <p:cNvSpPr txBox="1">
            <a:spLocks/>
          </p:cNvSpPr>
          <p:nvPr/>
        </p:nvSpPr>
        <p:spPr>
          <a:xfrm>
            <a:off x="362312" y="819345"/>
            <a:ext cx="5725102" cy="2481940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Steps: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root node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characters one by one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node if character does not exist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 end of word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(CAT, CAR, DOG)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395003-5F32-4D27-447D-5ABF19A23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456" y="2074351"/>
            <a:ext cx="3824584" cy="263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98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30E6CB40-D8E9-89D5-C4A0-1753A9FD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BAB9BBF4-8093-0EF7-5ACD-C0AB123C438A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217D5-E2D3-6D63-2581-840FCDE804D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6F09C-153C-6E9B-31CD-57B30305EC3D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4D747-0A87-5230-27CB-68239A68E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650642-E242-236D-0691-37DA559D900F}"/>
              </a:ext>
            </a:extLst>
          </p:cNvPr>
          <p:cNvSpPr txBox="1"/>
          <p:nvPr/>
        </p:nvSpPr>
        <p:spPr>
          <a:xfrm>
            <a:off x="457199" y="819345"/>
            <a:ext cx="8354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are sequences of characters from some alphabet. But for use in the computer, we need an important further information: 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recognize where the string ends. </a:t>
            </a:r>
          </a:p>
          <a:p>
            <a:pPr marL="0" indent="0" algn="just">
              <a:buNone/>
              <a:defRPr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solutions for this:</a:t>
            </a:r>
          </a:p>
          <a:p>
            <a:pPr marL="571500" indent="-457200" algn="just">
              <a:buFont typeface="+mj-lt"/>
              <a:buAutoNum type="arabicPeriod"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have an explicit termination character, which is added at the end of each string, but may not occur within the string “\0” (ASCII code 0) , or </a:t>
            </a:r>
          </a:p>
          <a:p>
            <a:pPr marL="571500" indent="-457200" algn="just">
              <a:buFont typeface="+mj-lt"/>
              <a:buAutoNum type="arabicPeriod"/>
              <a:defRPr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store together with each string its length.</a:t>
            </a:r>
          </a:p>
        </p:txBody>
      </p:sp>
    </p:spTree>
    <p:extLst>
      <p:ext uri="{BB962C8B-B14F-4D97-AF65-F5344CB8AC3E}">
        <p14:creationId xmlns:p14="http://schemas.microsoft.com/office/powerpoint/2010/main" val="543170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21403979-8B88-4E98-07F8-439870C6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3CE736AD-5ADA-ED71-882B-0D0E6D09ACFB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F4FC41-F7C6-7A2E-990E-1B4603F9B99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1E80E-F98F-9FE7-1896-5C60F45E3197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FBC62-C304-8A70-CB57-51B83D225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83763AD-5384-5425-EBA2-2F083AA55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84" y="591178"/>
            <a:ext cx="5464209" cy="408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8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B4A9FD43-31A9-4983-684C-6A5304E6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CA2807F2-9710-EC8D-4F73-AF4177B44A14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F9787-E1E9-8E9F-7F89-A61F3CF99BE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64968-D6D2-7EF2-2F00-BA2ED373A347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2B040-3460-D84F-3957-E1150D442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4F1B2837-047C-E98C-ED6D-67C26E482122}"/>
              </a:ext>
            </a:extLst>
          </p:cNvPr>
          <p:cNvSpPr txBox="1">
            <a:spLocks/>
          </p:cNvSpPr>
          <p:nvPr/>
        </p:nvSpPr>
        <p:spPr>
          <a:xfrm>
            <a:off x="3320797" y="857275"/>
            <a:ext cx="4247687" cy="6330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Example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922A6859-6985-B31A-231D-6DC346F704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908450"/>
              </p:ext>
            </p:extLst>
          </p:nvPr>
        </p:nvGraphicFramePr>
        <p:xfrm>
          <a:off x="1395950" y="2091320"/>
          <a:ext cx="5819775" cy="256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5819760" imgH="2561400" progId="">
                  <p:embed/>
                </p:oleObj>
              </mc:Choice>
              <mc:Fallback>
                <p:oleObj name="VISIO" r:id="rId4" imgW="5819760" imgH="2561400" progId="">
                  <p:embed/>
                  <p:pic>
                    <p:nvPicPr>
                      <p:cNvPr id="65539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950" y="2091320"/>
                        <a:ext cx="5819775" cy="256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4">
            <a:extLst>
              <a:ext uri="{FF2B5EF4-FFF2-40B4-BE49-F238E27FC236}">
                <a16:creationId xmlns:a16="http://schemas.microsoft.com/office/drawing/2014/main" id="{63870B8B-D4A8-7C37-3D6F-8316812E9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205" y="1394432"/>
            <a:ext cx="4961423" cy="89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standard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set of strings</a:t>
            </a:r>
          </a:p>
          <a:p>
            <a:pPr lvl="1">
              <a:lnSpc>
                <a:spcPct val="9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bear, bell, bid, bull, buy, sell, stock, stop }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49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0B5FCB7D-2D1D-59B6-DD15-3151E01AF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EA84119D-7EF0-7869-7DC0-CEB777768482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D0732-B78D-D9D3-7DFA-6BA5B046F40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5CCFB-CF50-7D3C-EBCF-D0AE59AF72DB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206BA-BABE-6CBC-62B2-2D022814D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8" name="Content Placeholder 3" descr="Screen Shot 2015-03-28 at 10.28.20 PM.png">
            <a:extLst>
              <a:ext uri="{FF2B5EF4-FFF2-40B4-BE49-F238E27FC236}">
                <a16:creationId xmlns:a16="http://schemas.microsoft.com/office/drawing/2014/main" id="{9C45C712-2CA0-0D78-2D87-1635C636C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40" r="-11240"/>
          <a:stretch>
            <a:fillRect/>
          </a:stretch>
        </p:blipFill>
        <p:spPr>
          <a:xfrm>
            <a:off x="2033553" y="669888"/>
            <a:ext cx="5367506" cy="350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746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36EDA5C-BB96-F4FB-5E8B-1E3A0B6A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13CC7608-E3A3-9547-7448-CE560233366A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EA773-3060-E453-79E7-F1EDBD954F9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F0112-EEED-65FE-D396-067C4009ADA9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Tries (Prefix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9E225-3491-D4A7-8AAE-C2E6B4D06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56239E-70D6-7AD8-FD79-08EBFD63E441}"/>
              </a:ext>
            </a:extLst>
          </p:cNvPr>
          <p:cNvSpPr txBox="1"/>
          <p:nvPr/>
        </p:nvSpPr>
        <p:spPr>
          <a:xfrm>
            <a:off x="986589" y="1028701"/>
            <a:ext cx="58714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Fast searching time: O(m)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Efficient prefix searching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No duplicate storage of prefixes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Dictionary storage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Autocomplete systems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Spell checking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Search engines </a:t>
            </a:r>
          </a:p>
        </p:txBody>
      </p:sp>
    </p:spTree>
    <p:extLst>
      <p:ext uri="{BB962C8B-B14F-4D97-AF65-F5344CB8AC3E}">
        <p14:creationId xmlns:p14="http://schemas.microsoft.com/office/powerpoint/2010/main" val="2074328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A2BA1286-54EE-5C4C-7B2B-2A9C68A6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3587B335-DDCC-08E4-83B5-527AE942A145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3EA-EB65-5DDB-18D4-BF177554B61D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4D5E6-6B86-FACF-6745-9DDEE4BB7F06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Tries(Radix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7E46F-69CB-9A3D-ECCB-4E4BB3012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E0954C-CFE2-3CA1-6FE9-8860F139F14B}"/>
              </a:ext>
            </a:extLst>
          </p:cNvPr>
          <p:cNvSpPr txBox="1"/>
          <p:nvPr/>
        </p:nvSpPr>
        <p:spPr>
          <a:xfrm>
            <a:off x="495701" y="819345"/>
            <a:ext cx="8191100" cy="26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Compressed Trie is an optimized version of a standard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 compresses chains of single‑child nodes into one edge.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stores a string (substring) instead of a single character.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 memory usage and improves efficiency.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 string searching, dictionaries, IP routing, and text indexing.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 Merge nodes that have only one child to make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6260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DF19D710-E0B8-44F2-2294-D12AFD3F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6552F944-403C-8CF8-7844-CF3E3B5DE19F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B5CCB-14C3-A37B-5A1E-E846D8C1BB3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C6EC1E-4407-7BD2-52C8-39A47C0475BE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Tries(Radix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10BD5-8201-500E-3E33-FA0F5B5AC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8A2192-B92A-7620-2442-B32272337B4F}"/>
              </a:ext>
            </a:extLst>
          </p:cNvPr>
          <p:cNvSpPr txBox="1"/>
          <p:nvPr/>
        </p:nvSpPr>
        <p:spPr>
          <a:xfrm>
            <a:off x="688206" y="728005"/>
            <a:ext cx="7439864" cy="390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Standard Trie: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character per edge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many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unnecessary intermediate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space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Traversal becomes longer.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Compressed Trie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multiple characters into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edge labels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nodes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6286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storage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455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851A9F0E-7136-150B-18F2-08222C91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328C44B5-EA54-AA68-982F-2CBDBC9EE59E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57F88-A380-ECBA-DB8B-CA13011623F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82C5F-9C55-3B15-62E7-49D4F7F5A63E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Compressed Tries(Radix Tree)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CB92B-A3F5-1576-5ABC-EA463BA05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8A1D3A-07A6-F405-3BEB-494C7EE13D27}"/>
              </a:ext>
            </a:extLst>
          </p:cNvPr>
          <p:cNvSpPr txBox="1"/>
          <p:nvPr/>
        </p:nvSpPr>
        <p:spPr>
          <a:xfrm>
            <a:off x="688206" y="728005"/>
            <a:ext cx="7439864" cy="39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 from given strings.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traversal from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node: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node has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child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is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end of a 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merge it with its child.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labels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merged nodes into a single label.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this process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all nodes.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when every internal node has: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one child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</a:t>
            </a:r>
          </a:p>
          <a:p>
            <a:pPr marL="1028700" lvl="1" indent="-571500">
              <a:lnSpc>
                <a:spcPct val="150000"/>
              </a:lnSpc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a 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758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Compressed Tries(Radix Tree)</a:t>
            </a:r>
            <a:br>
              <a:rPr lang="en-US" b="1" dirty="0"/>
            </a:br>
            <a:r>
              <a:rPr lang="en-IN" sz="1800" dirty="0"/>
              <a:t>Normal Tries VS Compressed Tries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63229"/>
            <a:ext cx="6464920" cy="3908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Example: BATTLE, BALL, BASE</a:t>
            </a:r>
            <a:br>
              <a:rPr lang="en-IN" dirty="0"/>
            </a:br>
            <a:r>
              <a:rPr lang="en-IN" dirty="0"/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1394" y="4761570"/>
            <a:ext cx="219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Normal Tries Representation</a:t>
            </a:r>
            <a:endParaRPr lang="en-IN" sz="10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5030"/>
          <a:stretch/>
        </p:blipFill>
        <p:spPr>
          <a:xfrm>
            <a:off x="2303434" y="1591929"/>
            <a:ext cx="1487981" cy="31417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216" y="1890131"/>
            <a:ext cx="2024341" cy="22560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7992" y="4138782"/>
            <a:ext cx="25006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Compressed Tries Representation</a:t>
            </a:r>
            <a:endParaRPr lang="en-IN" sz="10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B455F-EA73-AE06-671B-69A0A88B29FB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67B78E-66A9-CDB8-FC3E-B4A1128EE2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60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Compressed Tries(Radix Tree)</a:t>
            </a:r>
            <a:br>
              <a:rPr lang="en-US" b="1" dirty="0"/>
            </a:br>
            <a:r>
              <a:rPr lang="en-IN" sz="1800" dirty="0"/>
              <a:t>Normal Tries VS Compressed Tries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63229"/>
            <a:ext cx="6464920" cy="3908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Example: </a:t>
            </a:r>
            <a:r>
              <a:rPr lang="en-US" dirty="0"/>
              <a:t>bear, bell, bid, bull</a:t>
            </a:r>
            <a:br>
              <a:rPr lang="en-IN" dirty="0"/>
            </a:br>
            <a:r>
              <a:rPr lang="en-IN" dirty="0"/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2736" y="4545564"/>
            <a:ext cx="219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Normal Tries Representation</a:t>
            </a:r>
            <a:endParaRPr lang="en-IN" sz="1050" dirty="0"/>
          </a:p>
        </p:txBody>
      </p:sp>
      <p:sp>
        <p:nvSpPr>
          <p:cNvPr id="8" name="TextBox 7"/>
          <p:cNvSpPr txBox="1"/>
          <p:nvPr/>
        </p:nvSpPr>
        <p:spPr>
          <a:xfrm>
            <a:off x="4718360" y="4523160"/>
            <a:ext cx="25006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Compressed Tries Representation</a:t>
            </a:r>
            <a:endParaRPr lang="en-IN" sz="10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862" y="1697412"/>
            <a:ext cx="2374964" cy="2825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336" y="1628739"/>
            <a:ext cx="2602415" cy="27228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2B8849F-735E-7297-A72E-3A220EA7B65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1063AF-E4BA-616B-FC33-5CECF0905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20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dirty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63229"/>
            <a:ext cx="6464920" cy="39085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A </a:t>
            </a:r>
            <a:r>
              <a:rPr lang="en-US" b="1" dirty="0"/>
              <a:t>Suffix Tree</a:t>
            </a:r>
            <a:r>
              <a:rPr lang="en-US" dirty="0"/>
              <a:t> is a compressed </a:t>
            </a:r>
            <a:r>
              <a:rPr lang="en-US" dirty="0" err="1"/>
              <a:t>trie</a:t>
            </a:r>
            <a:r>
              <a:rPr lang="en-US" dirty="0"/>
              <a:t> that contains </a:t>
            </a:r>
            <a:r>
              <a:rPr lang="en-US" b="1" dirty="0"/>
              <a:t>all suffixes of a given string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suffix is a substring that starts at any position and goes to the end of the string.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	String = </a:t>
            </a:r>
            <a:r>
              <a:rPr lang="en-US" b="1" dirty="0"/>
              <a:t>BANANA$</a:t>
            </a:r>
            <a:br>
              <a:rPr lang="en-US" dirty="0"/>
            </a:br>
            <a:r>
              <a:rPr lang="en-US" dirty="0"/>
              <a:t>	Suffixes:</a:t>
            </a:r>
            <a:br>
              <a:rPr lang="en-US" dirty="0"/>
            </a:br>
            <a:r>
              <a:rPr lang="en-US" dirty="0"/>
              <a:t>		BANANA$</a:t>
            </a:r>
            <a:br>
              <a:rPr lang="en-US" dirty="0"/>
            </a:br>
            <a:r>
              <a:rPr lang="en-US" dirty="0"/>
              <a:t>		ANANA$</a:t>
            </a:r>
            <a:br>
              <a:rPr lang="en-US" dirty="0"/>
            </a:br>
            <a:r>
              <a:rPr lang="en-US" dirty="0"/>
              <a:t>		NANA$</a:t>
            </a:r>
            <a:br>
              <a:rPr lang="en-US" dirty="0"/>
            </a:br>
            <a:r>
              <a:rPr lang="en-US" dirty="0"/>
              <a:t>		ANA$</a:t>
            </a:r>
            <a:br>
              <a:rPr lang="en-US" dirty="0"/>
            </a:br>
            <a:r>
              <a:rPr lang="en-US" dirty="0"/>
              <a:t>		NA$</a:t>
            </a:r>
            <a:br>
              <a:rPr lang="en-US" dirty="0"/>
            </a:br>
            <a:r>
              <a:rPr lang="en-US" dirty="0"/>
              <a:t>		A$</a:t>
            </a:r>
            <a:br>
              <a:rPr lang="en-US" dirty="0"/>
            </a:br>
            <a:r>
              <a:rPr lang="en-US" dirty="0"/>
              <a:t>		$</a:t>
            </a:r>
          </a:p>
          <a:p>
            <a:pPr marL="0" indent="0">
              <a:buNone/>
            </a:pPr>
            <a:r>
              <a:rPr lang="en-US" b="1" dirty="0"/>
              <a:t>Key Idea:</a:t>
            </a:r>
            <a:r>
              <a:rPr lang="en-US" dirty="0"/>
              <a:t> All suffixes are stored in one tree for fast pattern searching.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7D178-069D-5249-0D8E-40FDAB8367F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44950-A13E-F404-1A5A-D7D3C26DB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37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4390" y="1063229"/>
            <a:ext cx="6626610" cy="3908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Properties:</a:t>
            </a:r>
            <a:br>
              <a:rPr lang="en-US" dirty="0"/>
            </a:br>
            <a:r>
              <a:rPr lang="en-US" dirty="0"/>
              <a:t>	• Root represents empty string</a:t>
            </a:r>
            <a:br>
              <a:rPr lang="en-US" dirty="0"/>
            </a:br>
            <a:r>
              <a:rPr lang="en-US" dirty="0"/>
              <a:t>	• Each edge has substring label</a:t>
            </a:r>
            <a:br>
              <a:rPr lang="en-US" dirty="0"/>
            </a:br>
            <a:r>
              <a:rPr lang="en-US" dirty="0"/>
              <a:t>	• Each leaf represents one suffix</a:t>
            </a:r>
            <a:br>
              <a:rPr lang="en-US" dirty="0"/>
            </a:br>
            <a:r>
              <a:rPr lang="en-US" dirty="0"/>
              <a:t>	• No two edges from same node start with same character</a:t>
            </a:r>
            <a:br>
              <a:rPr lang="en-US" dirty="0"/>
            </a:br>
            <a:r>
              <a:rPr lang="en-US" dirty="0"/>
              <a:t>	• It is a </a:t>
            </a:r>
            <a:r>
              <a:rPr lang="en-US" b="1" dirty="0"/>
              <a:t>compressed </a:t>
            </a:r>
            <a:r>
              <a:rPr lang="en-US" b="1" dirty="0" err="1"/>
              <a:t>trie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E8FE5-BBBC-45DB-A008-525C381E3BD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A6B05D-26F7-B432-995A-D3AE251D6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0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4390" y="1063229"/>
            <a:ext cx="6626610" cy="3908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Input:</a:t>
            </a:r>
            <a:r>
              <a:rPr lang="en-US" dirty="0"/>
              <a:t> String S of length n</a:t>
            </a:r>
          </a:p>
          <a:p>
            <a:pPr marL="0" indent="0">
              <a:buNone/>
            </a:pPr>
            <a:r>
              <a:rPr lang="en-US" b="1" dirty="0"/>
              <a:t>Steps:</a:t>
            </a:r>
            <a:endParaRPr lang="en-US" dirty="0"/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Add terminal symbol $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Generate all suffixes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Insert each suffix from root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If mismatch → create new edge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If partial match → split edge</a:t>
            </a:r>
          </a:p>
          <a:p>
            <a:pPr marL="728663" lvl="1" indent="-385763">
              <a:buFont typeface="+mj-lt"/>
              <a:buAutoNum type="arabicPeriod"/>
            </a:pPr>
            <a:r>
              <a:rPr lang="en-US" dirty="0"/>
              <a:t>Store substrings on edges (compression)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7D57EA-0644-7750-2BCC-C5FA8C59129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E7E97-E533-49F7-E2AF-65C3F734D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38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4390" y="1063229"/>
            <a:ext cx="6626610" cy="3908503"/>
          </a:xfrm>
        </p:spPr>
        <p:txBody>
          <a:bodyPr>
            <a:normAutofit/>
          </a:bodyPr>
          <a:lstStyle/>
          <a:p>
            <a:r>
              <a:rPr lang="en-US" b="1" dirty="0"/>
              <a:t>Example:</a:t>
            </a:r>
            <a:r>
              <a:rPr lang="en-US" dirty="0"/>
              <a:t> BANANA</a:t>
            </a:r>
          </a:p>
          <a:p>
            <a:pPr marL="0" indent="0">
              <a:buNone/>
            </a:pPr>
            <a:r>
              <a:rPr lang="en-US" dirty="0"/>
              <a:t>1. Insert $ suffixes of BANANA$</a:t>
            </a:r>
          </a:p>
          <a:p>
            <a:pPr marL="0" lvl="1" indent="0">
              <a:buNone/>
            </a:pPr>
            <a:r>
              <a:rPr lang="en-US" dirty="0"/>
              <a:t>2. Generate all suffixes</a:t>
            </a:r>
          </a:p>
          <a:p>
            <a:pPr marL="0" indent="0">
              <a:buNone/>
            </a:pPr>
            <a:r>
              <a:rPr lang="en-US" dirty="0"/>
              <a:t> 	BANANA$</a:t>
            </a:r>
            <a:br>
              <a:rPr lang="en-US" dirty="0"/>
            </a:br>
            <a:r>
              <a:rPr lang="en-US" dirty="0"/>
              <a:t> 	ANANA$</a:t>
            </a:r>
            <a:br>
              <a:rPr lang="en-US" dirty="0"/>
            </a:br>
            <a:r>
              <a:rPr lang="en-US" dirty="0"/>
              <a:t>	NANA$</a:t>
            </a:r>
            <a:br>
              <a:rPr lang="en-US" dirty="0"/>
            </a:br>
            <a:r>
              <a:rPr lang="en-US" dirty="0"/>
              <a:t>	ANA$</a:t>
            </a:r>
            <a:br>
              <a:rPr lang="en-US" dirty="0"/>
            </a:br>
            <a:r>
              <a:rPr lang="en-US" dirty="0"/>
              <a:t>	NA$</a:t>
            </a:r>
            <a:br>
              <a:rPr lang="en-US" dirty="0"/>
            </a:br>
            <a:r>
              <a:rPr lang="en-US" dirty="0"/>
              <a:t>	A$</a:t>
            </a:r>
            <a:br>
              <a:rPr lang="en-US" dirty="0"/>
            </a:br>
            <a:r>
              <a:rPr lang="en-US" dirty="0"/>
              <a:t>	$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2F0C1-0849-1220-28DF-36B63653F17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2300B-7A6F-BE6D-1F7A-BC70FF01B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72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4390" y="1070372"/>
            <a:ext cx="6626610" cy="4080272"/>
          </a:xfrm>
        </p:spPr>
        <p:txBody>
          <a:bodyPr>
            <a:normAutofit/>
          </a:bodyPr>
          <a:lstStyle/>
          <a:p>
            <a:pPr marL="66675" lvl="1" indent="0">
              <a:buNone/>
            </a:pPr>
            <a:r>
              <a:rPr lang="en-US" dirty="0"/>
              <a:t>3. Insert each suffix into compressed </a:t>
            </a:r>
            <a:r>
              <a:rPr lang="en-US" dirty="0" err="1"/>
              <a:t>trie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1: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BANANA$</a:t>
            </a:r>
            <a:r>
              <a:rPr lang="en-US" dirty="0"/>
              <a:t>     </a:t>
            </a:r>
            <a:r>
              <a:rPr lang="en-US" dirty="0">
                <a:solidFill>
                  <a:srgbClr val="FF0000"/>
                </a:solidFill>
              </a:rPr>
              <a:t>Step 2: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ANANA$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3: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NANA$</a:t>
            </a:r>
            <a:r>
              <a:rPr lang="en-US" dirty="0"/>
              <a:t>         </a:t>
            </a:r>
            <a:r>
              <a:rPr lang="en-US" dirty="0">
                <a:solidFill>
                  <a:srgbClr val="FF0000"/>
                </a:solidFill>
              </a:rPr>
              <a:t>Step 4: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ANA$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420517" y="2017809"/>
            <a:ext cx="1223843" cy="64290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68580" tIns="34290" rIns="68580" bIns="3429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IN" sz="2100" dirty="0"/>
              <a:t>  (root)</a:t>
            </a:r>
            <a:br>
              <a:rPr lang="en-IN" sz="2100" dirty="0"/>
            </a:br>
            <a:r>
              <a:rPr lang="en-IN" sz="2100" dirty="0"/>
              <a:t>      |</a:t>
            </a:r>
            <a:br>
              <a:rPr lang="en-IN" sz="2100" dirty="0"/>
            </a:br>
            <a:r>
              <a:rPr lang="en-IN" sz="2100" dirty="0"/>
              <a:t>BANANA$</a:t>
            </a:r>
            <a:endParaRPr lang="en-US" sz="2100" dirty="0"/>
          </a:p>
        </p:txBody>
      </p:sp>
      <p:sp>
        <p:nvSpPr>
          <p:cNvPr id="5" name="Rectangle 4"/>
          <p:cNvSpPr/>
          <p:nvPr/>
        </p:nvSpPr>
        <p:spPr>
          <a:xfrm>
            <a:off x="5637814" y="2017809"/>
            <a:ext cx="1480325" cy="577081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/>
              <a:t>(root)</a:t>
            </a:r>
            <a:br>
              <a:rPr lang="en-IN" sz="1050" dirty="0"/>
            </a:br>
            <a:r>
              <a:rPr lang="en-IN" sz="1050" dirty="0"/>
              <a:t>   ├── BANANA$</a:t>
            </a:r>
            <a:br>
              <a:rPr lang="en-IN" sz="1050" dirty="0"/>
            </a:br>
            <a:r>
              <a:rPr lang="en-IN" sz="1050" dirty="0"/>
              <a:t>    └── ANANA$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0516" y="3664887"/>
            <a:ext cx="1480325" cy="7386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/>
              <a:t>(root)</a:t>
            </a:r>
            <a:br>
              <a:rPr lang="en-IN" sz="1050" dirty="0"/>
            </a:br>
            <a:r>
              <a:rPr lang="en-IN" sz="1050" dirty="0"/>
              <a:t>├── BANANA$</a:t>
            </a:r>
            <a:br>
              <a:rPr lang="en-IN" sz="1050" dirty="0"/>
            </a:br>
            <a:r>
              <a:rPr lang="en-IN" sz="1050" dirty="0"/>
              <a:t>├── ANANA$</a:t>
            </a:r>
            <a:br>
              <a:rPr lang="en-IN" sz="1050" dirty="0"/>
            </a:br>
            <a:r>
              <a:rPr lang="en-IN" sz="1050" dirty="0"/>
              <a:t> └── NANA$</a:t>
            </a:r>
          </a:p>
        </p:txBody>
      </p:sp>
      <p:sp>
        <p:nvSpPr>
          <p:cNvPr id="7" name="Rectangle 6"/>
          <p:cNvSpPr/>
          <p:nvPr/>
        </p:nvSpPr>
        <p:spPr>
          <a:xfrm>
            <a:off x="5637814" y="3666121"/>
            <a:ext cx="1480325" cy="106182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/>
              <a:t>(root)</a:t>
            </a:r>
            <a:br>
              <a:rPr lang="en-IN" sz="1050" dirty="0"/>
            </a:br>
            <a:r>
              <a:rPr lang="en-IN" sz="1050" dirty="0"/>
              <a:t>├── BANANA$</a:t>
            </a:r>
            <a:br>
              <a:rPr lang="en-IN" sz="1050" dirty="0"/>
            </a:br>
            <a:r>
              <a:rPr lang="en-IN" sz="1050" dirty="0"/>
              <a:t>├── ANA</a:t>
            </a:r>
            <a:br>
              <a:rPr lang="en-IN" sz="1050" dirty="0"/>
            </a:br>
            <a:r>
              <a:rPr lang="en-IN" sz="1050" dirty="0"/>
              <a:t>│ ├── NA$</a:t>
            </a:r>
            <a:br>
              <a:rPr lang="en-IN" sz="1050" dirty="0"/>
            </a:br>
            <a:r>
              <a:rPr lang="en-IN" sz="1050" dirty="0"/>
              <a:t>│ └── $</a:t>
            </a:r>
            <a:br>
              <a:rPr lang="en-IN" sz="1050" dirty="0"/>
            </a:br>
            <a:r>
              <a:rPr lang="en-IN" sz="1050" dirty="0"/>
              <a:t>└── NANA$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5545D-449A-4734-495E-D843D32E737B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55E9C7-1079-B6A9-BBBD-FE023CEA0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79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Example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265664" y="1063228"/>
            <a:ext cx="6735337" cy="408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Step 5: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NA$    </a:t>
            </a:r>
            <a:r>
              <a:rPr lang="en-US" dirty="0">
                <a:solidFill>
                  <a:srgbClr val="FF0000"/>
                </a:solidFill>
              </a:rPr>
              <a:t>Step 6:</a:t>
            </a:r>
            <a:r>
              <a:rPr lang="en-US" dirty="0"/>
              <a:t> Insert </a:t>
            </a:r>
            <a:r>
              <a:rPr lang="en-US" dirty="0">
                <a:solidFill>
                  <a:srgbClr val="00B050"/>
                </a:solidFill>
              </a:rPr>
              <a:t>A$  </a:t>
            </a:r>
            <a:r>
              <a:rPr lang="en-US" dirty="0">
                <a:solidFill>
                  <a:srgbClr val="FF0000"/>
                </a:solidFill>
              </a:rPr>
              <a:t>Step 7: </a:t>
            </a:r>
            <a:r>
              <a:rPr lang="en-US" dirty="0"/>
              <a:t>Insert </a:t>
            </a:r>
            <a:r>
              <a:rPr lang="en-US" dirty="0">
                <a:solidFill>
                  <a:srgbClr val="00B050"/>
                </a:solidFill>
              </a:rPr>
              <a:t>$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878980" y="1650627"/>
            <a:ext cx="1400001" cy="138499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D0D0D"/>
                </a:solidFill>
                <a:latin typeface="ui-monospace"/>
              </a:rPr>
              <a:t>(root)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BANANA$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ANA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└── 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└── $</a:t>
            </a:r>
            <a:endParaRPr lang="en-IN" sz="1050" dirty="0"/>
          </a:p>
        </p:txBody>
      </p:sp>
      <p:sp>
        <p:nvSpPr>
          <p:cNvPr id="10" name="Rectangle 9"/>
          <p:cNvSpPr/>
          <p:nvPr/>
        </p:nvSpPr>
        <p:spPr>
          <a:xfrm>
            <a:off x="4209586" y="1650626"/>
            <a:ext cx="1362539" cy="170816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D0D0D"/>
                </a:solidFill>
                <a:latin typeface="ui-monospace"/>
              </a:rPr>
              <a:t>(root)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BANANA$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├── 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│ 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└── 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└── $</a:t>
            </a:r>
            <a:endParaRPr lang="en-IN" sz="1050" dirty="0"/>
          </a:p>
        </p:txBody>
      </p:sp>
      <p:sp>
        <p:nvSpPr>
          <p:cNvPr id="11" name="Rectangle 10"/>
          <p:cNvSpPr/>
          <p:nvPr/>
        </p:nvSpPr>
        <p:spPr>
          <a:xfrm>
            <a:off x="6470496" y="1650627"/>
            <a:ext cx="1402267" cy="186974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D0D0D"/>
                </a:solidFill>
                <a:latin typeface="ui-monospace"/>
              </a:rPr>
              <a:t>(root)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BANANA$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├── 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│ 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├── NA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├── NA$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│ └── $</a:t>
            </a:r>
            <a:br>
              <a:rPr lang="en-IN" sz="1050" dirty="0"/>
            </a:br>
            <a:r>
              <a:rPr lang="en-IN" sz="1050" dirty="0">
                <a:solidFill>
                  <a:srgbClr val="0D0D0D"/>
                </a:solidFill>
                <a:latin typeface="ui-monospace"/>
              </a:rPr>
              <a:t>└── $</a:t>
            </a:r>
            <a:endParaRPr lang="en-IN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72B1A-6BAF-E639-6EE9-8765D7B23C29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9FFFA-90B0-6503-4D47-99666C95A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52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Example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265664" y="1063228"/>
            <a:ext cx="6735337" cy="408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Example 2: </a:t>
            </a:r>
            <a:r>
              <a:rPr lang="en-US" dirty="0"/>
              <a:t>Insert </a:t>
            </a:r>
            <a:r>
              <a:rPr lang="en-US" b="1" dirty="0">
                <a:solidFill>
                  <a:srgbClr val="00B050"/>
                </a:solidFill>
              </a:rPr>
              <a:t>GATAGACA$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377" y="1731972"/>
            <a:ext cx="6373247" cy="32472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2CB652-2CD0-5FF8-A750-877D2E6CAE2C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AFA87D-6A46-B29B-6A2C-F2D5619DD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58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Trees</a:t>
            </a:r>
            <a:br>
              <a:rPr lang="en-US" b="1" dirty="0"/>
            </a:br>
            <a:r>
              <a:rPr lang="en-IN" sz="1800" b="1" dirty="0"/>
              <a:t>Advantages, Application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265664" y="1063228"/>
            <a:ext cx="6735337" cy="408027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Construction: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Basic method: O(n²)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</a:rPr>
              <a:t>Search:</a:t>
            </a:r>
            <a:r>
              <a:rPr lang="en-US" dirty="0"/>
              <a:t> O(m)              </a:t>
            </a:r>
            <a:r>
              <a:rPr lang="en-US" b="1" dirty="0">
                <a:solidFill>
                  <a:srgbClr val="FF0000"/>
                </a:solidFill>
              </a:rPr>
              <a:t>Space:</a:t>
            </a:r>
            <a:r>
              <a:rPr lang="en-US" dirty="0"/>
              <a:t> O(n)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Advantages:</a:t>
            </a:r>
          </a:p>
          <a:p>
            <a:pPr marL="0" indent="0">
              <a:buNone/>
            </a:pPr>
            <a:r>
              <a:rPr lang="en-US" dirty="0"/>
              <a:t>	• Fast pattern searching ⚡</a:t>
            </a:r>
            <a:br>
              <a:rPr lang="en-US" dirty="0"/>
            </a:br>
            <a:r>
              <a:rPr lang="en-US" dirty="0"/>
              <a:t>	• Finds substring in linear time</a:t>
            </a:r>
            <a:br>
              <a:rPr lang="en-US" dirty="0"/>
            </a:br>
            <a:r>
              <a:rPr lang="en-US" dirty="0"/>
              <a:t>	• Finds repeated substrings</a:t>
            </a:r>
            <a:br>
              <a:rPr lang="en-US" dirty="0"/>
            </a:br>
            <a:r>
              <a:rPr lang="en-US" dirty="0"/>
              <a:t>	• Finds longest common substring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Applications:</a:t>
            </a:r>
          </a:p>
          <a:p>
            <a:pPr marL="0" indent="0">
              <a:buNone/>
            </a:pPr>
            <a:r>
              <a:rPr lang="en-IN" dirty="0"/>
              <a:t>	• Text searching (Google search)</a:t>
            </a:r>
            <a:br>
              <a:rPr lang="en-IN" dirty="0"/>
            </a:br>
            <a:r>
              <a:rPr lang="en-IN" dirty="0"/>
              <a:t>	• DNA sequence analysis</a:t>
            </a:r>
            <a:br>
              <a:rPr lang="en-IN" dirty="0"/>
            </a:br>
            <a:r>
              <a:rPr lang="en-IN" dirty="0"/>
              <a:t>	• Plagiarism detection</a:t>
            </a:r>
            <a:br>
              <a:rPr lang="en-IN" dirty="0"/>
            </a:br>
            <a:r>
              <a:rPr lang="en-IN" dirty="0"/>
              <a:t>	• Data compression</a:t>
            </a:r>
            <a:br>
              <a:rPr lang="en-IN" dirty="0"/>
            </a:br>
            <a:r>
              <a:rPr lang="en-IN" dirty="0"/>
              <a:t>	• Bioinformatics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B657E-4D0D-FE92-DCF2-698BF8932FD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9FDBC-1AEC-C79A-6E68-30E386C9F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89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Array</a:t>
            </a:r>
            <a:br>
              <a:rPr lang="en-US" b="1" dirty="0"/>
            </a:br>
            <a:r>
              <a:rPr lang="en-IN" sz="1800" dirty="0"/>
              <a:t>Definition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1063229"/>
            <a:ext cx="6464920" cy="3908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Definition:</a:t>
            </a:r>
            <a:br>
              <a:rPr lang="en-US" dirty="0"/>
            </a:br>
            <a:r>
              <a:rPr lang="en-US" dirty="0"/>
              <a:t>	“A </a:t>
            </a:r>
            <a:r>
              <a:rPr lang="en-US" b="1" dirty="0"/>
              <a:t>Suffix Array</a:t>
            </a:r>
            <a:r>
              <a:rPr lang="en-US" dirty="0"/>
              <a:t> is a sorted array of all suffixes of 	a 	given string. Instead of storing the suffixes 	themselves, it stores the </a:t>
            </a:r>
            <a:r>
              <a:rPr lang="en-US" b="1" dirty="0"/>
              <a:t>starting indices</a:t>
            </a:r>
            <a:r>
              <a:rPr lang="en-US" dirty="0"/>
              <a:t> of 	suffixes in </a:t>
            </a:r>
            <a:r>
              <a:rPr lang="en-US" b="1" dirty="0"/>
              <a:t>lexicographical (alphabetical) order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Key Idea:</a:t>
            </a:r>
            <a:br>
              <a:rPr lang="en-US" dirty="0"/>
            </a:br>
            <a:r>
              <a:rPr lang="en-US" dirty="0"/>
              <a:t>	• Store positions of suffixes</a:t>
            </a:r>
            <a:br>
              <a:rPr lang="en-US" dirty="0"/>
            </a:br>
            <a:r>
              <a:rPr lang="en-US" dirty="0"/>
              <a:t>	• Sort suffixes alphabetically</a:t>
            </a:r>
            <a:br>
              <a:rPr lang="en-US" dirty="0"/>
            </a:br>
            <a:r>
              <a:rPr lang="en-US" dirty="0"/>
              <a:t>	• Use indices for efficient searching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CF2F9-2158-3ECB-D3CE-A28241586239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262E0-7EE5-2883-B518-3879C84C7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23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Array</a:t>
            </a:r>
            <a:br>
              <a:rPr lang="en-US" b="1" dirty="0"/>
            </a:br>
            <a:r>
              <a:rPr lang="en-IN" sz="1800" dirty="0"/>
              <a:t>Example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6438" y="1017404"/>
            <a:ext cx="2785017" cy="386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Sorted Suffixes:</a:t>
            </a:r>
          </a:p>
          <a:p>
            <a:pPr marL="0" indent="0">
              <a:buNone/>
            </a:pPr>
            <a:r>
              <a:rPr lang="en-IN" dirty="0"/>
              <a:t>	6 → $</a:t>
            </a:r>
          </a:p>
          <a:p>
            <a:pPr marL="0" indent="0">
              <a:buNone/>
            </a:pPr>
            <a:r>
              <a:rPr lang="en-IN" dirty="0"/>
              <a:t>	5 → A$ </a:t>
            </a:r>
          </a:p>
          <a:p>
            <a:pPr marL="0" indent="0">
              <a:buNone/>
            </a:pPr>
            <a:r>
              <a:rPr lang="en-IN" dirty="0"/>
              <a:t>	3 → ANA$ </a:t>
            </a:r>
          </a:p>
          <a:p>
            <a:pPr marL="0" indent="0">
              <a:buNone/>
            </a:pPr>
            <a:r>
              <a:rPr lang="en-IN" dirty="0"/>
              <a:t>	1 → ANANA$ </a:t>
            </a:r>
          </a:p>
          <a:p>
            <a:pPr marL="0" indent="0">
              <a:buNone/>
            </a:pPr>
            <a:r>
              <a:rPr lang="en-IN" dirty="0"/>
              <a:t>	0 → BANANA$ 	</a:t>
            </a:r>
            <a:br>
              <a:rPr lang="en-IN" dirty="0"/>
            </a:br>
            <a:r>
              <a:rPr lang="en-IN" dirty="0"/>
              <a:t>	4 → NA$ </a:t>
            </a:r>
          </a:p>
          <a:p>
            <a:pPr marL="0" indent="0">
              <a:buNone/>
            </a:pPr>
            <a:r>
              <a:rPr lang="en-IN" dirty="0"/>
              <a:t>	2 → NANA$	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85913" y="1070373"/>
            <a:ext cx="3716144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Example String:</a:t>
            </a:r>
            <a:r>
              <a:rPr lang="en-IN" sz="2400" dirty="0">
                <a:solidFill>
                  <a:srgbClr val="FF0000"/>
                </a:solidFill>
              </a:rPr>
              <a:t> </a:t>
            </a:r>
            <a:r>
              <a:rPr lang="en-IN" sz="2400" dirty="0"/>
              <a:t>BANANA$</a:t>
            </a:r>
          </a:p>
          <a:p>
            <a:pPr marL="0" indent="0">
              <a:buNone/>
            </a:pPr>
            <a:r>
              <a:rPr lang="en-IN" sz="2400" dirty="0"/>
              <a:t>Suffixes:</a:t>
            </a:r>
          </a:p>
          <a:p>
            <a:pPr marL="0" indent="0">
              <a:buNone/>
            </a:pPr>
            <a:r>
              <a:rPr lang="en-IN" sz="2400" dirty="0"/>
              <a:t>	0 → BANANA$</a:t>
            </a:r>
            <a:br>
              <a:rPr lang="en-IN" sz="2400" dirty="0"/>
            </a:br>
            <a:r>
              <a:rPr lang="en-IN" sz="2400" dirty="0"/>
              <a:t>	1 → ANANA$</a:t>
            </a:r>
            <a:br>
              <a:rPr lang="en-IN" sz="2400" dirty="0"/>
            </a:br>
            <a:r>
              <a:rPr lang="en-IN" sz="2400" dirty="0"/>
              <a:t>	2 → NANA$</a:t>
            </a:r>
            <a:br>
              <a:rPr lang="en-IN" sz="2400" dirty="0"/>
            </a:br>
            <a:r>
              <a:rPr lang="en-IN" sz="2400" dirty="0"/>
              <a:t>	3 → ANA$</a:t>
            </a:r>
            <a:br>
              <a:rPr lang="en-IN" sz="2400" dirty="0"/>
            </a:br>
            <a:r>
              <a:rPr lang="en-IN" sz="2400" dirty="0"/>
              <a:t>	4 → NA$</a:t>
            </a:r>
            <a:br>
              <a:rPr lang="en-IN" sz="2400" dirty="0"/>
            </a:br>
            <a:r>
              <a:rPr lang="en-IN" sz="2400" dirty="0"/>
              <a:t>	5 → A$</a:t>
            </a:r>
            <a:br>
              <a:rPr lang="en-IN" sz="2400" dirty="0"/>
            </a:br>
            <a:r>
              <a:rPr lang="en-IN" sz="2400" dirty="0"/>
              <a:t>	6 → $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5851" y="4529846"/>
            <a:ext cx="4435397" cy="53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ui-sans-serif"/>
              </a:rPr>
              <a:t>Suffix Array = [6, 5, 3, 1, 0, 4, 2]</a:t>
            </a:r>
            <a:endParaRPr lang="en-US" sz="1800" dirty="0">
              <a:solidFill>
                <a:srgbClr val="FF0000"/>
              </a:solidFill>
              <a:latin typeface="ui-sans-serif"/>
            </a:endParaRPr>
          </a:p>
          <a:p>
            <a:r>
              <a:rPr lang="en-US" sz="1050" dirty="0">
                <a:solidFill>
                  <a:srgbClr val="0D0D0D"/>
                </a:solidFill>
                <a:latin typeface="ui-sans-serif"/>
              </a:rPr>
              <a:t>This array represents positions of sorted suffixes.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7DE452-1A5F-3BC0-0A51-C7C77F91E26B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D6903-3A41-3924-C037-8B02AC6AC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31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Suffix Array</a:t>
            </a:r>
            <a:br>
              <a:rPr lang="en-US" b="1" dirty="0"/>
            </a:br>
            <a:r>
              <a:rPr lang="en-IN" sz="1800" dirty="0"/>
              <a:t>Applications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85913" y="1070373"/>
            <a:ext cx="5622131" cy="390850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Applications: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	• Fast pattern searching</a:t>
            </a:r>
            <a:br>
              <a:rPr lang="en-US" sz="2400" dirty="0"/>
            </a:br>
            <a:r>
              <a:rPr lang="en-US" sz="2400" dirty="0"/>
              <a:t>	• Text indexing</a:t>
            </a:r>
            <a:br>
              <a:rPr lang="en-US" sz="2400" dirty="0"/>
            </a:br>
            <a:r>
              <a:rPr lang="en-US" sz="2400" dirty="0"/>
              <a:t>	• Bioinformatics (DNA matching)</a:t>
            </a:r>
            <a:br>
              <a:rPr lang="en-US" sz="2400" dirty="0"/>
            </a:br>
            <a:r>
              <a:rPr lang="en-US" sz="2400" dirty="0"/>
              <a:t>	• Data compression</a:t>
            </a:r>
            <a:br>
              <a:rPr lang="en-US" sz="2400" dirty="0"/>
            </a:br>
            <a:r>
              <a:rPr lang="en-US" sz="2400" dirty="0"/>
              <a:t>	• Replaces suffix tree (uses less memory)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Advantages over Suffix Tree: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	• Less memory</a:t>
            </a:r>
            <a:br>
              <a:rPr lang="en-US" sz="2400" dirty="0"/>
            </a:br>
            <a:r>
              <a:rPr lang="en-US" sz="2400" dirty="0"/>
              <a:t>	• Easy to implement</a:t>
            </a:r>
            <a:br>
              <a:rPr lang="en-US" sz="2400" dirty="0"/>
            </a:br>
            <a:r>
              <a:rPr lang="en-US" sz="2400" dirty="0"/>
              <a:t>	• Efficient searching using binary search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DD3D36-5927-A613-23CC-0DCCE7604C2B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BA7D6-F497-EFA0-9B8D-00F9E21BE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41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DAWG (Directed Acyclic Word Graph)</a:t>
            </a:r>
            <a:br>
              <a:rPr lang="en-US" b="1" dirty="0"/>
            </a:br>
            <a:r>
              <a:rPr lang="en-IN" sz="1800" dirty="0"/>
              <a:t>Definition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229350" cy="390850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Definition: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just">
              <a:buNone/>
            </a:pPr>
            <a:r>
              <a:rPr lang="en-US" sz="2400" dirty="0"/>
              <a:t>	“A </a:t>
            </a:r>
            <a:r>
              <a:rPr lang="en-US" sz="2400" b="1" dirty="0"/>
              <a:t>Directed Acyclic Word Graph (DAWG)</a:t>
            </a:r>
            <a:r>
              <a:rPr lang="en-US" sz="2400" dirty="0"/>
              <a:t> is 	a </a:t>
            </a:r>
            <a:r>
              <a:rPr lang="en-US" sz="2400" b="1" dirty="0"/>
              <a:t>compressed finite automaton</a:t>
            </a:r>
            <a:r>
              <a:rPr lang="en-US" sz="2400" dirty="0"/>
              <a:t> that 	represents </a:t>
            </a:r>
            <a:r>
              <a:rPr lang="en-US" sz="2400" b="1" dirty="0"/>
              <a:t>all substrings or suffixes of a string 	efficiently</a:t>
            </a:r>
            <a:r>
              <a:rPr lang="en-US" sz="2400" dirty="0"/>
              <a:t> by merging equivalent states.”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Key points:</a:t>
            </a:r>
            <a:br>
              <a:rPr lang="en-US" sz="2400" dirty="0"/>
            </a:br>
            <a:r>
              <a:rPr lang="en-US" sz="2400" dirty="0"/>
              <a:t>	• Directed graph</a:t>
            </a:r>
            <a:br>
              <a:rPr lang="en-US" sz="2400" dirty="0"/>
            </a:br>
            <a:r>
              <a:rPr lang="en-US" sz="2400" dirty="0"/>
              <a:t>	• No cycles (Acyclic)</a:t>
            </a:r>
            <a:br>
              <a:rPr lang="en-US" sz="2400" dirty="0"/>
            </a:br>
            <a:r>
              <a:rPr lang="en-US" sz="2400" dirty="0"/>
              <a:t>	• Compact representation of suffix </a:t>
            </a:r>
            <a:r>
              <a:rPr lang="en-US" sz="2400" dirty="0" err="1"/>
              <a:t>trie</a:t>
            </a:r>
            <a:br>
              <a:rPr lang="en-US" sz="2400" dirty="0"/>
            </a:br>
            <a:r>
              <a:rPr lang="en-US" sz="2400" dirty="0"/>
              <a:t>	• Removes duplicate paths</a:t>
            </a:r>
            <a:br>
              <a:rPr lang="en-US" sz="2400" dirty="0"/>
            </a:br>
            <a:r>
              <a:rPr lang="en-US" sz="2400" dirty="0"/>
              <a:t>	• Saves memory compared to </a:t>
            </a:r>
            <a:r>
              <a:rPr lang="en-US" sz="2400" dirty="0" err="1"/>
              <a:t>trie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br>
              <a:rPr lang="en-US" sz="2400" dirty="0"/>
            </a:br>
            <a:r>
              <a:rPr lang="en-US" sz="2400" dirty="0"/>
              <a:t>	Efficient string searching and pattern matching.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09C8B-9064-CE3C-81A6-BB455D6ED41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0B644-D028-8F6E-EA18-2D6DEC429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09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DAWG (Directed Acyclic Word Graph)</a:t>
            </a:r>
            <a:br>
              <a:rPr lang="en-US" b="1" dirty="0"/>
            </a:br>
            <a:r>
              <a:rPr lang="en-IN" sz="1800" dirty="0"/>
              <a:t>Definition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229350" cy="390850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Definition: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just">
              <a:buNone/>
            </a:pPr>
            <a:r>
              <a:rPr lang="en-US" sz="2400" dirty="0"/>
              <a:t>	“A </a:t>
            </a:r>
            <a:r>
              <a:rPr lang="en-US" sz="2400" b="1" dirty="0"/>
              <a:t>Directed Acyclic Word Graph (DAWG)</a:t>
            </a:r>
            <a:r>
              <a:rPr lang="en-US" sz="2400" dirty="0"/>
              <a:t> is 	a </a:t>
            </a:r>
            <a:r>
              <a:rPr lang="en-US" sz="2400" b="1" dirty="0"/>
              <a:t>compressed finite automaton</a:t>
            </a:r>
            <a:r>
              <a:rPr lang="en-US" sz="2400" dirty="0"/>
              <a:t> that 	represents </a:t>
            </a:r>
            <a:r>
              <a:rPr lang="en-US" sz="2400" b="1" dirty="0"/>
              <a:t>all substrings or suffixes of a string 	efficiently</a:t>
            </a:r>
            <a:r>
              <a:rPr lang="en-US" sz="2400" dirty="0"/>
              <a:t> by merging equivalent states.”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Key points:</a:t>
            </a:r>
            <a:br>
              <a:rPr lang="en-US" sz="2400" dirty="0"/>
            </a:br>
            <a:r>
              <a:rPr lang="en-US" sz="2400" dirty="0"/>
              <a:t>	• Directed graph</a:t>
            </a:r>
            <a:br>
              <a:rPr lang="en-US" sz="2400" dirty="0"/>
            </a:br>
            <a:r>
              <a:rPr lang="en-US" sz="2400" dirty="0"/>
              <a:t>	• No cycles (Acyclic)</a:t>
            </a:r>
            <a:br>
              <a:rPr lang="en-US" sz="2400" dirty="0"/>
            </a:br>
            <a:r>
              <a:rPr lang="en-US" sz="2400" dirty="0"/>
              <a:t>	• Compact representation of suffix </a:t>
            </a:r>
            <a:r>
              <a:rPr lang="en-US" sz="2400" dirty="0" err="1"/>
              <a:t>trie</a:t>
            </a:r>
            <a:br>
              <a:rPr lang="en-US" sz="2400" dirty="0"/>
            </a:br>
            <a:r>
              <a:rPr lang="en-US" sz="2400" dirty="0"/>
              <a:t>	• Removes duplicate paths</a:t>
            </a:r>
            <a:br>
              <a:rPr lang="en-US" sz="2400" dirty="0"/>
            </a:br>
            <a:r>
              <a:rPr lang="en-US" sz="2400" dirty="0"/>
              <a:t>	• Saves memory compared to </a:t>
            </a:r>
            <a:r>
              <a:rPr lang="en-US" sz="2400" dirty="0" err="1"/>
              <a:t>trie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Purpose:</a:t>
            </a:r>
            <a:br>
              <a:rPr lang="en-US" sz="2400" dirty="0"/>
            </a:br>
            <a:r>
              <a:rPr lang="en-US" sz="2400" dirty="0"/>
              <a:t>	Efficient string searching and pattern matching.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EC63E9-729A-A749-6946-C6D14AE0279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E0201-FDE7-6E26-E574-75C641452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5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dirty="0"/>
              <a:t>Purpose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Problem with </a:t>
            </a:r>
            <a:r>
              <a:rPr lang="en-IN" sz="2400" b="1" dirty="0" err="1">
                <a:solidFill>
                  <a:srgbClr val="FF0000"/>
                </a:solidFill>
              </a:rPr>
              <a:t>Trie</a:t>
            </a:r>
            <a:r>
              <a:rPr lang="en-IN" sz="2400" b="1" dirty="0">
                <a:solidFill>
                  <a:srgbClr val="FF0000"/>
                </a:solidFill>
              </a:rPr>
              <a:t> / Suffix </a:t>
            </a:r>
            <a:r>
              <a:rPr lang="en-IN" sz="2400" b="1" dirty="0" err="1">
                <a:solidFill>
                  <a:srgbClr val="FF0000"/>
                </a:solidFill>
              </a:rPr>
              <a:t>Trie</a:t>
            </a:r>
            <a:r>
              <a:rPr lang="en-IN" sz="2400" b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IN" sz="2400" dirty="0"/>
              <a:t>• Uses too much memory</a:t>
            </a:r>
            <a:br>
              <a:rPr lang="en-IN" sz="2400" dirty="0"/>
            </a:br>
            <a:r>
              <a:rPr lang="en-IN" sz="2400" dirty="0"/>
              <a:t>• Repeated substrings create duplicate branches</a:t>
            </a:r>
          </a:p>
          <a:p>
            <a:r>
              <a:rPr lang="en-IN" sz="2400" dirty="0"/>
              <a:t>Example: BANANA</a:t>
            </a:r>
          </a:p>
          <a:p>
            <a:r>
              <a:rPr lang="en-IN" sz="2400" dirty="0"/>
              <a:t>Substring "ANA" appears multiple times → </a:t>
            </a:r>
            <a:r>
              <a:rPr lang="en-IN" sz="2400" dirty="0" err="1"/>
              <a:t>trie</a:t>
            </a:r>
            <a:r>
              <a:rPr lang="en-IN" sz="2400" dirty="0"/>
              <a:t> stores repeatedly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00B050"/>
                </a:solidFill>
              </a:rPr>
              <a:t>DAWG solution:</a:t>
            </a:r>
            <a:br>
              <a:rPr lang="en-IN" sz="2400" dirty="0"/>
            </a:br>
            <a:r>
              <a:rPr lang="en-IN" sz="2400" dirty="0"/>
              <a:t>Merge identical suffixes → reduce nodes and edges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3EBDF0-7ACC-5A9C-024C-2F60E1940CF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AF165-EBC7-DFE2-91B0-B16E94A4A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8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Structure of DAWG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Components:</a:t>
            </a:r>
          </a:p>
          <a:p>
            <a:pPr marL="0" indent="0">
              <a:buNone/>
            </a:pPr>
            <a:r>
              <a:rPr lang="en-IN" sz="2400" dirty="0"/>
              <a:t>	• </a:t>
            </a:r>
            <a:r>
              <a:rPr lang="en-IN" sz="2400" b="1" dirty="0"/>
              <a:t>Nodes (States)</a:t>
            </a:r>
            <a:r>
              <a:rPr lang="en-IN" sz="2400" dirty="0"/>
              <a:t> → represent substrings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Edges</a:t>
            </a:r>
            <a:r>
              <a:rPr lang="en-IN" sz="2400" dirty="0"/>
              <a:t> → </a:t>
            </a:r>
            <a:r>
              <a:rPr lang="en-IN" sz="2400" dirty="0" err="1"/>
              <a:t>labeled</a:t>
            </a:r>
            <a:r>
              <a:rPr lang="en-IN" sz="2400" dirty="0"/>
              <a:t> with characters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Start node</a:t>
            </a:r>
            <a:r>
              <a:rPr lang="en-IN" sz="2400" dirty="0"/>
              <a:t> → empty string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Final nodes</a:t>
            </a:r>
            <a:r>
              <a:rPr lang="en-IN" sz="2400" dirty="0"/>
              <a:t> → represent valid suffixes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Properties:</a:t>
            </a:r>
          </a:p>
          <a:p>
            <a:pPr marL="0" indent="0">
              <a:buNone/>
            </a:pPr>
            <a:r>
              <a:rPr lang="en-US" sz="2400" dirty="0"/>
              <a:t>	• Directed graph</a:t>
            </a:r>
            <a:br>
              <a:rPr lang="en-US" sz="2400" dirty="0"/>
            </a:br>
            <a:r>
              <a:rPr lang="en-US" sz="2400" dirty="0"/>
              <a:t>	• No cycles</a:t>
            </a:r>
            <a:br>
              <a:rPr lang="en-US" sz="2400" dirty="0"/>
            </a:br>
            <a:r>
              <a:rPr lang="en-US" sz="2400" dirty="0"/>
              <a:t>	• Minimal automaton</a:t>
            </a:r>
            <a:br>
              <a:rPr lang="en-US" sz="2400" dirty="0"/>
            </a:br>
            <a:r>
              <a:rPr lang="en-US" sz="2400" dirty="0"/>
              <a:t>	• Each substring represented once</a:t>
            </a:r>
            <a:br>
              <a:rPr lang="en-US" sz="2400" dirty="0"/>
            </a:br>
            <a:r>
              <a:rPr lang="en-US" sz="2400" dirty="0"/>
              <a:t>	• Number of states ≤ 2n − 1</a:t>
            </a:r>
            <a:br>
              <a:rPr lang="en-US" sz="2400" dirty="0"/>
            </a:br>
            <a:r>
              <a:rPr lang="en-US" sz="2400" dirty="0"/>
              <a:t>	• Space complexity: O(n)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7940" t="20381" r="10263" b="12923"/>
          <a:stretch/>
        </p:blipFill>
        <p:spPr>
          <a:xfrm>
            <a:off x="4789450" y="2609386"/>
            <a:ext cx="3044283" cy="10370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91816" y="2670717"/>
            <a:ext cx="10091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node DAWG </a:t>
            </a:r>
            <a:endParaRPr lang="en-IN" sz="1050" b="1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11F602-9328-0E8C-2F44-96F7B86A804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710AD6-5820-A9F4-D2DA-8DDDAE8D8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0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Structure of DAWG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rgbClr val="FF0000"/>
                </a:solidFill>
              </a:rPr>
              <a:t>Components:</a:t>
            </a:r>
          </a:p>
          <a:p>
            <a:pPr marL="0" indent="0">
              <a:buNone/>
            </a:pPr>
            <a:r>
              <a:rPr lang="en-IN" sz="2400" dirty="0"/>
              <a:t>	• </a:t>
            </a:r>
            <a:r>
              <a:rPr lang="en-IN" sz="2400" b="1" dirty="0"/>
              <a:t>Nodes (States)</a:t>
            </a:r>
            <a:r>
              <a:rPr lang="en-IN" sz="2400" dirty="0"/>
              <a:t> → represent substrings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Edges</a:t>
            </a:r>
            <a:r>
              <a:rPr lang="en-IN" sz="2400" dirty="0"/>
              <a:t> → </a:t>
            </a:r>
            <a:r>
              <a:rPr lang="en-IN" sz="2400" dirty="0" err="1"/>
              <a:t>labeled</a:t>
            </a:r>
            <a:r>
              <a:rPr lang="en-IN" sz="2400" dirty="0"/>
              <a:t> with characters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Start node</a:t>
            </a:r>
            <a:r>
              <a:rPr lang="en-IN" sz="2400" dirty="0"/>
              <a:t> → empty string</a:t>
            </a:r>
            <a:br>
              <a:rPr lang="en-IN" sz="2400" dirty="0"/>
            </a:br>
            <a:r>
              <a:rPr lang="en-IN" sz="2400" dirty="0"/>
              <a:t>	• </a:t>
            </a:r>
            <a:r>
              <a:rPr lang="en-IN" sz="2400" b="1" dirty="0"/>
              <a:t>Final nodes</a:t>
            </a:r>
            <a:r>
              <a:rPr lang="en-IN" sz="2400" dirty="0"/>
              <a:t> → represent valid suffixes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Properties:</a:t>
            </a:r>
          </a:p>
          <a:p>
            <a:pPr marL="0" indent="0">
              <a:buNone/>
            </a:pPr>
            <a:r>
              <a:rPr lang="en-US" sz="2400" dirty="0"/>
              <a:t>	• Directed graph</a:t>
            </a:r>
            <a:br>
              <a:rPr lang="en-US" sz="2400" dirty="0"/>
            </a:br>
            <a:r>
              <a:rPr lang="en-US" sz="2400" dirty="0"/>
              <a:t>	• No cycles</a:t>
            </a:r>
            <a:br>
              <a:rPr lang="en-US" sz="2400" dirty="0"/>
            </a:br>
            <a:r>
              <a:rPr lang="en-US" sz="2400" dirty="0"/>
              <a:t>	• Minimal automaton</a:t>
            </a:r>
            <a:br>
              <a:rPr lang="en-US" sz="2400" dirty="0"/>
            </a:br>
            <a:r>
              <a:rPr lang="en-US" sz="2400" dirty="0"/>
              <a:t>	• Each substring represented once</a:t>
            </a:r>
            <a:br>
              <a:rPr lang="en-US" sz="2400" dirty="0"/>
            </a:br>
            <a:r>
              <a:rPr lang="en-US" sz="2400" dirty="0"/>
              <a:t>	• Number of states ≤ 2n − 1</a:t>
            </a:r>
            <a:br>
              <a:rPr lang="en-US" sz="2400" dirty="0"/>
            </a:br>
            <a:r>
              <a:rPr lang="en-US" sz="2400" dirty="0"/>
              <a:t>	• Space complexity: O(n)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9FD91B-BA5A-DB80-F029-93EDB265F37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C0B2B-354C-312E-50DA-D388E1346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74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Construction DAWG from given word suffixes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Input:   String S of length n</a:t>
            </a:r>
          </a:p>
          <a:p>
            <a:pPr marL="0" indent="0">
              <a:buNone/>
            </a:pPr>
            <a:r>
              <a:rPr lang="en-US" sz="2400" dirty="0"/>
              <a:t>Output:</a:t>
            </a:r>
          </a:p>
          <a:p>
            <a:pPr marL="0" indent="0">
              <a:buNone/>
            </a:pPr>
            <a:r>
              <a:rPr lang="en-US" sz="2400" dirty="0"/>
              <a:t>DAWG representing all substrings (all suffixes included) of 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At each step:</a:t>
            </a:r>
          </a:p>
          <a:p>
            <a:r>
              <a:rPr lang="en-US" sz="2400" dirty="0"/>
              <a:t>Add new substrings ending at the current character</a:t>
            </a:r>
          </a:p>
          <a:p>
            <a:r>
              <a:rPr lang="en-US" sz="2400" dirty="0"/>
              <a:t>Merge equivalent states</a:t>
            </a:r>
          </a:p>
          <a:p>
            <a:r>
              <a:rPr lang="en-US" sz="2400" dirty="0"/>
              <a:t>Maintain suffix links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3DC478-A338-F6CD-437A-242D5CEDE90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82755-224F-6194-A8CA-6BB78DBC2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5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Build a DAWG with the following words: </a:t>
            </a:r>
            <a:r>
              <a:rPr lang="en-US" sz="2400" b="1" dirty="0">
                <a:solidFill>
                  <a:srgbClr val="00B050"/>
                </a:solidFill>
              </a:rPr>
              <a:t>COP, COPS, CUP, CUPS, HOP, HOPS, HUP, HUPS, TAP, TAPS, TOP, TOPS, TUP, TUPS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Step1: Construct Tries for given words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099" name="Picture 3" descr="https://github.com/vtortola/dawg/raw/master/docs/graph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742" y="2743665"/>
            <a:ext cx="3543300" cy="2178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8764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Step2: Merging nodes (</a:t>
            </a:r>
            <a:r>
              <a:rPr lang="en-IN" sz="2400" b="1" dirty="0">
                <a:solidFill>
                  <a:srgbClr val="0070C0"/>
                </a:solidFill>
              </a:rPr>
              <a:t>Starting from the bottom)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Merge ‘S’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122" name="Picture 2" descr="https://github.com/vtortola/dawg/raw/master/docs/graph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503" y="2832409"/>
            <a:ext cx="2883227" cy="17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github.com/vtortola/dawg/raw/master/docs/graph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482" y="2863143"/>
            <a:ext cx="3212258" cy="183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4410307" y="3172522"/>
            <a:ext cx="379142" cy="25090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7BAE8-307D-5918-EF5F-B192CBB57DF3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DB9AF-6A09-7A2E-FA3A-5286F44E3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648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Step2: Merging nodes (</a:t>
            </a:r>
            <a:r>
              <a:rPr lang="en-IN" sz="2400" b="1" dirty="0">
                <a:solidFill>
                  <a:srgbClr val="0070C0"/>
                </a:solidFill>
              </a:rPr>
              <a:t>Starting from the bottom)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Merge ‘P’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148" name="Picture 4" descr="https://github.com/vtortola/dawg/raw/master/docs/graph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941831"/>
            <a:ext cx="3035861" cy="17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github.com/vtortola/dawg/raw/master/docs/graph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164" y="2872759"/>
            <a:ext cx="2643188" cy="203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4583151" y="3668752"/>
            <a:ext cx="278781" cy="26762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2A9D78-03FC-888A-7D6E-C66B5F44F79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2DA02-3ACE-0FB0-3351-3C04ACF70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05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Step2: Merging nodes (</a:t>
            </a:r>
            <a:r>
              <a:rPr lang="en-IN" sz="2400" b="1" dirty="0">
                <a:solidFill>
                  <a:srgbClr val="0070C0"/>
                </a:solidFill>
              </a:rPr>
              <a:t>Starting from the bottom)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Merge ‘O and U node Pairs’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150" name="Picture 6" descr="https://github.com/vtortola/dawg/raw/master/docs/graph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208" y="2825440"/>
            <a:ext cx="2173362" cy="1674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s://github.com/vtortola/dawg/raw/master/docs/graph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491" y="2708353"/>
            <a:ext cx="2214563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github.com/vtortola/dawg/raw/master/docs/graph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637" y="2436890"/>
            <a:ext cx="1407319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3529362" y="3395547"/>
            <a:ext cx="273205" cy="27320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Right Arrow 3"/>
          <p:cNvSpPr/>
          <p:nvPr/>
        </p:nvSpPr>
        <p:spPr>
          <a:xfrm>
            <a:off x="6127596" y="3278458"/>
            <a:ext cx="273205" cy="29550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30550C-0BB7-49CC-642E-5D7E3A36CF8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A296E-A72A-9924-A76F-E37DBAC4C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49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Step3: Store it as an array</a:t>
            </a:r>
            <a:endParaRPr lang="en-IN" sz="2400" b="1" dirty="0">
              <a:solidFill>
                <a:srgbClr val="0070C0"/>
              </a:solidFill>
            </a:endParaRPr>
          </a:p>
        </p:txBody>
      </p:sp>
      <p:pic>
        <p:nvPicPr>
          <p:cNvPr id="8194" name="Picture 2" descr="https://github.com/vtortola/dawg/raw/master/docs/graph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857" y="2367920"/>
            <a:ext cx="2600325" cy="65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github.com/vtortola/dawg/raw/master/docs/graph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257" y="1801269"/>
            <a:ext cx="1407319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4090576" y="2542477"/>
            <a:ext cx="498147" cy="2787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0F2140-4611-2FFB-E62B-2DF5B3EA368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57657-BDE7-CF10-8A7E-BA755AE451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950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78059"/>
            <a:ext cx="6172200" cy="985170"/>
          </a:xfrm>
        </p:spPr>
        <p:txBody>
          <a:bodyPr>
            <a:normAutofit/>
          </a:bodyPr>
          <a:lstStyle/>
          <a:p>
            <a:r>
              <a:rPr lang="en-US" b="1" dirty="0"/>
              <a:t>DAWG</a:t>
            </a:r>
            <a:br>
              <a:rPr lang="en-US" b="1" dirty="0"/>
            </a:br>
            <a:r>
              <a:rPr lang="en-IN" sz="1800" b="1" dirty="0"/>
              <a:t>Construct DAWG from Tries</a:t>
            </a:r>
            <a:r>
              <a:rPr lang="en-IN" sz="1800" dirty="0"/>
              <a:t> 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28750" y="1070373"/>
            <a:ext cx="6393656" cy="390850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Step3: Final Representation</a:t>
            </a:r>
            <a:endParaRPr lang="en-IN" sz="2400" b="1" dirty="0">
              <a:solidFill>
                <a:srgbClr val="0070C0"/>
              </a:solidFill>
            </a:endParaRPr>
          </a:p>
        </p:txBody>
      </p:sp>
      <p:pic>
        <p:nvPicPr>
          <p:cNvPr id="9218" name="Picture 2" descr="https://github.com/vtortola/dawg/raw/master/docs/graph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808" y="2211928"/>
            <a:ext cx="2067508" cy="127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github.com/vtortola/dawg/raw/master/docs/array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9" y="3326701"/>
            <a:ext cx="3490332" cy="98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 rot="5400000">
            <a:off x="2807674" y="2837840"/>
            <a:ext cx="354039" cy="37356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50"/>
          </a:p>
        </p:txBody>
      </p:sp>
      <p:pic>
        <p:nvPicPr>
          <p:cNvPr id="10" name="Picture 2" descr="https://github.com/vtortola/dawg/raw/master/docs/graph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770" y="2018309"/>
            <a:ext cx="2600325" cy="65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704C8C-0D98-7FAF-E7CB-CCA4C4721EE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248FE-0E01-A729-CA03-50DC1E385D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076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Dictionaries Allowing Errors in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often make spelling mistakes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apple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should still return correct result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B4383B-CD02-4BF6-4664-21A90BB99E69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BCE45-E21D-2880-3890-1728D83F6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Dictionary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stores words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Insert, Search, Delete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apple, banana, cat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E8331-8B6B-9232-9AAC-D4453333875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B014D-0196-6C48-ED31-96109092A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Exact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Search requires exact match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Example: appl → Not Found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37653-891D-0FC1-EB72-79BDFFA9BD5D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1E725-6823-4F13-6C01-367BA2C80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Allowing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System finds similar words even with mistakes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9AE354-6575-8FC8-0EF4-6B0945C72CD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4BAEF-C56A-F06A-43F3-6515044BA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Types of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Insertion: applle → apple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Deletion: aple → apple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Substitution: cap → cat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Transposition: act → cat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9DA75-54F9-010E-B777-69B8C733903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F9E8D-C4AC-A7F6-BB5F-80EA37FC5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Minimum operations to convert one word into another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Example: aple → apple =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E03E5-B5A1-796A-3140-EB48DD9A1442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42F2A-7DCB-FE6E-A4D9-18EC2676A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of 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cat → cut (replace 'a' with 'u')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 =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9785D4-A724-66CC-923A-AAD14DB05567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3BA652-3920-2B74-1AEF-2150F0F67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Words: cat, bat, rat, mat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Search: hat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Output: cat, bat, rat, mat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9FDFF-DF99-0287-0ABD-3650602B5661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9E21D-4965-DF51-F0A7-6262B13EA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Trie with error tolerance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BK-Tree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Automata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6D73E-7C77-CC14-90C0-4B6B2C32A7E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C1ACA-B6F8-BA50-9793-8A28622D7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Trie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Traverse Trie and allow mismatches</a:t>
            </a:r>
          </a:p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Used in autocomplete systems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C0A2F5-3E9F-05D1-B589-AEBF26ED4B15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C8DBBE-2CBC-B043-B490-816C9173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054" y="1093189"/>
            <a:ext cx="8060296" cy="353953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mistakes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search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computation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implementation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8AAE95-BFF5-3BC5-0C9D-ABF6B59E7836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368B3-966F-FDD3-7D4B-2A665FA1F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8BC6F-6018-2787-4AE0-703BD73C0BA2}"/>
              </a:ext>
            </a:extLst>
          </p:cNvPr>
          <p:cNvSpPr txBox="1"/>
          <p:nvPr/>
        </p:nvSpPr>
        <p:spPr>
          <a:xfrm>
            <a:off x="5278191" y="1417073"/>
            <a:ext cx="45720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 checker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DNA matching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98566</TotalTime>
  <Words>3526</Words>
  <Application>Microsoft Office PowerPoint</Application>
  <PresentationFormat>On-screen Show (16:9)</PresentationFormat>
  <Paragraphs>388</Paragraphs>
  <Slides>56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Arial</vt:lpstr>
      <vt:lpstr>Calibri</vt:lpstr>
      <vt:lpstr>Calibri Light</vt:lpstr>
      <vt:lpstr>Times New Roman</vt:lpstr>
      <vt:lpstr>ui-monospace</vt:lpstr>
      <vt:lpstr>ui-sans-serif</vt:lpstr>
      <vt:lpstr>Office Theme</vt:lpstr>
      <vt:lpstr>VISIO</vt:lpstr>
      <vt:lpstr>        Priority Queues and Heaps   Data Structures-II </vt:lpstr>
      <vt:lpstr>Unit -3 :Contents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Compressed Tries(Radix Tree) Normal Tries VS Compressed Tries</vt:lpstr>
      <vt:lpstr>Compressed Tries(Radix Tree) Normal Tries VS Compressed Tries</vt:lpstr>
      <vt:lpstr>Suffix Trees Definition</vt:lpstr>
      <vt:lpstr>Suffix Trees Properties</vt:lpstr>
      <vt:lpstr>Suffix Trees Algorithm</vt:lpstr>
      <vt:lpstr>Suffix Trees Example</vt:lpstr>
      <vt:lpstr>Suffix Trees Example</vt:lpstr>
      <vt:lpstr>Suffix Trees Example</vt:lpstr>
      <vt:lpstr>Suffix Trees Example</vt:lpstr>
      <vt:lpstr>Suffix Trees Advantages, Application</vt:lpstr>
      <vt:lpstr>Suffix Array Definition </vt:lpstr>
      <vt:lpstr>Suffix Array Example </vt:lpstr>
      <vt:lpstr>Suffix Array Applications </vt:lpstr>
      <vt:lpstr>DAWG (Directed Acyclic Word Graph) Definition </vt:lpstr>
      <vt:lpstr>DAWG (Directed Acyclic Word Graph) Definition </vt:lpstr>
      <vt:lpstr>DAWG Purpose </vt:lpstr>
      <vt:lpstr>DAWG Structure of DAWG </vt:lpstr>
      <vt:lpstr>DAWG Structure of DAWG </vt:lpstr>
      <vt:lpstr>DAWG Construction DAWG from given word suffixes</vt:lpstr>
      <vt:lpstr>DAWG Construct DAWG from Tries </vt:lpstr>
      <vt:lpstr>DAWG Construct DAWG from Tries </vt:lpstr>
      <vt:lpstr>DAWG Construct DAWG from Tries </vt:lpstr>
      <vt:lpstr>DAWG Construct DAWG from Tries </vt:lpstr>
      <vt:lpstr>DAWG Construct DAWG from Tries </vt:lpstr>
      <vt:lpstr>DAWG Construct DAWG from Tries </vt:lpstr>
      <vt:lpstr>Dictionaries Allowing Errors in Queries</vt:lpstr>
      <vt:lpstr>Dictionary Concept</vt:lpstr>
      <vt:lpstr>Problem with Exact Matching</vt:lpstr>
      <vt:lpstr>Allowing Errors</vt:lpstr>
      <vt:lpstr>Types of Errors</vt:lpstr>
      <vt:lpstr>Edit Distance</vt:lpstr>
      <vt:lpstr>Example of Edit Distance</vt:lpstr>
      <vt:lpstr>Example Dictionary</vt:lpstr>
      <vt:lpstr>Techniques Used</vt:lpstr>
      <vt:lpstr>Trie Method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Standard Practices for Engineers</dc:title>
  <dc:creator>Viit Viit</dc:creator>
  <cp:lastModifiedBy>Dattatray Takale</cp:lastModifiedBy>
  <cp:revision>632</cp:revision>
  <dcterms:created xsi:type="dcterms:W3CDTF">2020-04-02T16:05:06Z</dcterms:created>
  <dcterms:modified xsi:type="dcterms:W3CDTF">2026-03-24T09:13:40Z</dcterms:modified>
</cp:coreProperties>
</file>