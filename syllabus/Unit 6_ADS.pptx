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1"/>
  </p:sldMasterIdLst>
  <p:notesMasterIdLst>
    <p:notesMasterId r:id="rId13"/>
  </p:notesMasterIdLst>
  <p:sldIdLst>
    <p:sldId id="275" r:id="rId2"/>
    <p:sldId id="257" r:id="rId3"/>
    <p:sldId id="673" r:id="rId4"/>
    <p:sldId id="674" r:id="rId5"/>
    <p:sldId id="675" r:id="rId6"/>
    <p:sldId id="677" r:id="rId7"/>
    <p:sldId id="676" r:id="rId8"/>
    <p:sldId id="678" r:id="rId9"/>
    <p:sldId id="679" r:id="rId10"/>
    <p:sldId id="680" r:id="rId11"/>
    <p:sldId id="681" r:id="rId12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 Viit" initials="VV" lastIdx="2" clrIdx="0">
    <p:extLst>
      <p:ext uri="{19B8F6BF-5375-455C-9EA6-DF929625EA0E}">
        <p15:presenceInfo xmlns:p15="http://schemas.microsoft.com/office/powerpoint/2012/main" userId="Viit Vi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AEFF"/>
    <a:srgbClr val="25A2FF"/>
    <a:srgbClr val="189CDE"/>
    <a:srgbClr val="0996FF"/>
    <a:srgbClr val="0192FF"/>
    <a:srgbClr val="0594FF"/>
    <a:srgbClr val="008FFA"/>
    <a:srgbClr val="008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75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B592-AEF7-4F19-89CE-62E2656F1C5E}" type="datetimeFigureOut">
              <a:rPr lang="en-IN" smtClean="0"/>
              <a:pPr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559C-9A1D-465C-BD22-C64000BBBB1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755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D7B5F7AB-5B48-E1AD-1AEA-E4A660F79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8F93E44-A7E2-A01A-AAC0-4CFEC866C0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1DD0E9ED-6864-7FD4-202B-D168697334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69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1F51B37E-9D95-5741-45E6-7B4E2E86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CF78EE69-2B6C-D34F-89DF-5A42AED51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0264DC7F-BF02-A4DC-D50E-F7CC4B165E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161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41517596-38BA-3163-BEF8-511F66BA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C9B9D019-BA12-830C-81BA-08E3D47C1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CE3E3CC8-5DB6-9FF6-72F8-B578F2AE9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9BFD45D9-0CD7-A919-8BEE-E9393446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E8D9BC15-3F7E-7663-C2E5-633CBE0C3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CE716252-4B8C-5922-2F64-0A1FACBBC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05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9EE0B3F5-BDC5-2B39-B32A-82E14C0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06799158-AADA-7F66-5D4B-589E4F442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A0803FCC-EB2B-AAEE-2F95-35403B210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70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59F671E0-D67A-4190-40DA-88E36A62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BF666000-18CD-6982-94FD-CB360A326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DAE894A1-3132-8EDD-EAA8-5735C25F15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44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FE5D06E4-7D41-7531-D179-0B8907C1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D53BA029-26D4-316D-9FBC-B98DC3CB08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47AD6178-45BD-8D92-D0C2-889A6031F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197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48DBA296-A83D-3852-250A-B8BFC8E4C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E48AA5EB-4FDE-77C7-9B74-7CE3CA993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0C48D83C-B294-8569-5436-A19C45D9A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490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>
          <a:extLst>
            <a:ext uri="{FF2B5EF4-FFF2-40B4-BE49-F238E27FC236}">
              <a16:creationId xmlns:a16="http://schemas.microsoft.com/office/drawing/2014/main" id="{AA71FC97-E153-8B6E-F3F4-D8040940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:notes">
            <a:extLst>
              <a:ext uri="{FF2B5EF4-FFF2-40B4-BE49-F238E27FC236}">
                <a16:creationId xmlns:a16="http://schemas.microsoft.com/office/drawing/2014/main" id="{8A0A3478-417C-B290-F114-330B477AA7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6" name="Google Shape;436;p18:notes">
            <a:extLst>
              <a:ext uri="{FF2B5EF4-FFF2-40B4-BE49-F238E27FC236}">
                <a16:creationId xmlns:a16="http://schemas.microsoft.com/office/drawing/2014/main" id="{CE889588-20A7-5A6D-BCBC-4511BD4A0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57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9C4-19AC-4D01-81DA-E140B97A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CA5E5-3A78-455F-A1D5-145EA9173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8103-6802-402E-8A9C-2FB10C13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E19A-DC0A-4D53-A4FB-E883E93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09EA-FF5B-4648-B17D-3689B515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BEFC-853B-4E71-90C0-35BD8D1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4BB9-BDA4-4C04-BA11-57AE021A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86A-60FA-47B2-80EA-B781B0D0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E884-2704-4762-B1F7-A390B52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61B4-73E9-4628-92E8-74939F9E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6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89E-9D4B-44E6-BF11-C075A062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9-9067-4135-A992-6FB9ECE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58BF-DC88-48A8-8054-8760C54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900E-11FD-4ACA-8E87-4EC87F1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7084-87E6-4F73-9995-37B9D5DA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2823-44FC-4F0E-988B-2ACF3A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5ADA-214B-4BFF-9D95-4AACAA67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0DDFE-CE85-4487-A2F7-D43D9AD9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E3102-E054-4C70-8672-73C06D7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A228-140D-4F9B-A2FE-74BFB21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789-8D8D-4D5C-A015-00F074C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AFB0-2CA1-458E-8D17-13C9D16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8FFF-DC4E-46B0-93F5-FAB67A7D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4111-7E13-4A52-A9E1-956A87C87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4A28-7BD2-4B06-ABF5-89A47C156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6BDF0-5B29-4A2F-8CC0-14E57446D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1CA3A-A01B-4B5C-A4F8-C14D8EC4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CAA6B-C991-48DE-B578-AE2A9961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9A6-E7CF-4D3D-9193-F5CCF04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9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AF43-78DB-4D57-9B2D-80B50C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1968-C016-4D62-894F-92EC2098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C0E1-975B-4302-8CF3-C520CED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AC7F-9355-4792-84EA-A4C808E3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6E9C9-69F5-4D64-AFCA-189935E7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B54D1-AD89-4CA0-8134-5D2BAF33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8272-E3A3-4683-B86E-79218886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ADB3-F3C8-4862-AF7F-04DDE9A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89C0-5D66-43A0-995C-51CDB2B8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A2F6-A867-42FE-8C9C-0CD7E665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24A67-3315-4540-9790-4166A5A8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C2BE8-6B25-4D6D-A216-0288779C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3A18-5A76-4536-926B-E6B3828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3C2C-789D-4AF3-A6E0-0AE7144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586BE-F0E8-46DC-B95E-EBCA67996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20C7-39DD-4D17-B93E-E92481C7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E00D-6FB3-4F93-91B6-3385B36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EE8-F875-4115-8DB6-6E4C5A4D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66B0-CAEE-4D99-8704-EBC2029A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BA33-3BCA-4D04-8B42-26F6BB17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3B614-80E5-43E5-ACC0-10C094878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C068-F4B8-4482-BCC2-F12B8405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C726-B8F7-46D8-A302-A3C69CB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2F82-7742-49B4-9D22-A703AE78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4F4A-84CD-42EC-A311-E7DDDE5B9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F8A3-D97A-477F-8A9F-5D2D8FC9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056D-23ED-4173-85A0-B789F940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BBEB-F29D-4181-968D-AF3F415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3474-7DC7-49B8-A4C4-B10099ED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4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35254-BA2C-4834-85C4-C01A1408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206B-E85F-4151-9F6F-B42BD4F2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75DC-D9A3-4246-8E04-359C1E241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12CA-D198-4AFA-9ADD-37508EAD6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Faculty Name(optional), Department of ______Engineering, VIIT,Pune-48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25125-6F41-48E5-B98E-9C500B8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AF691-C30B-4477-A4FB-AFF7F164B0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305" y="317048"/>
            <a:ext cx="7516836" cy="902154"/>
          </a:xfrm>
        </p:spPr>
        <p:txBody>
          <a:bodyPr>
            <a:noAutofit/>
          </a:bodyPr>
          <a:lstStyle/>
          <a:p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6:</a:t>
            </a:r>
            <a:r>
              <a:rPr lang="en-IN" b="1" dirty="0"/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Data Structures </a:t>
            </a:r>
            <a:br>
              <a:rPr lang="en-IN" sz="1400" dirty="0"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IN" sz="1000" dirty="0"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Structures-II </a:t>
            </a:r>
            <a:endParaRPr lang="en-IN" sz="105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4616" y="1448162"/>
            <a:ext cx="7214214" cy="98470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Dr. Dattatray G. Takale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dattatray.takale@vit.edu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Department of Computer Engineering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249210" y="4021068"/>
            <a:ext cx="8645581" cy="420461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BRACT’S, Vishwakarma Institute of Information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605" y="2521468"/>
            <a:ext cx="1326236" cy="1499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052" y="4427922"/>
            <a:ext cx="834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(NBA and NAAC accredited, ISO 9001:2015 certified) 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-5 :Contents</a:t>
            </a:r>
            <a:endParaRPr lang="en-IN" sz="27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90B0E-ED9E-4B65-820F-8F4890616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02" y="493335"/>
            <a:ext cx="8499507" cy="4111830"/>
          </a:xfrm>
        </p:spPr>
        <p:txBody>
          <a:bodyPr anchor="t">
            <a:normAutofit/>
          </a:bodyPr>
          <a:lstStyle/>
          <a:p>
            <a:pPr marL="0" indent="0" algn="just">
              <a:lnSpc>
                <a:spcPct val="115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 Data Structures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Google's Big Table, Data Structures for Sets: The Disjoint Set Union-Find Problem, Concurrent Data structures, Succinct Representation of Data Structures: Bit vector, Succinct Dictionaries, Tree Representations. Persistent data structures. Cache-Oblivious Data Structure.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1" y="-91341"/>
            <a:ext cx="724623" cy="8193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Dattatray G Takale, Department of Computer Engineering, VIT, Pune-37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757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EE11404B-C255-4211-5B2B-18174240A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0BCF2A6E-C354-CEF6-59BA-D3B9006806AB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B08967-6422-2189-ED3A-A5B43E61ED3F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83400-22AD-6169-D438-AB843706BBD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Representation of Data Structures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CF9F0-255F-C70C-1E6E-FEA6A8938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172AB4-15C1-1024-4109-AB82FD5B1F8F}"/>
              </a:ext>
            </a:extLst>
          </p:cNvPr>
          <p:cNvSpPr txBox="1"/>
          <p:nvPr/>
        </p:nvSpPr>
        <p:spPr>
          <a:xfrm>
            <a:off x="407831" y="901520"/>
            <a:ext cx="840365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data structure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data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very close to the theoretical minimum (information-theoretic lower bound)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still supporting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operations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search, access, and navigation.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succinct data structure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the minimum number of bits required to represent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still allows fast queries.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them?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structures: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Arrays, trees, graphs →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memory (pointers, overhead)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→ memory becomes a bottleneck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structures solve this by: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redundancy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bit-level encoding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fast queries using clever techniques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07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38AD31A6-5C8F-0E94-2993-D48B7812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C7605E3B-DBDD-177C-610B-1E0DCBA35A11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16C06B-EF97-A731-8BC3-EF5ECD0FBF82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FF4E3-6A4E-6154-54CA-C365022E0771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Vector Succinct Representation of Data Structures</a:t>
            </a:r>
            <a:endParaRPr lang="en-IN" sz="24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7CA6D-F75C-D71A-A892-65B0C86FC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360071-0CB1-B6AC-8816-B9E1C0842784}"/>
              </a:ext>
            </a:extLst>
          </p:cNvPr>
          <p:cNvSpPr txBox="1"/>
          <p:nvPr/>
        </p:nvSpPr>
        <p:spPr>
          <a:xfrm>
            <a:off x="407832" y="901520"/>
            <a:ext cx="543488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vector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compact way to store data using only 0s and 1s, and it supports operations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access, rank, and select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vector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very simple list made of only: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</a:p>
          <a:p>
            <a:pPr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1 0 1 1 0 0 1 0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position stores just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so it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little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2BB0EC-86AA-EE0C-8067-221D01B7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031" y="728004"/>
            <a:ext cx="3128819" cy="2762518"/>
          </a:xfrm>
          <a:prstGeom prst="rect">
            <a:avLst/>
          </a:prstGeom>
        </p:spPr>
      </p:pic>
      <p:pic>
        <p:nvPicPr>
          <p:cNvPr id="1026" name="Picture 2" descr="Rank and Select data structures A basic problem">
            <a:extLst>
              <a:ext uri="{FF2B5EF4-FFF2-40B4-BE49-F238E27FC236}">
                <a16:creationId xmlns:a16="http://schemas.microsoft.com/office/drawing/2014/main" id="{CA46338A-BB70-89B0-94C1-875E3EF5A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596" y="3054330"/>
            <a:ext cx="2737834" cy="181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34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92756C0D-0523-E8BE-1173-7DF0EDE59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98E77AB6-D5C9-DA98-D888-5F5553BA2BB5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D7B9C-95B5-90D9-CF50-D7DD91D96F7B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0BE12-0555-19CD-4C9B-1046BBA9AA60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Representation of Data Structures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D78A2-55A4-97BD-63D6-3ED11FF98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E5B508-83DA-39B6-11C4-892F97F00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46" y="537599"/>
            <a:ext cx="3874810" cy="43169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2C2C7-60D9-BABC-4CA5-539469D67A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729" y="537599"/>
            <a:ext cx="3457600" cy="424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4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BE8CB127-C1C5-90A1-B350-4A525D731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7931B0A6-21D0-FEE6-2716-47B02EBB0CD6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9107D-8D2B-07C2-F41B-CBB387FC9ACD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A4B09-8EE2-93A3-A443-A87276DFC91B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Dictionary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Representation of Data Structures</a:t>
            </a:r>
            <a:endParaRPr lang="en-IN" sz="20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36A23-E382-11A6-2446-35CAD583C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FC6232-1F1D-5263-3C36-429305E9F04F}"/>
              </a:ext>
            </a:extLst>
          </p:cNvPr>
          <p:cNvSpPr txBox="1"/>
          <p:nvPr/>
        </p:nvSpPr>
        <p:spPr>
          <a:xfrm>
            <a:off x="407832" y="901520"/>
            <a:ext cx="787757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succinct dictionary stores a set using a compact bit vector and supports fast operations like membership, rank, and select.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(set)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you want to store numbers like: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{1, 3, 4, 7}</a:t>
            </a:r>
          </a:p>
          <a:p>
            <a:pPr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storing these numbers normally (which takes more memory),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store them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way using bits (0 and 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compact representation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Dictionary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19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1858540E-0D8A-623D-C0ED-208373010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FF55F250-A7DF-4B96-06FC-042C7954B350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FEBB01-096C-3E8E-C4B5-CA674CB30D30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D15BF-E3C2-9C5A-F73E-6E76089930D9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Representation of Data Structures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23173-B065-A832-95D8-AAE6F32879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FF7375-6864-1AEB-2E18-16AEEC42E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4" y="861403"/>
            <a:ext cx="3019447" cy="37909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261C3C-36A5-AC3B-F123-C7840230B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531" y="861403"/>
            <a:ext cx="2907731" cy="3826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7F8AC2-2774-20EA-E303-6ED5001B3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262" y="883136"/>
            <a:ext cx="3076654" cy="380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86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2DE1D52B-A660-FBB3-0427-BFB48E5E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4BE769DC-F23E-54D6-67FF-A3F81CAF9F59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5E4D9A-7122-E7C3-FDAD-0B5B78123402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1C25E-B00D-3D02-E5D8-48472FD325D2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Succinct Tree Representation of Data Structures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3FD86-E7B2-4F7B-0AD5-74A43D3E0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8041A-DD4C-AA4C-398A-32F47A3C61B9}"/>
              </a:ext>
            </a:extLst>
          </p:cNvPr>
          <p:cNvSpPr txBox="1"/>
          <p:nvPr/>
        </p:nvSpPr>
        <p:spPr>
          <a:xfrm>
            <a:off x="332510" y="936984"/>
            <a:ext cx="439832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special tree representations?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normal trees: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stores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(left, right, children)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Pointers take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lot of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large trees → memory becomes huge ❌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Succinct Tree Representation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 tree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bits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still allowing: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parent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children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tree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pointers!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0FB11-60F7-7C63-5EB7-75612E9D6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323" y="839761"/>
            <a:ext cx="3327254" cy="401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4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88F77290-9CEF-1201-5C47-6843AFA3D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B0E4B138-E650-97C7-0B93-1B56C2659271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3B6B5-7FAF-5AB1-9EE9-035FA740E509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27ADA-D705-E571-3F62-55697FA25E1A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Data Structure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1AC47-675C-1785-D845-33FF961E0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BDD32-BE4D-A69A-C896-8CC684FD7035}"/>
              </a:ext>
            </a:extLst>
          </p:cNvPr>
          <p:cNvSpPr txBox="1"/>
          <p:nvPr/>
        </p:nvSpPr>
        <p:spPr>
          <a:xfrm>
            <a:off x="332510" y="936984"/>
            <a:ext cx="60167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persistent data structure keeps all its past versions after updates instead of overwriting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time you update it, a new version is created, and the old one is still available.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Google Docs version history: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edit a document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versions are still saved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go back anytime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idea in data structures!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D2B4A9-F64B-5C99-C5CB-0A86A4D52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314" y="535215"/>
            <a:ext cx="3077512" cy="42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26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C87FD7D7-BFDA-979F-28FB-3BB3095D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A05B6762-98DB-C94B-9BFA-3FAFE6A8B06A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DC40D1-4010-BE59-FA54-2DADAC7231D4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EE061-C773-3AC4-CC97-3E3EBA4C9A57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Data Structure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0CD0EB-BA4F-241A-65E0-F9FCFE9B4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2594DD-E01D-77E1-DABD-BC518FE331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17"/>
          <a:stretch>
            <a:fillRect/>
          </a:stretch>
        </p:blipFill>
        <p:spPr>
          <a:xfrm>
            <a:off x="2189408" y="444159"/>
            <a:ext cx="3928057" cy="44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9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>
          <a:extLst>
            <a:ext uri="{FF2B5EF4-FFF2-40B4-BE49-F238E27FC236}">
              <a16:creationId xmlns:a16="http://schemas.microsoft.com/office/drawing/2014/main" id="{2751703F-1B0E-BED2-2E84-6FE579B8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">
            <a:extLst>
              <a:ext uri="{FF2B5EF4-FFF2-40B4-BE49-F238E27FC236}">
                <a16:creationId xmlns:a16="http://schemas.microsoft.com/office/drawing/2014/main" id="{C509D3ED-74B2-C6FD-AAEA-D88BBF12FA52}"/>
              </a:ext>
            </a:extLst>
          </p:cNvPr>
          <p:cNvSpPr/>
          <p:nvPr/>
        </p:nvSpPr>
        <p:spPr>
          <a:xfrm>
            <a:off x="457199" y="208980"/>
            <a:ext cx="8354291" cy="390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3750" rIns="67500" bIns="33750" anchor="t" anchorCtr="0">
            <a:noAutofit/>
          </a:bodyPr>
          <a:lstStyle/>
          <a:p>
            <a:pPr algn="just">
              <a:buClr>
                <a:schemeClr val="dk1"/>
              </a:buClr>
              <a:buSzPts val="1400"/>
            </a:pPr>
            <a:endParaRPr sz="1050" dirty="0">
              <a:solidFill>
                <a:schemeClr val="dk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C7E88F-810B-2AD7-22D1-C0BF78A4662E}"/>
              </a:ext>
            </a:extLst>
          </p:cNvPr>
          <p:cNvSpPr/>
          <p:nvPr/>
        </p:nvSpPr>
        <p:spPr>
          <a:xfrm>
            <a:off x="0" y="4877121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Dattatray G Takale, Department of  Computer engineering, VIT, Pune- 411037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8CFF0-EF86-DC2A-77FD-326CDAB84DC4}"/>
              </a:ext>
            </a:extLst>
          </p:cNvPr>
          <p:cNvSpPr txBox="1">
            <a:spLocks/>
          </p:cNvSpPr>
          <p:nvPr/>
        </p:nvSpPr>
        <p:spPr>
          <a:xfrm>
            <a:off x="1075486" y="0"/>
            <a:ext cx="7439864" cy="728004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Persistent Data Structure</a:t>
            </a:r>
            <a:endParaRPr lang="en-IN" sz="2700" b="1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1379F-E4D8-F23A-7905-6A0AC8FC9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A06CB-1220-418D-C578-515BFF25BB4D}"/>
              </a:ext>
            </a:extLst>
          </p:cNvPr>
          <p:cNvSpPr txBox="1"/>
          <p:nvPr/>
        </p:nvSpPr>
        <p:spPr>
          <a:xfrm>
            <a:off x="332510" y="936984"/>
            <a:ext cx="60167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persistent data structure keeps all its past versions after updates instead of overwriting them.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time you update it, a new version is created, and the old one is still available.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Google Docs version history: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edit a document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versions are still saved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go back anytime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idea in data structures!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61911-254E-4968-C5C8-9BA3AB7A7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314" y="535215"/>
            <a:ext cx="3077512" cy="425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103288</TotalTime>
  <Words>740</Words>
  <Application>Microsoft Office PowerPoint</Application>
  <PresentationFormat>On-screen Show (16:9)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          Unit 6: Miscellaneous Data Structures   Data Structures-II </vt:lpstr>
      <vt:lpstr>Unit -5 :Contents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Standard Practices for Engineers</dc:title>
  <dc:creator>Viit Viit</dc:creator>
  <cp:lastModifiedBy>Dattatray Takale</cp:lastModifiedBy>
  <cp:revision>722</cp:revision>
  <dcterms:created xsi:type="dcterms:W3CDTF">2020-04-02T16:05:06Z</dcterms:created>
  <dcterms:modified xsi:type="dcterms:W3CDTF">2026-04-22T09:13:27Z</dcterms:modified>
</cp:coreProperties>
</file>